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media/image2.svg" ContentType="image/svg+xml"/>
  <Override PartName="/ppt/media/image3.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42.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816" r:id="rId5"/>
  </p:sldMasterIdLst>
  <p:notesMasterIdLst>
    <p:notesMasterId r:id="rId11"/>
  </p:notesMasterIdLst>
  <p:handoutMasterIdLst>
    <p:handoutMasterId r:id="rId12"/>
  </p:handoutMasterIdLst>
  <p:sldIdLst>
    <p:sldId id="256" r:id="rId10"/>
    <p:sldId id="257" r:id="rId9"/>
    <p:sldId id="258" r:id="rId8"/>
    <p:sldId id="259" r:id="rId7"/>
    <p:sldId id="260" r:id="rId6"/>
    <p:sldId id="261" r:id="rId32"/>
    <p:sldId id="262" r:id="rId33"/>
    <p:sldId id="263" r:id="rId34"/>
    <p:sldId id="264" r:id="rId35"/>
    <p:sldId id="265" r:id="rId36"/>
    <p:sldId id="266" r:id="rId37"/>
    <p:sldId id="267" r:id="rId38"/>
    <p:sldId id="268" r:id="rId39"/>
    <p:sldId id="269" r:id="rId40"/>
    <p:sldId id="270" r:id="rId41"/>
    <p:sldId id="271" r:id="rId42"/>
    <p:sldId id="272" r:id="rId43"/>
    <p:sldId id="273" r:id="rId44"/>
    <p:sldId id="274" r:id="rId45"/>
    <p:sldId id="275" r:id="rId46"/>
    <p:sldId id="276" r:id="rId47"/>
    <p:sldId id="277" r:id="rId48"/>
  </p:sldIdLst>
  <p:sldSz cx="18288000" cy="10287000"/>
  <p:notesSz cx="6858000" cy="9144000"/>
  <p:embeddedFontLst>
    <p:embeddedFont>
      <p:font typeface="Anova" panose="020B0604020202020204" charset="0"/>
      <p:regular r:id="rId13"/>
      <p:bold r:id="rId14"/>
      <p:italic r:id="rId15"/>
      <p:boldItalic r:id="rId16"/>
    </p:embeddedFont>
    <p:embeddedFont>
      <p:font typeface="Anova Bold" panose="020B0604020202020204" charset="0"/>
      <p:regular r:id="rId17"/>
      <p:bold r:id="rId18"/>
      <p:italic r:id="rId19"/>
      <p:boldItalic r:id="rId20"/>
    </p:embeddedFont>
    <p:embeddedFont>
      <p:font typeface="Anova Light" panose="020B0604020202020204" charset="0"/>
      <p:regular r:id="rId21"/>
      <p:bold r:id="rId22"/>
      <p:italic r:id="rId23"/>
      <p:boldItalic r:id="rId24"/>
    </p:embeddedFont>
  </p:embeddedFontLst>
  <p:custDataLst>
    <p:tags r:id="rId25"/>
  </p:custDataLst>
  <p:defaultTextStyle>
    <a:defPPr>
      <a:defRPr lang="en-US"/>
    </a:defPPr>
    <a:lvl1pPr marL="0" algn="l" defTabSz="914400" rtl="0" eaLnBrk="1" latinLnBrk="0" hangingPunct="1">
      <a:defRPr sz="3600" kern="1200">
        <a:solidFill>
          <a:schemeClr val="tx1"/>
        </a:solidFill>
        <a:latin typeface="+mn-lt"/>
        <a:ea typeface="+mn-ea"/>
        <a:cs typeface="+mn-cs"/>
      </a:defRPr>
    </a:lvl1pPr>
    <a:lvl2pPr marL="914400" algn="l" defTabSz="914400" rtl="0" eaLnBrk="1" latinLnBrk="0" hangingPunct="1">
      <a:defRPr sz="3600" kern="1200">
        <a:solidFill>
          <a:schemeClr val="tx1"/>
        </a:solidFill>
        <a:latin typeface="+mn-lt"/>
        <a:ea typeface="+mn-ea"/>
        <a:cs typeface="+mn-cs"/>
      </a:defRPr>
    </a:lvl2pPr>
    <a:lvl3pPr marL="1828800" algn="l" defTabSz="914400" rtl="0" eaLnBrk="1" latinLnBrk="0" hangingPunct="1">
      <a:defRPr sz="3600" kern="1200">
        <a:solidFill>
          <a:schemeClr val="tx1"/>
        </a:solidFill>
        <a:latin typeface="+mn-lt"/>
        <a:ea typeface="+mn-ea"/>
        <a:cs typeface="+mn-cs"/>
      </a:defRPr>
    </a:lvl3pPr>
    <a:lvl4pPr marL="2743200" algn="l" defTabSz="914400" rtl="0" eaLnBrk="1" latinLnBrk="0" hangingPunct="1">
      <a:defRPr sz="3600" kern="1200">
        <a:solidFill>
          <a:schemeClr val="tx1"/>
        </a:solidFill>
        <a:latin typeface="+mn-lt"/>
        <a:ea typeface="+mn-ea"/>
        <a:cs typeface="+mn-cs"/>
      </a:defRPr>
    </a:lvl4pPr>
    <a:lvl5pPr marL="3657600" algn="l" defTabSz="914400" rtl="0" eaLnBrk="1" latinLnBrk="0" hangingPunct="1">
      <a:defRPr sz="3600" kern="1200">
        <a:solidFill>
          <a:schemeClr val="tx1"/>
        </a:solidFill>
        <a:latin typeface="+mn-lt"/>
        <a:ea typeface="+mn-ea"/>
        <a:cs typeface="+mn-cs"/>
      </a:defRPr>
    </a:lvl5pPr>
    <a:lvl6pPr marL="4572000" algn="l" defTabSz="914400" rtl="0" eaLnBrk="1" latinLnBrk="0" hangingPunct="1">
      <a:defRPr sz="3600" kern="1200">
        <a:solidFill>
          <a:schemeClr val="tx1"/>
        </a:solidFill>
        <a:latin typeface="+mn-lt"/>
        <a:ea typeface="+mn-ea"/>
        <a:cs typeface="+mn-cs"/>
      </a:defRPr>
    </a:lvl6pPr>
    <a:lvl7pPr marL="5486400" algn="l" defTabSz="914400" rtl="0" eaLnBrk="1" latinLnBrk="0" hangingPunct="1">
      <a:defRPr sz="3600" kern="1200">
        <a:solidFill>
          <a:schemeClr val="tx1"/>
        </a:solidFill>
        <a:latin typeface="+mn-lt"/>
        <a:ea typeface="+mn-ea"/>
        <a:cs typeface="+mn-cs"/>
      </a:defRPr>
    </a:lvl7pPr>
    <a:lvl8pPr marL="6400800" algn="l" defTabSz="914400" rtl="0" eaLnBrk="1" latinLnBrk="0" hangingPunct="1">
      <a:defRPr sz="3600" kern="1200">
        <a:solidFill>
          <a:schemeClr val="tx1"/>
        </a:solidFill>
        <a:latin typeface="+mn-lt"/>
        <a:ea typeface="+mn-ea"/>
        <a:cs typeface="+mn-cs"/>
      </a:defRPr>
    </a:lvl8pPr>
    <a:lvl9pPr marL="7315200" algn="l" defTabSz="914400" rtl="0" eaLnBrk="1" latinLnBrk="0" hangingPunct="1">
      <a:defRPr sz="36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44DA096-A44F-4CB2-86A9-989C8567BC99}">
          <p14:sldIdLst>
            <p14:sldId id="2147477438"/>
            <p14:sldId id="256"/>
            <p14:sldId id="2147483544"/>
          </p14:sldIdLst>
        </p14:section>
      </p14:sectionLst>
    </p:ex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4B708D14-BD54-920F-18BB-8395E60AE589}" name="Alice McClure" initials="AM" userId="S::alice.mcclure@sas.com::6210c489-566a-4639-8da1-84bcfd842f43" providerId="AD"/>
  <p188:author id="{7FD95D2A-4CAA-4E28-14CF-F6755ACD491D}" name="Mark Demers" initials="MD" userId="S::mark.demers@sas.com::a6c1815c-a07e-4ad8-b99d-835bfaf5b59a" providerId="AD"/>
  <p188:author id="{6DFEA739-C4EE-3CDE-94E6-A95954A908DE}" name="Tine Haaber" initials="TH" userId="S::Tine.Haaber@SAS.COM::b28dffea-6139-4081-9090-e82e8f843744" providerId="AD"/>
  <p188:author id="{9966B73D-F5BE-20D5-13EF-9EE7F32E485F}" name="Mark Demers" initials="MD" userId="S::Mark.Demers@sas.com::a6c1815c-a07e-4ad8-b99d-835bfaf5b59a" providerId="AD"/>
  <p188:author id="{8589D845-7987-B917-DB5A-8124C69673B1}" name="Ian Holmes" initials="IH" userId="S::Ian.Holmes@sas.com::be136b62-8947-4791-afb4-a71e75240925" providerId="AD"/>
  <p188:author id="{2809CD54-2E0F-B50C-4978-852C5F801C91}" name="Robert Montgomery" initials="RM" userId="S::robert.montgomery@SAS.com::28d4c29f-64b2-4ffd-8efa-fc826a00016a" providerId="AD"/>
  <p188:author id="{4711F45D-9A4C-C270-559F-E09685DD1391}" name="Elisabeth Peter" initials="EP" userId="S::Elisabeth.Peter@sas.com::e2c5cfb3-f426-4aa6-8c12-a369aa668627" providerId="AD"/>
  <p188:author id="{B039347D-3557-F9F0-E474-D5F325AD51B6}" name="Jocelyn Kline" initials="JK" userId="S::Jocelyn.Kline@sas.com::7590ce6a-d436-43a4-bfea-4908ec3bbc47" providerId="AD"/>
  <p188:author id="{D07952DD-C253-29C0-A67B-3D937B579047}" name="Cameron McLauchlin" initials="CM" userId="S::Cameron.McLauchlin@SAS.com::770c9921-c5b5-47cb-ae7c-d35ee10112a8" providerId="AD"/>
  <p188:author id="{20FD69E9-C4AD-FE04-2F1E-8C20C926D278}" name="Cameron McLauchlin" initials="CM" userId="S::cameron.mclauchlin@sas.com::770c9921-c5b5-47cb-ae7c-d35ee10112a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78DE"/>
    <a:srgbClr val="FF66B2"/>
    <a:srgbClr val="64234B"/>
    <a:srgbClr val="69224C"/>
    <a:srgbClr val="850D4A"/>
    <a:srgbClr val="DB127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089F89-7270-4661-92E8-8375F411D5B4}" v="4" dt="2026-08-10T10:39:47.2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89922" autoAdjust="0"/>
  </p:normalViewPr>
  <p:slideViewPr>
    <p:cSldViewPr snapToGrid="0">
      <p:cViewPr varScale="1">
        <p:scale>
          <a:sx n="96" d="100"/>
          <a:sy n="96" d="100"/>
        </p:scale>
        <p:origin x="3030" y="96"/>
      </p:cViewPr>
      <p:guideLst>
        <p:guide orient="horz" pos="3240"/>
        <p:guide pos="576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slideMaster" Target="slideMasters/slideMaster1.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3.xml"/><Relationship Id="rId9" Type="http://schemas.openxmlformats.org/officeDocument/2006/relationships/slide" Target="slides/slide2.xml"/><Relationship Id="rId10" Type="http://schemas.openxmlformats.org/officeDocument/2006/relationships/slide" Target="slides/slide1.xml"/><Relationship Id="rId11" Type="http://schemas.openxmlformats.org/officeDocument/2006/relationships/notesMaster" Target="notesMasters/notesMaster1.xml"/><Relationship Id="rId12" Type="http://schemas.openxmlformats.org/officeDocument/2006/relationships/handoutMaster" Target="handoutMasters/handoutMaster1.xml"/><Relationship Id="rId13" Type="http://schemas.openxmlformats.org/officeDocument/2006/relationships/font" Target="fonts/font1.fntdata"/><Relationship Id="rId14" Type="http://schemas.openxmlformats.org/officeDocument/2006/relationships/font" Target="fonts/font2.fntdata"/><Relationship Id="rId15" Type="http://schemas.openxmlformats.org/officeDocument/2006/relationships/font" Target="fonts/font3.fntdata"/><Relationship Id="rId16" Type="http://schemas.openxmlformats.org/officeDocument/2006/relationships/font" Target="fonts/font4.fntdata"/><Relationship Id="rId17" Type="http://schemas.openxmlformats.org/officeDocument/2006/relationships/font" Target="fonts/font5.fntdata"/><Relationship Id="rId18" Type="http://schemas.openxmlformats.org/officeDocument/2006/relationships/font" Target="fonts/font6.fntdata"/><Relationship Id="rId19" Type="http://schemas.openxmlformats.org/officeDocument/2006/relationships/font" Target="fonts/font7.fntdata"/><Relationship Id="rId20" Type="http://schemas.openxmlformats.org/officeDocument/2006/relationships/font" Target="fonts/font8.fntdata"/><Relationship Id="rId21" Type="http://schemas.openxmlformats.org/officeDocument/2006/relationships/font" Target="fonts/font9.fntdata"/><Relationship Id="rId22" Type="http://schemas.openxmlformats.org/officeDocument/2006/relationships/font" Target="fonts/font10.fntdata"/><Relationship Id="rId23" Type="http://schemas.openxmlformats.org/officeDocument/2006/relationships/font" Target="fonts/font11.fntdata"/><Relationship Id="rId24" Type="http://schemas.openxmlformats.org/officeDocument/2006/relationships/font" Target="fonts/font12.fntdata"/><Relationship Id="rId25" Type="http://schemas.openxmlformats.org/officeDocument/2006/relationships/tags" Target="tags/tag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5/10/relationships/revisionInfo" Target="revisionInfo.xml"/><Relationship Id="rId31" Type="http://schemas.microsoft.com/office/2018/10/relationships/authors" Target="authors.xml"/><Relationship Id="rId32" Type="http://schemas.openxmlformats.org/officeDocument/2006/relationships/slide" Target="slides/slide6.xml"/><Relationship Id="rId33" Type="http://schemas.openxmlformats.org/officeDocument/2006/relationships/slide" Target="slides/slide7.xml"/><Relationship Id="rId34" Type="http://schemas.openxmlformats.org/officeDocument/2006/relationships/slide" Target="slides/slide8.xml"/><Relationship Id="rId35" Type="http://schemas.openxmlformats.org/officeDocument/2006/relationships/slide" Target="slides/slide9.xml"/><Relationship Id="rId36" Type="http://schemas.openxmlformats.org/officeDocument/2006/relationships/slide" Target="slides/slide10.xml"/><Relationship Id="rId37" Type="http://schemas.openxmlformats.org/officeDocument/2006/relationships/slide" Target="slides/slide11.xml"/><Relationship Id="rId38" Type="http://schemas.openxmlformats.org/officeDocument/2006/relationships/slide" Target="slides/slide12.xml"/><Relationship Id="rId39" Type="http://schemas.openxmlformats.org/officeDocument/2006/relationships/slide" Target="slides/slide13.xml"/><Relationship Id="rId40" Type="http://schemas.openxmlformats.org/officeDocument/2006/relationships/slide" Target="slides/slide14.xml"/><Relationship Id="rId41" Type="http://schemas.openxmlformats.org/officeDocument/2006/relationships/slide" Target="slides/slide15.xml"/><Relationship Id="rId42" Type="http://schemas.openxmlformats.org/officeDocument/2006/relationships/slide" Target="slides/slide16.xml"/><Relationship Id="rId43" Type="http://schemas.openxmlformats.org/officeDocument/2006/relationships/slide" Target="slides/slide17.xml"/><Relationship Id="rId44" Type="http://schemas.openxmlformats.org/officeDocument/2006/relationships/slide" Target="slides/slide18.xml"/><Relationship Id="rId45" Type="http://schemas.openxmlformats.org/officeDocument/2006/relationships/slide" Target="slides/slide19.xml"/><Relationship Id="rId46" Type="http://schemas.openxmlformats.org/officeDocument/2006/relationships/slide" Target="slides/slide20.xml"/><Relationship Id="rId47" Type="http://schemas.openxmlformats.org/officeDocument/2006/relationships/slide" Target="slides/slide21.xml"/><Relationship Id="rId48" Type="http://schemas.openxmlformats.org/officeDocument/2006/relationships/slide" Target="slides/slide2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 Id="rId2" Type="http://schemas.openxmlformats.org/officeDocument/2006/relationships/tags" Target="../tags/tag42.xml"/><Relationship Id="rId3" Type="http://schemas.openxmlformats.org/officeDocument/2006/relationships/image" Target="../media/image4.sv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01A56FA-0DF4-15B7-A216-DB01CF5CEB6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5CE34E3-7E5C-436A-9E6D-2FFC8FFCFCBF}" type="datetimeFigureOut">
              <a:rPr lang="en-US" smtClean="0">
                <a:latin typeface="Anova Light" panose="020B0403020203020204" pitchFamily="34" charset="0"/>
              </a:rPr>
              <a:t>8/12/2026</a:t>
            </a:fld>
            <a:endParaRPr lang="en-US">
              <a:latin typeface="Anova Light" panose="020B0403020203020204" pitchFamily="34" charset="0"/>
            </a:endParaRPr>
          </a:p>
        </p:txBody>
      </p:sp>
      <p:sp>
        <p:nvSpPr>
          <p:cNvPr id="5" name="Slide Number Placeholder 4">
            <a:extLst>
              <a:ext uri="{FF2B5EF4-FFF2-40B4-BE49-F238E27FC236}">
                <a16:creationId xmlns:a16="http://schemas.microsoft.com/office/drawing/2014/main" id="{BA52EC1A-046B-DC8F-4AAC-4BB03667CCC0}"/>
              </a:ext>
            </a:extLst>
          </p:cNvPr>
          <p:cNvSpPr>
            <a:spLocks noGrp="1"/>
          </p:cNvSpPr>
          <p:nvPr>
            <p:ph type="sldNum" sz="quarter" idx="3"/>
          </p:nvPr>
        </p:nvSpPr>
        <p:spPr>
          <a:xfrm>
            <a:off x="0" y="0"/>
            <a:ext cx="2971800" cy="458787"/>
          </a:xfrm>
          <a:prstGeom prst="rect">
            <a:avLst/>
          </a:prstGeom>
        </p:spPr>
        <p:txBody>
          <a:bodyPr vert="horz" lIns="91440" tIns="45720" rIns="91440" bIns="45720" rtlCol="0" anchor="b"/>
          <a:lstStyle>
            <a:lvl1pPr algn="r">
              <a:defRPr sz="1200"/>
            </a:lvl1pPr>
          </a:lstStyle>
          <a:p>
            <a:pPr algn="l"/>
            <a:fld id="{C4EF46A2-9381-4C51-8277-3C7F2938E9F9}" type="slidenum">
              <a:rPr lang="en-US" smtClean="0">
                <a:latin typeface="Anova Light" panose="020B0403020203020204" pitchFamily="34" charset="0"/>
              </a:rPr>
              <a:pPr algn="l"/>
              <a:t>‹#›</a:t>
            </a:fld>
            <a:endParaRPr lang="en-US">
              <a:latin typeface="Anova Light" panose="020B0403020203020204" pitchFamily="34" charset="0"/>
            </a:endParaRPr>
          </a:p>
        </p:txBody>
      </p:sp>
      <p:sp>
        <p:nvSpPr>
          <p:cNvPr id="2" name="TextBox 4">
            <a:extLst>
              <a:ext uri="{FF2B5EF4-FFF2-40B4-BE49-F238E27FC236}">
                <a16:creationId xmlns:a16="http://schemas.microsoft.com/office/drawing/2014/main" id="{7A8A3785-BF0E-6C8B-8B7B-0521D7696A29}"/>
              </a:ext>
            </a:extLst>
          </p:cNvPr>
          <p:cNvSpPr txBox="1"/>
          <p:nvPr/>
        </p:nvSpPr>
        <p:spPr>
          <a:xfrm>
            <a:off x="685800" y="8879554"/>
            <a:ext cx="2514600" cy="169277"/>
          </a:xfrm>
          <a:prstGeom prst="rect">
            <a:avLst/>
          </a:prstGeom>
          <a:noFill/>
        </p:spPr>
        <p:txBody>
          <a:bodyPr wrap="square" lIns="0" anchor="b" anchorCtr="0">
            <a:spAutoFit/>
          </a:bodyPr>
          <a:lstStyle/>
          <a:p>
            <a:pPr marL="0" marR="0" lvl="0" indent="0" algn="l" defTabSz="274313" rtl="0" eaLnBrk="0" fontAlgn="auto" latinLnBrk="0" hangingPunct="0">
              <a:lnSpc>
                <a:spcPct val="100000"/>
              </a:lnSpc>
              <a:spcBef>
                <a:spcPts val="0"/>
              </a:spcBef>
              <a:spcAft>
                <a:spcPts val="0"/>
              </a:spcAft>
              <a:buClrTx/>
              <a:buSzTx/>
              <a:buFontTx/>
              <a:buNone/>
              <a:tabLst/>
              <a:defRPr/>
            </a:pPr>
            <a:r>
              <a:rPr kumimoji="0" lang="en-US" sz="500" b="0" i="0" u="none" strike="noStrike" kern="300" cap="none" spc="50" normalizeH="0" baseline="0" noProof="0">
                <a:ln>
                  <a:noFill/>
                </a:ln>
                <a:solidFill>
                  <a:schemeClr val="accent5">
                    <a:lumMod val="60000"/>
                    <a:lumOff val="40000"/>
                  </a:schemeClr>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pic>
        <p:nvPicPr>
          <p:cNvPr id="4" name="Picture 6">
            <a:extLst>
              <a:ext uri="{FF2B5EF4-FFF2-40B4-BE49-F238E27FC236}">
                <a16:creationId xmlns:a16="http://schemas.microsoft.com/office/drawing/2014/main" id="{3F6C63C1-B02C-0586-DDA1-7B0EB003F6D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5992336" y="8788172"/>
            <a:ext cx="627951" cy="260659"/>
          </a:xfrm>
          <a:prstGeom prst="rect">
            <a:avLst/>
          </a:prstGeom>
        </p:spPr>
      </p:pic>
      <p:sp>
        <p:nvSpPr>
          <p:cNvPr id="6" name="TextBox 2">
            <a:extLst>
              <a:ext uri="{FF2B5EF4-FFF2-40B4-BE49-F238E27FC236}">
                <a16:creationId xmlns:a16="http://schemas.microsoft.com/office/drawing/2014/main" id="{FDEF6B2A-6211-F846-C47F-DC10CAA8C891}"/>
              </a:ext>
            </a:extLst>
          </p:cNvPr>
          <p:cNvSpPr txBox="1"/>
          <p:nvPr/>
        </p:nvSpPr>
        <p:spPr>
          <a:xfrm>
            <a:off x="2493335" y="8732520"/>
            <a:ext cx="1871330" cy="215444"/>
          </a:xfrm>
          <a:prstGeom prst="rect">
            <a:avLst/>
          </a:prstGeom>
          <a:noFill/>
        </p:spPr>
        <p:txBody>
          <a:bodyPr wrap="square" rtlCol="0" anchor="ctr">
            <a:spAutoFit/>
          </a:bodyPr>
          <a:lstStyle/>
          <a:p>
            <a:pPr algn="ctr" defTabSz="182880"/>
            <a:r>
              <a:rPr lang="en-US" sz="800">
                <a:solidFill>
                  <a:schemeClr val="accent4"/>
                </a:solidFill>
                <a:latin typeface="Anova Light" panose="020B0403020203020204" pitchFamily="34" charset="0"/>
              </a:rPr>
              <a:t>sas.com</a:t>
            </a:r>
          </a:p>
        </p:txBody>
      </p:sp>
    </p:spTree>
    <p:custDataLst>
      <p:tags r:id="rId2"/>
    </p:custDataLst>
    <p:extLst>
      <p:ext uri="{BB962C8B-B14F-4D97-AF65-F5344CB8AC3E}">
        <p14:creationId xmlns:p14="http://schemas.microsoft.com/office/powerpoint/2010/main" val="2626892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4.sv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solidFill>
                  <a:schemeClr val="tx1"/>
                </a:solidFill>
                <a:latin typeface="Anova Light" panose="020B0403020203020204" pitchFamily="34" charset="0"/>
              </a:defRPr>
            </a:lvl1pPr>
          </a:lstStyle>
          <a:p>
            <a:fld id="{D46682E9-A1D3-F04F-A14F-ABAA4D2618F2}" type="datetimeFigureOut">
              <a:rPr lang="en-US" smtClean="0"/>
              <a:pPr/>
              <a:t>8/12/2026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4">
            <a:extLst>
              <a:ext uri="{FF2B5EF4-FFF2-40B4-BE49-F238E27FC236}">
                <a16:creationId xmlns:a16="http://schemas.microsoft.com/office/drawing/2014/main" id="{CFAEC8D7-15A6-6F9F-E0B7-CB248431A52A}"/>
              </a:ext>
            </a:extLst>
          </p:cNvPr>
          <p:cNvSpPr txBox="1"/>
          <p:nvPr/>
        </p:nvSpPr>
        <p:spPr>
          <a:xfrm>
            <a:off x="685800" y="8879554"/>
            <a:ext cx="2514600" cy="169277"/>
          </a:xfrm>
          <a:prstGeom prst="rect">
            <a:avLst/>
          </a:prstGeom>
          <a:noFill/>
        </p:spPr>
        <p:txBody>
          <a:bodyPr wrap="square" lIns="0" anchor="b" anchorCtr="0">
            <a:spAutoFit/>
          </a:bodyPr>
          <a:lstStyle/>
          <a:p>
            <a:pPr marL="0" marR="0" lvl="0" indent="0" algn="l" defTabSz="274313" rtl="0" eaLnBrk="0" fontAlgn="auto" latinLnBrk="0" hangingPunct="0">
              <a:lnSpc>
                <a:spcPct val="100000"/>
              </a:lnSpc>
              <a:spcBef>
                <a:spcPts val="0"/>
              </a:spcBef>
              <a:spcAft>
                <a:spcPts val="0"/>
              </a:spcAft>
              <a:buClrTx/>
              <a:buSzTx/>
              <a:buFontTx/>
              <a:buNone/>
              <a:tabLst/>
              <a:defRPr/>
            </a:pPr>
            <a:r>
              <a:rPr kumimoji="0" lang="en-US" sz="500" b="0" i="0" u="none" strike="noStrike" kern="300" cap="none" spc="50" normalizeH="0" baseline="0" noProof="0">
                <a:ln>
                  <a:noFill/>
                </a:ln>
                <a:solidFill>
                  <a:schemeClr val="accent5">
                    <a:lumMod val="60000"/>
                    <a:lumOff val="40000"/>
                  </a:schemeClr>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
        <p:nvSpPr>
          <p:cNvPr id="10" name="Slide Number Placeholder 4">
            <a:extLst>
              <a:ext uri="{FF2B5EF4-FFF2-40B4-BE49-F238E27FC236}">
                <a16:creationId xmlns:a16="http://schemas.microsoft.com/office/drawing/2014/main" id="{9DE3AD8C-AE96-943C-8DAF-3D5594863A36}"/>
              </a:ext>
            </a:extLst>
          </p:cNvPr>
          <p:cNvSpPr>
            <a:spLocks noGrp="1"/>
          </p:cNvSpPr>
          <p:nvPr>
            <p:ph type="sldNum" sz="quarter" idx="5"/>
          </p:nvPr>
        </p:nvSpPr>
        <p:spPr>
          <a:xfrm>
            <a:off x="0" y="0"/>
            <a:ext cx="2971800" cy="458787"/>
          </a:xfrm>
          <a:prstGeom prst="rect">
            <a:avLst/>
          </a:prstGeom>
        </p:spPr>
        <p:txBody>
          <a:bodyPr vert="horz" lIns="91440" tIns="45720" rIns="91440" bIns="45720" rtlCol="0" anchor="b"/>
          <a:lstStyle>
            <a:lvl1pPr algn="r">
              <a:defRPr sz="1200" b="0" i="0">
                <a:solidFill>
                  <a:schemeClr val="tx1"/>
                </a:solidFill>
                <a:latin typeface="Anova Light" panose="020B0403020203020204" pitchFamily="34" charset="0"/>
              </a:defRPr>
            </a:lvl1pPr>
          </a:lstStyle>
          <a:p>
            <a:pPr algn="l"/>
            <a:fld id="{C4EF46A2-9381-4C51-8277-3C7F2938E9F9}" type="slidenum">
              <a:rPr lang="en-US" smtClean="0"/>
              <a:pPr algn="l"/>
              <a:t>‹#›</a:t>
            </a:fld>
            <a:endParaRPr lang="en-US"/>
          </a:p>
        </p:txBody>
      </p:sp>
      <p:pic>
        <p:nvPicPr>
          <p:cNvPr id="2" name="Picture 6">
            <a:extLst>
              <a:ext uri="{FF2B5EF4-FFF2-40B4-BE49-F238E27FC236}">
                <a16:creationId xmlns:a16="http://schemas.microsoft.com/office/drawing/2014/main" id="{D7A2D390-EEAD-C632-F276-85D15BA57F0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5992336" y="8788172"/>
            <a:ext cx="627951" cy="260659"/>
          </a:xfrm>
          <a:prstGeom prst="rect">
            <a:avLst/>
          </a:prstGeom>
        </p:spPr>
      </p:pic>
      <p:sp>
        <p:nvSpPr>
          <p:cNvPr id="6" name="TextBox 2">
            <a:extLst>
              <a:ext uri="{FF2B5EF4-FFF2-40B4-BE49-F238E27FC236}">
                <a16:creationId xmlns:a16="http://schemas.microsoft.com/office/drawing/2014/main" id="{F607DE50-086C-7432-5C71-ADF401D86D53}"/>
              </a:ext>
            </a:extLst>
          </p:cNvPr>
          <p:cNvSpPr txBox="1"/>
          <p:nvPr/>
        </p:nvSpPr>
        <p:spPr>
          <a:xfrm>
            <a:off x="2493335" y="8732520"/>
            <a:ext cx="1871330" cy="215444"/>
          </a:xfrm>
          <a:prstGeom prst="rect">
            <a:avLst/>
          </a:prstGeom>
          <a:noFill/>
        </p:spPr>
        <p:txBody>
          <a:bodyPr wrap="square" rtlCol="0" anchor="ctr">
            <a:spAutoFit/>
          </a:bodyPr>
          <a:lstStyle/>
          <a:p>
            <a:pPr algn="ctr" defTabSz="182880"/>
            <a:r>
              <a:rPr lang="en-US" sz="800">
                <a:solidFill>
                  <a:schemeClr val="tx1"/>
                </a:solidFill>
                <a:latin typeface="Anova Light" panose="020B0403020203020204" pitchFamily="34" charset="0"/>
              </a:rPr>
              <a:t>sas.com</a:t>
            </a:r>
          </a:p>
        </p:txBody>
      </p:sp>
    </p:spTree>
    <p:extLst>
      <p:ext uri="{BB962C8B-B14F-4D97-AF65-F5344CB8AC3E}">
        <p14:creationId xmlns:p14="http://schemas.microsoft.com/office/powerpoint/2010/main" val="3625376775"/>
      </p:ext>
    </p:extLst>
  </p:cSld>
  <p:clrMap bg1="lt1" tx1="dk1" bg2="lt2" tx2="dk2" accent1="accent1" accent2="accent2" accent3="accent3" accent4="accent4" accent5="accent5" accent6="accent6" hlink="hlink" folHlink="folHlink"/>
  <p:notesStyle>
    <a:lvl1pPr marL="342900" indent="-342900" algn="l" defTabSz="1828800" rtl="0" eaLnBrk="1" latinLnBrk="0" hangingPunct="1">
      <a:buClr>
        <a:schemeClr val="accent5"/>
      </a:buClr>
      <a:buFont typeface="Anova Light" panose="020B0403020203020204" pitchFamily="34" charset="0"/>
      <a:buChar char="•"/>
      <a:defRPr sz="2400" b="0" i="0" kern="1200">
        <a:solidFill>
          <a:schemeClr val="tx1"/>
        </a:solidFill>
        <a:latin typeface="+mn-lt"/>
        <a:ea typeface="+mn-ea"/>
        <a:cs typeface="+mn-cs"/>
      </a:defRPr>
    </a:lvl1pPr>
    <a:lvl2pPr marL="1257300" indent="-342900" algn="l" defTabSz="1828800" rtl="0" eaLnBrk="1" latinLnBrk="0" hangingPunct="1">
      <a:buClr>
        <a:schemeClr val="accent5"/>
      </a:buClr>
      <a:buFont typeface="Anova Light" panose="020B0403020203020204" pitchFamily="34" charset="0"/>
      <a:buChar char="–"/>
      <a:defRPr sz="2000" b="0" i="0" kern="1200">
        <a:solidFill>
          <a:schemeClr val="tx1"/>
        </a:solidFill>
        <a:latin typeface="+mn-lt"/>
        <a:ea typeface="+mn-ea"/>
        <a:cs typeface="+mn-cs"/>
      </a:defRPr>
    </a:lvl2pPr>
    <a:lvl3pPr marL="2171700" indent="-342900" algn="l" defTabSz="1828800" rtl="0" eaLnBrk="1" latinLnBrk="0" hangingPunct="1">
      <a:buClr>
        <a:schemeClr val="accent5"/>
      </a:buClr>
      <a:buFont typeface="Anova Light" panose="020B0403020203020204" pitchFamily="34" charset="0"/>
      <a:buChar char="•"/>
      <a:defRPr sz="1800" b="0" i="0" kern="1200">
        <a:solidFill>
          <a:schemeClr val="tx1"/>
        </a:solidFill>
        <a:latin typeface="+mn-lt"/>
        <a:ea typeface="+mn-ea"/>
        <a:cs typeface="+mn-cs"/>
      </a:defRPr>
    </a:lvl3pPr>
    <a:lvl4pPr marL="3086100" indent="-342900" algn="l" defTabSz="1828800" rtl="0" eaLnBrk="1" latinLnBrk="0" hangingPunct="1">
      <a:buClr>
        <a:schemeClr val="accent5"/>
      </a:buClr>
      <a:buFont typeface="Anova Light" panose="020B0403020203020204" pitchFamily="34" charset="0"/>
      <a:buChar char="–"/>
      <a:defRPr sz="1600" b="0" i="0" kern="1200">
        <a:solidFill>
          <a:schemeClr val="tx1"/>
        </a:solidFill>
        <a:latin typeface="+mn-lt"/>
        <a:ea typeface="+mn-ea"/>
        <a:cs typeface="+mn-cs"/>
      </a:defRPr>
    </a:lvl4pPr>
    <a:lvl5pPr marL="4000500" indent="-342900" algn="l" defTabSz="1828800" rtl="0" eaLnBrk="1" latinLnBrk="0" hangingPunct="1">
      <a:buClr>
        <a:schemeClr val="accent5"/>
      </a:buClr>
      <a:buFont typeface="Anova Light" panose="020B0403020203020204" pitchFamily="34" charset="0"/>
      <a:buChar char="•"/>
      <a:defRPr sz="1400" b="0" i="0" kern="1200">
        <a:solidFill>
          <a:schemeClr val="tx1"/>
        </a:solidFill>
        <a:latin typeface="+mn-lt"/>
        <a:ea typeface="+mn-ea"/>
        <a:cs typeface="+mn-cs"/>
      </a:defRPr>
    </a:lvl5pPr>
    <a:lvl6pPr marL="4572000" algn="l" defTabSz="1828800" rtl="0" eaLnBrk="1" latinLnBrk="0" hangingPunct="1">
      <a:defRPr sz="2400" kern="1200">
        <a:solidFill>
          <a:schemeClr val="tx1"/>
        </a:solidFill>
        <a:latin typeface="+mn-lt"/>
        <a:ea typeface="+mn-ea"/>
        <a:cs typeface="+mn-cs"/>
      </a:defRPr>
    </a:lvl6pPr>
    <a:lvl7pPr marL="5486400" algn="l" defTabSz="1828800" rtl="0" eaLnBrk="1" latinLnBrk="0" hangingPunct="1">
      <a:defRPr sz="2400" kern="1200">
        <a:solidFill>
          <a:schemeClr val="tx1"/>
        </a:solidFill>
        <a:latin typeface="+mn-lt"/>
        <a:ea typeface="+mn-ea"/>
        <a:cs typeface="+mn-cs"/>
      </a:defRPr>
    </a:lvl7pPr>
    <a:lvl8pPr marL="6400800" algn="l" defTabSz="1828800" rtl="0" eaLnBrk="1" latinLnBrk="0" hangingPunct="1">
      <a:defRPr sz="2400" kern="1200">
        <a:solidFill>
          <a:schemeClr val="tx1"/>
        </a:solidFill>
        <a:latin typeface="+mn-lt"/>
        <a:ea typeface="+mn-ea"/>
        <a:cs typeface="+mn-cs"/>
      </a:defRPr>
    </a:lvl8pPr>
    <a:lvl9pPr marL="7315200" algn="l" defTabSz="1828800" rtl="0" eaLnBrk="1" latinLnBrk="0" hangingPunct="1">
      <a:defRPr sz="2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Forty-five minutes, two live demonstrations, one argument: agentic AI has moved from pilots to production in health</a:t>
            </a:r>
          </a:p>
          <a:p>
            <a:r>
              <a:t>care, and the value sits in real-world data that health systems already hold and nobody has the hours to act on.</a:t>
            </a:r>
          </a:p>
          <a:p>
            <a:r>
              <a:t>Timing: executive summary 3 min (slide 2); why now and what it is 5 min (3-5); the evidence and the use-case map</a:t>
            </a:r>
          </a:p>
          <a:p>
            <a:r>
              <a:t>7 min (6-8); Example 1, population health, 5 min on slides (10-13) and 10 min live; Example 2, cancer early warning,</a:t>
            </a:r>
          </a:p>
          <a:p>
            <a:r>
              <a:t>5 min on slides (15-18) and 7 min live; what it means 3 min (19-20); questions. Slides 13 and 18 are backups if a</a:t>
            </a:r>
          </a:p>
          <a:p>
            <a:r>
              <a:t>live environment misbehaves. Before the session: open the app on the second screen with Example 1 warmed up on the</a:t>
            </a:r>
          </a:p>
          <a:p>
            <a:r>
              <a:t>morning briefing and Example 2 loaded with Fatima's profile; check the trace panel is visible.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session on one page; say it in ninety seconds and the room knows where you are going. Four messages: the</a:t>
            </a:r>
          </a:p>
          <a:p>
            <a:r>
              <a:t>evidence is in (measured outcomes, not pilots); the use cases are known across the whole pathway, so the question is</a:t>
            </a:r>
          </a:p>
          <a:p>
            <a:r>
              <a:t>which workflow first; the winning pattern is always the same (model in the middle, your data and guidelines around</a:t>
            </a:r>
          </a:p>
          <a:p>
            <a:r>
              <a:t>it, a person at the decision); and today you will see that pattern twice, live, on synthetic data. The panel on the</a:t>
            </a:r>
          </a:p>
          <a:p>
            <a:r>
              <a:t>right is the running order.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frame for everything that follows. The loop on the left is what 'real-world evidence' means in practice: data that</a:t>
            </a:r>
          </a:p>
          <a:p>
            <a:r>
              <a:t>already exists (the HIE, the registry, the screening programme) becomes evidence (a cohort, a risk, a gap, a guideline</a:t>
            </a:r>
          </a:p>
          <a:p>
            <a:r>
              <a:t>section), evidence becomes an action (a recall, a referral, a draft), and the outcome is written back. Every health</a:t>
            </a:r>
          </a:p>
          <a:p>
            <a:r>
              <a:t>system runs this loop; the constraint is the human hours in the middle. On the right, why it matters here: one in five</a:t>
            </a:r>
          </a:p>
          <a:p>
            <a:r>
              <a:t>adults in the UAE lives with diabetes; bowel cancer is the most common cancer among men and strikes young; and real-</a:t>
            </a:r>
          </a:p>
          <a:p>
            <a:r>
              <a:t>world evidence is now mainstream even with regulators. Agentic AI is the first technology that can run the loop, not</a:t>
            </a:r>
          </a:p>
          <a:p>
            <a:r>
              <a:t>just one step of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cards instead of three definitions. Analytical AI predicts, and most health systems already run it. Generative</a:t>
            </a:r>
          </a:p>
          <a:p>
            <a:r>
              <a:t>AI writes, and most of the room has used it. Agentic AI is given a goal, decides which tools to use, uses them,</a:t>
            </a:r>
          </a:p>
          <a:p>
            <a:r>
              <a:t>checks the result and keeps going until the job is done or a person has to decide. The last row of each card ties it</a:t>
            </a:r>
          </a:p>
          <a:p>
            <a:r>
              <a:t>to what they will see: the risk model and the screening score are analytical; the language model writes; the agent</a:t>
            </a:r>
          </a:p>
          <a:p>
            <a:r>
              <a:t>orchestrates both. The sentence underneath is the only definition in the deck.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every successful deployment shares, and the one both demos use. The language model sits in the</a:t>
            </a:r>
          </a:p>
          <a:p>
            <a:r>
              <a:t>middle and only reasons, plans and writes. Knowledge is what it may quote: your guidelines, retrieved and cited.</a:t>
            </a:r>
          </a:p>
          <a:p>
            <a:r>
              <a:t>Tools are what it may call: your data, models and rules behind one governed plug, so you can read the tool list and</a:t>
            </a:r>
          </a:p>
          <a:p>
            <a:r>
              <a:t>know exactly what it can reach. Oversight is the person at the decision. Trace is the audit trail, built in rather</a:t>
            </a:r>
          </a:p>
          <a:p>
            <a:r>
              <a:t>than bolted on. Say the footer slowly; it is the sentence that settles the security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deployments, six measured results, all published or reported in the last two years. Read the big numbers only.</a:t>
            </a:r>
          </a:p>
          <a:p>
            <a:r>
              <a:t>Documentation: sixteen minutes a day across five academic systems and 8,581 clinicians, modest and real. Burnout: from</a:t>
            </a:r>
          </a:p>
          <a:p>
            <a:r>
              <a:t>half of clinicians to under four in ten in a month. Screening outreach: a machine-learning list and a phone call, and</a:t>
            </a:r>
          </a:p>
          <a:p>
            <a:r>
              <a:t>two-year mortality 43% lower than controls. Multilingual outreach: the agent reached the group the system was failing.</a:t>
            </a:r>
          </a:p>
          <a:p>
            <a:r>
              <a:t>Prior authorisation: 40% of cases never touched by a human. Trial matching: 87% accuracy, 43% less screening time.</a:t>
            </a:r>
          </a:p>
          <a:p>
            <a:r>
              <a:t>What they have in common: a named workflow, a number, and a person still in the loop.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map of where this goes. Six places along the pathway, two use cases each, all of them running somewhere today in</a:t>
            </a:r>
          </a:p>
          <a:p>
            <a:r>
              <a:t>some form: before the visit (intake, triage), during (documentation, cited decision support), after (follow-up calls,</a:t>
            </a:r>
          </a:p>
          <a:p>
            <a:r>
              <a:t>adherence), population and prevention (registry surveillance, screening outreach and early warning), operations and</a:t>
            </a:r>
          </a:p>
          <a:p>
            <a:r>
              <a:t>finance (prior authorisation, capacity), research (trial matching, continuous real-world evidence). The blue card is</a:t>
            </a:r>
          </a:p>
          <a:p>
            <a:r>
              <a:t>where the two demos sit. Invite the room to place their own idea on this map; most land in one of the six.</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Credibility slide. Two numbers the sceptics in the room already know: 95% of generative-AI pilots with no measurable</a:t>
            </a:r>
          </a:p>
          <a:p>
            <a:r>
              <a:t>return, and more than four in ten agentic projects expected to be cancelled by 2027. Do not argue with them; agree,</a:t>
            </a:r>
          </a:p>
          <a:p>
            <a:r>
              <a:t>and then show what separates the six deployments on the evidence slide from the pilots that died. A workflow with a</a:t>
            </a:r>
          </a:p>
          <a:p>
            <a:r>
              <a:t>number. Data that already exists. A person at the decision. Measured in weeks. The two demos are built to pass all</a:t>
            </a:r>
          </a:p>
          <a:p>
            <a:r>
              <a:t>four tests, and the last slide of the deck turns them into a checklist for the use cases.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 Five minutes on the problem, the solution and the demo plan, then ten minutes live in the app: the Assistant tab, with the trace panel open.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Situation, complication, what good looks like. The programme lead has the data: 4,000 patients, 54 fields, three</a:t>
            </a:r>
          </a:p>
          <a:p>
            <a:r>
              <a:t>years of history. What they do not have is the hours: every question is an analyst request and a guideline lookup,</a:t>
            </a:r>
          </a:p>
          <a:p>
            <a:r>
              <a:t>so questions are asked rarely and gaps are found late. The tiles give the room a feel for the registry before the</a:t>
            </a:r>
          </a:p>
          <a:p>
            <a:r>
              <a:t>demo: a third well controlled, 760 overdue a test, AED 64 million a year. Be explicit that the data is synthetic and</a:t>
            </a:r>
          </a:p>
          <a:p>
            <a:r>
              <a:t>the guidelines are a teaching set; the numbers are real for this data only.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 picture to remember. Left: two kinds of data. The guidelines are chunked, embedded and stored as vectors (the</a:t>
            </a:r>
          </a:p>
          <a:p>
            <a:r>
              <a:t>knowledge base the agent quotes from); the registry is loaded as a CAS table in SAS Viya. Middle: the agent, a</a:t>
            </a:r>
          </a:p>
          <a:p>
            <a:r>
              <a:t>supervisor that sends five specialists to work (cohort, guideline, risk, population health, action), grounds every</a:t>
            </a:r>
          </a:p>
          <a:p>
            <a:r>
              <a:t>clinical statement in a guideline section, and logs every call. Right: the MCP server and the tools it exposes: score</a:t>
            </a:r>
          </a:p>
          <a:p>
            <a:r>
              <a:t>and simulate with the deployed models, quality measures and care gaps, a draft that lands in the approval queue, a</a:t>
            </a:r>
          </a:p>
          <a:p>
            <a:r>
              <a:t>chart, a query. Follow the dotted line: the registry becomes a CAS table and the SQL tool reads it; the agent itself</a:t>
            </a:r>
          </a:p>
          <a:p>
            <a:r>
              <a:t>never touches the table. Nothing the agent drafts reaches the record; the approval queue is the only exit.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minute, then switch to the app. Four questions in a deliberate order: a briefing (the agent reads the whole</a:t>
            </a:r>
          </a:p>
          <a:p>
            <a:r>
              <a:t>panel), a single patient (record, score, guideline, draft), a cohort with a value attached (what closing the gap is</a:t>
            </a:r>
          </a:p>
          <a:p>
            <a:r>
              <a:t>worth), and a recall campaign (a chart and a draft). For each, show the answer, then point at the trace: which</a:t>
            </a:r>
          </a:p>
          <a:p>
            <a:r>
              <a:t>specialist was called, what it ran, what came back. The approval queue is the end of every path. If the environment</a:t>
            </a:r>
          </a:p>
          <a:p>
            <a:r>
              <a:t>is slow, drop question 4; if it fails, use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2, taken apart. Use it after the live demo to replay what the room just saw, or instead of it if the</a:t>
            </a:r>
          </a:p>
          <a:p>
            <a:r>
              <a:t>environment fails. Six beats: the cohort specialist pulls the record, the risk specialist scores it, the guideline</a:t>
            </a:r>
          </a:p>
          <a:p>
            <a:r>
              <a:t>specialist finds the section, the action specialist drafts, the supervisor writes the cited answer, and the</a:t>
            </a:r>
          </a:p>
          <a:p>
            <a:r>
              <a:t>clinician decides. Three design choices are hiding here: the guideline was read before any recommendation was</a:t>
            </a:r>
          </a:p>
          <a:p>
            <a:r>
              <a:t>written; the draft never reached the record; and the decision is logged next to the trace that produced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2. Five minutes on the problem, the engine and the four people, then seven minutes live in the app: the Example 2 tab.</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structure as Example 1. Situation: bowel cancer is the most common cancer among men in the UAE, it is rising,</a:t>
            </a:r>
          </a:p>
          <a:p>
            <a:r>
              <a:t>and it strikes young, which is why the national programme starts at 40 rather than 45 or 50. Complication: the</a:t>
            </a:r>
          </a:p>
          <a:p>
            <a:r>
              <a:t>programme only works if people know they are due, which test applies, and where to go; family history changes the</a:t>
            </a:r>
          </a:p>
          <a:p>
            <a:r>
              <a:t>rules and is rarely asked; symptoms get parked. What good looks like: two minutes to a personal answer, red flags</a:t>
            </a:r>
          </a:p>
          <a:p>
            <a:r>
              <a:t>straight to the urgent route, and a programme view of who is due. Be clear that the check is a prototype on a</a:t>
            </a:r>
          </a:p>
          <a:p>
            <a:r>
              <a:t>published score and a simplified version of the programme; it does not diagnose.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picture, second example. Left: what the person writes in their own words is read by the language model and turned</a:t>
            </a:r>
          </a:p>
          <a:p>
            <a:r>
              <a:t>into flags to tick ("you mentioned blood") and questions answered; what they enter in the form feeds the score and the</a:t>
            </a:r>
          </a:p>
          <a:p>
            <a:r>
              <a:t>rules. Middle: the screening agent, with the rules in charge: a published score and the national programme decide the</a:t>
            </a:r>
          </a:p>
          <a:p>
            <a:r>
              <a:t>pathway, red flags override everything, the model only explains, nothing is stored. Right: the tools behind the MCP</a:t>
            </a:r>
          </a:p>
          <a:p>
            <a:r>
              <a:t>server: the score, the pathway rules, the nearest facility with distance and minutes, the lifestyle levers, and the</a:t>
            </a:r>
          </a:p>
          <a:p>
            <a:r>
              <a:t>question-answering model. Follow the dotted line: the facilities table feeds the nearest-door tool. What it delivers: a</a:t>
            </a:r>
          </a:p>
          <a:p>
            <a:r>
              <a:t>tier with a measured chance, the right test and place, and red flags sent to a doctor rather than the screening queue.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people, chosen so that the same programme sends each one somewhere different. Fatima: average risk, due for</a:t>
            </a:r>
          </a:p>
          <a:p>
            <a:r>
              <a:t>her first FIT at the nearest health centre. Khalid: seven points out of eight, due now, and the check says</a:t>
            </a:r>
          </a:p>
          <a:p>
            <a:r>
              <a:t>colonoscopy is worth considering directly. Mariam: 38, so not yet 40, but a sister diagnosed at 46 moves her to</a:t>
            </a:r>
          </a:p>
          <a:p>
            <a:r>
              <a:t>colonoscopy from 36, so she is due now. Youssef: the score is irrelevant, the symptoms send him to a doctor within</a:t>
            </a:r>
          </a:p>
          <a:p>
            <a:r>
              <a:t>two weeks. Then the two things that show the agent: free text being picked up, and a question answered in Arabic.</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Zoom out. The check you just saw is one person at a time; the same score and the same rules over the registry</a:t>
            </a:r>
          </a:p>
          <a:p>
            <a:r>
              <a:t>produce the programme view: who is due, who is overdue, by facility; red flags triaged out of the screening queue;</a:t>
            </a:r>
          </a:p>
          <a:p>
            <a:r>
              <a:t>capacity matched to demand. And the evidence that this is worth doing is already published: at Geisinger, a</a:t>
            </a:r>
          </a:p>
          <a:p>
            <a:r>
              <a:t>machine-learning list plus outreach cut two-year mortality by 43% relative to controls; at WellSpan, an AI agent</a:t>
            </a:r>
          </a:p>
          <a:p>
            <a:r>
              <a:t>calling people in their own language more than doubled FIT opt-in among the group the system was failing. Note the</a:t>
            </a:r>
          </a:p>
          <a:p>
            <a:r>
              <a:t>caveat on WellSpan: opt-in, not completion. That is the bridge back to the session: this is a use case with</a:t>
            </a:r>
          </a:p>
          <a:p>
            <a:r>
              <a:t>real-world data, published evidence, and a number to beat.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table, two columns, five rows: the blueprint. Both examples start from real-world data that already exists,</a:t>
            </a:r>
          </a:p>
          <a:p>
            <a:r>
              <a:t>stand on published evidence (guidelines, a validated score, a national programme), use a model and explicit rules</a:t>
            </a:r>
          </a:p>
          <a:p>
            <a:r>
              <a:t>as tools, produce a draft or a recommendation rather than an action, leave the decision with a person, and log</a:t>
            </a:r>
          </a:p>
          <a:p>
            <a:r>
              <a:t>everything. The language model is in neither column as a source of facts; it reads, chooses and writes. This is the</a:t>
            </a:r>
          </a:p>
          <a:p>
            <a:r>
              <a:t>table to copy when a team designs its own use case.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close, and the hand-over to the teams. Five tests, drawn from the evidence slide and the two demos: a</a:t>
            </a:r>
          </a:p>
          <a:p>
            <a:r>
              <a:t>workflow with a number, data that exists, evidence to stand on, a person at the decision, a trace. A use case that</a:t>
            </a:r>
          </a:p>
          <a:p>
            <a:r>
              <a:t>passes all five is one of the deployments on slide 6 waiting to happen; one that fails two of them is one of</a:t>
            </a:r>
          </a:p>
          <a:p>
            <a:r>
              <a:t>Gartner's cancellations. The footer names the SAS tooling, once: decisioning for the oversight ratio and the audit,</a:t>
            </a:r>
          </a:p>
          <a:p>
            <a:r>
              <a:t>Retrieval Agent Manager for the knowledge base and the agent, Model Studio for the models. Then questions.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 Leave it in the shared deck; skip it live.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Keep the evidence slide (6) and the blueprint (19) ready to flip back to.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 Id="rId3"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image" Target="../media/image3.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AS - Title">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F1FD6A3-53F9-5AA7-7099-CFD8CF29E43C}"/>
              </a:ext>
            </a:extLst>
          </p:cNvPr>
          <p:cNvPicPr>
            <a:picLocks noChangeAspect="1"/>
          </p:cNvPicPr>
          <p:nvPr userDrawn="1"/>
        </p:nvPicPr>
        <p:blipFill>
          <a:blip r:embed="rId3"/>
          <a:stretch>
            <a:fillRect/>
          </a:stretch>
        </p:blipFill>
        <p:spPr>
          <a:xfrm>
            <a:off x="14463799" y="8276976"/>
            <a:ext cx="2566902" cy="1057524"/>
          </a:xfrm>
          <a:prstGeom prst="rect">
            <a:avLst/>
          </a:prstGeom>
        </p:spPr>
      </p:pic>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3" y="2927508"/>
            <a:ext cx="15778270" cy="1292662"/>
          </a:xfrm>
          <a:prstGeom prst="rect">
            <a:avLst/>
          </a:prstGeom>
        </p:spPr>
        <p:txBody>
          <a:bodyPr vert="horz" wrap="square" lIns="0" tIns="0" rIns="0" bIns="182880" rtlCol="0" anchor="b" anchorCtr="0">
            <a:spAutoFit/>
          </a:bodyPr>
          <a:lstStyle>
            <a:lvl1pPr>
              <a:lnSpc>
                <a:spcPct val="100000"/>
              </a:lnSpc>
              <a:spcBef>
                <a:spcPts val="600"/>
              </a:spcBef>
              <a:defRPr sz="7200">
                <a:solidFill>
                  <a:schemeClr val="bg1"/>
                </a:solidFill>
              </a:defRPr>
            </a:lvl1pPr>
          </a:lstStyle>
          <a:p>
            <a:r>
              <a:rPr lang="en-US"/>
              <a:t>Click to Add Slideshow Title</a:t>
            </a:r>
          </a:p>
        </p:txBody>
      </p:sp>
      <p:sp>
        <p:nvSpPr>
          <p:cNvPr id="14" name="Text Placeholder 13">
            <a:extLst>
              <a:ext uri="{FF2B5EF4-FFF2-40B4-BE49-F238E27FC236}">
                <a16:creationId xmlns:a16="http://schemas.microsoft.com/office/drawing/2014/main" id="{2A390F57-72E5-BAC5-624C-175BE96B8516}"/>
              </a:ext>
            </a:extLst>
          </p:cNvPr>
          <p:cNvSpPr>
            <a:spLocks noGrp="1"/>
          </p:cNvSpPr>
          <p:nvPr>
            <p:ph type="body" sz="quarter" idx="10" hasCustomPrompt="1"/>
          </p:nvPr>
        </p:nvSpPr>
        <p:spPr>
          <a:xfrm>
            <a:off x="1252433" y="4220171"/>
            <a:ext cx="15778270" cy="923330"/>
          </a:xfrm>
        </p:spPr>
        <p:txBody>
          <a:bodyPr wrap="square">
            <a:noAutofit/>
          </a:bodyPr>
          <a:lstStyle>
            <a:lvl1pPr marL="0" indent="0">
              <a:lnSpc>
                <a:spcPct val="100000"/>
              </a:lnSpc>
              <a:spcBef>
                <a:spcPts val="600"/>
              </a:spcBef>
              <a:buNone/>
              <a:defRPr sz="4800">
                <a:solidFill>
                  <a:schemeClr val="accent3"/>
                </a:solidFill>
              </a:defRPr>
            </a:lvl1pPr>
            <a:lvl2pPr marL="365760" indent="0">
              <a:buNone/>
              <a:defRPr>
                <a:solidFill>
                  <a:schemeClr val="accent3"/>
                </a:solidFill>
              </a:defRPr>
            </a:lvl2pPr>
            <a:lvl3pPr marL="731520" indent="0">
              <a:buNone/>
              <a:defRPr>
                <a:solidFill>
                  <a:schemeClr val="accent3"/>
                </a:solidFill>
              </a:defRPr>
            </a:lvl3pPr>
            <a:lvl4pPr marL="2057400" indent="0">
              <a:buNone/>
              <a:defRPr>
                <a:solidFill>
                  <a:schemeClr val="accent3"/>
                </a:solidFill>
              </a:defRPr>
            </a:lvl4pPr>
            <a:lvl5pPr marL="2743200" indent="0">
              <a:buNone/>
              <a:defRPr>
                <a:solidFill>
                  <a:schemeClr val="accent3"/>
                </a:solidFill>
              </a:defRPr>
            </a:lvl5pPr>
          </a:lstStyle>
          <a:p>
            <a:pPr lvl="0"/>
            <a:r>
              <a:rPr lang="en-US"/>
              <a:t>Click to Add Slideshow Subtitle</a:t>
            </a:r>
          </a:p>
        </p:txBody>
      </p:sp>
      <p:sp>
        <p:nvSpPr>
          <p:cNvPr id="16" name="Text Placeholder 15">
            <a:extLst>
              <a:ext uri="{FF2B5EF4-FFF2-40B4-BE49-F238E27FC236}">
                <a16:creationId xmlns:a16="http://schemas.microsoft.com/office/drawing/2014/main" id="{30273A50-3E84-0E24-0D4A-64F939D590FA}"/>
              </a:ext>
            </a:extLst>
          </p:cNvPr>
          <p:cNvSpPr>
            <a:spLocks noGrp="1"/>
          </p:cNvSpPr>
          <p:nvPr>
            <p:ph type="body" sz="quarter" idx="11" hasCustomPrompt="1"/>
          </p:nvPr>
        </p:nvSpPr>
        <p:spPr>
          <a:xfrm>
            <a:off x="1252433" y="8276979"/>
            <a:ext cx="12123722" cy="1057522"/>
          </a:xfrm>
        </p:spPr>
        <p:txBody>
          <a:bodyPr wrap="square" anchor="ctr" anchorCtr="0">
            <a:noAutofit/>
          </a:bodyPr>
          <a:lstStyle>
            <a:lvl1pPr marL="0" indent="0">
              <a:lnSpc>
                <a:spcPct val="100000"/>
              </a:lnSpc>
              <a:spcBef>
                <a:spcPts val="600"/>
              </a:spcBef>
              <a:buNone/>
              <a:defRPr sz="2800">
                <a:solidFill>
                  <a:schemeClr val="accent3"/>
                </a:solidFill>
              </a:defRPr>
            </a:lvl1pPr>
            <a:lvl2pPr marL="365760" indent="0">
              <a:buNone/>
              <a:defRPr sz="2200">
                <a:solidFill>
                  <a:schemeClr val="accent3"/>
                </a:solidFill>
              </a:defRPr>
            </a:lvl2pPr>
            <a:lvl3pPr marL="731520" indent="0">
              <a:buNone/>
              <a:defRPr sz="2100">
                <a:solidFill>
                  <a:schemeClr val="accent3"/>
                </a:solidFill>
              </a:defRPr>
            </a:lvl3pPr>
            <a:lvl4pPr marL="2057400" indent="0">
              <a:buNone/>
              <a:defRPr sz="2000">
                <a:solidFill>
                  <a:schemeClr val="accent3"/>
                </a:solidFill>
              </a:defRPr>
            </a:lvl4pPr>
            <a:lvl5pPr marL="2743200" indent="0">
              <a:buNone/>
              <a:defRPr sz="2000">
                <a:solidFill>
                  <a:schemeClr val="accent3"/>
                </a:solidFill>
              </a:defRPr>
            </a:lvl5pPr>
          </a:lstStyle>
          <a:p>
            <a:pPr lvl="0"/>
            <a:r>
              <a:rPr lang="en-US"/>
              <a:t>Click to Add Presenter Info</a:t>
            </a:r>
          </a:p>
        </p:txBody>
      </p:sp>
      <p:sp>
        <p:nvSpPr>
          <p:cNvPr id="2" name="TextBox 4">
            <a:extLst>
              <a:ext uri="{FF2B5EF4-FFF2-40B4-BE49-F238E27FC236}">
                <a16:creationId xmlns:a16="http://schemas.microsoft.com/office/drawing/2014/main" id="{7F487846-7C90-09E0-AF50-CA2DB82BFEFD}"/>
              </a:ext>
            </a:extLst>
          </p:cNvPr>
          <p:cNvSpPr txBox="1"/>
          <p:nvPr userDrawn="1"/>
        </p:nvSpPr>
        <p:spPr>
          <a:xfrm>
            <a:off x="1252432" y="9855355"/>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3"/>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Tree>
    <p:custDataLst>
      <p:tags r:id="rId1"/>
    </p:custDataLst>
    <p:extLst>
      <p:ext uri="{BB962C8B-B14F-4D97-AF65-F5344CB8AC3E}">
        <p14:creationId xmlns:p14="http://schemas.microsoft.com/office/powerpoint/2010/main" val="3284189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AS - Section">
    <p:bg>
      <p:bgPr>
        <a:solidFill>
          <a:schemeClr val="accent5"/>
        </a:solid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3" y="3850838"/>
            <a:ext cx="12123722" cy="1292662"/>
          </a:xfrm>
          <a:prstGeom prst="rect">
            <a:avLst/>
          </a:prstGeom>
        </p:spPr>
        <p:txBody>
          <a:bodyPr vert="horz" wrap="square" lIns="0" tIns="0" rIns="0" bIns="182880" rtlCol="0" anchor="b" anchorCtr="0">
            <a:spAutoFit/>
          </a:bodyPr>
          <a:lstStyle>
            <a:lvl1pPr>
              <a:lnSpc>
                <a:spcPct val="100000"/>
              </a:lnSpc>
              <a:spcBef>
                <a:spcPts val="600"/>
              </a:spcBef>
              <a:defRPr sz="7200">
                <a:solidFill>
                  <a:schemeClr val="bg1"/>
                </a:solidFill>
              </a:defRPr>
            </a:lvl1pPr>
          </a:lstStyle>
          <a:p>
            <a:r>
              <a:rPr lang="en-US"/>
              <a:t>Click to Add Section Title</a:t>
            </a:r>
          </a:p>
        </p:txBody>
      </p:sp>
      <p:sp>
        <p:nvSpPr>
          <p:cNvPr id="14" name="Text Placeholder 13">
            <a:extLst>
              <a:ext uri="{FF2B5EF4-FFF2-40B4-BE49-F238E27FC236}">
                <a16:creationId xmlns:a16="http://schemas.microsoft.com/office/drawing/2014/main" id="{2A390F57-72E5-BAC5-624C-175BE96B8516}"/>
              </a:ext>
            </a:extLst>
          </p:cNvPr>
          <p:cNvSpPr>
            <a:spLocks noGrp="1"/>
          </p:cNvSpPr>
          <p:nvPr>
            <p:ph type="body" sz="quarter" idx="10" hasCustomPrompt="1"/>
          </p:nvPr>
        </p:nvSpPr>
        <p:spPr>
          <a:xfrm>
            <a:off x="1252433" y="5342755"/>
            <a:ext cx="12123722" cy="923330"/>
          </a:xfrm>
        </p:spPr>
        <p:txBody>
          <a:bodyPr wrap="square" anchor="t" anchorCtr="0">
            <a:noAutofit/>
          </a:bodyPr>
          <a:lstStyle>
            <a:lvl1pPr marL="0" indent="0">
              <a:lnSpc>
                <a:spcPct val="100000"/>
              </a:lnSpc>
              <a:spcBef>
                <a:spcPts val="600"/>
              </a:spcBef>
              <a:buNone/>
              <a:defRPr sz="4800">
                <a:solidFill>
                  <a:schemeClr val="bg1"/>
                </a:solidFill>
              </a:defRPr>
            </a:lvl1pPr>
            <a:lvl2pPr marL="365760" indent="0">
              <a:buNone/>
              <a:defRPr>
                <a:solidFill>
                  <a:schemeClr val="accent3"/>
                </a:solidFill>
              </a:defRPr>
            </a:lvl2pPr>
            <a:lvl3pPr marL="731520" indent="0">
              <a:buNone/>
              <a:defRPr>
                <a:solidFill>
                  <a:schemeClr val="accent3"/>
                </a:solidFill>
              </a:defRPr>
            </a:lvl3pPr>
            <a:lvl4pPr marL="2057400" indent="0">
              <a:buNone/>
              <a:defRPr>
                <a:solidFill>
                  <a:schemeClr val="accent3"/>
                </a:solidFill>
              </a:defRPr>
            </a:lvl4pPr>
            <a:lvl5pPr marL="2743200" indent="0">
              <a:buNone/>
              <a:defRPr>
                <a:solidFill>
                  <a:schemeClr val="accent3"/>
                </a:solidFill>
              </a:defRPr>
            </a:lvl5pPr>
          </a:lstStyle>
          <a:p>
            <a:pPr lvl="0"/>
            <a:r>
              <a:rPr lang="en-US"/>
              <a:t>Click to Add Section Subtitle</a:t>
            </a:r>
          </a:p>
        </p:txBody>
      </p:sp>
      <p:sp>
        <p:nvSpPr>
          <p:cNvPr id="2" name="TextBox 4">
            <a:extLst>
              <a:ext uri="{FF2B5EF4-FFF2-40B4-BE49-F238E27FC236}">
                <a16:creationId xmlns:a16="http://schemas.microsoft.com/office/drawing/2014/main" id="{BBE5A171-53B6-5D64-1680-262B90DACFE5}"/>
              </a:ext>
            </a:extLst>
          </p:cNvPr>
          <p:cNvSpPr txBox="1"/>
          <p:nvPr userDrawn="1"/>
        </p:nvSpPr>
        <p:spPr>
          <a:xfrm>
            <a:off x="1252432" y="9855355"/>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5">
                    <a:lumMod val="20000"/>
                    <a:lumOff val="80000"/>
                  </a:schemeClr>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pic>
        <p:nvPicPr>
          <p:cNvPr id="3" name="Picture 6">
            <a:extLst>
              <a:ext uri="{FF2B5EF4-FFF2-40B4-BE49-F238E27FC236}">
                <a16:creationId xmlns:a16="http://schemas.microsoft.com/office/drawing/2014/main" id="{27780B26-6E86-E2AF-35C7-7B8BF24892A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6826158" y="9516545"/>
            <a:ext cx="1112812" cy="461922"/>
          </a:xfrm>
          <a:prstGeom prst="rect">
            <a:avLst/>
          </a:prstGeom>
        </p:spPr>
      </p:pic>
    </p:spTree>
    <p:custDataLst>
      <p:tags r:id="rId1"/>
    </p:custDataLst>
    <p:extLst>
      <p:ext uri="{BB962C8B-B14F-4D97-AF65-F5344CB8AC3E}">
        <p14:creationId xmlns:p14="http://schemas.microsoft.com/office/powerpoint/2010/main" val="935216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AS - Title Only">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6F060396-EEE3-A20F-EF3B-666AF65526C8}"/>
              </a:ext>
            </a:extLst>
          </p:cNvPr>
          <p:cNvSpPr>
            <a:spLocks noGrp="1"/>
          </p:cNvSpPr>
          <p:nvPr>
            <p:ph type="title" hasCustomPrompt="1"/>
          </p:nvPr>
        </p:nvSpPr>
        <p:spPr>
          <a:xfrm>
            <a:off x="1257300" y="710304"/>
            <a:ext cx="15773400" cy="775596"/>
          </a:xfrm>
          <a:prstGeom prst="rect">
            <a:avLst/>
          </a:prstGeom>
        </p:spPr>
        <p:txBody>
          <a:bodyPr vert="horz" lIns="0" tIns="0" rIns="0" bIns="0" rtlCol="0" anchor="ctr">
            <a:spAutoFit/>
          </a:bodyPr>
          <a:lstStyle/>
          <a:p>
            <a:r>
              <a:rPr lang="en-US"/>
              <a:t>Click to Add Slide Title</a:t>
            </a:r>
          </a:p>
        </p:txBody>
      </p:sp>
    </p:spTree>
    <p:custDataLst>
      <p:tags r:id="rId1"/>
    </p:custDataLst>
    <p:extLst>
      <p:ext uri="{BB962C8B-B14F-4D97-AF65-F5344CB8AC3E}">
        <p14:creationId xmlns:p14="http://schemas.microsoft.com/office/powerpoint/2010/main" val="986120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AS - Title &amp;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lgn="l">
              <a:defRPr>
                <a:solidFill>
                  <a:schemeClr val="accent5"/>
                </a:solidFill>
              </a:defRPr>
            </a:lvl1pPr>
          </a:lstStyle>
          <a:p>
            <a:r>
              <a:rPr lang="en-US"/>
              <a:t>Click to Add Slide Title</a:t>
            </a:r>
          </a:p>
        </p:txBody>
      </p:sp>
      <p:sp>
        <p:nvSpPr>
          <p:cNvPr id="5" name="Text Placeholder 4">
            <a:extLst>
              <a:ext uri="{FF2B5EF4-FFF2-40B4-BE49-F238E27FC236}">
                <a16:creationId xmlns:a16="http://schemas.microsoft.com/office/drawing/2014/main" id="{0040EF35-062A-4CF7-B99A-D6EF688F370B}"/>
              </a:ext>
            </a:extLst>
          </p:cNvPr>
          <p:cNvSpPr>
            <a:spLocks noGrp="1"/>
          </p:cNvSpPr>
          <p:nvPr>
            <p:ph type="body" sz="quarter" idx="10" hasCustomPrompt="1"/>
          </p:nvPr>
        </p:nvSpPr>
        <p:spPr>
          <a:xfrm>
            <a:off x="1257300" y="1562101"/>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Tree>
    <p:custDataLst>
      <p:tags r:id="rId1"/>
    </p:custDataLst>
    <p:extLst>
      <p:ext uri="{BB962C8B-B14F-4D97-AF65-F5344CB8AC3E}">
        <p14:creationId xmlns:p14="http://schemas.microsoft.com/office/powerpoint/2010/main" val="1898903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AS -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a:solidFill>
                  <a:schemeClr val="accent5"/>
                </a:solidFill>
              </a:defRPr>
            </a:lvl1pPr>
          </a:lstStyle>
          <a:p>
            <a:r>
              <a:rPr lang="en-US"/>
              <a:t>Click to Add Slide Title</a:t>
            </a:r>
          </a:p>
        </p:txBody>
      </p:sp>
      <p:sp>
        <p:nvSpPr>
          <p:cNvPr id="4" name="Text Placeholder 2">
            <a:extLst>
              <a:ext uri="{FF2B5EF4-FFF2-40B4-BE49-F238E27FC236}">
                <a16:creationId xmlns:a16="http://schemas.microsoft.com/office/drawing/2014/main" id="{94E85CBA-188F-58DF-65B2-BD90C57AB500}"/>
              </a:ext>
            </a:extLst>
          </p:cNvPr>
          <p:cNvSpPr>
            <a:spLocks noGrp="1"/>
          </p:cNvSpPr>
          <p:nvPr>
            <p:ph idx="1"/>
          </p:nvPr>
        </p:nvSpPr>
        <p:spPr>
          <a:xfrm>
            <a:off x="1257300" y="2400301"/>
            <a:ext cx="15773400" cy="6865146"/>
          </a:xfrm>
          <a:prstGeom prst="rect">
            <a:avLst/>
          </a:prstGeom>
        </p:spPr>
        <p:txBody>
          <a:bodyPr vert="horz" lIns="0" tIns="0" rIns="0" bIns="0" rtlCol="0">
            <a:normAutofit/>
          </a:bodyPr>
          <a:lstStyle>
            <a:lvl1pPr>
              <a:defRPr sz="3600"/>
            </a:lvl1pPr>
            <a:lvl2pPr>
              <a:defRPr sz="2800"/>
            </a:lvl2pPr>
            <a:lvl3pPr>
              <a:defRPr sz="2400">
                <a:latin typeface="+mn-lt"/>
              </a:defRPr>
            </a:lvl3pPr>
          </a:lstStyle>
          <a:p>
            <a:pPr lvl="0"/>
            <a:r>
              <a:rPr lang="en-US"/>
              <a:t>Click to edit Master text styles</a:t>
            </a:r>
          </a:p>
          <a:p>
            <a:pPr lvl="1"/>
            <a:r>
              <a:rPr lang="en-US"/>
              <a:t>Second level</a:t>
            </a:r>
          </a:p>
          <a:p>
            <a:pPr lvl="2"/>
            <a:r>
              <a:rPr lang="en-US"/>
              <a:t>Third level</a:t>
            </a:r>
          </a:p>
        </p:txBody>
      </p:sp>
      <p:sp>
        <p:nvSpPr>
          <p:cNvPr id="8" name="Text Placeholder 4">
            <a:extLst>
              <a:ext uri="{FF2B5EF4-FFF2-40B4-BE49-F238E27FC236}">
                <a16:creationId xmlns:a16="http://schemas.microsoft.com/office/drawing/2014/main" id="{9A71ABFD-7D9E-8B81-8F10-AD3B259CD532}"/>
              </a:ext>
            </a:extLst>
          </p:cNvPr>
          <p:cNvSpPr>
            <a:spLocks noGrp="1"/>
          </p:cNvSpPr>
          <p:nvPr>
            <p:ph type="body" sz="quarter" idx="10" hasCustomPrompt="1"/>
          </p:nvPr>
        </p:nvSpPr>
        <p:spPr>
          <a:xfrm>
            <a:off x="1257300" y="1562101"/>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Tree>
    <p:custDataLst>
      <p:tags r:id="rId1"/>
    </p:custDataLst>
    <p:extLst>
      <p:ext uri="{BB962C8B-B14F-4D97-AF65-F5344CB8AC3E}">
        <p14:creationId xmlns:p14="http://schemas.microsoft.com/office/powerpoint/2010/main" val="2902331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AS - 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a:solidFill>
                  <a:schemeClr val="accent5"/>
                </a:solidFill>
              </a:defRPr>
            </a:lvl1pPr>
          </a:lstStyle>
          <a:p>
            <a:r>
              <a:rPr lang="en-US"/>
              <a:t>Click to Add Slide Title</a:t>
            </a:r>
          </a:p>
        </p:txBody>
      </p:sp>
      <p:sp>
        <p:nvSpPr>
          <p:cNvPr id="5" name="Text Placeholder 2">
            <a:extLst>
              <a:ext uri="{FF2B5EF4-FFF2-40B4-BE49-F238E27FC236}">
                <a16:creationId xmlns:a16="http://schemas.microsoft.com/office/drawing/2014/main" id="{B37A3D09-8DDB-0D78-49A3-63D553286BAA}"/>
              </a:ext>
            </a:extLst>
          </p:cNvPr>
          <p:cNvSpPr>
            <a:spLocks noGrp="1"/>
          </p:cNvSpPr>
          <p:nvPr>
            <p:ph idx="1"/>
          </p:nvPr>
        </p:nvSpPr>
        <p:spPr>
          <a:xfrm>
            <a:off x="1257301" y="2400301"/>
            <a:ext cx="7741846" cy="6865146"/>
          </a:xfrm>
          <a:prstGeom prst="rect">
            <a:avLst/>
          </a:prstGeom>
        </p:spPr>
        <p:txBody>
          <a:bodyPr vert="horz" lIns="0" tIns="0" rIns="0" bIns="0" rtlCol="0">
            <a:normAutofit/>
          </a:bodyPr>
          <a:lstStyle>
            <a:lvl1pPr>
              <a:defRPr sz="3600"/>
            </a:lvl1pPr>
            <a:lvl2pPr>
              <a:defRPr sz="2800">
                <a:latin typeface="+mn-lt"/>
              </a:defRPr>
            </a:lvl2pPr>
            <a:lvl3pPr>
              <a:defRPr sz="2400">
                <a:latin typeface="+mn-lt"/>
              </a:defRPr>
            </a:lvl3pPr>
          </a:lstStyle>
          <a:p>
            <a:pPr lvl="0"/>
            <a:r>
              <a:rPr lang="en-US"/>
              <a:t>Click to edit Master text styles</a:t>
            </a:r>
          </a:p>
          <a:p>
            <a:pPr lvl="1"/>
            <a:r>
              <a:rPr lang="en-US"/>
              <a:t>Second level</a:t>
            </a:r>
          </a:p>
          <a:p>
            <a:pPr lvl="2"/>
            <a:r>
              <a:rPr lang="en-US"/>
              <a:t>Third level</a:t>
            </a:r>
          </a:p>
        </p:txBody>
      </p:sp>
      <p:sp>
        <p:nvSpPr>
          <p:cNvPr id="7" name="Text Placeholder 2">
            <a:extLst>
              <a:ext uri="{FF2B5EF4-FFF2-40B4-BE49-F238E27FC236}">
                <a16:creationId xmlns:a16="http://schemas.microsoft.com/office/drawing/2014/main" id="{9EB0C531-8D77-DB91-D733-89B75593C437}"/>
              </a:ext>
            </a:extLst>
          </p:cNvPr>
          <p:cNvSpPr>
            <a:spLocks noGrp="1"/>
          </p:cNvSpPr>
          <p:nvPr>
            <p:ph idx="11"/>
          </p:nvPr>
        </p:nvSpPr>
        <p:spPr>
          <a:xfrm>
            <a:off x="9288856" y="2400301"/>
            <a:ext cx="7741848" cy="6865146"/>
          </a:xfrm>
          <a:prstGeom prst="rect">
            <a:avLst/>
          </a:prstGeom>
        </p:spPr>
        <p:txBody>
          <a:bodyPr vert="horz" lIns="0" tIns="0" rIns="0" bIns="0" rtlCol="0">
            <a:normAutofit/>
          </a:bodyPr>
          <a:lstStyle>
            <a:lvl1pPr>
              <a:defRPr sz="3600"/>
            </a:lvl1pPr>
            <a:lvl2pPr>
              <a:defRPr sz="2800">
                <a:latin typeface="+mn-lt"/>
              </a:defRPr>
            </a:lvl2pPr>
            <a:lvl3pPr>
              <a:defRPr sz="2400">
                <a:latin typeface="+mn-lt"/>
              </a:defRPr>
            </a:lvl3pPr>
          </a:lstStyle>
          <a:p>
            <a:pPr lvl="0"/>
            <a:r>
              <a:rPr lang="en-US"/>
              <a:t>Click to edit Master text styles</a:t>
            </a:r>
          </a:p>
          <a:p>
            <a:pPr lvl="1"/>
            <a:r>
              <a:rPr lang="en-US"/>
              <a:t>Second level</a:t>
            </a:r>
          </a:p>
          <a:p>
            <a:pPr lvl="2"/>
            <a:r>
              <a:rPr lang="en-US"/>
              <a:t>Third level</a:t>
            </a:r>
          </a:p>
        </p:txBody>
      </p:sp>
      <p:sp>
        <p:nvSpPr>
          <p:cNvPr id="9" name="Text Placeholder 4">
            <a:extLst>
              <a:ext uri="{FF2B5EF4-FFF2-40B4-BE49-F238E27FC236}">
                <a16:creationId xmlns:a16="http://schemas.microsoft.com/office/drawing/2014/main" id="{528E5A1D-0F7C-C89E-926C-359A1E6C4B96}"/>
              </a:ext>
            </a:extLst>
          </p:cNvPr>
          <p:cNvSpPr>
            <a:spLocks noGrp="1"/>
          </p:cNvSpPr>
          <p:nvPr>
            <p:ph type="body" sz="quarter" idx="10" hasCustomPrompt="1"/>
          </p:nvPr>
        </p:nvSpPr>
        <p:spPr>
          <a:xfrm>
            <a:off x="1257300" y="1562101"/>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Tree>
    <p:custDataLst>
      <p:tags r:id="rId1"/>
    </p:custDataLst>
    <p:extLst>
      <p:ext uri="{BB962C8B-B14F-4D97-AF65-F5344CB8AC3E}">
        <p14:creationId xmlns:p14="http://schemas.microsoft.com/office/powerpoint/2010/main" val="3041057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AS - Title Only Right">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7932B69-D114-4F04-8825-FD80DE780B3F}"/>
              </a:ext>
            </a:extLst>
          </p:cNvPr>
          <p:cNvSpPr>
            <a:spLocks noGrp="1"/>
          </p:cNvSpPr>
          <p:nvPr>
            <p:ph type="title" hasCustomPrompt="1"/>
          </p:nvPr>
        </p:nvSpPr>
        <p:spPr>
          <a:xfrm>
            <a:off x="1257300" y="4367905"/>
            <a:ext cx="4428276" cy="1551194"/>
          </a:xfrm>
          <a:prstGeom prst="rect">
            <a:avLst/>
          </a:prstGeom>
        </p:spPr>
        <p:txBody>
          <a:bodyPr vert="horz" wrap="square" lIns="0" tIns="0" rIns="0" bIns="0" rtlCol="0" anchor="ctr">
            <a:spAutoFit/>
          </a:bodyPr>
          <a:lstStyle/>
          <a:p>
            <a:r>
              <a:rPr lang="en-US"/>
              <a:t>Click to Add Slide Title</a:t>
            </a:r>
          </a:p>
        </p:txBody>
      </p:sp>
    </p:spTree>
    <p:custDataLst>
      <p:tags r:id="rId1"/>
    </p:custDataLst>
    <p:extLst>
      <p:ext uri="{BB962C8B-B14F-4D97-AF65-F5344CB8AC3E}">
        <p14:creationId xmlns:p14="http://schemas.microsoft.com/office/powerpoint/2010/main" val="4121700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AS - Title &amp; Subtitle Right">
    <p:bg>
      <p:bgPr>
        <a:solidFill>
          <a:schemeClr val="bg1"/>
        </a:solidFill>
        <a:effectLst/>
      </p:bgPr>
    </p:bg>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DCB0DC36-25B4-46CA-542D-A6308DDA0A46}"/>
              </a:ext>
            </a:extLst>
          </p:cNvPr>
          <p:cNvSpPr>
            <a:spLocks noGrp="1"/>
          </p:cNvSpPr>
          <p:nvPr>
            <p:ph type="body" sz="quarter" idx="10" hasCustomPrompt="1"/>
          </p:nvPr>
        </p:nvSpPr>
        <p:spPr>
          <a:xfrm>
            <a:off x="1257301" y="5920997"/>
            <a:ext cx="5004350" cy="549382"/>
          </a:xfrm>
          <a:prstGeom prst="rect">
            <a:avLst/>
          </a:prstGeom>
        </p:spPr>
        <p:txBody>
          <a:bodyPr wrap="square" anchor="t">
            <a:no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
        <p:nvSpPr>
          <p:cNvPr id="3" name="Title 2">
            <a:extLst>
              <a:ext uri="{FF2B5EF4-FFF2-40B4-BE49-F238E27FC236}">
                <a16:creationId xmlns:a16="http://schemas.microsoft.com/office/drawing/2014/main" id="{E84AF2B1-1A71-31A3-C679-D3E1148BD910}"/>
              </a:ext>
            </a:extLst>
          </p:cNvPr>
          <p:cNvSpPr>
            <a:spLocks noGrp="1"/>
          </p:cNvSpPr>
          <p:nvPr>
            <p:ph type="title" hasCustomPrompt="1"/>
          </p:nvPr>
        </p:nvSpPr>
        <p:spPr>
          <a:xfrm>
            <a:off x="1252432" y="4153616"/>
            <a:ext cx="5001768" cy="1551194"/>
          </a:xfrm>
        </p:spPr>
        <p:txBody>
          <a:bodyPr vert="horz" wrap="square" lIns="0" tIns="0" rIns="0" bIns="0" rtlCol="0" anchor="b" anchorCtr="0">
            <a:spAutoFit/>
          </a:bodyPr>
          <a:lstStyle>
            <a:lvl1pPr>
              <a:defRPr lang="en-US"/>
            </a:lvl1pPr>
          </a:lstStyle>
          <a:p>
            <a:pPr marL="0" lvl="0">
              <a:lnSpc>
                <a:spcPct val="90000"/>
              </a:lnSpc>
              <a:spcBef>
                <a:spcPct val="0"/>
              </a:spcBef>
              <a:buNone/>
            </a:pPr>
            <a:r>
              <a:rPr lang="en-US"/>
              <a:t>Click to Add Slide Title</a:t>
            </a:r>
          </a:p>
        </p:txBody>
      </p:sp>
    </p:spTree>
    <p:custDataLst>
      <p:tags r:id="rId1"/>
    </p:custDataLst>
    <p:extLst>
      <p:ext uri="{BB962C8B-B14F-4D97-AF65-F5344CB8AC3E}">
        <p14:creationId xmlns:p14="http://schemas.microsoft.com/office/powerpoint/2010/main" val="3812179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AS - Closing">
    <p:bg>
      <p:bgPr>
        <a:solidFill>
          <a:schemeClr val="bg2"/>
        </a:solid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3" y="4497171"/>
            <a:ext cx="13063134" cy="1292662"/>
          </a:xfrm>
          <a:prstGeom prst="rect">
            <a:avLst/>
          </a:prstGeom>
        </p:spPr>
        <p:txBody>
          <a:bodyPr vert="horz" wrap="square" lIns="0" tIns="0" rIns="0" bIns="182880" rtlCol="0" anchor="ctr" anchorCtr="0">
            <a:spAutoFit/>
          </a:bodyPr>
          <a:lstStyle>
            <a:lvl1pPr>
              <a:lnSpc>
                <a:spcPct val="100000"/>
              </a:lnSpc>
              <a:spcBef>
                <a:spcPts val="600"/>
              </a:spcBef>
              <a:defRPr sz="7200">
                <a:solidFill>
                  <a:schemeClr val="bg1"/>
                </a:solidFill>
              </a:defRPr>
            </a:lvl1pPr>
          </a:lstStyle>
          <a:p>
            <a:r>
              <a:rPr lang="en-US"/>
              <a:t>Click to Add Slideshow Closing</a:t>
            </a:r>
          </a:p>
        </p:txBody>
      </p:sp>
      <p:pic>
        <p:nvPicPr>
          <p:cNvPr id="9" name="Picture 8">
            <a:extLst>
              <a:ext uri="{FF2B5EF4-FFF2-40B4-BE49-F238E27FC236}">
                <a16:creationId xmlns:a16="http://schemas.microsoft.com/office/drawing/2014/main" id="{F6D7352C-47D5-1179-1891-95A57F7DA1B0}"/>
              </a:ext>
            </a:extLst>
          </p:cNvPr>
          <p:cNvPicPr>
            <a:picLocks noChangeAspect="1"/>
          </p:cNvPicPr>
          <p:nvPr userDrawn="1"/>
        </p:nvPicPr>
        <p:blipFill>
          <a:blip r:embed="rId3"/>
          <a:stretch>
            <a:fillRect/>
          </a:stretch>
        </p:blipFill>
        <p:spPr>
          <a:xfrm>
            <a:off x="14463799" y="8276976"/>
            <a:ext cx="2566902" cy="1057524"/>
          </a:xfrm>
          <a:prstGeom prst="rect">
            <a:avLst/>
          </a:prstGeom>
        </p:spPr>
      </p:pic>
      <p:sp>
        <p:nvSpPr>
          <p:cNvPr id="2" name="Text Placeholder 15">
            <a:extLst>
              <a:ext uri="{FF2B5EF4-FFF2-40B4-BE49-F238E27FC236}">
                <a16:creationId xmlns:a16="http://schemas.microsoft.com/office/drawing/2014/main" id="{514B8423-CFFD-1921-7480-8BEC78F05FFD}"/>
              </a:ext>
            </a:extLst>
          </p:cNvPr>
          <p:cNvSpPr>
            <a:spLocks noGrp="1"/>
          </p:cNvSpPr>
          <p:nvPr>
            <p:ph type="body" sz="quarter" idx="11" hasCustomPrompt="1"/>
          </p:nvPr>
        </p:nvSpPr>
        <p:spPr>
          <a:xfrm>
            <a:off x="1252433" y="8276979"/>
            <a:ext cx="12123722" cy="1057522"/>
          </a:xfrm>
        </p:spPr>
        <p:txBody>
          <a:bodyPr wrap="square" anchor="ctr" anchorCtr="0">
            <a:noAutofit/>
          </a:bodyPr>
          <a:lstStyle>
            <a:lvl1pPr marL="0" indent="0">
              <a:lnSpc>
                <a:spcPct val="100000"/>
              </a:lnSpc>
              <a:spcBef>
                <a:spcPts val="600"/>
              </a:spcBef>
              <a:buNone/>
              <a:defRPr sz="2800">
                <a:solidFill>
                  <a:schemeClr val="accent3"/>
                </a:solidFill>
              </a:defRPr>
            </a:lvl1pPr>
            <a:lvl2pPr marL="365760" indent="0">
              <a:buNone/>
              <a:defRPr sz="2200">
                <a:solidFill>
                  <a:schemeClr val="accent3"/>
                </a:solidFill>
              </a:defRPr>
            </a:lvl2pPr>
            <a:lvl3pPr marL="731520" indent="0">
              <a:buNone/>
              <a:defRPr sz="2100">
                <a:solidFill>
                  <a:schemeClr val="accent3"/>
                </a:solidFill>
              </a:defRPr>
            </a:lvl3pPr>
            <a:lvl4pPr marL="2057400" indent="0">
              <a:buNone/>
              <a:defRPr sz="2000">
                <a:solidFill>
                  <a:schemeClr val="accent3"/>
                </a:solidFill>
              </a:defRPr>
            </a:lvl4pPr>
            <a:lvl5pPr marL="2743200" indent="0">
              <a:buNone/>
              <a:defRPr sz="2000">
                <a:solidFill>
                  <a:schemeClr val="accent3"/>
                </a:solidFill>
              </a:defRPr>
            </a:lvl5pPr>
          </a:lstStyle>
          <a:p>
            <a:pPr lvl="0"/>
            <a:r>
              <a:rPr lang="en-US"/>
              <a:t>Click to add a website or email</a:t>
            </a:r>
          </a:p>
        </p:txBody>
      </p:sp>
      <p:sp>
        <p:nvSpPr>
          <p:cNvPr id="3" name="TextBox 4">
            <a:extLst>
              <a:ext uri="{FF2B5EF4-FFF2-40B4-BE49-F238E27FC236}">
                <a16:creationId xmlns:a16="http://schemas.microsoft.com/office/drawing/2014/main" id="{50615BBA-3709-50D7-A61C-9CF9B79E7B6F}"/>
              </a:ext>
            </a:extLst>
          </p:cNvPr>
          <p:cNvSpPr txBox="1"/>
          <p:nvPr userDrawn="1"/>
        </p:nvSpPr>
        <p:spPr>
          <a:xfrm>
            <a:off x="1252432" y="9855355"/>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3"/>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Tree>
    <p:custDataLst>
      <p:tags r:id="rId1"/>
    </p:custDataLst>
    <p:extLst>
      <p:ext uri="{BB962C8B-B14F-4D97-AF65-F5344CB8AC3E}">
        <p14:creationId xmlns:p14="http://schemas.microsoft.com/office/powerpoint/2010/main" val="3302681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SAS - Blank - Whit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484278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SAS - Video Only">
    <p:bg>
      <p:bgPr>
        <a:solidFill>
          <a:schemeClr val="tx1"/>
        </a:solidFill>
        <a:effectLst/>
      </p:bgPr>
    </p:bg>
    <p:spTree>
      <p:nvGrpSpPr>
        <p:cNvPr id="1" name=""/>
        <p:cNvGrpSpPr/>
        <p:nvPr/>
      </p:nvGrpSpPr>
      <p:grpSpPr>
        <a:xfrm>
          <a:off x="0" y="0"/>
          <a:ext cx="0" cy="0"/>
          <a:chOff x="0" y="0"/>
          <a:chExt cx="0" cy="0"/>
        </a:xfrm>
      </p:grpSpPr>
      <p:sp>
        <p:nvSpPr>
          <p:cNvPr id="3" name="TextBox 4">
            <a:extLst>
              <a:ext uri="{FF2B5EF4-FFF2-40B4-BE49-F238E27FC236}">
                <a16:creationId xmlns:a16="http://schemas.microsoft.com/office/drawing/2014/main" id="{D68E8285-3BE2-9990-FA54-E6AF741CC812}"/>
              </a:ext>
            </a:extLst>
          </p:cNvPr>
          <p:cNvSpPr txBox="1"/>
          <p:nvPr userDrawn="1"/>
        </p:nvSpPr>
        <p:spPr>
          <a:xfrm>
            <a:off x="1252432" y="9855355"/>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5"/>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pic>
        <p:nvPicPr>
          <p:cNvPr id="2" name="Picture 6">
            <a:extLst>
              <a:ext uri="{FF2B5EF4-FFF2-40B4-BE49-F238E27FC236}">
                <a16:creationId xmlns:a16="http://schemas.microsoft.com/office/drawing/2014/main" id="{9DCBE7B6-1449-C2E2-1508-3F2B78AA27F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6826158" y="9516545"/>
            <a:ext cx="1112812" cy="461922"/>
          </a:xfrm>
          <a:prstGeom prst="rect">
            <a:avLst/>
          </a:prstGeom>
        </p:spPr>
      </p:pic>
    </p:spTree>
    <p:custDataLst>
      <p:tags r:id="rId1"/>
    </p:custDataLst>
    <p:extLst>
      <p:ext uri="{BB962C8B-B14F-4D97-AF65-F5344CB8AC3E}">
        <p14:creationId xmlns:p14="http://schemas.microsoft.com/office/powerpoint/2010/main" val="4216621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type="tx">
  <p:cSld name="DEFAULT">
    <p:spTree>
      <p:nvGrpSpPr>
        <p:cNvPr id="1" name="Shape 9"/>
        <p:cNvGrpSpPr/>
        <p:nvPr/>
      </p:nvGrpSpPr>
      <p:grpSpPr>
        <a:xfrm>
          <a:off x="0" y="0"/>
          <a:ext cx="0" cy="0"/>
          <a:chOff x="0" y="0"/>
          <a:chExt cx="0" cy="0"/>
        </a:xfrm>
      </p:grpSpPr>
      <p:sp>
        <p:nvSpPr>
          <p:cNvPr id="10" name="Google Shape;10;p20"/>
          <p:cNvSpPr txBox="1">
            <a:spLocks noGrp="1"/>
          </p:cNvSpPr>
          <p:nvPr>
            <p:ph type="sldNum" idx="12"/>
          </p:nvPr>
        </p:nvSpPr>
        <p:spPr>
          <a:xfrm>
            <a:off x="8839200" y="9303714"/>
            <a:ext cx="4267200" cy="461624"/>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000000"/>
              </a:buClr>
              <a:buSzPts val="1200"/>
              <a:buFont typeface="Calibri"/>
              <a:buNone/>
              <a:defRPr sz="2400"/>
            </a:lvl1pPr>
            <a:lvl2pPr marL="0" lvl="1" indent="0" algn="r">
              <a:lnSpc>
                <a:spcPct val="100000"/>
              </a:lnSpc>
              <a:spcBef>
                <a:spcPts val="0"/>
              </a:spcBef>
              <a:spcAft>
                <a:spcPts val="0"/>
              </a:spcAft>
              <a:buClr>
                <a:srgbClr val="000000"/>
              </a:buClr>
              <a:buSzPts val="1200"/>
              <a:buFont typeface="Calibri"/>
              <a:buNone/>
              <a:defRPr sz="2400"/>
            </a:lvl2pPr>
            <a:lvl3pPr marL="0" lvl="2" indent="0" algn="r">
              <a:lnSpc>
                <a:spcPct val="100000"/>
              </a:lnSpc>
              <a:spcBef>
                <a:spcPts val="0"/>
              </a:spcBef>
              <a:spcAft>
                <a:spcPts val="0"/>
              </a:spcAft>
              <a:buClr>
                <a:srgbClr val="000000"/>
              </a:buClr>
              <a:buSzPts val="1200"/>
              <a:buFont typeface="Calibri"/>
              <a:buNone/>
              <a:defRPr sz="2400"/>
            </a:lvl3pPr>
            <a:lvl4pPr marL="0" lvl="3" indent="0" algn="r">
              <a:lnSpc>
                <a:spcPct val="100000"/>
              </a:lnSpc>
              <a:spcBef>
                <a:spcPts val="0"/>
              </a:spcBef>
              <a:spcAft>
                <a:spcPts val="0"/>
              </a:spcAft>
              <a:buClr>
                <a:srgbClr val="000000"/>
              </a:buClr>
              <a:buSzPts val="1200"/>
              <a:buFont typeface="Calibri"/>
              <a:buNone/>
              <a:defRPr sz="2400"/>
            </a:lvl4pPr>
            <a:lvl5pPr marL="0" lvl="4" indent="0" algn="r">
              <a:lnSpc>
                <a:spcPct val="100000"/>
              </a:lnSpc>
              <a:spcBef>
                <a:spcPts val="0"/>
              </a:spcBef>
              <a:spcAft>
                <a:spcPts val="0"/>
              </a:spcAft>
              <a:buClr>
                <a:srgbClr val="000000"/>
              </a:buClr>
              <a:buSzPts val="1200"/>
              <a:buFont typeface="Calibri"/>
              <a:buNone/>
              <a:defRPr sz="2400"/>
            </a:lvl5pPr>
            <a:lvl6pPr marL="0" lvl="5" indent="0" algn="r">
              <a:lnSpc>
                <a:spcPct val="100000"/>
              </a:lnSpc>
              <a:spcBef>
                <a:spcPts val="0"/>
              </a:spcBef>
              <a:spcAft>
                <a:spcPts val="0"/>
              </a:spcAft>
              <a:buClr>
                <a:srgbClr val="000000"/>
              </a:buClr>
              <a:buSzPts val="1200"/>
              <a:buFont typeface="Calibri"/>
              <a:buNone/>
              <a:defRPr sz="2400"/>
            </a:lvl6pPr>
            <a:lvl7pPr marL="0" lvl="6" indent="0" algn="r">
              <a:lnSpc>
                <a:spcPct val="100000"/>
              </a:lnSpc>
              <a:spcBef>
                <a:spcPts val="0"/>
              </a:spcBef>
              <a:spcAft>
                <a:spcPts val="0"/>
              </a:spcAft>
              <a:buClr>
                <a:srgbClr val="000000"/>
              </a:buClr>
              <a:buSzPts val="1200"/>
              <a:buFont typeface="Calibri"/>
              <a:buNone/>
              <a:defRPr sz="2400"/>
            </a:lvl7pPr>
            <a:lvl8pPr marL="0" lvl="7" indent="0" algn="r">
              <a:lnSpc>
                <a:spcPct val="100000"/>
              </a:lnSpc>
              <a:spcBef>
                <a:spcPts val="0"/>
              </a:spcBef>
              <a:spcAft>
                <a:spcPts val="0"/>
              </a:spcAft>
              <a:buClr>
                <a:srgbClr val="000000"/>
              </a:buClr>
              <a:buSzPts val="1200"/>
              <a:buFont typeface="Calibri"/>
              <a:buNone/>
              <a:defRPr sz="2400"/>
            </a:lvl8pPr>
            <a:lvl9pPr marL="0" lvl="8" indent="0" algn="r">
              <a:lnSpc>
                <a:spcPct val="100000"/>
              </a:lnSpc>
              <a:spcBef>
                <a:spcPts val="0"/>
              </a:spcBef>
              <a:spcAft>
                <a:spcPts val="0"/>
              </a:spcAft>
              <a:buClr>
                <a:srgbClr val="000000"/>
              </a:buClr>
              <a:buSzPts val="1200"/>
              <a:buFont typeface="Calibri"/>
              <a:buNone/>
              <a:defRPr sz="2400"/>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6263415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632902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2_SAS - Title &amp; Subtitle - ">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lgn="ctr">
              <a:defRPr b="0" i="0">
                <a:latin typeface="Calibri Light" panose="020F0302020204030204" pitchFamily="34" charset="0"/>
                <a:cs typeface="Calibri Light" panose="020F0302020204030204"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0040EF35-062A-4CF7-B99A-D6EF688F370B}"/>
              </a:ext>
            </a:extLst>
          </p:cNvPr>
          <p:cNvSpPr>
            <a:spLocks noGrp="1"/>
          </p:cNvSpPr>
          <p:nvPr>
            <p:ph type="body" sz="quarter" idx="10"/>
          </p:nvPr>
        </p:nvSpPr>
        <p:spPr>
          <a:xfrm>
            <a:off x="1257300" y="1463676"/>
            <a:ext cx="15773400" cy="566292"/>
          </a:xfrm>
        </p:spPr>
        <p:txBody>
          <a:bodyPr anchor="t">
            <a:normAutofit/>
          </a:bodyPr>
          <a:lstStyle>
            <a:lvl1pPr marL="0" indent="0" algn="ctr">
              <a:buNone/>
              <a:defRPr sz="2801">
                <a:solidFill>
                  <a:srgbClr val="1FA09A"/>
                </a:solidFill>
              </a:defRPr>
            </a:lvl1pPr>
            <a:lvl2pPr marL="365771" indent="0">
              <a:buNone/>
              <a:defRPr/>
            </a:lvl2pPr>
            <a:lvl3pPr marL="731538" indent="0">
              <a:buNone/>
              <a:defRPr/>
            </a:lvl3pPr>
            <a:lvl4pPr marL="2057453" indent="0">
              <a:buNone/>
              <a:defRPr/>
            </a:lvl4pPr>
            <a:lvl5pPr marL="2743269" indent="0">
              <a:buNone/>
              <a:defRPr/>
            </a:lvl5pPr>
          </a:lstStyle>
          <a:p>
            <a:pPr lvl="0"/>
            <a:r>
              <a:rPr lang="en-US"/>
              <a:t>Click to edit Master text styles</a:t>
            </a:r>
          </a:p>
        </p:txBody>
      </p:sp>
      <p:sp>
        <p:nvSpPr>
          <p:cNvPr id="4" name="Rectangle 3">
            <a:extLst>
              <a:ext uri="{FF2B5EF4-FFF2-40B4-BE49-F238E27FC236}">
                <a16:creationId xmlns:a16="http://schemas.microsoft.com/office/drawing/2014/main" id="{27C4BDB3-258F-8347-9741-6F21E0DD52AA}"/>
              </a:ext>
            </a:extLst>
          </p:cNvPr>
          <p:cNvSpPr/>
          <p:nvPr userDrawn="1"/>
        </p:nvSpPr>
        <p:spPr>
          <a:xfrm>
            <a:off x="0" y="2220686"/>
            <a:ext cx="18288000" cy="67856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EG" sz="4800"/>
          </a:p>
        </p:txBody>
      </p:sp>
    </p:spTree>
    <p:custDataLst>
      <p:tags r:id="rId1"/>
    </p:custDataLst>
    <p:extLst>
      <p:ext uri="{BB962C8B-B14F-4D97-AF65-F5344CB8AC3E}">
        <p14:creationId xmlns:p14="http://schemas.microsoft.com/office/powerpoint/2010/main" val="3011025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 Id="rId16"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7" name="TextBox 4">
            <a:extLst>
              <a:ext uri="{FF2B5EF4-FFF2-40B4-BE49-F238E27FC236}">
                <a16:creationId xmlns:a16="http://schemas.microsoft.com/office/drawing/2014/main" id="{1E37FEA7-CA51-4399-92F6-AB705B7FF650}"/>
              </a:ext>
            </a:extLst>
          </p:cNvPr>
          <p:cNvSpPr txBox="1"/>
          <p:nvPr userDrawn="1"/>
        </p:nvSpPr>
        <p:spPr>
          <a:xfrm>
            <a:off x="1252432" y="9855355"/>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5"/>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
        <p:nvSpPr>
          <p:cNvPr id="3" name="Text Placeholder 2"/>
          <p:cNvSpPr>
            <a:spLocks noGrp="1"/>
          </p:cNvSpPr>
          <p:nvPr>
            <p:ph type="body" idx="1"/>
          </p:nvPr>
        </p:nvSpPr>
        <p:spPr>
          <a:xfrm>
            <a:off x="1252432" y="2400301"/>
            <a:ext cx="15773400" cy="6865146"/>
          </a:xfrm>
          <a:prstGeom prst="rect">
            <a:avLst/>
          </a:prstGeom>
        </p:spPr>
        <p:txBody>
          <a:bodyPr vert="horz" lIns="0" tIns="0" rIns="0" bIns="0" rtlCol="0">
            <a:normAutofit/>
          </a:bodyPr>
          <a:lstStyle/>
          <a:p>
            <a:pPr lvl="0"/>
            <a:r>
              <a:rPr lang="en-US"/>
              <a:t>Click to Edit Text</a:t>
            </a:r>
          </a:p>
          <a:p>
            <a:pPr lvl="1"/>
            <a:r>
              <a:rPr lang="en-US"/>
              <a:t>Second level</a:t>
            </a:r>
          </a:p>
          <a:p>
            <a:pPr lvl="2"/>
            <a:r>
              <a:rPr lang="en-US"/>
              <a:t>Third level</a:t>
            </a:r>
          </a:p>
        </p:txBody>
      </p:sp>
      <p:sp>
        <p:nvSpPr>
          <p:cNvPr id="2" name="Title Placeholder 1"/>
          <p:cNvSpPr>
            <a:spLocks noGrp="1"/>
          </p:cNvSpPr>
          <p:nvPr>
            <p:ph type="title"/>
          </p:nvPr>
        </p:nvSpPr>
        <p:spPr>
          <a:xfrm>
            <a:off x="1252432" y="710304"/>
            <a:ext cx="15773400" cy="775596"/>
          </a:xfrm>
          <a:prstGeom prst="rect">
            <a:avLst/>
          </a:prstGeom>
        </p:spPr>
        <p:txBody>
          <a:bodyPr vert="horz" lIns="0" tIns="0" rIns="0" bIns="0" rtlCol="0" anchor="ctr">
            <a:normAutofit/>
          </a:bodyPr>
          <a:lstStyle/>
          <a:p>
            <a:r>
              <a:rPr lang="en-US"/>
              <a:t>Click to Add Slide Title</a:t>
            </a:r>
          </a:p>
        </p:txBody>
      </p:sp>
    </p:spTree>
    <p:custDataLst>
      <p:tags r:id="rId16"/>
    </p:custDataLst>
    <p:extLst>
      <p:ext uri="{BB962C8B-B14F-4D97-AF65-F5344CB8AC3E}">
        <p14:creationId xmlns:p14="http://schemas.microsoft.com/office/powerpoint/2010/main" val="519966091"/>
      </p:ext>
    </p:extLst>
  </p:cSld>
  <p:clrMap bg1="lt1" tx1="dk1" bg2="lt2" tx2="dk2" accent1="accent1" accent2="accent2" accent3="accent3" accent4="accent4" accent5="accent5" accent6="accent6" hlink="hlink" folHlink="folHlink"/>
  <p:sldLayoutIdLst>
    <p:sldLayoutId id="2147483836" r:id="rId1"/>
    <p:sldLayoutId id="2147483838" r:id="rId2"/>
    <p:sldLayoutId id="2147483821" r:id="rId3"/>
    <p:sldLayoutId id="2147483820" r:id="rId4"/>
    <p:sldLayoutId id="2147483819" r:id="rId5"/>
    <p:sldLayoutId id="2147483822" r:id="rId6"/>
    <p:sldLayoutId id="2147483824" r:id="rId7"/>
    <p:sldLayoutId id="2147483832" r:id="rId8"/>
    <p:sldLayoutId id="2147483837" r:id="rId9"/>
    <p:sldLayoutId id="2147483828" r:id="rId10"/>
    <p:sldLayoutId id="2147483829" r:id="rId11"/>
    <p:sldLayoutId id="2147483943" r:id="rId12"/>
    <p:sldLayoutId id="2147483944" r:id="rId13"/>
    <p:sldLayoutId id="2147483945" r:id="rId1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371600" rtl="0" eaLnBrk="1" latinLnBrk="0" hangingPunct="1">
        <a:lnSpc>
          <a:spcPct val="90000"/>
        </a:lnSpc>
        <a:spcBef>
          <a:spcPct val="0"/>
        </a:spcBef>
        <a:buNone/>
        <a:defRPr sz="5600" b="1" i="0" kern="1200">
          <a:solidFill>
            <a:schemeClr val="accent5"/>
          </a:solidFill>
          <a:latin typeface="Anova Bold" panose="020B0503020203020204" pitchFamily="34" charset="0"/>
          <a:ea typeface="+mj-ea"/>
          <a:cs typeface="+mj-cs"/>
        </a:defRPr>
      </a:lvl1pPr>
    </p:titleStyle>
    <p:bodyStyle>
      <a:lvl1pPr marL="365760" indent="-365760" algn="l" defTabSz="1371600" rtl="0" eaLnBrk="1" latinLnBrk="0" hangingPunct="1">
        <a:lnSpc>
          <a:spcPct val="85000"/>
        </a:lnSpc>
        <a:spcBef>
          <a:spcPts val="1600"/>
        </a:spcBef>
        <a:buClr>
          <a:schemeClr val="accent5"/>
        </a:buClr>
        <a:buFont typeface="Anova Light" panose="020B0403020203020204" pitchFamily="34" charset="0"/>
        <a:buChar char="•"/>
        <a:defRPr sz="3600" b="0" i="0" kern="1200">
          <a:solidFill>
            <a:schemeClr val="tx1"/>
          </a:solidFill>
          <a:latin typeface="+mn-lt"/>
          <a:ea typeface="+mn-ea"/>
          <a:cs typeface="+mn-cs"/>
        </a:defRPr>
      </a:lvl1pPr>
      <a:lvl2pPr marL="731520" indent="-365760" algn="l" defTabSz="1371600" rtl="0" eaLnBrk="1" latinLnBrk="0" hangingPunct="1">
        <a:lnSpc>
          <a:spcPct val="85000"/>
        </a:lnSpc>
        <a:spcBef>
          <a:spcPts val="1600"/>
        </a:spcBef>
        <a:buClr>
          <a:schemeClr val="accent5"/>
        </a:buClr>
        <a:buFont typeface="Anova Light" panose="020B0403020203020204" pitchFamily="34" charset="0"/>
        <a:buChar char="–"/>
        <a:defRPr sz="2800" b="0" i="0" kern="1200">
          <a:solidFill>
            <a:schemeClr val="tx1"/>
          </a:solidFill>
          <a:latin typeface="+mn-lt"/>
          <a:ea typeface="+mn-ea"/>
          <a:cs typeface="+mn-cs"/>
        </a:defRPr>
      </a:lvl2pPr>
      <a:lvl3pPr marL="1097280" indent="-365760" algn="l" defTabSz="1371600" rtl="0" eaLnBrk="1" latinLnBrk="0" hangingPunct="1">
        <a:lnSpc>
          <a:spcPct val="85000"/>
        </a:lnSpc>
        <a:spcBef>
          <a:spcPts val="1600"/>
        </a:spcBef>
        <a:buClr>
          <a:schemeClr val="accent5"/>
        </a:buClr>
        <a:buFont typeface="Anova Light" panose="020B0403020203020204" pitchFamily="34" charset="0"/>
        <a:buChar char="•"/>
        <a:defRPr sz="2400" b="0" i="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bg2"/>
          </a:solidFill>
          <a:latin typeface="+mj-lt"/>
          <a:ea typeface="+mn-ea"/>
          <a:cs typeface="+mn-cs"/>
        </a:defRPr>
      </a:lvl4pPr>
      <a:lvl5pPr marL="30861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bg2"/>
          </a:solidFill>
          <a:latin typeface="+mj-lt"/>
          <a:ea typeface="+mn-ea"/>
          <a:cs typeface="+mn-cs"/>
        </a:defRPr>
      </a:lvl5pPr>
      <a:lvl6pPr marL="37719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7E889A"/>
          </p15:clr>
        </p15:guide>
        <p15:guide id="2" pos="11520" userDrawn="1">
          <p15:clr>
            <a:srgbClr val="7E889A"/>
          </p15:clr>
        </p15:guide>
        <p15:guide id="3" pos="640" userDrawn="1">
          <p15:clr>
            <a:srgbClr val="7E889A"/>
          </p15:clr>
        </p15:guide>
        <p15:guide id="4" pos="810" userDrawn="1">
          <p15:clr>
            <a:srgbClr val="7E889A"/>
          </p15:clr>
        </p15:guide>
        <p15:guide id="5" pos="980" userDrawn="1">
          <p15:clr>
            <a:srgbClr val="7E889A"/>
          </p15:clr>
        </p15:guide>
        <p15:guide id="6" pos="1152" userDrawn="1">
          <p15:clr>
            <a:srgbClr val="7E889A"/>
          </p15:clr>
        </p15:guide>
        <p15:guide id="7" pos="1322" userDrawn="1">
          <p15:clr>
            <a:srgbClr val="7E889A"/>
          </p15:clr>
        </p15:guide>
        <p15:guide id="8" pos="1492" userDrawn="1">
          <p15:clr>
            <a:srgbClr val="7E889A"/>
          </p15:clr>
        </p15:guide>
        <p15:guide id="9" pos="1664" userDrawn="1">
          <p15:clr>
            <a:srgbClr val="7E889A"/>
          </p15:clr>
        </p15:guide>
        <p15:guide id="10" pos="1834" userDrawn="1">
          <p15:clr>
            <a:srgbClr val="7E889A"/>
          </p15:clr>
        </p15:guide>
        <p15:guide id="11" pos="2004" userDrawn="1">
          <p15:clr>
            <a:srgbClr val="7E889A"/>
          </p15:clr>
        </p15:guide>
        <p15:guide id="12" pos="2176" userDrawn="1">
          <p15:clr>
            <a:srgbClr val="7E889A"/>
          </p15:clr>
        </p15:guide>
        <p15:guide id="13" pos="2346" userDrawn="1">
          <p15:clr>
            <a:srgbClr val="7E889A"/>
          </p15:clr>
        </p15:guide>
        <p15:guide id="14" pos="2516" userDrawn="1">
          <p15:clr>
            <a:srgbClr val="7E889A"/>
          </p15:clr>
        </p15:guide>
        <p15:guide id="15" pos="2688" userDrawn="1">
          <p15:clr>
            <a:srgbClr val="7E889A"/>
          </p15:clr>
        </p15:guide>
        <p15:guide id="16" pos="2858" userDrawn="1">
          <p15:clr>
            <a:srgbClr val="7E889A"/>
          </p15:clr>
        </p15:guide>
        <p15:guide id="17" pos="3028" userDrawn="1">
          <p15:clr>
            <a:srgbClr val="7E889A"/>
          </p15:clr>
        </p15:guide>
        <p15:guide id="18" pos="3200" userDrawn="1">
          <p15:clr>
            <a:srgbClr val="7E889A"/>
          </p15:clr>
        </p15:guide>
        <p15:guide id="19" pos="3370" userDrawn="1">
          <p15:clr>
            <a:srgbClr val="7E889A"/>
          </p15:clr>
        </p15:guide>
        <p15:guide id="20" pos="3540" userDrawn="1">
          <p15:clr>
            <a:srgbClr val="7E889A"/>
          </p15:clr>
        </p15:guide>
        <p15:guide id="21" pos="3712" userDrawn="1">
          <p15:clr>
            <a:srgbClr val="7E889A"/>
          </p15:clr>
        </p15:guide>
        <p15:guide id="22" pos="3882" userDrawn="1">
          <p15:clr>
            <a:srgbClr val="7E889A"/>
          </p15:clr>
        </p15:guide>
        <p15:guide id="23" pos="4052" userDrawn="1">
          <p15:clr>
            <a:srgbClr val="7E889A"/>
          </p15:clr>
        </p15:guide>
        <p15:guide id="24" pos="4224" userDrawn="1">
          <p15:clr>
            <a:srgbClr val="7E889A"/>
          </p15:clr>
        </p15:guide>
        <p15:guide id="25" pos="4394" userDrawn="1">
          <p15:clr>
            <a:srgbClr val="7E889A"/>
          </p15:clr>
        </p15:guide>
        <p15:guide id="26" pos="4564" userDrawn="1">
          <p15:clr>
            <a:srgbClr val="7E889A"/>
          </p15:clr>
        </p15:guide>
        <p15:guide id="27" pos="4736" userDrawn="1">
          <p15:clr>
            <a:srgbClr val="7E889A"/>
          </p15:clr>
        </p15:guide>
        <p15:guide id="28" pos="4906" userDrawn="1">
          <p15:clr>
            <a:srgbClr val="7E889A"/>
          </p15:clr>
        </p15:guide>
        <p15:guide id="29" pos="5076" userDrawn="1">
          <p15:clr>
            <a:srgbClr val="7E889A"/>
          </p15:clr>
        </p15:guide>
        <p15:guide id="30" pos="5248" userDrawn="1">
          <p15:clr>
            <a:srgbClr val="7E889A"/>
          </p15:clr>
        </p15:guide>
        <p15:guide id="31" pos="5418" userDrawn="1">
          <p15:clr>
            <a:srgbClr val="7E889A"/>
          </p15:clr>
        </p15:guide>
        <p15:guide id="32" pos="5588" userDrawn="1">
          <p15:clr>
            <a:srgbClr val="7E889A"/>
          </p15:clr>
        </p15:guide>
        <p15:guide id="33" pos="5760" userDrawn="1">
          <p15:clr>
            <a:srgbClr val="7E889A"/>
          </p15:clr>
        </p15:guide>
        <p15:guide id="34" pos="5930" userDrawn="1">
          <p15:clr>
            <a:srgbClr val="7E889A"/>
          </p15:clr>
        </p15:guide>
        <p15:guide id="35" pos="6100" userDrawn="1">
          <p15:clr>
            <a:srgbClr val="7E889A"/>
          </p15:clr>
        </p15:guide>
        <p15:guide id="36" pos="6272" userDrawn="1">
          <p15:clr>
            <a:srgbClr val="7E889A"/>
          </p15:clr>
        </p15:guide>
        <p15:guide id="37" pos="6442" userDrawn="1">
          <p15:clr>
            <a:srgbClr val="7E889A"/>
          </p15:clr>
        </p15:guide>
        <p15:guide id="38" pos="6612" userDrawn="1">
          <p15:clr>
            <a:srgbClr val="7E889A"/>
          </p15:clr>
        </p15:guide>
        <p15:guide id="39" pos="6784" userDrawn="1">
          <p15:clr>
            <a:srgbClr val="7E889A"/>
          </p15:clr>
        </p15:guide>
        <p15:guide id="40" pos="6954" userDrawn="1">
          <p15:clr>
            <a:srgbClr val="7E889A"/>
          </p15:clr>
        </p15:guide>
        <p15:guide id="41" pos="7124" userDrawn="1">
          <p15:clr>
            <a:srgbClr val="7E889A"/>
          </p15:clr>
        </p15:guide>
        <p15:guide id="42" pos="7296" userDrawn="1">
          <p15:clr>
            <a:srgbClr val="7E889A"/>
          </p15:clr>
        </p15:guide>
        <p15:guide id="43" pos="7466" userDrawn="1">
          <p15:clr>
            <a:srgbClr val="7E889A"/>
          </p15:clr>
        </p15:guide>
        <p15:guide id="44" pos="7636" userDrawn="1">
          <p15:clr>
            <a:srgbClr val="7E889A"/>
          </p15:clr>
        </p15:guide>
        <p15:guide id="45" pos="7808" userDrawn="1">
          <p15:clr>
            <a:srgbClr val="7E889A"/>
          </p15:clr>
        </p15:guide>
        <p15:guide id="46" pos="7978" userDrawn="1">
          <p15:clr>
            <a:srgbClr val="7E889A"/>
          </p15:clr>
        </p15:guide>
        <p15:guide id="47" pos="8148" userDrawn="1">
          <p15:clr>
            <a:srgbClr val="7E889A"/>
          </p15:clr>
        </p15:guide>
        <p15:guide id="48" pos="8320" userDrawn="1">
          <p15:clr>
            <a:srgbClr val="7E889A"/>
          </p15:clr>
        </p15:guide>
        <p15:guide id="49" pos="8490" userDrawn="1">
          <p15:clr>
            <a:srgbClr val="7E889A"/>
          </p15:clr>
        </p15:guide>
        <p15:guide id="50" pos="8660" userDrawn="1">
          <p15:clr>
            <a:srgbClr val="7E889A"/>
          </p15:clr>
        </p15:guide>
        <p15:guide id="51" pos="8832" userDrawn="1">
          <p15:clr>
            <a:srgbClr val="7E889A"/>
          </p15:clr>
        </p15:guide>
        <p15:guide id="52" pos="9002" userDrawn="1">
          <p15:clr>
            <a:srgbClr val="7E889A"/>
          </p15:clr>
        </p15:guide>
        <p15:guide id="53" pos="9172" userDrawn="1">
          <p15:clr>
            <a:srgbClr val="7E889A"/>
          </p15:clr>
        </p15:guide>
        <p15:guide id="54" pos="9344" userDrawn="1">
          <p15:clr>
            <a:srgbClr val="7E889A"/>
          </p15:clr>
        </p15:guide>
        <p15:guide id="55" pos="9514" userDrawn="1">
          <p15:clr>
            <a:srgbClr val="7E889A"/>
          </p15:clr>
        </p15:guide>
        <p15:guide id="56" pos="9684" userDrawn="1">
          <p15:clr>
            <a:srgbClr val="7E889A"/>
          </p15:clr>
        </p15:guide>
        <p15:guide id="57" pos="9856" userDrawn="1">
          <p15:clr>
            <a:srgbClr val="7E889A"/>
          </p15:clr>
        </p15:guide>
        <p15:guide id="58" pos="10026" userDrawn="1">
          <p15:clr>
            <a:srgbClr val="7E889A"/>
          </p15:clr>
        </p15:guide>
        <p15:guide id="59" pos="10196" userDrawn="1">
          <p15:clr>
            <a:srgbClr val="7E889A"/>
          </p15:clr>
        </p15:guide>
        <p15:guide id="60" pos="10368" userDrawn="1">
          <p15:clr>
            <a:srgbClr val="7E889A"/>
          </p15:clr>
        </p15:guide>
        <p15:guide id="61" pos="10538" userDrawn="1">
          <p15:clr>
            <a:srgbClr val="7E889A"/>
          </p15:clr>
        </p15:guide>
        <p15:guide id="62" pos="10708" userDrawn="1">
          <p15:clr>
            <a:srgbClr val="7E889A"/>
          </p15:clr>
        </p15:guide>
        <p15:guide id="63" pos="10880" userDrawn="1">
          <p15:clr>
            <a:srgbClr val="7E889A"/>
          </p15:clr>
        </p15:guide>
        <p15:guide id="64" orient="horz" userDrawn="1">
          <p15:clr>
            <a:srgbClr val="7E889A"/>
          </p15:clr>
        </p15:guide>
        <p15:guide id="65" orient="horz" pos="6480" userDrawn="1">
          <p15:clr>
            <a:srgbClr val="7E889A"/>
          </p15:clr>
        </p15:guide>
        <p15:guide id="66" orient="horz" pos="656" userDrawn="1">
          <p15:clr>
            <a:srgbClr val="7E889A"/>
          </p15:clr>
        </p15:guide>
        <p15:guide id="67" orient="horz" pos="828" userDrawn="1">
          <p15:clr>
            <a:srgbClr val="7E889A"/>
          </p15:clr>
        </p15:guide>
        <p15:guide id="68" orient="horz" pos="1000" userDrawn="1">
          <p15:clr>
            <a:srgbClr val="7E889A"/>
          </p15:clr>
        </p15:guide>
        <p15:guide id="69" orient="horz" pos="1172" userDrawn="1">
          <p15:clr>
            <a:srgbClr val="7E889A"/>
          </p15:clr>
        </p15:guide>
        <p15:guide id="70" orient="horz" pos="1344" userDrawn="1">
          <p15:clr>
            <a:srgbClr val="7E889A"/>
          </p15:clr>
        </p15:guide>
        <p15:guide id="71" orient="horz" pos="1516" userDrawn="1">
          <p15:clr>
            <a:srgbClr val="7E889A"/>
          </p15:clr>
        </p15:guide>
        <p15:guide id="72" orient="horz" pos="1688" userDrawn="1">
          <p15:clr>
            <a:srgbClr val="7E889A"/>
          </p15:clr>
        </p15:guide>
        <p15:guide id="73" orient="horz" pos="1860" userDrawn="1">
          <p15:clr>
            <a:srgbClr val="7E889A"/>
          </p15:clr>
        </p15:guide>
        <p15:guide id="74" orient="horz" pos="2034" userDrawn="1">
          <p15:clr>
            <a:srgbClr val="7E889A"/>
          </p15:clr>
        </p15:guide>
        <p15:guide id="75" orient="horz" pos="2206" userDrawn="1">
          <p15:clr>
            <a:srgbClr val="7E889A"/>
          </p15:clr>
        </p15:guide>
        <p15:guide id="76" orient="horz" pos="2378" userDrawn="1">
          <p15:clr>
            <a:srgbClr val="7E889A"/>
          </p15:clr>
        </p15:guide>
        <p15:guide id="77" orient="horz" pos="2550" userDrawn="1">
          <p15:clr>
            <a:srgbClr val="7E889A"/>
          </p15:clr>
        </p15:guide>
        <p15:guide id="78" orient="horz" pos="2722" userDrawn="1">
          <p15:clr>
            <a:srgbClr val="7E889A"/>
          </p15:clr>
        </p15:guide>
        <p15:guide id="79" orient="horz" pos="2894" userDrawn="1">
          <p15:clr>
            <a:srgbClr val="7E889A"/>
          </p15:clr>
        </p15:guide>
        <p15:guide id="80" orient="horz" pos="3066" userDrawn="1">
          <p15:clr>
            <a:srgbClr val="7E889A"/>
          </p15:clr>
        </p15:guide>
        <p15:guide id="81" orient="horz" pos="3240" userDrawn="1">
          <p15:clr>
            <a:srgbClr val="7E889A"/>
          </p15:clr>
        </p15:guide>
        <p15:guide id="82" orient="horz" pos="3412" userDrawn="1">
          <p15:clr>
            <a:srgbClr val="7E889A"/>
          </p15:clr>
        </p15:guide>
        <p15:guide id="83" orient="horz" pos="3584" userDrawn="1">
          <p15:clr>
            <a:srgbClr val="7E889A"/>
          </p15:clr>
        </p15:guide>
        <p15:guide id="84" orient="horz" pos="3756" userDrawn="1">
          <p15:clr>
            <a:srgbClr val="7E889A"/>
          </p15:clr>
        </p15:guide>
        <p15:guide id="85" orient="horz" pos="3928" userDrawn="1">
          <p15:clr>
            <a:srgbClr val="7E889A"/>
          </p15:clr>
        </p15:guide>
        <p15:guide id="86" orient="horz" pos="4100" userDrawn="1">
          <p15:clr>
            <a:srgbClr val="7E889A"/>
          </p15:clr>
        </p15:guide>
        <p15:guide id="87" orient="horz" pos="4272" userDrawn="1">
          <p15:clr>
            <a:srgbClr val="7E889A"/>
          </p15:clr>
        </p15:guide>
        <p15:guide id="88" orient="horz" pos="4444" userDrawn="1">
          <p15:clr>
            <a:srgbClr val="7E889A"/>
          </p15:clr>
        </p15:guide>
        <p15:guide id="89" orient="horz" pos="4618" userDrawn="1">
          <p15:clr>
            <a:srgbClr val="7E889A"/>
          </p15:clr>
        </p15:guide>
        <p15:guide id="90" orient="horz" pos="4790" userDrawn="1">
          <p15:clr>
            <a:srgbClr val="7E889A"/>
          </p15:clr>
        </p15:guide>
        <p15:guide id="91" orient="horz" pos="4962" userDrawn="1">
          <p15:clr>
            <a:srgbClr val="7E889A"/>
          </p15:clr>
        </p15:guide>
        <p15:guide id="92" orient="horz" pos="5134" userDrawn="1">
          <p15:clr>
            <a:srgbClr val="7E889A"/>
          </p15:clr>
        </p15:guide>
        <p15:guide id="93" orient="horz" pos="5306" userDrawn="1">
          <p15:clr>
            <a:srgbClr val="7E889A"/>
          </p15:clr>
        </p15:guide>
        <p15:guide id="94" orient="horz" pos="5478" userDrawn="1">
          <p15:clr>
            <a:srgbClr val="7E889A"/>
          </p15:clr>
        </p15:guide>
        <p15:guide id="95" orient="horz" pos="5650" userDrawn="1">
          <p15:clr>
            <a:srgbClr val="7E889A"/>
          </p15:clr>
        </p15:guide>
        <p15:guide id="96" orient="horz" pos="5824" userDrawn="1">
          <p15:clr>
            <a:srgbClr val="7E889A"/>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 Id="rId3" Type="http://schemas.openxmlformats.org/officeDocument/2006/relationships/image" Target="../media/image26.png"/><Relationship Id="rId4" Type="http://schemas.openxmlformats.org/officeDocument/2006/relationships/image" Target="../media/image25.png"/><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6000"/>
              <a:t>Real-World Evidence in Action</a:t>
            </a:r>
          </a:p>
          <a:p>
            <a:r>
              <a:rPr sz="6000"/>
              <a:t>with Agentic AI</a:t>
            </a:r>
          </a:p>
        </p:txBody>
      </p:sp>
      <p:sp>
        <p:nvSpPr>
          <p:cNvPr id="3" name="Text Placeholder 2"/>
          <p:cNvSpPr>
            <a:spLocks noGrp="1"/>
          </p:cNvSpPr>
          <p:nvPr>
            <p:ph type="body" idx="10" sz="quarter"/>
          </p:nvPr>
        </p:nvSpPr>
        <p:spPr/>
        <p:txBody>
          <a:bodyPr/>
          <a:lstStyle/>
          <a:p>
            <a:r>
              <a:rPr sz="3600"/>
              <a:t>Live demonstration  ·  SAS</a:t>
            </a:r>
          </a:p>
        </p:txBody>
      </p:sp>
      <p:sp>
        <p:nvSpPr>
          <p:cNvPr id="4" name="Text Placeholder 3"/>
          <p:cNvSpPr>
            <a:spLocks noGrp="1"/>
          </p:cNvSpPr>
          <p:nvPr>
            <p:ph type="body" idx="11" sz="quarter"/>
          </p:nvPr>
        </p:nvSpPr>
        <p:spPr/>
        <p:txBody>
          <a:bodyPr/>
          <a:lstStyle/>
          <a:p>
            <a:r>
              <a:rPr sz="2400"/>
              <a:t>Raed Aldweik  |  SAS</a:t>
            </a:r>
          </a:p>
          <a:p>
            <a:r>
              <a:rPr sz="2400"/>
              <a:t>Agentic AI Session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527280" y="0"/>
            <a:ext cx="5760720" cy="10287000"/>
          </a:xfrm>
          <a:prstGeom prst="rect">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1252728" y="713232"/>
            <a:ext cx="10972800" cy="1234440"/>
          </a:xfrm>
        </p:spPr>
        <p:txBody>
          <a:bodyPr wrap="square" anchor="t"/>
          <a:lstStyle/>
          <a:p>
            <a:r>
              <a:rPr sz="3200"/>
              <a:t>Agentic AI has left the pilot stage; the value is in real-world data you already hold</a:t>
            </a:r>
          </a:p>
        </p:txBody>
      </p:sp>
      <p:sp>
        <p:nvSpPr>
          <p:cNvPr id="5" name="TextBox 4"/>
          <p:cNvSpPr txBox="1"/>
          <p:nvPr/>
        </p:nvSpPr>
        <p:spPr>
          <a:xfrm>
            <a:off x="1252728" y="329184"/>
            <a:ext cx="10972800" cy="292608"/>
          </a:xfrm>
          <a:prstGeom prst="rect">
            <a:avLst/>
          </a:prstGeom>
          <a:noFill/>
        </p:spPr>
        <p:txBody>
          <a:bodyPr wrap="square" lIns="45720" tIns="27432" rIns="45720" bIns="27432" anchor="t">
            <a:spAutoFit/>
          </a:bodyPr>
          <a:lstStyle/>
          <a:p>
            <a:pPr algn="l"/>
            <a:r>
              <a:rPr sz="1100">
                <a:solidFill>
                  <a:srgbClr val="0766D1"/>
                </a:solidFill>
                <a:latin typeface="+mj-lt"/>
              </a:rPr>
              <a:t>EXECUTIVE SUMMARY</a:t>
            </a:r>
          </a:p>
        </p:txBody>
      </p:sp>
      <p:sp>
        <p:nvSpPr>
          <p:cNvPr id="7" name="TextBox 6"/>
          <p:cNvSpPr txBox="1"/>
          <p:nvPr/>
        </p:nvSpPr>
        <p:spPr>
          <a:xfrm>
            <a:off x="1252728" y="2267712"/>
            <a:ext cx="1280160" cy="822960"/>
          </a:xfrm>
          <a:prstGeom prst="rect">
            <a:avLst/>
          </a:prstGeom>
          <a:noFill/>
        </p:spPr>
        <p:txBody>
          <a:bodyPr wrap="square" lIns="45720" tIns="27432" rIns="45720" bIns="27432" anchor="t">
            <a:spAutoFit/>
          </a:bodyPr>
          <a:lstStyle/>
          <a:p>
            <a:pPr algn="l"/>
            <a:r>
              <a:rPr sz="3600">
                <a:solidFill>
                  <a:srgbClr val="0766D1"/>
                </a:solidFill>
                <a:latin typeface="+mj-lt"/>
              </a:rPr>
              <a:t>01</a:t>
            </a:r>
          </a:p>
        </p:txBody>
      </p:sp>
      <p:sp>
        <p:nvSpPr>
          <p:cNvPr id="8" name="TextBox 7"/>
          <p:cNvSpPr txBox="1"/>
          <p:nvPr/>
        </p:nvSpPr>
        <p:spPr>
          <a:xfrm>
            <a:off x="2578608" y="2377440"/>
            <a:ext cx="9418320" cy="457200"/>
          </a:xfrm>
          <a:prstGeom prst="rect">
            <a:avLst/>
          </a:prstGeom>
          <a:noFill/>
        </p:spPr>
        <p:txBody>
          <a:bodyPr wrap="square" lIns="45720" tIns="27432" rIns="45720" bIns="27432" anchor="t">
            <a:spAutoFit/>
          </a:bodyPr>
          <a:lstStyle/>
          <a:p>
            <a:pPr algn="l"/>
            <a:r>
              <a:rPr sz="1800">
                <a:solidFill>
                  <a:srgbClr val="262626"/>
                </a:solidFill>
                <a:latin typeface="+mj-lt"/>
              </a:rPr>
              <a:t>Production deployments now report measured outcomes</a:t>
            </a:r>
          </a:p>
        </p:txBody>
      </p:sp>
      <p:sp>
        <p:nvSpPr>
          <p:cNvPr id="9" name="TextBox 8"/>
          <p:cNvSpPr txBox="1"/>
          <p:nvPr/>
        </p:nvSpPr>
        <p:spPr>
          <a:xfrm>
            <a:off x="2578608" y="2834640"/>
            <a:ext cx="9418320" cy="1188720"/>
          </a:xfrm>
          <a:prstGeom prst="rect">
            <a:avLst/>
          </a:prstGeom>
          <a:noFill/>
        </p:spPr>
        <p:txBody>
          <a:bodyPr wrap="square" lIns="45720" tIns="27432" rIns="45720" bIns="27432" anchor="t">
            <a:spAutoFit/>
          </a:bodyPr>
          <a:lstStyle/>
          <a:p>
            <a:pPr algn="l"/>
            <a:r>
              <a:rPr sz="1300">
                <a:solidFill>
                  <a:srgbClr val="262626"/>
                </a:solidFill>
              </a:rPr>
              <a:t>Documentation time down 16 minutes a day (JAMA, 2026). Clinician burnout 52% to 39% in 30 days (JAMA Network Open, 2025). Two-year mortality 43% lower after ML-guided screening outreach (Geisinger). 40% of prior authorisations with no human touch (MUSC Health).</a:t>
            </a:r>
          </a:p>
        </p:txBody>
      </p:sp>
      <p:sp>
        <p:nvSpPr>
          <p:cNvPr id="10" name="TextBox 9"/>
          <p:cNvSpPr txBox="1"/>
          <p:nvPr/>
        </p:nvSpPr>
        <p:spPr>
          <a:xfrm>
            <a:off x="1252728" y="4005072"/>
            <a:ext cx="1280160" cy="822960"/>
          </a:xfrm>
          <a:prstGeom prst="rect">
            <a:avLst/>
          </a:prstGeom>
          <a:noFill/>
        </p:spPr>
        <p:txBody>
          <a:bodyPr wrap="square" lIns="45720" tIns="27432" rIns="45720" bIns="27432" anchor="t">
            <a:spAutoFit/>
          </a:bodyPr>
          <a:lstStyle/>
          <a:p>
            <a:pPr algn="l"/>
            <a:r>
              <a:rPr sz="3600">
                <a:solidFill>
                  <a:srgbClr val="0766D1"/>
                </a:solidFill>
                <a:latin typeface="+mj-lt"/>
              </a:rPr>
              <a:t>02</a:t>
            </a:r>
          </a:p>
        </p:txBody>
      </p:sp>
      <p:sp>
        <p:nvSpPr>
          <p:cNvPr id="11" name="TextBox 10"/>
          <p:cNvSpPr txBox="1"/>
          <p:nvPr/>
        </p:nvSpPr>
        <p:spPr>
          <a:xfrm>
            <a:off x="2578608" y="4114800"/>
            <a:ext cx="9418320" cy="457200"/>
          </a:xfrm>
          <a:prstGeom prst="rect">
            <a:avLst/>
          </a:prstGeom>
          <a:noFill/>
        </p:spPr>
        <p:txBody>
          <a:bodyPr wrap="square" lIns="45720" tIns="27432" rIns="45720" bIns="27432" anchor="t">
            <a:spAutoFit/>
          </a:bodyPr>
          <a:lstStyle/>
          <a:p>
            <a:pPr algn="l"/>
            <a:r>
              <a:rPr sz="1800">
                <a:solidFill>
                  <a:srgbClr val="262626"/>
                </a:solidFill>
                <a:latin typeface="+mj-lt"/>
              </a:rPr>
              <a:t>The use cases are known; the question is which workflow first</a:t>
            </a:r>
          </a:p>
        </p:txBody>
      </p:sp>
      <p:sp>
        <p:nvSpPr>
          <p:cNvPr id="12" name="TextBox 11"/>
          <p:cNvSpPr txBox="1"/>
          <p:nvPr/>
        </p:nvSpPr>
        <p:spPr>
          <a:xfrm>
            <a:off x="2578608" y="4572000"/>
            <a:ext cx="9418320" cy="1188720"/>
          </a:xfrm>
          <a:prstGeom prst="rect">
            <a:avLst/>
          </a:prstGeom>
          <a:noFill/>
        </p:spPr>
        <p:txBody>
          <a:bodyPr wrap="square" lIns="45720" tIns="27432" rIns="45720" bIns="27432" anchor="t">
            <a:spAutoFit/>
          </a:bodyPr>
          <a:lstStyle/>
          <a:p>
            <a:pPr algn="l"/>
            <a:r>
              <a:rPr sz="1300">
                <a:solidFill>
                  <a:srgbClr val="262626"/>
                </a:solidFill>
              </a:rPr>
              <a:t>The same pattern runs before, during and after the visit, in population health and prevention, in operations and finance, and in research.</a:t>
            </a:r>
          </a:p>
        </p:txBody>
      </p:sp>
      <p:sp>
        <p:nvSpPr>
          <p:cNvPr id="13" name="TextBox 12"/>
          <p:cNvSpPr txBox="1"/>
          <p:nvPr/>
        </p:nvSpPr>
        <p:spPr>
          <a:xfrm>
            <a:off x="1252728" y="5742432"/>
            <a:ext cx="1280160" cy="822960"/>
          </a:xfrm>
          <a:prstGeom prst="rect">
            <a:avLst/>
          </a:prstGeom>
          <a:noFill/>
        </p:spPr>
        <p:txBody>
          <a:bodyPr wrap="square" lIns="45720" tIns="27432" rIns="45720" bIns="27432" anchor="t">
            <a:spAutoFit/>
          </a:bodyPr>
          <a:lstStyle/>
          <a:p>
            <a:pPr algn="l"/>
            <a:r>
              <a:rPr sz="3600">
                <a:solidFill>
                  <a:srgbClr val="0766D1"/>
                </a:solidFill>
                <a:latin typeface="+mj-lt"/>
              </a:rPr>
              <a:t>03</a:t>
            </a:r>
          </a:p>
        </p:txBody>
      </p:sp>
      <p:sp>
        <p:nvSpPr>
          <p:cNvPr id="14" name="TextBox 13"/>
          <p:cNvSpPr txBox="1"/>
          <p:nvPr/>
        </p:nvSpPr>
        <p:spPr>
          <a:xfrm>
            <a:off x="2578608" y="5852160"/>
            <a:ext cx="9418320" cy="457200"/>
          </a:xfrm>
          <a:prstGeom prst="rect">
            <a:avLst/>
          </a:prstGeom>
          <a:noFill/>
        </p:spPr>
        <p:txBody>
          <a:bodyPr wrap="square" lIns="45720" tIns="27432" rIns="45720" bIns="27432" anchor="t">
            <a:spAutoFit/>
          </a:bodyPr>
          <a:lstStyle/>
          <a:p>
            <a:pPr algn="l"/>
            <a:r>
              <a:rPr sz="1800">
                <a:solidFill>
                  <a:srgbClr val="262626"/>
                </a:solidFill>
                <a:latin typeface="+mj-lt"/>
              </a:rPr>
              <a:t>The pattern behind every success is the same</a:t>
            </a:r>
          </a:p>
        </p:txBody>
      </p:sp>
      <p:sp>
        <p:nvSpPr>
          <p:cNvPr id="15" name="TextBox 14"/>
          <p:cNvSpPr txBox="1"/>
          <p:nvPr/>
        </p:nvSpPr>
        <p:spPr>
          <a:xfrm>
            <a:off x="2578608" y="6309360"/>
            <a:ext cx="9418320" cy="1188720"/>
          </a:xfrm>
          <a:prstGeom prst="rect">
            <a:avLst/>
          </a:prstGeom>
          <a:noFill/>
        </p:spPr>
        <p:txBody>
          <a:bodyPr wrap="square" lIns="45720" tIns="27432" rIns="45720" bIns="27432" anchor="t">
            <a:spAutoFit/>
          </a:bodyPr>
          <a:lstStyle/>
          <a:p>
            <a:pPr algn="l"/>
            <a:r>
              <a:rPr sz="1300">
                <a:solidFill>
                  <a:srgbClr val="262626"/>
                </a:solidFill>
              </a:rPr>
              <a:t>A language model that reasons, surrounded by your data, your models and your guidelines as governed tools, with a person at the decision and a trace of every step.</a:t>
            </a:r>
          </a:p>
        </p:txBody>
      </p:sp>
      <p:sp>
        <p:nvSpPr>
          <p:cNvPr id="16" name="TextBox 15"/>
          <p:cNvSpPr txBox="1"/>
          <p:nvPr/>
        </p:nvSpPr>
        <p:spPr>
          <a:xfrm>
            <a:off x="1252728" y="7479792"/>
            <a:ext cx="1280160" cy="822960"/>
          </a:xfrm>
          <a:prstGeom prst="rect">
            <a:avLst/>
          </a:prstGeom>
          <a:noFill/>
        </p:spPr>
        <p:txBody>
          <a:bodyPr wrap="square" lIns="45720" tIns="27432" rIns="45720" bIns="27432" anchor="t">
            <a:spAutoFit/>
          </a:bodyPr>
          <a:lstStyle/>
          <a:p>
            <a:pPr algn="l"/>
            <a:r>
              <a:rPr sz="3600">
                <a:solidFill>
                  <a:srgbClr val="0766D1"/>
                </a:solidFill>
                <a:latin typeface="+mj-lt"/>
              </a:rPr>
              <a:t>04</a:t>
            </a:r>
          </a:p>
        </p:txBody>
      </p:sp>
      <p:sp>
        <p:nvSpPr>
          <p:cNvPr id="17" name="TextBox 16"/>
          <p:cNvSpPr txBox="1"/>
          <p:nvPr/>
        </p:nvSpPr>
        <p:spPr>
          <a:xfrm>
            <a:off x="2578608" y="7589519"/>
            <a:ext cx="9418320" cy="457200"/>
          </a:xfrm>
          <a:prstGeom prst="rect">
            <a:avLst/>
          </a:prstGeom>
          <a:noFill/>
        </p:spPr>
        <p:txBody>
          <a:bodyPr wrap="square" lIns="45720" tIns="27432" rIns="45720" bIns="27432" anchor="t">
            <a:spAutoFit/>
          </a:bodyPr>
          <a:lstStyle/>
          <a:p>
            <a:pPr algn="l"/>
            <a:r>
              <a:rPr sz="1800">
                <a:solidFill>
                  <a:srgbClr val="262626"/>
                </a:solidFill>
                <a:latin typeface="+mj-lt"/>
              </a:rPr>
              <a:t>Today: two live examples on synthetic data</a:t>
            </a:r>
          </a:p>
        </p:txBody>
      </p:sp>
      <p:sp>
        <p:nvSpPr>
          <p:cNvPr id="18" name="TextBox 17"/>
          <p:cNvSpPr txBox="1"/>
          <p:nvPr/>
        </p:nvSpPr>
        <p:spPr>
          <a:xfrm>
            <a:off x="2578608" y="8046719"/>
            <a:ext cx="9418320" cy="1188720"/>
          </a:xfrm>
          <a:prstGeom prst="rect">
            <a:avLst/>
          </a:prstGeom>
          <a:noFill/>
        </p:spPr>
        <p:txBody>
          <a:bodyPr wrap="square" lIns="45720" tIns="27432" rIns="45720" bIns="27432" anchor="t">
            <a:spAutoFit/>
          </a:bodyPr>
          <a:lstStyle/>
          <a:p>
            <a:pPr algn="l"/>
            <a:r>
              <a:rPr sz="1300">
                <a:solidFill>
                  <a:srgbClr val="262626"/>
                </a:solidFill>
              </a:rPr>
              <a:t>A population-health agent over a diabetes registry, and a bowel-cancer early-warning check. Both turn real-world data into evidence and a next action in seconds, and show their working.</a:t>
            </a:r>
          </a:p>
        </p:txBody>
      </p:sp>
      <p:sp>
        <p:nvSpPr>
          <p:cNvPr id="19" name="TextBox 18"/>
          <p:cNvSpPr txBox="1"/>
          <p:nvPr/>
        </p:nvSpPr>
        <p:spPr>
          <a:xfrm>
            <a:off x="13075920" y="2377440"/>
            <a:ext cx="4754880" cy="457200"/>
          </a:xfrm>
          <a:prstGeom prst="rect">
            <a:avLst/>
          </a:prstGeom>
          <a:noFill/>
        </p:spPr>
        <p:txBody>
          <a:bodyPr wrap="square" lIns="45720" tIns="27432" rIns="45720" bIns="27432" anchor="t">
            <a:spAutoFit/>
          </a:bodyPr>
          <a:lstStyle/>
          <a:p>
            <a:pPr algn="l"/>
            <a:r>
              <a:rPr sz="1800">
                <a:solidFill>
                  <a:srgbClr val="FFFFFF"/>
                </a:solidFill>
                <a:latin typeface="+mj-lt"/>
              </a:rPr>
              <a:t>The next 45 minutes</a:t>
            </a:r>
          </a:p>
        </p:txBody>
      </p:sp>
      <p:sp>
        <p:nvSpPr>
          <p:cNvPr id="20" name="Oval 19"/>
          <p:cNvSpPr/>
          <p:nvPr/>
        </p:nvSpPr>
        <p:spPr>
          <a:xfrm>
            <a:off x="13075919" y="3200400"/>
            <a:ext cx="548640" cy="5486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presentation_w.png"/>
          <p:cNvPicPr>
            <a:picLocks noChangeAspect="1"/>
          </p:cNvPicPr>
          <p:nvPr/>
        </p:nvPicPr>
        <p:blipFill>
          <a:blip r:embed="rId2"/>
          <a:stretch>
            <a:fillRect/>
          </a:stretch>
        </p:blipFill>
        <p:spPr>
          <a:xfrm>
            <a:off x="13199364" y="3323844"/>
            <a:ext cx="301752" cy="301752"/>
          </a:xfrm>
          <a:prstGeom prst="rect">
            <a:avLst/>
          </a:prstGeom>
        </p:spPr>
      </p:pic>
      <p:sp>
        <p:nvSpPr>
          <p:cNvPr id="22" name="TextBox 21"/>
          <p:cNvSpPr txBox="1"/>
          <p:nvPr/>
        </p:nvSpPr>
        <p:spPr>
          <a:xfrm>
            <a:off x="13807440" y="3182112"/>
            <a:ext cx="4114800" cy="411480"/>
          </a:xfrm>
          <a:prstGeom prst="rect">
            <a:avLst/>
          </a:prstGeom>
          <a:noFill/>
        </p:spPr>
        <p:txBody>
          <a:bodyPr wrap="square" lIns="45720" tIns="27432" rIns="45720" bIns="27432" anchor="t">
            <a:spAutoFit/>
          </a:bodyPr>
          <a:lstStyle/>
          <a:p>
            <a:pPr algn="l"/>
            <a:r>
              <a:rPr sz="1400">
                <a:solidFill>
                  <a:srgbClr val="FFFFFF"/>
                </a:solidFill>
                <a:latin typeface="+mj-lt"/>
              </a:rPr>
              <a:t>The evidence</a:t>
            </a:r>
          </a:p>
        </p:txBody>
      </p:sp>
      <p:sp>
        <p:nvSpPr>
          <p:cNvPr id="23" name="TextBox 22"/>
          <p:cNvSpPr txBox="1"/>
          <p:nvPr/>
        </p:nvSpPr>
        <p:spPr>
          <a:xfrm>
            <a:off x="13807440" y="3584448"/>
            <a:ext cx="4114800" cy="822960"/>
          </a:xfrm>
          <a:prstGeom prst="rect">
            <a:avLst/>
          </a:prstGeom>
          <a:noFill/>
        </p:spPr>
        <p:txBody>
          <a:bodyPr wrap="square" lIns="45720" tIns="27432" rIns="45720" bIns="27432" anchor="t">
            <a:spAutoFit/>
          </a:bodyPr>
          <a:lstStyle/>
          <a:p>
            <a:pPr algn="l"/>
            <a:r>
              <a:rPr sz="1200">
                <a:solidFill>
                  <a:srgbClr val="C4DEFD"/>
                </a:solidFill>
              </a:rPr>
              <a:t>10 min. What is working, what is not, and where it could go next</a:t>
            </a:r>
          </a:p>
        </p:txBody>
      </p:sp>
      <p:sp>
        <p:nvSpPr>
          <p:cNvPr id="24" name="Oval 23"/>
          <p:cNvSpPr/>
          <p:nvPr/>
        </p:nvSpPr>
        <p:spPr>
          <a:xfrm>
            <a:off x="13075919" y="4663440"/>
            <a:ext cx="548640" cy="5486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heart_w.png"/>
          <p:cNvPicPr>
            <a:picLocks noChangeAspect="1"/>
          </p:cNvPicPr>
          <p:nvPr/>
        </p:nvPicPr>
        <p:blipFill>
          <a:blip r:embed="rId3"/>
          <a:stretch>
            <a:fillRect/>
          </a:stretch>
        </p:blipFill>
        <p:spPr>
          <a:xfrm>
            <a:off x="13199364" y="4786883"/>
            <a:ext cx="301752" cy="301752"/>
          </a:xfrm>
          <a:prstGeom prst="rect">
            <a:avLst/>
          </a:prstGeom>
        </p:spPr>
      </p:pic>
      <p:sp>
        <p:nvSpPr>
          <p:cNvPr id="26" name="TextBox 25"/>
          <p:cNvSpPr txBox="1"/>
          <p:nvPr/>
        </p:nvSpPr>
        <p:spPr>
          <a:xfrm>
            <a:off x="13807440" y="4645152"/>
            <a:ext cx="4114800" cy="411480"/>
          </a:xfrm>
          <a:prstGeom prst="rect">
            <a:avLst/>
          </a:prstGeom>
          <a:noFill/>
        </p:spPr>
        <p:txBody>
          <a:bodyPr wrap="square" lIns="45720" tIns="27432" rIns="45720" bIns="27432" anchor="t">
            <a:spAutoFit/>
          </a:bodyPr>
          <a:lstStyle/>
          <a:p>
            <a:pPr algn="l"/>
            <a:r>
              <a:rPr sz="1400">
                <a:solidFill>
                  <a:srgbClr val="FFFFFF"/>
                </a:solidFill>
                <a:latin typeface="+mj-lt"/>
              </a:rPr>
              <a:t>Example 1 · Population health</a:t>
            </a:r>
          </a:p>
        </p:txBody>
      </p:sp>
      <p:sp>
        <p:nvSpPr>
          <p:cNvPr id="27" name="TextBox 26"/>
          <p:cNvSpPr txBox="1"/>
          <p:nvPr/>
        </p:nvSpPr>
        <p:spPr>
          <a:xfrm>
            <a:off x="13807440" y="5047488"/>
            <a:ext cx="4114800" cy="822960"/>
          </a:xfrm>
          <a:prstGeom prst="rect">
            <a:avLst/>
          </a:prstGeom>
          <a:noFill/>
        </p:spPr>
        <p:txBody>
          <a:bodyPr wrap="square" lIns="45720" tIns="27432" rIns="45720" bIns="27432" anchor="t">
            <a:spAutoFit/>
          </a:bodyPr>
          <a:lstStyle/>
          <a:p>
            <a:pPr algn="l"/>
            <a:r>
              <a:rPr sz="1200">
                <a:solidFill>
                  <a:srgbClr val="C4DEFD"/>
                </a:solidFill>
              </a:rPr>
              <a:t>15 min. Five on slides, ten live</a:t>
            </a:r>
          </a:p>
        </p:txBody>
      </p:sp>
      <p:sp>
        <p:nvSpPr>
          <p:cNvPr id="28" name="Oval 27"/>
          <p:cNvSpPr/>
          <p:nvPr/>
        </p:nvSpPr>
        <p:spPr>
          <a:xfrm>
            <a:off x="13075919" y="6126480"/>
            <a:ext cx="548640" cy="5486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scan_w.png"/>
          <p:cNvPicPr>
            <a:picLocks noChangeAspect="1"/>
          </p:cNvPicPr>
          <p:nvPr/>
        </p:nvPicPr>
        <p:blipFill>
          <a:blip r:embed="rId4"/>
          <a:stretch>
            <a:fillRect/>
          </a:stretch>
        </p:blipFill>
        <p:spPr>
          <a:xfrm>
            <a:off x="13199364" y="6249924"/>
            <a:ext cx="301752" cy="301752"/>
          </a:xfrm>
          <a:prstGeom prst="rect">
            <a:avLst/>
          </a:prstGeom>
        </p:spPr>
      </p:pic>
      <p:sp>
        <p:nvSpPr>
          <p:cNvPr id="30" name="TextBox 29"/>
          <p:cNvSpPr txBox="1"/>
          <p:nvPr/>
        </p:nvSpPr>
        <p:spPr>
          <a:xfrm>
            <a:off x="13807440" y="6108192"/>
            <a:ext cx="4114800" cy="411480"/>
          </a:xfrm>
          <a:prstGeom prst="rect">
            <a:avLst/>
          </a:prstGeom>
          <a:noFill/>
        </p:spPr>
        <p:txBody>
          <a:bodyPr wrap="square" lIns="45720" tIns="27432" rIns="45720" bIns="27432" anchor="t">
            <a:spAutoFit/>
          </a:bodyPr>
          <a:lstStyle/>
          <a:p>
            <a:pPr algn="l"/>
            <a:r>
              <a:rPr sz="1400">
                <a:solidFill>
                  <a:srgbClr val="FFFFFF"/>
                </a:solidFill>
                <a:latin typeface="+mj-lt"/>
              </a:rPr>
              <a:t>Example 2 · Cancer early warning</a:t>
            </a:r>
          </a:p>
        </p:txBody>
      </p:sp>
      <p:sp>
        <p:nvSpPr>
          <p:cNvPr id="31" name="TextBox 30"/>
          <p:cNvSpPr txBox="1"/>
          <p:nvPr/>
        </p:nvSpPr>
        <p:spPr>
          <a:xfrm>
            <a:off x="13807440" y="6510528"/>
            <a:ext cx="4114800" cy="822960"/>
          </a:xfrm>
          <a:prstGeom prst="rect">
            <a:avLst/>
          </a:prstGeom>
          <a:noFill/>
        </p:spPr>
        <p:txBody>
          <a:bodyPr wrap="square" lIns="45720" tIns="27432" rIns="45720" bIns="27432" anchor="t">
            <a:spAutoFit/>
          </a:bodyPr>
          <a:lstStyle/>
          <a:p>
            <a:pPr algn="l"/>
            <a:r>
              <a:rPr sz="1200">
                <a:solidFill>
                  <a:srgbClr val="C4DEFD"/>
                </a:solidFill>
              </a:rPr>
              <a:t>12 min. Five on slides, seven live</a:t>
            </a:r>
          </a:p>
        </p:txBody>
      </p:sp>
      <p:sp>
        <p:nvSpPr>
          <p:cNvPr id="32" name="Oval 31"/>
          <p:cNvSpPr/>
          <p:nvPr/>
        </p:nvSpPr>
        <p:spPr>
          <a:xfrm>
            <a:off x="13075919" y="7589520"/>
            <a:ext cx="548640" cy="5486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check_w.png"/>
          <p:cNvPicPr>
            <a:picLocks noChangeAspect="1"/>
          </p:cNvPicPr>
          <p:nvPr/>
        </p:nvPicPr>
        <p:blipFill>
          <a:blip r:embed="rId5"/>
          <a:stretch>
            <a:fillRect/>
          </a:stretch>
        </p:blipFill>
        <p:spPr>
          <a:xfrm>
            <a:off x="13199364" y="7712964"/>
            <a:ext cx="301752" cy="301752"/>
          </a:xfrm>
          <a:prstGeom prst="rect">
            <a:avLst/>
          </a:prstGeom>
        </p:spPr>
      </p:pic>
      <p:sp>
        <p:nvSpPr>
          <p:cNvPr id="34" name="TextBox 33"/>
          <p:cNvSpPr txBox="1"/>
          <p:nvPr/>
        </p:nvSpPr>
        <p:spPr>
          <a:xfrm>
            <a:off x="13807440" y="7571232"/>
            <a:ext cx="4114800" cy="411480"/>
          </a:xfrm>
          <a:prstGeom prst="rect">
            <a:avLst/>
          </a:prstGeom>
          <a:noFill/>
        </p:spPr>
        <p:txBody>
          <a:bodyPr wrap="square" lIns="45720" tIns="27432" rIns="45720" bIns="27432" anchor="t">
            <a:spAutoFit/>
          </a:bodyPr>
          <a:lstStyle/>
          <a:p>
            <a:pPr algn="l"/>
            <a:r>
              <a:rPr sz="1400">
                <a:solidFill>
                  <a:srgbClr val="FFFFFF"/>
                </a:solidFill>
                <a:latin typeface="+mj-lt"/>
              </a:rPr>
              <a:t>What it means for your use case</a:t>
            </a:r>
          </a:p>
        </p:txBody>
      </p:sp>
      <p:sp>
        <p:nvSpPr>
          <p:cNvPr id="35" name="TextBox 34"/>
          <p:cNvSpPr txBox="1"/>
          <p:nvPr/>
        </p:nvSpPr>
        <p:spPr>
          <a:xfrm>
            <a:off x="13807440" y="7973568"/>
            <a:ext cx="4114800" cy="822960"/>
          </a:xfrm>
          <a:prstGeom prst="rect">
            <a:avLst/>
          </a:prstGeom>
          <a:noFill/>
        </p:spPr>
        <p:txBody>
          <a:bodyPr wrap="square" lIns="45720" tIns="27432" rIns="45720" bIns="27432" anchor="t">
            <a:spAutoFit/>
          </a:bodyPr>
          <a:lstStyle/>
          <a:p>
            <a:pPr algn="l"/>
            <a:r>
              <a:rPr sz="1200">
                <a:solidFill>
                  <a:srgbClr val="C4DEFD"/>
                </a:solidFill>
              </a:rPr>
              <a:t>8 min. One blueprint, five tests, questions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1252728" y="713232"/>
            <a:ext cx="15773400" cy="1234440"/>
          </a:xfrm>
        </p:spPr>
        <p:txBody>
          <a:bodyPr wrap="square" anchor="t"/>
          <a:lstStyle/>
          <a:p>
            <a:r>
              <a:rPr sz="3200"/>
              <a:t>Health systems hold more real-world data than they have hours to turn into decisions</a:t>
            </a:r>
          </a:p>
        </p:txBody>
      </p:sp>
      <p:sp>
        <p:nvSpPr>
          <p:cNvPr id="5" name="TextBox 4"/>
          <p:cNvSpPr txBox="1"/>
          <p:nvPr/>
        </p:nvSpPr>
        <p:spPr>
          <a:xfrm>
            <a:off x="1252728" y="329184"/>
            <a:ext cx="10972800" cy="292608"/>
          </a:xfrm>
          <a:prstGeom prst="rect">
            <a:avLst/>
          </a:prstGeom>
          <a:noFill/>
        </p:spPr>
        <p:txBody>
          <a:bodyPr wrap="square" lIns="45720" tIns="27432" rIns="45720" bIns="27432" anchor="t">
            <a:spAutoFit/>
          </a:bodyPr>
          <a:lstStyle/>
          <a:p>
            <a:pPr algn="l"/>
            <a:r>
              <a:rPr sz="1100">
                <a:solidFill>
                  <a:srgbClr val="0766D1"/>
                </a:solidFill>
                <a:latin typeface="+mj-lt"/>
              </a:rPr>
              <a:t>WHY NOW</a:t>
            </a:r>
          </a:p>
        </p:txBody>
      </p:sp>
      <p:sp>
        <p:nvSpPr>
          <p:cNvPr id="6" name="Rounded Rectangle 5"/>
          <p:cNvSpPr/>
          <p:nvPr/>
        </p:nvSpPr>
        <p:spPr>
          <a:xfrm>
            <a:off x="1435608" y="2514600"/>
            <a:ext cx="3566160" cy="1554480"/>
          </a:xfrm>
          <a:prstGeom prst="roundRect">
            <a:avLst>
              <a:gd name="adj" fmla="val 12941"/>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lstStyle/>
          <a:p>
            <a:pPr algn="ctr"/>
            <a:r>
              <a:rPr sz="1800">
                <a:solidFill>
                  <a:srgbClr val="FFFFFF"/>
                </a:solidFill>
                <a:latin typeface="+mj-lt"/>
              </a:rPr>
              <a:t>Real-world data</a:t>
            </a:r>
          </a:p>
          <a:p>
            <a:pPr algn="ctr">
              <a:spcBef>
                <a:spcPts val="300"/>
              </a:spcBef>
            </a:pPr>
            <a:r>
              <a:rPr sz="1200">
                <a:solidFill>
                  <a:srgbClr val="FFFFFF"/>
                </a:solidFill>
              </a:rPr>
              <a:t>HIE, registries, screening programmes, claims</a:t>
            </a:r>
          </a:p>
        </p:txBody>
      </p:sp>
      <p:sp>
        <p:nvSpPr>
          <p:cNvPr id="7" name="Rounded Rectangle 6"/>
          <p:cNvSpPr/>
          <p:nvPr/>
        </p:nvSpPr>
        <p:spPr>
          <a:xfrm>
            <a:off x="6281928" y="2514600"/>
            <a:ext cx="3566160" cy="1554480"/>
          </a:xfrm>
          <a:prstGeom prst="roundRect">
            <a:avLst>
              <a:gd name="adj" fmla="val 12941"/>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lstStyle/>
          <a:p>
            <a:pPr algn="ctr"/>
            <a:r>
              <a:rPr sz="1800">
                <a:solidFill>
                  <a:srgbClr val="FFFFFF"/>
                </a:solidFill>
                <a:latin typeface="+mj-lt"/>
              </a:rPr>
              <a:t>Evidence</a:t>
            </a:r>
          </a:p>
          <a:p>
            <a:pPr algn="ctr">
              <a:spcBef>
                <a:spcPts val="300"/>
              </a:spcBef>
            </a:pPr>
            <a:r>
              <a:rPr sz="1200">
                <a:solidFill>
                  <a:srgbClr val="FFFFFF"/>
                </a:solidFill>
              </a:rPr>
              <a:t>cohorts, risk, care gaps, what the guideline says</a:t>
            </a:r>
          </a:p>
        </p:txBody>
      </p:sp>
      <p:sp>
        <p:nvSpPr>
          <p:cNvPr id="8" name="Rounded Rectangle 7"/>
          <p:cNvSpPr/>
          <p:nvPr/>
        </p:nvSpPr>
        <p:spPr>
          <a:xfrm>
            <a:off x="6281928" y="6675120"/>
            <a:ext cx="3566160" cy="1554480"/>
          </a:xfrm>
          <a:prstGeom prst="roundRect">
            <a:avLst>
              <a:gd name="adj" fmla="val 12941"/>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lstStyle/>
          <a:p>
            <a:pPr algn="ctr"/>
            <a:r>
              <a:rPr sz="1800">
                <a:solidFill>
                  <a:srgbClr val="FFFFFF"/>
                </a:solidFill>
                <a:latin typeface="+mj-lt"/>
              </a:rPr>
              <a:t>Action</a:t>
            </a:r>
          </a:p>
          <a:p>
            <a:pPr algn="ctr">
              <a:spcBef>
                <a:spcPts val="300"/>
              </a:spcBef>
            </a:pPr>
            <a:r>
              <a:rPr sz="1200">
                <a:solidFill>
                  <a:srgbClr val="FFFFFF"/>
                </a:solidFill>
              </a:rPr>
              <a:t>a recall, a referral, a draft for sign-off</a:t>
            </a:r>
          </a:p>
        </p:txBody>
      </p:sp>
      <p:sp>
        <p:nvSpPr>
          <p:cNvPr id="9" name="Rounded Rectangle 8"/>
          <p:cNvSpPr/>
          <p:nvPr/>
        </p:nvSpPr>
        <p:spPr>
          <a:xfrm>
            <a:off x="1435608" y="6675120"/>
            <a:ext cx="3566160" cy="1554480"/>
          </a:xfrm>
          <a:prstGeom prst="roundRect">
            <a:avLst>
              <a:gd name="adj" fmla="val 12941"/>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lstStyle/>
          <a:p>
            <a:pPr algn="ctr"/>
            <a:r>
              <a:rPr sz="1800">
                <a:solidFill>
                  <a:srgbClr val="FFFFFF"/>
                </a:solidFill>
                <a:latin typeface="+mj-lt"/>
              </a:rPr>
              <a:t>Outcome</a:t>
            </a:r>
          </a:p>
          <a:p>
            <a:pPr algn="ctr">
              <a:spcBef>
                <a:spcPts val="300"/>
              </a:spcBef>
            </a:pPr>
            <a:r>
              <a:rPr sz="1200">
                <a:solidFill>
                  <a:srgbClr val="FFFFFF"/>
                </a:solidFill>
              </a:rPr>
              <a:t>measured, written back into the data</a:t>
            </a:r>
          </a:p>
        </p:txBody>
      </p:sp>
      <p:sp>
        <p:nvSpPr>
          <p:cNvPr id="10" name="Right Arrow 9"/>
          <p:cNvSpPr/>
          <p:nvPr/>
        </p:nvSpPr>
        <p:spPr>
          <a:xfrm>
            <a:off x="5230368" y="3063240"/>
            <a:ext cx="822960" cy="457200"/>
          </a:xfrm>
          <a:prstGeom prst="right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wn Arrow 10"/>
          <p:cNvSpPr/>
          <p:nvPr/>
        </p:nvSpPr>
        <p:spPr>
          <a:xfrm>
            <a:off x="7836408" y="4251960"/>
            <a:ext cx="457200" cy="2240280"/>
          </a:xfrm>
          <a:prstGeom prst="down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eft Arrow 11"/>
          <p:cNvSpPr/>
          <p:nvPr/>
        </p:nvSpPr>
        <p:spPr>
          <a:xfrm>
            <a:off x="5230368" y="7223760"/>
            <a:ext cx="822960" cy="457200"/>
          </a:xfrm>
          <a:prstGeom prst="left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Up Arrow 12"/>
          <p:cNvSpPr/>
          <p:nvPr/>
        </p:nvSpPr>
        <p:spPr>
          <a:xfrm>
            <a:off x="2990088" y="4251960"/>
            <a:ext cx="457200" cy="2240280"/>
          </a:xfrm>
          <a:prstGeom prst="up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21608" y="4572000"/>
            <a:ext cx="3840480" cy="1600200"/>
          </a:xfrm>
          <a:prstGeom prst="rect">
            <a:avLst/>
          </a:prstGeom>
          <a:noFill/>
        </p:spPr>
        <p:txBody>
          <a:bodyPr wrap="square" lIns="45720" tIns="27432" rIns="45720" bIns="27432" anchor="ctr">
            <a:spAutoFit/>
          </a:bodyPr>
          <a:lstStyle/>
          <a:p>
            <a:pPr algn="ctr"/>
            <a:r>
              <a:rPr sz="1500">
                <a:solidFill>
                  <a:srgbClr val="032954"/>
                </a:solidFill>
                <a:latin typeface="+mj-lt"/>
              </a:rPr>
              <a:t>The bottleneck is not data.</a:t>
            </a:r>
          </a:p>
          <a:p>
            <a:pPr algn="ctr"/>
            <a:r>
              <a:rPr sz="1500">
                <a:solidFill>
                  <a:srgbClr val="0766D1"/>
                </a:solidFill>
                <a:latin typeface="+mj-lt"/>
              </a:rPr>
              <a:t>It is analyst and clinician hours.</a:t>
            </a:r>
          </a:p>
        </p:txBody>
      </p:sp>
      <p:sp>
        <p:nvSpPr>
          <p:cNvPr id="15" name="Rounded Rectangle 14"/>
          <p:cNvSpPr/>
          <p:nvPr/>
        </p:nvSpPr>
        <p:spPr>
          <a:xfrm>
            <a:off x="10424160" y="2377440"/>
            <a:ext cx="6601968" cy="1965960"/>
          </a:xfrm>
          <a:prstGeom prst="roundRect">
            <a:avLst>
              <a:gd name="adj" fmla="val 9302"/>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698480" y="2487168"/>
            <a:ext cx="6053328" cy="548640"/>
          </a:xfrm>
          <a:prstGeom prst="rect">
            <a:avLst/>
          </a:prstGeom>
          <a:noFill/>
        </p:spPr>
        <p:txBody>
          <a:bodyPr wrap="square" lIns="45720" tIns="27432" rIns="45720" bIns="27432" anchor="t">
            <a:spAutoFit/>
          </a:bodyPr>
          <a:lstStyle/>
          <a:p>
            <a:pPr algn="l"/>
            <a:r>
              <a:rPr sz="2800">
                <a:solidFill>
                  <a:srgbClr val="0766D1"/>
                </a:solidFill>
                <a:latin typeface="+mj-lt"/>
              </a:rPr>
              <a:t>20.7%</a:t>
            </a:r>
          </a:p>
        </p:txBody>
      </p:sp>
      <p:sp>
        <p:nvSpPr>
          <p:cNvPr id="17" name="TextBox 16"/>
          <p:cNvSpPr txBox="1"/>
          <p:nvPr/>
        </p:nvSpPr>
        <p:spPr>
          <a:xfrm>
            <a:off x="10698480" y="3035808"/>
            <a:ext cx="6053328" cy="1234439"/>
          </a:xfrm>
          <a:prstGeom prst="rect">
            <a:avLst/>
          </a:prstGeom>
          <a:noFill/>
        </p:spPr>
        <p:txBody>
          <a:bodyPr wrap="square" lIns="45720" tIns="27432" rIns="45720" bIns="27432" anchor="t">
            <a:spAutoFit/>
          </a:bodyPr>
          <a:lstStyle/>
          <a:p>
            <a:pPr algn="l"/>
            <a:r>
              <a:rPr sz="1200">
                <a:solidFill>
                  <a:srgbClr val="262626"/>
                </a:solidFill>
              </a:rPr>
              <a:t>of adults in the UAE live with diabetes: 1.27 million people, among the highest rates in the world (IDF Diabetes Atlas, 11th edition).</a:t>
            </a:r>
          </a:p>
        </p:txBody>
      </p:sp>
      <p:sp>
        <p:nvSpPr>
          <p:cNvPr id="18" name="Rounded Rectangle 17"/>
          <p:cNvSpPr/>
          <p:nvPr/>
        </p:nvSpPr>
        <p:spPr>
          <a:xfrm>
            <a:off x="10424160" y="4617720"/>
            <a:ext cx="6601968" cy="1965960"/>
          </a:xfrm>
          <a:prstGeom prst="roundRect">
            <a:avLst>
              <a:gd name="adj" fmla="val 9302"/>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98480" y="4727448"/>
            <a:ext cx="6053328" cy="548640"/>
          </a:xfrm>
          <a:prstGeom prst="rect">
            <a:avLst/>
          </a:prstGeom>
          <a:noFill/>
        </p:spPr>
        <p:txBody>
          <a:bodyPr wrap="square" lIns="45720" tIns="27432" rIns="45720" bIns="27432" anchor="t">
            <a:spAutoFit/>
          </a:bodyPr>
          <a:lstStyle/>
          <a:p>
            <a:pPr algn="l"/>
            <a:r>
              <a:rPr sz="2800">
                <a:solidFill>
                  <a:srgbClr val="0766D1"/>
                </a:solidFill>
                <a:latin typeface="+mj-lt"/>
              </a:rPr>
              <a:t>No. 1</a:t>
            </a:r>
          </a:p>
        </p:txBody>
      </p:sp>
      <p:sp>
        <p:nvSpPr>
          <p:cNvPr id="20" name="TextBox 19"/>
          <p:cNvSpPr txBox="1"/>
          <p:nvPr/>
        </p:nvSpPr>
        <p:spPr>
          <a:xfrm>
            <a:off x="10698480" y="5276088"/>
            <a:ext cx="6053328" cy="1234439"/>
          </a:xfrm>
          <a:prstGeom prst="rect">
            <a:avLst/>
          </a:prstGeom>
          <a:noFill/>
        </p:spPr>
        <p:txBody>
          <a:bodyPr wrap="square" lIns="45720" tIns="27432" rIns="45720" bIns="27432" anchor="t">
            <a:spAutoFit/>
          </a:bodyPr>
          <a:lstStyle/>
          <a:p>
            <a:pPr algn="l"/>
            <a:r>
              <a:rPr sz="1200">
                <a:solidFill>
                  <a:srgbClr val="262626"/>
                </a:solidFill>
              </a:rPr>
              <a:t>Bowel cancer is the most common cancer among men in the UAE, and a quarter to a half of cases are diagnosed before the age of 50 (National Cancer Registry; CA Cancer J Clin, 2024).</a:t>
            </a:r>
          </a:p>
        </p:txBody>
      </p:sp>
      <p:sp>
        <p:nvSpPr>
          <p:cNvPr id="21" name="Rounded Rectangle 20"/>
          <p:cNvSpPr/>
          <p:nvPr/>
        </p:nvSpPr>
        <p:spPr>
          <a:xfrm>
            <a:off x="10424160" y="6858000"/>
            <a:ext cx="6601968" cy="1965960"/>
          </a:xfrm>
          <a:prstGeom prst="roundRect">
            <a:avLst>
              <a:gd name="adj" fmla="val 9302"/>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698480" y="6967728"/>
            <a:ext cx="6053328" cy="548640"/>
          </a:xfrm>
          <a:prstGeom prst="rect">
            <a:avLst/>
          </a:prstGeom>
          <a:noFill/>
        </p:spPr>
        <p:txBody>
          <a:bodyPr wrap="square" lIns="45720" tIns="27432" rIns="45720" bIns="27432" anchor="t">
            <a:spAutoFit/>
          </a:bodyPr>
          <a:lstStyle/>
          <a:p>
            <a:pPr algn="l"/>
            <a:r>
              <a:rPr sz="2800">
                <a:solidFill>
                  <a:srgbClr val="0766D1"/>
                </a:solidFill>
                <a:latin typeface="+mj-lt"/>
              </a:rPr>
              <a:t>~70%</a:t>
            </a:r>
          </a:p>
        </p:txBody>
      </p:sp>
      <p:sp>
        <p:nvSpPr>
          <p:cNvPr id="23" name="TextBox 22"/>
          <p:cNvSpPr txBox="1"/>
          <p:nvPr/>
        </p:nvSpPr>
        <p:spPr>
          <a:xfrm>
            <a:off x="10698480" y="7516368"/>
            <a:ext cx="6053328" cy="1234439"/>
          </a:xfrm>
          <a:prstGeom prst="rect">
            <a:avLst/>
          </a:prstGeom>
          <a:noFill/>
        </p:spPr>
        <p:txBody>
          <a:bodyPr wrap="square" lIns="45720" tIns="27432" rIns="45720" bIns="27432" anchor="t">
            <a:spAutoFit/>
          </a:bodyPr>
          <a:lstStyle/>
          <a:p>
            <a:pPr algn="l"/>
            <a:r>
              <a:rPr sz="1200">
                <a:solidFill>
                  <a:srgbClr val="262626"/>
                </a:solidFill>
              </a:rPr>
              <a:t>of new drug and biologic submissions to the US FDA now include real-world evidence. Regulators, not only providers, run on registry data (2026).</a:t>
            </a:r>
          </a:p>
        </p:txBody>
      </p:sp>
      <p:sp>
        <p:nvSpPr>
          <p:cNvPr id="24" name="TextBox 23"/>
          <p:cNvSpPr txBox="1"/>
          <p:nvPr/>
        </p:nvSpPr>
        <p:spPr>
          <a:xfrm>
            <a:off x="1252728" y="9326880"/>
            <a:ext cx="15773400" cy="457200"/>
          </a:xfrm>
          <a:prstGeom prst="rect">
            <a:avLst/>
          </a:prstGeom>
          <a:noFill/>
        </p:spPr>
        <p:txBody>
          <a:bodyPr wrap="square" lIns="45720" tIns="27432" rIns="45720" bIns="27432" anchor="t">
            <a:spAutoFit/>
          </a:bodyPr>
          <a:lstStyle/>
          <a:p>
            <a:pPr algn="l"/>
            <a:r>
              <a:rPr sz="900">
                <a:solidFill>
                  <a:srgbClr val="7E889A"/>
                </a:solidFill>
              </a:rPr>
              <a:t>Sources: International Diabetes Federation, IDF Diabetes Atlas 11th ed. (2025), UAE profile  ·  UAE National Cancer Registry, Cancer Incidence in UAE 2021 (MOHAP)  ·  Al-Shamsi et al., CA: A Cancer Journal for Clinicians, 2024  ·  MedCity News, March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1252728" y="713232"/>
            <a:ext cx="15773400" cy="1234440"/>
          </a:xfrm>
        </p:spPr>
        <p:txBody>
          <a:bodyPr wrap="square" anchor="t"/>
          <a:lstStyle/>
          <a:p>
            <a:r>
              <a:rPr sz="3200"/>
              <a:t>Agentic AI is the step from answering questions to completing work</a:t>
            </a:r>
          </a:p>
        </p:txBody>
      </p:sp>
      <p:sp>
        <p:nvSpPr>
          <p:cNvPr id="5" name="TextBox 4"/>
          <p:cNvSpPr txBox="1"/>
          <p:nvPr/>
        </p:nvSpPr>
        <p:spPr>
          <a:xfrm>
            <a:off x="1252728" y="329184"/>
            <a:ext cx="10972800" cy="292608"/>
          </a:xfrm>
          <a:prstGeom prst="rect">
            <a:avLst/>
          </a:prstGeom>
          <a:noFill/>
        </p:spPr>
        <p:txBody>
          <a:bodyPr wrap="square" lIns="45720" tIns="27432" rIns="45720" bIns="27432" anchor="t">
            <a:spAutoFit/>
          </a:bodyPr>
          <a:lstStyle/>
          <a:p>
            <a:pPr algn="l"/>
            <a:r>
              <a:rPr sz="1100">
                <a:solidFill>
                  <a:srgbClr val="0766D1"/>
                </a:solidFill>
                <a:latin typeface="+mj-lt"/>
              </a:rPr>
              <a:t>WHAT AGENTIC AI IS</a:t>
            </a:r>
          </a:p>
        </p:txBody>
      </p:sp>
      <p:sp>
        <p:nvSpPr>
          <p:cNvPr id="6" name="Rounded Rectangle 5"/>
          <p:cNvSpPr/>
          <p:nvPr/>
        </p:nvSpPr>
        <p:spPr>
          <a:xfrm>
            <a:off x="1252728" y="2377440"/>
            <a:ext cx="5013960" cy="5943600"/>
          </a:xfrm>
          <a:prstGeom prst="roundRect">
            <a:avLst>
              <a:gd name="adj" fmla="val 5106"/>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481328" y="2606039"/>
            <a:ext cx="822960" cy="822960"/>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odel_w.png"/>
          <p:cNvPicPr>
            <a:picLocks noChangeAspect="1"/>
          </p:cNvPicPr>
          <p:nvPr/>
        </p:nvPicPr>
        <p:blipFill>
          <a:blip r:embed="rId2"/>
          <a:stretch>
            <a:fillRect/>
          </a:stretch>
        </p:blipFill>
        <p:spPr>
          <a:xfrm>
            <a:off x="1678838" y="2803550"/>
            <a:ext cx="427939" cy="427939"/>
          </a:xfrm>
          <a:prstGeom prst="rect">
            <a:avLst/>
          </a:prstGeom>
        </p:spPr>
      </p:pic>
      <p:sp>
        <p:nvSpPr>
          <p:cNvPr id="9" name="TextBox 8"/>
          <p:cNvSpPr txBox="1"/>
          <p:nvPr/>
        </p:nvSpPr>
        <p:spPr>
          <a:xfrm>
            <a:off x="2487168" y="2761488"/>
            <a:ext cx="3550920" cy="548640"/>
          </a:xfrm>
          <a:prstGeom prst="rect">
            <a:avLst/>
          </a:prstGeom>
          <a:noFill/>
        </p:spPr>
        <p:txBody>
          <a:bodyPr wrap="square" lIns="45720" tIns="27432" rIns="45720" bIns="27432" anchor="t">
            <a:spAutoFit/>
          </a:bodyPr>
          <a:lstStyle/>
          <a:p>
            <a:pPr algn="l"/>
            <a:r>
              <a:rPr sz="2200">
                <a:solidFill>
                  <a:srgbClr val="262626"/>
                </a:solidFill>
                <a:latin typeface="+mj-lt"/>
              </a:rPr>
              <a:t>Analytical AI</a:t>
            </a:r>
          </a:p>
        </p:txBody>
      </p:sp>
      <p:sp>
        <p:nvSpPr>
          <p:cNvPr id="10" name="TextBox 9"/>
          <p:cNvSpPr txBox="1"/>
          <p:nvPr/>
        </p:nvSpPr>
        <p:spPr>
          <a:xfrm>
            <a:off x="1618488" y="3886200"/>
            <a:ext cx="4282440" cy="274320"/>
          </a:xfrm>
          <a:prstGeom prst="rect">
            <a:avLst/>
          </a:prstGeom>
          <a:noFill/>
        </p:spPr>
        <p:txBody>
          <a:bodyPr wrap="square" lIns="45720" tIns="27432" rIns="45720" bIns="27432" anchor="t">
            <a:spAutoFit/>
          </a:bodyPr>
          <a:lstStyle/>
          <a:p>
            <a:pPr algn="l"/>
            <a:r>
              <a:rPr sz="1050">
                <a:solidFill>
                  <a:srgbClr val="0766D1"/>
                </a:solidFill>
                <a:latin typeface="+mj-lt"/>
              </a:rPr>
              <a:t>YOU GIVE IT</a:t>
            </a:r>
          </a:p>
        </p:txBody>
      </p:sp>
      <p:sp>
        <p:nvSpPr>
          <p:cNvPr id="11" name="TextBox 10"/>
          <p:cNvSpPr txBox="1"/>
          <p:nvPr/>
        </p:nvSpPr>
        <p:spPr>
          <a:xfrm>
            <a:off x="1618488" y="4160520"/>
            <a:ext cx="4282440" cy="777240"/>
          </a:xfrm>
          <a:prstGeom prst="rect">
            <a:avLst/>
          </a:prstGeom>
          <a:noFill/>
        </p:spPr>
        <p:txBody>
          <a:bodyPr wrap="square" lIns="45720" tIns="27432" rIns="45720" bIns="27432" anchor="t">
            <a:spAutoFit/>
          </a:bodyPr>
          <a:lstStyle/>
          <a:p>
            <a:pPr algn="l"/>
            <a:r>
              <a:rPr sz="1400">
                <a:solidFill>
                  <a:srgbClr val="262626"/>
                </a:solidFill>
              </a:rPr>
              <a:t>Data</a:t>
            </a:r>
          </a:p>
        </p:txBody>
      </p:sp>
      <p:sp>
        <p:nvSpPr>
          <p:cNvPr id="12" name="TextBox 11"/>
          <p:cNvSpPr txBox="1"/>
          <p:nvPr/>
        </p:nvSpPr>
        <p:spPr>
          <a:xfrm>
            <a:off x="1618488" y="4965192"/>
            <a:ext cx="4282440" cy="274320"/>
          </a:xfrm>
          <a:prstGeom prst="rect">
            <a:avLst/>
          </a:prstGeom>
          <a:noFill/>
        </p:spPr>
        <p:txBody>
          <a:bodyPr wrap="square" lIns="45720" tIns="27432" rIns="45720" bIns="27432" anchor="t">
            <a:spAutoFit/>
          </a:bodyPr>
          <a:lstStyle/>
          <a:p>
            <a:pPr algn="l"/>
            <a:r>
              <a:rPr sz="1050">
                <a:solidFill>
                  <a:srgbClr val="0766D1"/>
                </a:solidFill>
                <a:latin typeface="+mj-lt"/>
              </a:rPr>
              <a:t>IT GIVES BACK</a:t>
            </a:r>
          </a:p>
        </p:txBody>
      </p:sp>
      <p:sp>
        <p:nvSpPr>
          <p:cNvPr id="13" name="TextBox 12"/>
          <p:cNvSpPr txBox="1"/>
          <p:nvPr/>
        </p:nvSpPr>
        <p:spPr>
          <a:xfrm>
            <a:off x="1618488" y="5239512"/>
            <a:ext cx="4282440" cy="777240"/>
          </a:xfrm>
          <a:prstGeom prst="rect">
            <a:avLst/>
          </a:prstGeom>
          <a:noFill/>
        </p:spPr>
        <p:txBody>
          <a:bodyPr wrap="square" lIns="45720" tIns="27432" rIns="45720" bIns="27432" anchor="t">
            <a:spAutoFit/>
          </a:bodyPr>
          <a:lstStyle/>
          <a:p>
            <a:pPr algn="l"/>
            <a:r>
              <a:rPr sz="1400">
                <a:solidFill>
                  <a:srgbClr val="262626"/>
                </a:solidFill>
              </a:rPr>
              <a:t>A prediction: a risk score, a forecast, a classification</a:t>
            </a:r>
          </a:p>
        </p:txBody>
      </p:sp>
      <p:sp>
        <p:nvSpPr>
          <p:cNvPr id="14" name="TextBox 13"/>
          <p:cNvSpPr txBox="1"/>
          <p:nvPr/>
        </p:nvSpPr>
        <p:spPr>
          <a:xfrm>
            <a:off x="1618488" y="6044183"/>
            <a:ext cx="4282440" cy="274320"/>
          </a:xfrm>
          <a:prstGeom prst="rect">
            <a:avLst/>
          </a:prstGeom>
          <a:noFill/>
        </p:spPr>
        <p:txBody>
          <a:bodyPr wrap="square" lIns="45720" tIns="27432" rIns="45720" bIns="27432" anchor="t">
            <a:spAutoFit/>
          </a:bodyPr>
          <a:lstStyle/>
          <a:p>
            <a:pPr algn="l"/>
            <a:r>
              <a:rPr sz="1050">
                <a:solidFill>
                  <a:srgbClr val="0766D1"/>
                </a:solidFill>
                <a:latin typeface="+mj-lt"/>
              </a:rPr>
              <a:t>IT STOPS WHEN</a:t>
            </a:r>
          </a:p>
        </p:txBody>
      </p:sp>
      <p:sp>
        <p:nvSpPr>
          <p:cNvPr id="15" name="TextBox 14"/>
          <p:cNvSpPr txBox="1"/>
          <p:nvPr/>
        </p:nvSpPr>
        <p:spPr>
          <a:xfrm>
            <a:off x="1618488" y="6318503"/>
            <a:ext cx="4282440" cy="777240"/>
          </a:xfrm>
          <a:prstGeom prst="rect">
            <a:avLst/>
          </a:prstGeom>
          <a:noFill/>
        </p:spPr>
        <p:txBody>
          <a:bodyPr wrap="square" lIns="45720" tIns="27432" rIns="45720" bIns="27432" anchor="t">
            <a:spAutoFit/>
          </a:bodyPr>
          <a:lstStyle/>
          <a:p>
            <a:pPr algn="l"/>
            <a:r>
              <a:rPr sz="1400">
                <a:solidFill>
                  <a:srgbClr val="262626"/>
                </a:solidFill>
              </a:rPr>
              <a:t>The score is computed</a:t>
            </a:r>
          </a:p>
        </p:txBody>
      </p:sp>
      <p:sp>
        <p:nvSpPr>
          <p:cNvPr id="16" name="TextBox 15"/>
          <p:cNvSpPr txBox="1"/>
          <p:nvPr/>
        </p:nvSpPr>
        <p:spPr>
          <a:xfrm>
            <a:off x="1618488" y="7123176"/>
            <a:ext cx="4282440" cy="274320"/>
          </a:xfrm>
          <a:prstGeom prst="rect">
            <a:avLst/>
          </a:prstGeom>
          <a:noFill/>
        </p:spPr>
        <p:txBody>
          <a:bodyPr wrap="square" lIns="45720" tIns="27432" rIns="45720" bIns="27432" anchor="t">
            <a:spAutoFit/>
          </a:bodyPr>
          <a:lstStyle/>
          <a:p>
            <a:pPr algn="l"/>
            <a:r>
              <a:rPr sz="1050">
                <a:solidFill>
                  <a:srgbClr val="0766D1"/>
                </a:solidFill>
                <a:latin typeface="+mj-lt"/>
              </a:rPr>
              <a:t>IN TODAY'S DEMOS</a:t>
            </a:r>
          </a:p>
        </p:txBody>
      </p:sp>
      <p:sp>
        <p:nvSpPr>
          <p:cNvPr id="17" name="TextBox 16"/>
          <p:cNvSpPr txBox="1"/>
          <p:nvPr/>
        </p:nvSpPr>
        <p:spPr>
          <a:xfrm>
            <a:off x="1618488" y="7397496"/>
            <a:ext cx="4282440" cy="777240"/>
          </a:xfrm>
          <a:prstGeom prst="rect">
            <a:avLst/>
          </a:prstGeom>
          <a:noFill/>
        </p:spPr>
        <p:txBody>
          <a:bodyPr wrap="square" lIns="45720" tIns="27432" rIns="45720" bIns="27432" anchor="t">
            <a:spAutoFit/>
          </a:bodyPr>
          <a:lstStyle/>
          <a:p>
            <a:pPr algn="l"/>
            <a:r>
              <a:rPr sz="1400">
                <a:solidFill>
                  <a:srgbClr val="262626"/>
                </a:solidFill>
              </a:rPr>
              <a:t>The deterioration-risk model; the screening score</a:t>
            </a:r>
          </a:p>
        </p:txBody>
      </p:sp>
      <p:sp>
        <p:nvSpPr>
          <p:cNvPr id="18" name="Rounded Rectangle 17"/>
          <p:cNvSpPr/>
          <p:nvPr/>
        </p:nvSpPr>
        <p:spPr>
          <a:xfrm>
            <a:off x="6632448" y="2377440"/>
            <a:ext cx="5013960" cy="5943600"/>
          </a:xfrm>
          <a:prstGeom prst="roundRect">
            <a:avLst>
              <a:gd name="adj" fmla="val 5106"/>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61048" y="2606039"/>
            <a:ext cx="822960" cy="822960"/>
          </a:xfrm>
          <a:prstGeom prst="ellipse">
            <a:avLst/>
          </a:prstGeom>
          <a:solidFill>
            <a:srgbClr val="439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parkles_w.png"/>
          <p:cNvPicPr>
            <a:picLocks noChangeAspect="1"/>
          </p:cNvPicPr>
          <p:nvPr/>
        </p:nvPicPr>
        <p:blipFill>
          <a:blip r:embed="rId3"/>
          <a:stretch>
            <a:fillRect/>
          </a:stretch>
        </p:blipFill>
        <p:spPr>
          <a:xfrm>
            <a:off x="7058558" y="2803550"/>
            <a:ext cx="427939" cy="427939"/>
          </a:xfrm>
          <a:prstGeom prst="rect">
            <a:avLst/>
          </a:prstGeom>
        </p:spPr>
      </p:pic>
      <p:sp>
        <p:nvSpPr>
          <p:cNvPr id="21" name="TextBox 20"/>
          <p:cNvSpPr txBox="1"/>
          <p:nvPr/>
        </p:nvSpPr>
        <p:spPr>
          <a:xfrm>
            <a:off x="7866888" y="2761488"/>
            <a:ext cx="3550920" cy="548640"/>
          </a:xfrm>
          <a:prstGeom prst="rect">
            <a:avLst/>
          </a:prstGeom>
          <a:noFill/>
        </p:spPr>
        <p:txBody>
          <a:bodyPr wrap="square" lIns="45720" tIns="27432" rIns="45720" bIns="27432" anchor="t">
            <a:spAutoFit/>
          </a:bodyPr>
          <a:lstStyle/>
          <a:p>
            <a:pPr algn="l"/>
            <a:r>
              <a:rPr sz="2200">
                <a:solidFill>
                  <a:srgbClr val="262626"/>
                </a:solidFill>
                <a:latin typeface="+mj-lt"/>
              </a:rPr>
              <a:t>Generative AI</a:t>
            </a:r>
          </a:p>
        </p:txBody>
      </p:sp>
      <p:sp>
        <p:nvSpPr>
          <p:cNvPr id="22" name="TextBox 21"/>
          <p:cNvSpPr txBox="1"/>
          <p:nvPr/>
        </p:nvSpPr>
        <p:spPr>
          <a:xfrm>
            <a:off x="6998208" y="3886200"/>
            <a:ext cx="4282440" cy="274320"/>
          </a:xfrm>
          <a:prstGeom prst="rect">
            <a:avLst/>
          </a:prstGeom>
          <a:noFill/>
        </p:spPr>
        <p:txBody>
          <a:bodyPr wrap="square" lIns="45720" tIns="27432" rIns="45720" bIns="27432" anchor="t">
            <a:spAutoFit/>
          </a:bodyPr>
          <a:lstStyle/>
          <a:p>
            <a:pPr algn="l"/>
            <a:r>
              <a:rPr sz="1050">
                <a:solidFill>
                  <a:srgbClr val="0766D1"/>
                </a:solidFill>
                <a:latin typeface="+mj-lt"/>
              </a:rPr>
              <a:t>YOU GIVE IT</a:t>
            </a:r>
          </a:p>
        </p:txBody>
      </p:sp>
      <p:sp>
        <p:nvSpPr>
          <p:cNvPr id="23" name="TextBox 22"/>
          <p:cNvSpPr txBox="1"/>
          <p:nvPr/>
        </p:nvSpPr>
        <p:spPr>
          <a:xfrm>
            <a:off x="6998208" y="4160520"/>
            <a:ext cx="4282440" cy="777240"/>
          </a:xfrm>
          <a:prstGeom prst="rect">
            <a:avLst/>
          </a:prstGeom>
          <a:noFill/>
        </p:spPr>
        <p:txBody>
          <a:bodyPr wrap="square" lIns="45720" tIns="27432" rIns="45720" bIns="27432" anchor="t">
            <a:spAutoFit/>
          </a:bodyPr>
          <a:lstStyle/>
          <a:p>
            <a:pPr algn="l"/>
            <a:r>
              <a:rPr sz="1400">
                <a:solidFill>
                  <a:srgbClr val="262626"/>
                </a:solidFill>
              </a:rPr>
              <a:t>A prompt</a:t>
            </a:r>
          </a:p>
        </p:txBody>
      </p:sp>
      <p:sp>
        <p:nvSpPr>
          <p:cNvPr id="24" name="TextBox 23"/>
          <p:cNvSpPr txBox="1"/>
          <p:nvPr/>
        </p:nvSpPr>
        <p:spPr>
          <a:xfrm>
            <a:off x="6998208" y="4965192"/>
            <a:ext cx="4282440" cy="274320"/>
          </a:xfrm>
          <a:prstGeom prst="rect">
            <a:avLst/>
          </a:prstGeom>
          <a:noFill/>
        </p:spPr>
        <p:txBody>
          <a:bodyPr wrap="square" lIns="45720" tIns="27432" rIns="45720" bIns="27432" anchor="t">
            <a:spAutoFit/>
          </a:bodyPr>
          <a:lstStyle/>
          <a:p>
            <a:pPr algn="l"/>
            <a:r>
              <a:rPr sz="1050">
                <a:solidFill>
                  <a:srgbClr val="0766D1"/>
                </a:solidFill>
                <a:latin typeface="+mj-lt"/>
              </a:rPr>
              <a:t>IT GIVES BACK</a:t>
            </a:r>
          </a:p>
        </p:txBody>
      </p:sp>
      <p:sp>
        <p:nvSpPr>
          <p:cNvPr id="25" name="TextBox 24"/>
          <p:cNvSpPr txBox="1"/>
          <p:nvPr/>
        </p:nvSpPr>
        <p:spPr>
          <a:xfrm>
            <a:off x="6998208" y="5239512"/>
            <a:ext cx="4282440" cy="777240"/>
          </a:xfrm>
          <a:prstGeom prst="rect">
            <a:avLst/>
          </a:prstGeom>
          <a:noFill/>
        </p:spPr>
        <p:txBody>
          <a:bodyPr wrap="square" lIns="45720" tIns="27432" rIns="45720" bIns="27432" anchor="t">
            <a:spAutoFit/>
          </a:bodyPr>
          <a:lstStyle/>
          <a:p>
            <a:pPr algn="l"/>
            <a:r>
              <a:rPr sz="1400">
                <a:solidFill>
                  <a:srgbClr val="262626"/>
                </a:solidFill>
              </a:rPr>
              <a:t>Text: a summary, a draft, an answer</a:t>
            </a:r>
          </a:p>
        </p:txBody>
      </p:sp>
      <p:sp>
        <p:nvSpPr>
          <p:cNvPr id="26" name="TextBox 25"/>
          <p:cNvSpPr txBox="1"/>
          <p:nvPr/>
        </p:nvSpPr>
        <p:spPr>
          <a:xfrm>
            <a:off x="6998208" y="6044183"/>
            <a:ext cx="4282440" cy="274320"/>
          </a:xfrm>
          <a:prstGeom prst="rect">
            <a:avLst/>
          </a:prstGeom>
          <a:noFill/>
        </p:spPr>
        <p:txBody>
          <a:bodyPr wrap="square" lIns="45720" tIns="27432" rIns="45720" bIns="27432" anchor="t">
            <a:spAutoFit/>
          </a:bodyPr>
          <a:lstStyle/>
          <a:p>
            <a:pPr algn="l"/>
            <a:r>
              <a:rPr sz="1050">
                <a:solidFill>
                  <a:srgbClr val="0766D1"/>
                </a:solidFill>
                <a:latin typeface="+mj-lt"/>
              </a:rPr>
              <a:t>IT STOPS WHEN</a:t>
            </a:r>
          </a:p>
        </p:txBody>
      </p:sp>
      <p:sp>
        <p:nvSpPr>
          <p:cNvPr id="27" name="TextBox 26"/>
          <p:cNvSpPr txBox="1"/>
          <p:nvPr/>
        </p:nvSpPr>
        <p:spPr>
          <a:xfrm>
            <a:off x="6998208" y="6318503"/>
            <a:ext cx="4282440" cy="777240"/>
          </a:xfrm>
          <a:prstGeom prst="rect">
            <a:avLst/>
          </a:prstGeom>
          <a:noFill/>
        </p:spPr>
        <p:txBody>
          <a:bodyPr wrap="square" lIns="45720" tIns="27432" rIns="45720" bIns="27432" anchor="t">
            <a:spAutoFit/>
          </a:bodyPr>
          <a:lstStyle/>
          <a:p>
            <a:pPr algn="l"/>
            <a:r>
              <a:rPr sz="1400">
                <a:solidFill>
                  <a:srgbClr val="262626"/>
                </a:solidFill>
              </a:rPr>
              <a:t>The answer is written</a:t>
            </a:r>
          </a:p>
        </p:txBody>
      </p:sp>
      <p:sp>
        <p:nvSpPr>
          <p:cNvPr id="28" name="TextBox 27"/>
          <p:cNvSpPr txBox="1"/>
          <p:nvPr/>
        </p:nvSpPr>
        <p:spPr>
          <a:xfrm>
            <a:off x="6998208" y="7123176"/>
            <a:ext cx="4282440" cy="274320"/>
          </a:xfrm>
          <a:prstGeom prst="rect">
            <a:avLst/>
          </a:prstGeom>
          <a:noFill/>
        </p:spPr>
        <p:txBody>
          <a:bodyPr wrap="square" lIns="45720" tIns="27432" rIns="45720" bIns="27432" anchor="t">
            <a:spAutoFit/>
          </a:bodyPr>
          <a:lstStyle/>
          <a:p>
            <a:pPr algn="l"/>
            <a:r>
              <a:rPr sz="1050">
                <a:solidFill>
                  <a:srgbClr val="0766D1"/>
                </a:solidFill>
                <a:latin typeface="+mj-lt"/>
              </a:rPr>
              <a:t>IN TODAY'S DEMOS</a:t>
            </a:r>
          </a:p>
        </p:txBody>
      </p:sp>
      <p:sp>
        <p:nvSpPr>
          <p:cNvPr id="29" name="TextBox 28"/>
          <p:cNvSpPr txBox="1"/>
          <p:nvPr/>
        </p:nvSpPr>
        <p:spPr>
          <a:xfrm>
            <a:off x="6998208" y="7397496"/>
            <a:ext cx="4282440" cy="777240"/>
          </a:xfrm>
          <a:prstGeom prst="rect">
            <a:avLst/>
          </a:prstGeom>
          <a:noFill/>
        </p:spPr>
        <p:txBody>
          <a:bodyPr wrap="square" lIns="45720" tIns="27432" rIns="45720" bIns="27432" anchor="t">
            <a:spAutoFit/>
          </a:bodyPr>
          <a:lstStyle/>
          <a:p>
            <a:pPr algn="l"/>
            <a:r>
              <a:rPr sz="1400">
                <a:solidFill>
                  <a:srgbClr val="262626"/>
                </a:solidFill>
              </a:rPr>
              <a:t>Writes every answer and explanation, in English or Arabic</a:t>
            </a:r>
          </a:p>
        </p:txBody>
      </p:sp>
      <p:sp>
        <p:nvSpPr>
          <p:cNvPr id="30" name="Rounded Rectangle 29"/>
          <p:cNvSpPr/>
          <p:nvPr/>
        </p:nvSpPr>
        <p:spPr>
          <a:xfrm>
            <a:off x="12012168" y="2377440"/>
            <a:ext cx="5013960" cy="5943600"/>
          </a:xfrm>
          <a:prstGeom prst="roundRect">
            <a:avLst>
              <a:gd name="adj" fmla="val 5106"/>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2240768" y="2606039"/>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robot_b.png"/>
          <p:cNvPicPr>
            <a:picLocks noChangeAspect="1"/>
          </p:cNvPicPr>
          <p:nvPr/>
        </p:nvPicPr>
        <p:blipFill>
          <a:blip r:embed="rId4"/>
          <a:stretch>
            <a:fillRect/>
          </a:stretch>
        </p:blipFill>
        <p:spPr>
          <a:xfrm>
            <a:off x="12438278" y="2803550"/>
            <a:ext cx="427939" cy="427939"/>
          </a:xfrm>
          <a:prstGeom prst="rect">
            <a:avLst/>
          </a:prstGeom>
        </p:spPr>
      </p:pic>
      <p:sp>
        <p:nvSpPr>
          <p:cNvPr id="33" name="TextBox 32"/>
          <p:cNvSpPr txBox="1"/>
          <p:nvPr/>
        </p:nvSpPr>
        <p:spPr>
          <a:xfrm>
            <a:off x="13246608" y="2761488"/>
            <a:ext cx="3550920" cy="548640"/>
          </a:xfrm>
          <a:prstGeom prst="rect">
            <a:avLst/>
          </a:prstGeom>
          <a:noFill/>
        </p:spPr>
        <p:txBody>
          <a:bodyPr wrap="square" lIns="45720" tIns="27432" rIns="45720" bIns="27432" anchor="t">
            <a:spAutoFit/>
          </a:bodyPr>
          <a:lstStyle/>
          <a:p>
            <a:pPr algn="l"/>
            <a:r>
              <a:rPr sz="2200">
                <a:solidFill>
                  <a:srgbClr val="FFFFFF"/>
                </a:solidFill>
                <a:latin typeface="+mj-lt"/>
              </a:rPr>
              <a:t>Agentic AI</a:t>
            </a:r>
          </a:p>
        </p:txBody>
      </p:sp>
      <p:sp>
        <p:nvSpPr>
          <p:cNvPr id="34" name="TextBox 33"/>
          <p:cNvSpPr txBox="1"/>
          <p:nvPr/>
        </p:nvSpPr>
        <p:spPr>
          <a:xfrm>
            <a:off x="12377928" y="3886200"/>
            <a:ext cx="4282440" cy="274320"/>
          </a:xfrm>
          <a:prstGeom prst="rect">
            <a:avLst/>
          </a:prstGeom>
          <a:noFill/>
        </p:spPr>
        <p:txBody>
          <a:bodyPr wrap="square" lIns="45720" tIns="27432" rIns="45720" bIns="27432" anchor="t">
            <a:spAutoFit/>
          </a:bodyPr>
          <a:lstStyle/>
          <a:p>
            <a:pPr algn="l"/>
            <a:r>
              <a:rPr sz="1050">
                <a:solidFill>
                  <a:srgbClr val="C4DEFD"/>
                </a:solidFill>
                <a:latin typeface="+mj-lt"/>
              </a:rPr>
              <a:t>YOU GIVE IT</a:t>
            </a:r>
          </a:p>
        </p:txBody>
      </p:sp>
      <p:sp>
        <p:nvSpPr>
          <p:cNvPr id="35" name="TextBox 34"/>
          <p:cNvSpPr txBox="1"/>
          <p:nvPr/>
        </p:nvSpPr>
        <p:spPr>
          <a:xfrm>
            <a:off x="12377928" y="4160520"/>
            <a:ext cx="4282440" cy="777240"/>
          </a:xfrm>
          <a:prstGeom prst="rect">
            <a:avLst/>
          </a:prstGeom>
          <a:noFill/>
        </p:spPr>
        <p:txBody>
          <a:bodyPr wrap="square" lIns="45720" tIns="27432" rIns="45720" bIns="27432" anchor="t">
            <a:spAutoFit/>
          </a:bodyPr>
          <a:lstStyle/>
          <a:p>
            <a:pPr algn="l"/>
            <a:r>
              <a:rPr sz="1400">
                <a:solidFill>
                  <a:srgbClr val="FFFFFF"/>
                </a:solidFill>
              </a:rPr>
              <a:t>A goal</a:t>
            </a:r>
          </a:p>
        </p:txBody>
      </p:sp>
      <p:sp>
        <p:nvSpPr>
          <p:cNvPr id="36" name="TextBox 35"/>
          <p:cNvSpPr txBox="1"/>
          <p:nvPr/>
        </p:nvSpPr>
        <p:spPr>
          <a:xfrm>
            <a:off x="12377928" y="4965192"/>
            <a:ext cx="4282440" cy="274320"/>
          </a:xfrm>
          <a:prstGeom prst="rect">
            <a:avLst/>
          </a:prstGeom>
          <a:noFill/>
        </p:spPr>
        <p:txBody>
          <a:bodyPr wrap="square" lIns="45720" tIns="27432" rIns="45720" bIns="27432" anchor="t">
            <a:spAutoFit/>
          </a:bodyPr>
          <a:lstStyle/>
          <a:p>
            <a:pPr algn="l"/>
            <a:r>
              <a:rPr sz="1050">
                <a:solidFill>
                  <a:srgbClr val="C4DEFD"/>
                </a:solidFill>
                <a:latin typeface="+mj-lt"/>
              </a:rPr>
              <a:t>IT GIVES BACK</a:t>
            </a:r>
          </a:p>
        </p:txBody>
      </p:sp>
      <p:sp>
        <p:nvSpPr>
          <p:cNvPr id="37" name="TextBox 36"/>
          <p:cNvSpPr txBox="1"/>
          <p:nvPr/>
        </p:nvSpPr>
        <p:spPr>
          <a:xfrm>
            <a:off x="12377928" y="5239512"/>
            <a:ext cx="4282440" cy="777240"/>
          </a:xfrm>
          <a:prstGeom prst="rect">
            <a:avLst/>
          </a:prstGeom>
          <a:noFill/>
        </p:spPr>
        <p:txBody>
          <a:bodyPr wrap="square" lIns="45720" tIns="27432" rIns="45720" bIns="27432" anchor="t">
            <a:spAutoFit/>
          </a:bodyPr>
          <a:lstStyle/>
          <a:p>
            <a:pPr algn="l"/>
            <a:r>
              <a:rPr sz="1400">
                <a:solidFill>
                  <a:srgbClr val="FFFFFF"/>
                </a:solidFill>
              </a:rPr>
              <a:t>Finished work, with every step it took shown</a:t>
            </a:r>
          </a:p>
        </p:txBody>
      </p:sp>
      <p:sp>
        <p:nvSpPr>
          <p:cNvPr id="38" name="TextBox 37"/>
          <p:cNvSpPr txBox="1"/>
          <p:nvPr/>
        </p:nvSpPr>
        <p:spPr>
          <a:xfrm>
            <a:off x="12377928" y="6044183"/>
            <a:ext cx="4282440" cy="274320"/>
          </a:xfrm>
          <a:prstGeom prst="rect">
            <a:avLst/>
          </a:prstGeom>
          <a:noFill/>
        </p:spPr>
        <p:txBody>
          <a:bodyPr wrap="square" lIns="45720" tIns="27432" rIns="45720" bIns="27432" anchor="t">
            <a:spAutoFit/>
          </a:bodyPr>
          <a:lstStyle/>
          <a:p>
            <a:pPr algn="l"/>
            <a:r>
              <a:rPr sz="1050">
                <a:solidFill>
                  <a:srgbClr val="C4DEFD"/>
                </a:solidFill>
                <a:latin typeface="+mj-lt"/>
              </a:rPr>
              <a:t>IT STOPS WHEN</a:t>
            </a:r>
          </a:p>
        </p:txBody>
      </p:sp>
      <p:sp>
        <p:nvSpPr>
          <p:cNvPr id="39" name="TextBox 38"/>
          <p:cNvSpPr txBox="1"/>
          <p:nvPr/>
        </p:nvSpPr>
        <p:spPr>
          <a:xfrm>
            <a:off x="12377928" y="6318503"/>
            <a:ext cx="4282440" cy="777240"/>
          </a:xfrm>
          <a:prstGeom prst="rect">
            <a:avLst/>
          </a:prstGeom>
          <a:noFill/>
        </p:spPr>
        <p:txBody>
          <a:bodyPr wrap="square" lIns="45720" tIns="27432" rIns="45720" bIns="27432" anchor="t">
            <a:spAutoFit/>
          </a:bodyPr>
          <a:lstStyle/>
          <a:p>
            <a:pPr algn="l"/>
            <a:r>
              <a:rPr sz="1400">
                <a:solidFill>
                  <a:srgbClr val="FFFFFF"/>
                </a:solidFill>
              </a:rPr>
              <a:t>The goal is met, or a person must decide</a:t>
            </a:r>
          </a:p>
        </p:txBody>
      </p:sp>
      <p:sp>
        <p:nvSpPr>
          <p:cNvPr id="40" name="TextBox 39"/>
          <p:cNvSpPr txBox="1"/>
          <p:nvPr/>
        </p:nvSpPr>
        <p:spPr>
          <a:xfrm>
            <a:off x="12377928" y="7123176"/>
            <a:ext cx="4282440" cy="274320"/>
          </a:xfrm>
          <a:prstGeom prst="rect">
            <a:avLst/>
          </a:prstGeom>
          <a:noFill/>
        </p:spPr>
        <p:txBody>
          <a:bodyPr wrap="square" lIns="45720" tIns="27432" rIns="45720" bIns="27432" anchor="t">
            <a:spAutoFit/>
          </a:bodyPr>
          <a:lstStyle/>
          <a:p>
            <a:pPr algn="l"/>
            <a:r>
              <a:rPr sz="1050">
                <a:solidFill>
                  <a:srgbClr val="C4DEFD"/>
                </a:solidFill>
                <a:latin typeface="+mj-lt"/>
              </a:rPr>
              <a:t>IN TODAY'S DEMOS</a:t>
            </a:r>
          </a:p>
        </p:txBody>
      </p:sp>
      <p:sp>
        <p:nvSpPr>
          <p:cNvPr id="41" name="TextBox 40"/>
          <p:cNvSpPr txBox="1"/>
          <p:nvPr/>
        </p:nvSpPr>
        <p:spPr>
          <a:xfrm>
            <a:off x="12377928" y="7397496"/>
            <a:ext cx="4282440" cy="777240"/>
          </a:xfrm>
          <a:prstGeom prst="rect">
            <a:avLst/>
          </a:prstGeom>
          <a:noFill/>
        </p:spPr>
        <p:txBody>
          <a:bodyPr wrap="square" lIns="45720" tIns="27432" rIns="45720" bIns="27432" anchor="t">
            <a:spAutoFit/>
          </a:bodyPr>
          <a:lstStyle/>
          <a:p>
            <a:pPr algn="l"/>
            <a:r>
              <a:rPr sz="1400">
                <a:solidFill>
                  <a:srgbClr val="FFFFFF"/>
                </a:solidFill>
              </a:rPr>
              <a:t>The agents: they decide what to run, run it, check it, and hand over</a:t>
            </a:r>
          </a:p>
        </p:txBody>
      </p:sp>
      <p:sp>
        <p:nvSpPr>
          <p:cNvPr id="42" name="TextBox 41"/>
          <p:cNvSpPr txBox="1"/>
          <p:nvPr/>
        </p:nvSpPr>
        <p:spPr>
          <a:xfrm>
            <a:off x="1252728" y="8595360"/>
            <a:ext cx="15773400" cy="640080"/>
          </a:xfrm>
          <a:prstGeom prst="rect">
            <a:avLst/>
          </a:prstGeom>
          <a:noFill/>
        </p:spPr>
        <p:txBody>
          <a:bodyPr wrap="square" lIns="45720" tIns="27432" rIns="45720" bIns="27432" anchor="t">
            <a:spAutoFit/>
          </a:bodyPr>
          <a:lstStyle/>
          <a:p>
            <a:pPr algn="l"/>
            <a:r>
              <a:rPr sz="1300">
                <a:solidFill>
                  <a:srgbClr val="7E889A"/>
                </a:solidFill>
              </a:rPr>
              <a:t>An agent pursues a goal by reasoning about the next step, using tools to act, checking the result, and staying inside limits set by people. Nothing in the third column replaces the first two: the agent puts them to work.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1252728" y="713232"/>
            <a:ext cx="15773400" cy="1234440"/>
          </a:xfrm>
        </p:spPr>
        <p:txBody>
          <a:bodyPr wrap="square" anchor="t"/>
          <a:lstStyle/>
          <a:p>
            <a:r>
              <a:rPr sz="3200"/>
              <a:t>What makes an agent trustworthy in a hospital is not the model but what surrounds it</a:t>
            </a:r>
          </a:p>
        </p:txBody>
      </p:sp>
      <p:sp>
        <p:nvSpPr>
          <p:cNvPr id="5" name="TextBox 4"/>
          <p:cNvSpPr txBox="1"/>
          <p:nvPr/>
        </p:nvSpPr>
        <p:spPr>
          <a:xfrm>
            <a:off x="1252728" y="329184"/>
            <a:ext cx="10972800" cy="292608"/>
          </a:xfrm>
          <a:prstGeom prst="rect">
            <a:avLst/>
          </a:prstGeom>
          <a:noFill/>
        </p:spPr>
        <p:txBody>
          <a:bodyPr wrap="square" lIns="45720" tIns="27432" rIns="45720" bIns="27432" anchor="t">
            <a:spAutoFit/>
          </a:bodyPr>
          <a:lstStyle/>
          <a:p>
            <a:pPr algn="l"/>
            <a:r>
              <a:rPr sz="1100">
                <a:solidFill>
                  <a:srgbClr val="0766D1"/>
                </a:solidFill>
                <a:latin typeface="+mj-lt"/>
              </a:rPr>
              <a:t>WHAT AGENTIC AI IS</a:t>
            </a:r>
          </a:p>
        </p:txBody>
      </p:sp>
      <p:cxnSp>
        <p:nvCxnSpPr>
          <p:cNvPr id="6" name="Connector 5"/>
          <p:cNvCxnSpPr/>
          <p:nvPr/>
        </p:nvCxnSpPr>
        <p:spPr>
          <a:xfrm>
            <a:off x="6922008" y="3611880"/>
            <a:ext cx="804671" cy="1874520"/>
          </a:xfrm>
          <a:prstGeom prst="line">
            <a:avLst/>
          </a:prstGeom>
          <a:ln w="19050">
            <a:solidFill>
              <a:srgbClr val="98C5FB"/>
            </a:solidFill>
            <a:prstDash val="sysDot"/>
          </a:ln>
          <a:effectLst/>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1252728" y="2468880"/>
            <a:ext cx="5669280" cy="2286000"/>
          </a:xfrm>
          <a:prstGeom prst="roundRect">
            <a:avLst>
              <a:gd name="adj" fmla="val 11200"/>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618488" y="3108960"/>
            <a:ext cx="1005840" cy="10058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les_w.png"/>
          <p:cNvPicPr>
            <a:picLocks noChangeAspect="1"/>
          </p:cNvPicPr>
          <p:nvPr/>
        </p:nvPicPr>
        <p:blipFill>
          <a:blip r:embed="rId2"/>
          <a:stretch>
            <a:fillRect/>
          </a:stretch>
        </p:blipFill>
        <p:spPr>
          <a:xfrm>
            <a:off x="1859889" y="3350361"/>
            <a:ext cx="523036" cy="523036"/>
          </a:xfrm>
          <a:prstGeom prst="rect">
            <a:avLst/>
          </a:prstGeom>
        </p:spPr>
      </p:pic>
      <p:sp>
        <p:nvSpPr>
          <p:cNvPr id="10" name="TextBox 9"/>
          <p:cNvSpPr txBox="1"/>
          <p:nvPr/>
        </p:nvSpPr>
        <p:spPr>
          <a:xfrm>
            <a:off x="2852928" y="2743200"/>
            <a:ext cx="3840480" cy="457200"/>
          </a:xfrm>
          <a:prstGeom prst="rect">
            <a:avLst/>
          </a:prstGeom>
          <a:noFill/>
        </p:spPr>
        <p:txBody>
          <a:bodyPr wrap="square" lIns="45720" tIns="27432" rIns="45720" bIns="27432" anchor="t">
            <a:spAutoFit/>
          </a:bodyPr>
          <a:lstStyle/>
          <a:p>
            <a:pPr algn="l"/>
            <a:r>
              <a:rPr sz="2100">
                <a:solidFill>
                  <a:srgbClr val="262626"/>
                </a:solidFill>
                <a:latin typeface="+mj-lt"/>
              </a:rPr>
              <a:t>Knowledge</a:t>
            </a:r>
          </a:p>
        </p:txBody>
      </p:sp>
      <p:sp>
        <p:nvSpPr>
          <p:cNvPr id="11" name="TextBox 10"/>
          <p:cNvSpPr txBox="1"/>
          <p:nvPr/>
        </p:nvSpPr>
        <p:spPr>
          <a:xfrm>
            <a:off x="2852928" y="3291840"/>
            <a:ext cx="3840480" cy="1371600"/>
          </a:xfrm>
          <a:prstGeom prst="rect">
            <a:avLst/>
          </a:prstGeom>
          <a:noFill/>
        </p:spPr>
        <p:txBody>
          <a:bodyPr wrap="square" lIns="45720" tIns="27432" rIns="45720" bIns="27432" anchor="t">
            <a:spAutoFit/>
          </a:bodyPr>
          <a:lstStyle/>
          <a:p>
            <a:pPr algn="l"/>
            <a:r>
              <a:rPr sz="1400">
                <a:solidFill>
                  <a:srgbClr val="262626"/>
                </a:solidFill>
              </a:rPr>
              <a:t>Your guidelines, retrieved on demand and quoted with the section (retrieval-augmented generation).</a:t>
            </a:r>
          </a:p>
        </p:txBody>
      </p:sp>
      <p:cxnSp>
        <p:nvCxnSpPr>
          <p:cNvPr id="12" name="Connector 11"/>
          <p:cNvCxnSpPr/>
          <p:nvPr/>
        </p:nvCxnSpPr>
        <p:spPr>
          <a:xfrm flipV="1">
            <a:off x="6922008" y="5486400"/>
            <a:ext cx="804671" cy="1691640"/>
          </a:xfrm>
          <a:prstGeom prst="line">
            <a:avLst/>
          </a:prstGeom>
          <a:ln w="19050">
            <a:solidFill>
              <a:srgbClr val="98C5FB"/>
            </a:solidFill>
            <a:prstDash val="sysDot"/>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252728" y="6035040"/>
            <a:ext cx="5669280" cy="2286000"/>
          </a:xfrm>
          <a:prstGeom prst="roundRect">
            <a:avLst>
              <a:gd name="adj" fmla="val 11200"/>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618488" y="6675120"/>
            <a:ext cx="1005840" cy="10058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api_w.png"/>
          <p:cNvPicPr>
            <a:picLocks noChangeAspect="1"/>
          </p:cNvPicPr>
          <p:nvPr/>
        </p:nvPicPr>
        <p:blipFill>
          <a:blip r:embed="rId3"/>
          <a:stretch>
            <a:fillRect/>
          </a:stretch>
        </p:blipFill>
        <p:spPr>
          <a:xfrm>
            <a:off x="1859889" y="6916521"/>
            <a:ext cx="523036" cy="523036"/>
          </a:xfrm>
          <a:prstGeom prst="rect">
            <a:avLst/>
          </a:prstGeom>
        </p:spPr>
      </p:pic>
      <p:sp>
        <p:nvSpPr>
          <p:cNvPr id="16" name="TextBox 15"/>
          <p:cNvSpPr txBox="1"/>
          <p:nvPr/>
        </p:nvSpPr>
        <p:spPr>
          <a:xfrm>
            <a:off x="2852928" y="6309359"/>
            <a:ext cx="3840480" cy="457200"/>
          </a:xfrm>
          <a:prstGeom prst="rect">
            <a:avLst/>
          </a:prstGeom>
          <a:noFill/>
        </p:spPr>
        <p:txBody>
          <a:bodyPr wrap="square" lIns="45720" tIns="27432" rIns="45720" bIns="27432" anchor="t">
            <a:spAutoFit/>
          </a:bodyPr>
          <a:lstStyle/>
          <a:p>
            <a:pPr algn="l"/>
            <a:r>
              <a:rPr sz="2100">
                <a:solidFill>
                  <a:srgbClr val="262626"/>
                </a:solidFill>
                <a:latin typeface="+mj-lt"/>
              </a:rPr>
              <a:t>Tools</a:t>
            </a:r>
          </a:p>
        </p:txBody>
      </p:sp>
      <p:sp>
        <p:nvSpPr>
          <p:cNvPr id="17" name="TextBox 16"/>
          <p:cNvSpPr txBox="1"/>
          <p:nvPr/>
        </p:nvSpPr>
        <p:spPr>
          <a:xfrm>
            <a:off x="2852928" y="6858000"/>
            <a:ext cx="3840480" cy="1371600"/>
          </a:xfrm>
          <a:prstGeom prst="rect">
            <a:avLst/>
          </a:prstGeom>
          <a:noFill/>
        </p:spPr>
        <p:txBody>
          <a:bodyPr wrap="square" lIns="45720" tIns="27432" rIns="45720" bIns="27432" anchor="t">
            <a:spAutoFit/>
          </a:bodyPr>
          <a:lstStyle/>
          <a:p>
            <a:pPr algn="l"/>
            <a:r>
              <a:rPr sz="1400">
                <a:solidFill>
                  <a:srgbClr val="262626"/>
                </a:solidFill>
              </a:rPr>
              <a:t>Your data, models and rules, reached through one governed plug (the Model Context Protocol), never directly.</a:t>
            </a:r>
          </a:p>
        </p:txBody>
      </p:sp>
      <p:cxnSp>
        <p:nvCxnSpPr>
          <p:cNvPr id="18" name="Connector 17"/>
          <p:cNvCxnSpPr/>
          <p:nvPr/>
        </p:nvCxnSpPr>
        <p:spPr>
          <a:xfrm flipH="1">
            <a:off x="10561320" y="3611880"/>
            <a:ext cx="795528" cy="1874520"/>
          </a:xfrm>
          <a:prstGeom prst="line">
            <a:avLst/>
          </a:prstGeom>
          <a:ln w="19050">
            <a:solidFill>
              <a:srgbClr val="98C5FB"/>
            </a:solidFill>
            <a:prstDash val="sysDot"/>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11356848" y="2468880"/>
            <a:ext cx="5669280" cy="2286000"/>
          </a:xfrm>
          <a:prstGeom prst="roundRect">
            <a:avLst>
              <a:gd name="adj" fmla="val 11200"/>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722608" y="3108960"/>
            <a:ext cx="1005840" cy="1005840"/>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oversight_w.png"/>
          <p:cNvPicPr>
            <a:picLocks noChangeAspect="1"/>
          </p:cNvPicPr>
          <p:nvPr/>
        </p:nvPicPr>
        <p:blipFill>
          <a:blip r:embed="rId4"/>
          <a:stretch>
            <a:fillRect/>
          </a:stretch>
        </p:blipFill>
        <p:spPr>
          <a:xfrm>
            <a:off x="11964009" y="3350361"/>
            <a:ext cx="523036" cy="523036"/>
          </a:xfrm>
          <a:prstGeom prst="rect">
            <a:avLst/>
          </a:prstGeom>
        </p:spPr>
      </p:pic>
      <p:sp>
        <p:nvSpPr>
          <p:cNvPr id="22" name="TextBox 21"/>
          <p:cNvSpPr txBox="1"/>
          <p:nvPr/>
        </p:nvSpPr>
        <p:spPr>
          <a:xfrm>
            <a:off x="12957048" y="2743200"/>
            <a:ext cx="3840480" cy="457200"/>
          </a:xfrm>
          <a:prstGeom prst="rect">
            <a:avLst/>
          </a:prstGeom>
          <a:noFill/>
        </p:spPr>
        <p:txBody>
          <a:bodyPr wrap="square" lIns="45720" tIns="27432" rIns="45720" bIns="27432" anchor="t">
            <a:spAutoFit/>
          </a:bodyPr>
          <a:lstStyle/>
          <a:p>
            <a:pPr algn="l"/>
            <a:r>
              <a:rPr sz="2100">
                <a:solidFill>
                  <a:srgbClr val="262626"/>
                </a:solidFill>
                <a:latin typeface="+mj-lt"/>
              </a:rPr>
              <a:t>Oversight</a:t>
            </a:r>
          </a:p>
        </p:txBody>
      </p:sp>
      <p:sp>
        <p:nvSpPr>
          <p:cNvPr id="23" name="TextBox 22"/>
          <p:cNvSpPr txBox="1"/>
          <p:nvPr/>
        </p:nvSpPr>
        <p:spPr>
          <a:xfrm>
            <a:off x="12957048" y="3291840"/>
            <a:ext cx="3840480" cy="1371600"/>
          </a:xfrm>
          <a:prstGeom prst="rect">
            <a:avLst/>
          </a:prstGeom>
          <a:noFill/>
        </p:spPr>
        <p:txBody>
          <a:bodyPr wrap="square" lIns="45720" tIns="27432" rIns="45720" bIns="27432" anchor="t">
            <a:spAutoFit/>
          </a:bodyPr>
          <a:lstStyle/>
          <a:p>
            <a:pPr algn="l"/>
            <a:r>
              <a:rPr sz="1400">
                <a:solidFill>
                  <a:srgbClr val="262626"/>
                </a:solidFill>
              </a:rPr>
              <a:t>The goal, the limits, the approvals. The agent drafts, lists and ranks; a person decides.</a:t>
            </a:r>
          </a:p>
        </p:txBody>
      </p:sp>
      <p:cxnSp>
        <p:nvCxnSpPr>
          <p:cNvPr id="24" name="Connector 23"/>
          <p:cNvCxnSpPr/>
          <p:nvPr/>
        </p:nvCxnSpPr>
        <p:spPr>
          <a:xfrm flipH="1" flipV="1">
            <a:off x="10561320" y="5486400"/>
            <a:ext cx="795528" cy="1691640"/>
          </a:xfrm>
          <a:prstGeom prst="line">
            <a:avLst/>
          </a:prstGeom>
          <a:ln w="19050">
            <a:solidFill>
              <a:srgbClr val="98C5FB"/>
            </a:solidFill>
            <a:prstDash val="sysDot"/>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1356848" y="6035040"/>
            <a:ext cx="5669280" cy="2286000"/>
          </a:xfrm>
          <a:prstGeom prst="roundRect">
            <a:avLst>
              <a:gd name="adj" fmla="val 11200"/>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1722608" y="6675120"/>
            <a:ext cx="1005840" cy="1005840"/>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log_w.png"/>
          <p:cNvPicPr>
            <a:picLocks noChangeAspect="1"/>
          </p:cNvPicPr>
          <p:nvPr/>
        </p:nvPicPr>
        <p:blipFill>
          <a:blip r:embed="rId5"/>
          <a:stretch>
            <a:fillRect/>
          </a:stretch>
        </p:blipFill>
        <p:spPr>
          <a:xfrm>
            <a:off x="11964009" y="6916521"/>
            <a:ext cx="523036" cy="523036"/>
          </a:xfrm>
          <a:prstGeom prst="rect">
            <a:avLst/>
          </a:prstGeom>
        </p:spPr>
      </p:pic>
      <p:sp>
        <p:nvSpPr>
          <p:cNvPr id="28" name="TextBox 27"/>
          <p:cNvSpPr txBox="1"/>
          <p:nvPr/>
        </p:nvSpPr>
        <p:spPr>
          <a:xfrm>
            <a:off x="12957048" y="6309359"/>
            <a:ext cx="3840480" cy="457200"/>
          </a:xfrm>
          <a:prstGeom prst="rect">
            <a:avLst/>
          </a:prstGeom>
          <a:noFill/>
        </p:spPr>
        <p:txBody>
          <a:bodyPr wrap="square" lIns="45720" tIns="27432" rIns="45720" bIns="27432" anchor="t">
            <a:spAutoFit/>
          </a:bodyPr>
          <a:lstStyle/>
          <a:p>
            <a:pPr algn="l"/>
            <a:r>
              <a:rPr sz="2100">
                <a:solidFill>
                  <a:srgbClr val="262626"/>
                </a:solidFill>
                <a:latin typeface="+mj-lt"/>
              </a:rPr>
              <a:t>Trace</a:t>
            </a:r>
          </a:p>
        </p:txBody>
      </p:sp>
      <p:sp>
        <p:nvSpPr>
          <p:cNvPr id="29" name="TextBox 28"/>
          <p:cNvSpPr txBox="1"/>
          <p:nvPr/>
        </p:nvSpPr>
        <p:spPr>
          <a:xfrm>
            <a:off x="12957048" y="6858000"/>
            <a:ext cx="3840480" cy="1371600"/>
          </a:xfrm>
          <a:prstGeom prst="rect">
            <a:avLst/>
          </a:prstGeom>
          <a:noFill/>
        </p:spPr>
        <p:txBody>
          <a:bodyPr wrap="square" lIns="45720" tIns="27432" rIns="45720" bIns="27432" anchor="t">
            <a:spAutoFit/>
          </a:bodyPr>
          <a:lstStyle/>
          <a:p>
            <a:pPr algn="l"/>
            <a:r>
              <a:rPr sz="1400">
                <a:solidFill>
                  <a:srgbClr val="262626"/>
                </a:solidFill>
              </a:rPr>
              <a:t>Every retrieval, query and model call on record, next to the answer. The audit trail is built in.</a:t>
            </a:r>
          </a:p>
        </p:txBody>
      </p:sp>
      <p:sp>
        <p:nvSpPr>
          <p:cNvPr id="30" name="Oval 29"/>
          <p:cNvSpPr/>
          <p:nvPr/>
        </p:nvSpPr>
        <p:spPr>
          <a:xfrm>
            <a:off x="7726679" y="4069080"/>
            <a:ext cx="2834640" cy="2834640"/>
          </a:xfrm>
          <a:prstGeom prst="ellipse">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886700" y="4229100"/>
            <a:ext cx="2514600" cy="2514600"/>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brain_w.png"/>
          <p:cNvPicPr>
            <a:picLocks noChangeAspect="1"/>
          </p:cNvPicPr>
          <p:nvPr/>
        </p:nvPicPr>
        <p:blipFill>
          <a:blip r:embed="rId6"/>
          <a:stretch>
            <a:fillRect/>
          </a:stretch>
        </p:blipFill>
        <p:spPr>
          <a:xfrm>
            <a:off x="8778240" y="4526280"/>
            <a:ext cx="731520" cy="731520"/>
          </a:xfrm>
          <a:prstGeom prst="rect">
            <a:avLst/>
          </a:prstGeom>
        </p:spPr>
      </p:pic>
      <p:sp>
        <p:nvSpPr>
          <p:cNvPr id="33" name="TextBox 32"/>
          <p:cNvSpPr txBox="1"/>
          <p:nvPr/>
        </p:nvSpPr>
        <p:spPr>
          <a:xfrm>
            <a:off x="7955279" y="5303520"/>
            <a:ext cx="2377440" cy="1097280"/>
          </a:xfrm>
          <a:prstGeom prst="rect">
            <a:avLst/>
          </a:prstGeom>
          <a:noFill/>
        </p:spPr>
        <p:txBody>
          <a:bodyPr wrap="square" lIns="45720" tIns="27432" rIns="45720" bIns="27432" anchor="t">
            <a:spAutoFit/>
          </a:bodyPr>
          <a:lstStyle/>
          <a:p>
            <a:pPr algn="ctr"/>
            <a:r>
              <a:rPr sz="2000">
                <a:solidFill>
                  <a:srgbClr val="FFFFFF"/>
                </a:solidFill>
                <a:latin typeface="+mj-lt"/>
              </a:rPr>
              <a:t>The model</a:t>
            </a:r>
          </a:p>
          <a:p>
            <a:pPr algn="ctr"/>
            <a:r>
              <a:rPr sz="1300">
                <a:solidFill>
                  <a:srgbClr val="FFFFFF"/>
                </a:solidFill>
                <a:latin typeface="+mj-lt"/>
              </a:rPr>
              <a:t>reasons, plans, writes</a:t>
            </a:r>
          </a:p>
        </p:txBody>
      </p:sp>
      <p:sp>
        <p:nvSpPr>
          <p:cNvPr id="34" name="TextBox 33"/>
          <p:cNvSpPr txBox="1"/>
          <p:nvPr/>
        </p:nvSpPr>
        <p:spPr>
          <a:xfrm>
            <a:off x="1252728" y="8641080"/>
            <a:ext cx="15773400" cy="457200"/>
          </a:xfrm>
          <a:prstGeom prst="rect">
            <a:avLst/>
          </a:prstGeom>
          <a:noFill/>
        </p:spPr>
        <p:txBody>
          <a:bodyPr wrap="square" lIns="45720" tIns="27432" rIns="45720" bIns="27432" anchor="t">
            <a:spAutoFit/>
          </a:bodyPr>
          <a:lstStyle/>
          <a:p>
            <a:pPr algn="l"/>
            <a:r>
              <a:rPr sz="1300">
                <a:solidFill>
                  <a:srgbClr val="7E889A"/>
                </a:solidFill>
              </a:rPr>
              <a:t>The model never touches a system. The four blocks around it do, with the permissions you gave them. Every deployment on the next slide is built this way.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1252728" y="713232"/>
            <a:ext cx="15773400" cy="1234440"/>
          </a:xfrm>
        </p:spPr>
        <p:txBody>
          <a:bodyPr wrap="square" anchor="t"/>
          <a:lstStyle/>
          <a:p>
            <a:r>
              <a:rPr sz="3200"/>
              <a:t>Agentic AI is already in production across the care pathway, with measured results</a:t>
            </a:r>
          </a:p>
        </p:txBody>
      </p:sp>
      <p:sp>
        <p:nvSpPr>
          <p:cNvPr id="5" name="TextBox 4"/>
          <p:cNvSpPr txBox="1"/>
          <p:nvPr/>
        </p:nvSpPr>
        <p:spPr>
          <a:xfrm>
            <a:off x="1252728" y="329184"/>
            <a:ext cx="10972800" cy="292608"/>
          </a:xfrm>
          <a:prstGeom prst="rect">
            <a:avLst/>
          </a:prstGeom>
          <a:noFill/>
        </p:spPr>
        <p:txBody>
          <a:bodyPr wrap="square" lIns="45720" tIns="27432" rIns="45720" bIns="27432" anchor="t">
            <a:spAutoFit/>
          </a:bodyPr>
          <a:lstStyle/>
          <a:p>
            <a:pPr algn="l"/>
            <a:r>
              <a:rPr sz="1100">
                <a:solidFill>
                  <a:srgbClr val="0766D1"/>
                </a:solidFill>
                <a:latin typeface="+mj-lt"/>
              </a:rPr>
              <a:t>THE EVIDENCE</a:t>
            </a:r>
          </a:p>
        </p:txBody>
      </p:sp>
      <p:sp>
        <p:nvSpPr>
          <p:cNvPr id="6" name="Rounded Rectangle 5"/>
          <p:cNvSpPr/>
          <p:nvPr/>
        </p:nvSpPr>
        <p:spPr>
          <a:xfrm>
            <a:off x="1252728" y="2331720"/>
            <a:ext cx="5013960" cy="3154680"/>
          </a:xfrm>
          <a:prstGeom prst="roundRect">
            <a:avLst>
              <a:gd name="adj" fmla="val 8115"/>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18488" y="2560320"/>
            <a:ext cx="4282440" cy="685800"/>
          </a:xfrm>
          <a:prstGeom prst="rect">
            <a:avLst/>
          </a:prstGeom>
          <a:noFill/>
        </p:spPr>
        <p:txBody>
          <a:bodyPr wrap="square" lIns="45720" tIns="27432" rIns="45720" bIns="27432" anchor="t">
            <a:spAutoFit/>
          </a:bodyPr>
          <a:lstStyle/>
          <a:p>
            <a:pPr algn="l"/>
            <a:r>
              <a:rPr sz="3200">
                <a:solidFill>
                  <a:srgbClr val="0766D1"/>
                </a:solidFill>
                <a:latin typeface="+mj-lt"/>
              </a:rPr>
              <a:t>16 min</a:t>
            </a:r>
          </a:p>
        </p:txBody>
      </p:sp>
      <p:sp>
        <p:nvSpPr>
          <p:cNvPr id="8" name="TextBox 7"/>
          <p:cNvSpPr txBox="1"/>
          <p:nvPr/>
        </p:nvSpPr>
        <p:spPr>
          <a:xfrm>
            <a:off x="1618488" y="3246120"/>
            <a:ext cx="4282440" cy="502920"/>
          </a:xfrm>
          <a:prstGeom prst="rect">
            <a:avLst/>
          </a:prstGeom>
          <a:noFill/>
        </p:spPr>
        <p:txBody>
          <a:bodyPr wrap="square" lIns="45720" tIns="27432" rIns="45720" bIns="27432" anchor="t">
            <a:spAutoFit/>
          </a:bodyPr>
          <a:lstStyle/>
          <a:p>
            <a:pPr algn="l"/>
            <a:r>
              <a:rPr sz="1350">
                <a:solidFill>
                  <a:srgbClr val="262626"/>
                </a:solidFill>
                <a:latin typeface="+mj-lt"/>
              </a:rPr>
              <a:t>less documentation per clinician per day</a:t>
            </a:r>
          </a:p>
        </p:txBody>
      </p:sp>
      <p:sp>
        <p:nvSpPr>
          <p:cNvPr id="9" name="TextBox 8"/>
          <p:cNvSpPr txBox="1"/>
          <p:nvPr/>
        </p:nvSpPr>
        <p:spPr>
          <a:xfrm>
            <a:off x="1618488" y="3794760"/>
            <a:ext cx="4282440" cy="1188720"/>
          </a:xfrm>
          <a:prstGeom prst="rect">
            <a:avLst/>
          </a:prstGeom>
          <a:noFill/>
        </p:spPr>
        <p:txBody>
          <a:bodyPr wrap="square" lIns="45720" tIns="27432" rIns="45720" bIns="27432" anchor="t">
            <a:spAutoFit/>
          </a:bodyPr>
          <a:lstStyle/>
          <a:p>
            <a:pPr algn="l"/>
            <a:r>
              <a:rPr sz="1200">
                <a:solidFill>
                  <a:srgbClr val="262626"/>
                </a:solidFill>
              </a:rPr>
              <a:t>Ambient AI scribes draft the note while the clinician listens. Five US academic health systems, 8,581 clinicians; 0.49 more visits a week.</a:t>
            </a:r>
          </a:p>
        </p:txBody>
      </p:sp>
      <p:sp>
        <p:nvSpPr>
          <p:cNvPr id="10" name="TextBox 9"/>
          <p:cNvSpPr txBox="1"/>
          <p:nvPr/>
        </p:nvSpPr>
        <p:spPr>
          <a:xfrm>
            <a:off x="1618488" y="4983480"/>
            <a:ext cx="4282440" cy="365760"/>
          </a:xfrm>
          <a:prstGeom prst="rect">
            <a:avLst/>
          </a:prstGeom>
          <a:noFill/>
        </p:spPr>
        <p:txBody>
          <a:bodyPr wrap="square" lIns="45720" tIns="27432" rIns="45720" bIns="27432" anchor="t">
            <a:spAutoFit/>
          </a:bodyPr>
          <a:lstStyle/>
          <a:p>
            <a:pPr algn="l"/>
            <a:r>
              <a:rPr sz="1050">
                <a:solidFill>
                  <a:srgbClr val="7E889A"/>
                </a:solidFill>
              </a:rPr>
              <a:t>JAMA, 2026</a:t>
            </a:r>
          </a:p>
        </p:txBody>
      </p:sp>
      <p:sp>
        <p:nvSpPr>
          <p:cNvPr id="11" name="Rounded Rectangle 10"/>
          <p:cNvSpPr/>
          <p:nvPr/>
        </p:nvSpPr>
        <p:spPr>
          <a:xfrm>
            <a:off x="6632448" y="2331720"/>
            <a:ext cx="5013960" cy="3154680"/>
          </a:xfrm>
          <a:prstGeom prst="roundRect">
            <a:avLst>
              <a:gd name="adj" fmla="val 8115"/>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98208" y="2560320"/>
            <a:ext cx="4282440" cy="685800"/>
          </a:xfrm>
          <a:prstGeom prst="rect">
            <a:avLst/>
          </a:prstGeom>
          <a:noFill/>
        </p:spPr>
        <p:txBody>
          <a:bodyPr wrap="square" lIns="45720" tIns="27432" rIns="45720" bIns="27432" anchor="t">
            <a:spAutoFit/>
          </a:bodyPr>
          <a:lstStyle/>
          <a:p>
            <a:pPr algn="l"/>
            <a:r>
              <a:rPr sz="3200">
                <a:solidFill>
                  <a:srgbClr val="032954"/>
                </a:solidFill>
                <a:latin typeface="+mj-lt"/>
              </a:rPr>
              <a:t>52% → 39%</a:t>
            </a:r>
          </a:p>
        </p:txBody>
      </p:sp>
      <p:sp>
        <p:nvSpPr>
          <p:cNvPr id="13" name="TextBox 12"/>
          <p:cNvSpPr txBox="1"/>
          <p:nvPr/>
        </p:nvSpPr>
        <p:spPr>
          <a:xfrm>
            <a:off x="6998208" y="3246120"/>
            <a:ext cx="4282440" cy="502920"/>
          </a:xfrm>
          <a:prstGeom prst="rect">
            <a:avLst/>
          </a:prstGeom>
          <a:noFill/>
        </p:spPr>
        <p:txBody>
          <a:bodyPr wrap="square" lIns="45720" tIns="27432" rIns="45720" bIns="27432" anchor="t">
            <a:spAutoFit/>
          </a:bodyPr>
          <a:lstStyle/>
          <a:p>
            <a:pPr algn="l"/>
            <a:r>
              <a:rPr sz="1350">
                <a:solidFill>
                  <a:srgbClr val="262626"/>
                </a:solidFill>
                <a:latin typeface="+mj-lt"/>
              </a:rPr>
              <a:t>clinician burnout after 30 days</a:t>
            </a:r>
          </a:p>
        </p:txBody>
      </p:sp>
      <p:sp>
        <p:nvSpPr>
          <p:cNvPr id="14" name="TextBox 13"/>
          <p:cNvSpPr txBox="1"/>
          <p:nvPr/>
        </p:nvSpPr>
        <p:spPr>
          <a:xfrm>
            <a:off x="6998208" y="3794760"/>
            <a:ext cx="4282440" cy="1188720"/>
          </a:xfrm>
          <a:prstGeom prst="rect">
            <a:avLst/>
          </a:prstGeom>
          <a:noFill/>
        </p:spPr>
        <p:txBody>
          <a:bodyPr wrap="square" lIns="45720" tIns="27432" rIns="45720" bIns="27432" anchor="t">
            <a:spAutoFit/>
          </a:bodyPr>
          <a:lstStyle/>
          <a:p>
            <a:pPr algn="l"/>
            <a:r>
              <a:rPr sz="1200">
                <a:solidFill>
                  <a:srgbClr val="262626"/>
                </a:solidFill>
              </a:rPr>
              <a:t>An ambient scribe in daily use, with the clinician finalising every note. Six health systems, 263 clinicians.</a:t>
            </a:r>
          </a:p>
        </p:txBody>
      </p:sp>
      <p:sp>
        <p:nvSpPr>
          <p:cNvPr id="15" name="TextBox 14"/>
          <p:cNvSpPr txBox="1"/>
          <p:nvPr/>
        </p:nvSpPr>
        <p:spPr>
          <a:xfrm>
            <a:off x="6998208" y="4983480"/>
            <a:ext cx="4282440" cy="365760"/>
          </a:xfrm>
          <a:prstGeom prst="rect">
            <a:avLst/>
          </a:prstGeom>
          <a:noFill/>
        </p:spPr>
        <p:txBody>
          <a:bodyPr wrap="square" lIns="45720" tIns="27432" rIns="45720" bIns="27432" anchor="t">
            <a:spAutoFit/>
          </a:bodyPr>
          <a:lstStyle/>
          <a:p>
            <a:pPr algn="l"/>
            <a:r>
              <a:rPr sz="1050">
                <a:solidFill>
                  <a:srgbClr val="7E889A"/>
                </a:solidFill>
              </a:rPr>
              <a:t>JAMA Network Open, 2025</a:t>
            </a:r>
          </a:p>
        </p:txBody>
      </p:sp>
      <p:sp>
        <p:nvSpPr>
          <p:cNvPr id="16" name="Rounded Rectangle 15"/>
          <p:cNvSpPr/>
          <p:nvPr/>
        </p:nvSpPr>
        <p:spPr>
          <a:xfrm>
            <a:off x="12012168" y="2331720"/>
            <a:ext cx="5013960" cy="3154680"/>
          </a:xfrm>
          <a:prstGeom prst="roundRect">
            <a:avLst>
              <a:gd name="adj" fmla="val 8115"/>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377928" y="2560320"/>
            <a:ext cx="4282440" cy="685800"/>
          </a:xfrm>
          <a:prstGeom prst="rect">
            <a:avLst/>
          </a:prstGeom>
          <a:noFill/>
        </p:spPr>
        <p:txBody>
          <a:bodyPr wrap="square" lIns="45720" tIns="27432" rIns="45720" bIns="27432" anchor="t">
            <a:spAutoFit/>
          </a:bodyPr>
          <a:lstStyle/>
          <a:p>
            <a:pPr algn="l"/>
            <a:r>
              <a:rPr sz="3200">
                <a:solidFill>
                  <a:srgbClr val="0766D1"/>
                </a:solidFill>
                <a:latin typeface="+mj-lt"/>
              </a:rPr>
              <a:t>43%</a:t>
            </a:r>
          </a:p>
        </p:txBody>
      </p:sp>
      <p:sp>
        <p:nvSpPr>
          <p:cNvPr id="18" name="TextBox 17"/>
          <p:cNvSpPr txBox="1"/>
          <p:nvPr/>
        </p:nvSpPr>
        <p:spPr>
          <a:xfrm>
            <a:off x="12377928" y="3246120"/>
            <a:ext cx="4282440" cy="502920"/>
          </a:xfrm>
          <a:prstGeom prst="rect">
            <a:avLst/>
          </a:prstGeom>
          <a:noFill/>
        </p:spPr>
        <p:txBody>
          <a:bodyPr wrap="square" lIns="45720" tIns="27432" rIns="45720" bIns="27432" anchor="t">
            <a:spAutoFit/>
          </a:bodyPr>
          <a:lstStyle/>
          <a:p>
            <a:pPr algn="l"/>
            <a:r>
              <a:rPr sz="1350">
                <a:solidFill>
                  <a:srgbClr val="262626"/>
                </a:solidFill>
                <a:latin typeface="+mj-lt"/>
              </a:rPr>
              <a:t>lower two-year mortality than controls</a:t>
            </a:r>
          </a:p>
        </p:txBody>
      </p:sp>
      <p:sp>
        <p:nvSpPr>
          <p:cNvPr id="19" name="TextBox 18"/>
          <p:cNvSpPr txBox="1"/>
          <p:nvPr/>
        </p:nvSpPr>
        <p:spPr>
          <a:xfrm>
            <a:off x="12377928" y="3794760"/>
            <a:ext cx="4282440" cy="1188720"/>
          </a:xfrm>
          <a:prstGeom prst="rect">
            <a:avLst/>
          </a:prstGeom>
          <a:noFill/>
        </p:spPr>
        <p:txBody>
          <a:bodyPr wrap="square" lIns="45720" tIns="27432" rIns="45720" bIns="27432" anchor="t">
            <a:spAutoFit/>
          </a:bodyPr>
          <a:lstStyle/>
          <a:p>
            <a:pPr algn="l"/>
            <a:r>
              <a:rPr sz="1200">
                <a:solidFill>
                  <a:srgbClr val="262626"/>
                </a:solidFill>
              </a:rPr>
              <a:t>Machine learning ranks who is at risk and overdue for bowel screening; outreach works the list. 6.9% more colonoscopies within six months.</a:t>
            </a:r>
          </a:p>
        </p:txBody>
      </p:sp>
      <p:sp>
        <p:nvSpPr>
          <p:cNvPr id="20" name="TextBox 19"/>
          <p:cNvSpPr txBox="1"/>
          <p:nvPr/>
        </p:nvSpPr>
        <p:spPr>
          <a:xfrm>
            <a:off x="12377928" y="4983480"/>
            <a:ext cx="4282440" cy="365760"/>
          </a:xfrm>
          <a:prstGeom prst="rect">
            <a:avLst/>
          </a:prstGeom>
          <a:noFill/>
        </p:spPr>
        <p:txBody>
          <a:bodyPr wrap="square" lIns="45720" tIns="27432" rIns="45720" bIns="27432" anchor="t">
            <a:spAutoFit/>
          </a:bodyPr>
          <a:lstStyle/>
          <a:p>
            <a:pPr algn="l"/>
            <a:r>
              <a:rPr sz="1050">
                <a:solidFill>
                  <a:srgbClr val="7E889A"/>
                </a:solidFill>
              </a:rPr>
              <a:t>Geisinger · M&amp;SOM, 2026</a:t>
            </a:r>
          </a:p>
        </p:txBody>
      </p:sp>
      <p:sp>
        <p:nvSpPr>
          <p:cNvPr id="21" name="Rounded Rectangle 20"/>
          <p:cNvSpPr/>
          <p:nvPr/>
        </p:nvSpPr>
        <p:spPr>
          <a:xfrm>
            <a:off x="1252728" y="5806440"/>
            <a:ext cx="5013960" cy="3154680"/>
          </a:xfrm>
          <a:prstGeom prst="roundRect">
            <a:avLst>
              <a:gd name="adj" fmla="val 8115"/>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618488" y="6035040"/>
            <a:ext cx="4282440" cy="685800"/>
          </a:xfrm>
          <a:prstGeom prst="rect">
            <a:avLst/>
          </a:prstGeom>
          <a:noFill/>
        </p:spPr>
        <p:txBody>
          <a:bodyPr wrap="square" lIns="45720" tIns="27432" rIns="45720" bIns="27432" anchor="t">
            <a:spAutoFit/>
          </a:bodyPr>
          <a:lstStyle/>
          <a:p>
            <a:pPr algn="l"/>
            <a:r>
              <a:rPr sz="3200">
                <a:solidFill>
                  <a:srgbClr val="0766D1"/>
                </a:solidFill>
                <a:latin typeface="+mj-lt"/>
              </a:rPr>
              <a:t>2.6×</a:t>
            </a:r>
          </a:p>
        </p:txBody>
      </p:sp>
      <p:sp>
        <p:nvSpPr>
          <p:cNvPr id="23" name="TextBox 22"/>
          <p:cNvSpPr txBox="1"/>
          <p:nvPr/>
        </p:nvSpPr>
        <p:spPr>
          <a:xfrm>
            <a:off x="1618488" y="6720840"/>
            <a:ext cx="4282440" cy="502920"/>
          </a:xfrm>
          <a:prstGeom prst="rect">
            <a:avLst/>
          </a:prstGeom>
          <a:noFill/>
        </p:spPr>
        <p:txBody>
          <a:bodyPr wrap="square" lIns="45720" tIns="27432" rIns="45720" bIns="27432" anchor="t">
            <a:spAutoFit/>
          </a:bodyPr>
          <a:lstStyle/>
          <a:p>
            <a:pPr algn="l"/>
            <a:r>
              <a:rPr sz="1350">
                <a:solidFill>
                  <a:srgbClr val="262626"/>
                </a:solidFill>
                <a:latin typeface="+mj-lt"/>
              </a:rPr>
              <a:t>the FIT opt-in among Spanish speakers</a:t>
            </a:r>
          </a:p>
        </p:txBody>
      </p:sp>
      <p:sp>
        <p:nvSpPr>
          <p:cNvPr id="24" name="TextBox 23"/>
          <p:cNvSpPr txBox="1"/>
          <p:nvPr/>
        </p:nvSpPr>
        <p:spPr>
          <a:xfrm>
            <a:off x="1618488" y="7269479"/>
            <a:ext cx="4282440" cy="1188720"/>
          </a:xfrm>
          <a:prstGeom prst="rect">
            <a:avLst/>
          </a:prstGeom>
          <a:noFill/>
        </p:spPr>
        <p:txBody>
          <a:bodyPr wrap="square" lIns="45720" tIns="27432" rIns="45720" bIns="27432" anchor="t">
            <a:spAutoFit/>
          </a:bodyPr>
          <a:lstStyle/>
          <a:p>
            <a:pPr algn="l"/>
            <a:r>
              <a:rPr sz="1200">
                <a:solidFill>
                  <a:srgbClr val="262626"/>
                </a:solidFill>
              </a:rPr>
              <a:t>A voice agent calls people due for bowel screening in their own language and offers the kit: 18.2% vs 7.1%. 1,878 patients.</a:t>
            </a:r>
          </a:p>
        </p:txBody>
      </p:sp>
      <p:sp>
        <p:nvSpPr>
          <p:cNvPr id="25" name="TextBox 24"/>
          <p:cNvSpPr txBox="1"/>
          <p:nvPr/>
        </p:nvSpPr>
        <p:spPr>
          <a:xfrm>
            <a:off x="1618488" y="8458200"/>
            <a:ext cx="4282440" cy="365760"/>
          </a:xfrm>
          <a:prstGeom prst="rect">
            <a:avLst/>
          </a:prstGeom>
          <a:noFill/>
        </p:spPr>
        <p:txBody>
          <a:bodyPr wrap="square" lIns="45720" tIns="27432" rIns="45720" bIns="27432" anchor="t">
            <a:spAutoFit/>
          </a:bodyPr>
          <a:lstStyle/>
          <a:p>
            <a:pPr algn="l"/>
            <a:r>
              <a:rPr sz="1050">
                <a:solidFill>
                  <a:srgbClr val="7E889A"/>
                </a:solidFill>
              </a:rPr>
              <a:t>WellSpan Health with Hippocratic AI, 2025</a:t>
            </a:r>
          </a:p>
        </p:txBody>
      </p:sp>
      <p:sp>
        <p:nvSpPr>
          <p:cNvPr id="26" name="Rounded Rectangle 25"/>
          <p:cNvSpPr/>
          <p:nvPr/>
        </p:nvSpPr>
        <p:spPr>
          <a:xfrm>
            <a:off x="6632448" y="5806440"/>
            <a:ext cx="5013960" cy="3154680"/>
          </a:xfrm>
          <a:prstGeom prst="roundRect">
            <a:avLst>
              <a:gd name="adj" fmla="val 8115"/>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98208" y="6035040"/>
            <a:ext cx="4282440" cy="685800"/>
          </a:xfrm>
          <a:prstGeom prst="rect">
            <a:avLst/>
          </a:prstGeom>
          <a:noFill/>
        </p:spPr>
        <p:txBody>
          <a:bodyPr wrap="square" lIns="45720" tIns="27432" rIns="45720" bIns="27432" anchor="t">
            <a:spAutoFit/>
          </a:bodyPr>
          <a:lstStyle/>
          <a:p>
            <a:pPr algn="l"/>
            <a:r>
              <a:rPr sz="3200">
                <a:solidFill>
                  <a:srgbClr val="032954"/>
                </a:solidFill>
                <a:latin typeface="+mj-lt"/>
              </a:rPr>
              <a:t>40%</a:t>
            </a:r>
          </a:p>
        </p:txBody>
      </p:sp>
      <p:sp>
        <p:nvSpPr>
          <p:cNvPr id="28" name="TextBox 27"/>
          <p:cNvSpPr txBox="1"/>
          <p:nvPr/>
        </p:nvSpPr>
        <p:spPr>
          <a:xfrm>
            <a:off x="6998208" y="6720840"/>
            <a:ext cx="4282440" cy="502920"/>
          </a:xfrm>
          <a:prstGeom prst="rect">
            <a:avLst/>
          </a:prstGeom>
          <a:noFill/>
        </p:spPr>
        <p:txBody>
          <a:bodyPr wrap="square" lIns="45720" tIns="27432" rIns="45720" bIns="27432" anchor="t">
            <a:spAutoFit/>
          </a:bodyPr>
          <a:lstStyle/>
          <a:p>
            <a:pPr algn="l"/>
            <a:r>
              <a:rPr sz="1350">
                <a:solidFill>
                  <a:srgbClr val="262626"/>
                </a:solidFill>
                <a:latin typeface="+mj-lt"/>
              </a:rPr>
              <a:t>of prior authorisations with no human touch</a:t>
            </a:r>
          </a:p>
        </p:txBody>
      </p:sp>
      <p:sp>
        <p:nvSpPr>
          <p:cNvPr id="29" name="TextBox 28"/>
          <p:cNvSpPr txBox="1"/>
          <p:nvPr/>
        </p:nvSpPr>
        <p:spPr>
          <a:xfrm>
            <a:off x="6998208" y="7269479"/>
            <a:ext cx="4282440" cy="1188720"/>
          </a:xfrm>
          <a:prstGeom prst="rect">
            <a:avLst/>
          </a:prstGeom>
          <a:noFill/>
        </p:spPr>
        <p:txBody>
          <a:bodyPr wrap="square" lIns="45720" tIns="27432" rIns="45720" bIns="27432" anchor="t">
            <a:spAutoFit/>
          </a:bodyPr>
          <a:lstStyle/>
          <a:p>
            <a:pPr algn="l"/>
            <a:r>
              <a:rPr sz="1200">
                <a:solidFill>
                  <a:srgbClr val="262626"/>
                </a:solidFill>
              </a:rPr>
              <a:t>Agents work the payer portals end to end; denials are escalated to a person. About 30 minutes to about 1 minute per case.</a:t>
            </a:r>
          </a:p>
        </p:txBody>
      </p:sp>
      <p:sp>
        <p:nvSpPr>
          <p:cNvPr id="30" name="TextBox 29"/>
          <p:cNvSpPr txBox="1"/>
          <p:nvPr/>
        </p:nvSpPr>
        <p:spPr>
          <a:xfrm>
            <a:off x="6998208" y="8458200"/>
            <a:ext cx="4282440" cy="365760"/>
          </a:xfrm>
          <a:prstGeom prst="rect">
            <a:avLst/>
          </a:prstGeom>
          <a:noFill/>
        </p:spPr>
        <p:txBody>
          <a:bodyPr wrap="square" lIns="45720" tIns="27432" rIns="45720" bIns="27432" anchor="t">
            <a:spAutoFit/>
          </a:bodyPr>
          <a:lstStyle/>
          <a:p>
            <a:pPr algn="l"/>
            <a:r>
              <a:rPr sz="1050">
                <a:solidFill>
                  <a:srgbClr val="7E889A"/>
                </a:solidFill>
              </a:rPr>
              <a:t>MUSC Health with Notable, 2025</a:t>
            </a:r>
          </a:p>
        </p:txBody>
      </p:sp>
      <p:sp>
        <p:nvSpPr>
          <p:cNvPr id="31" name="Rounded Rectangle 30"/>
          <p:cNvSpPr/>
          <p:nvPr/>
        </p:nvSpPr>
        <p:spPr>
          <a:xfrm>
            <a:off x="12012168" y="5806440"/>
            <a:ext cx="5013960" cy="3154680"/>
          </a:xfrm>
          <a:prstGeom prst="roundRect">
            <a:avLst>
              <a:gd name="adj" fmla="val 8115"/>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377928" y="6035040"/>
            <a:ext cx="4282440" cy="685800"/>
          </a:xfrm>
          <a:prstGeom prst="rect">
            <a:avLst/>
          </a:prstGeom>
          <a:noFill/>
        </p:spPr>
        <p:txBody>
          <a:bodyPr wrap="square" lIns="45720" tIns="27432" rIns="45720" bIns="27432" anchor="t">
            <a:spAutoFit/>
          </a:bodyPr>
          <a:lstStyle/>
          <a:p>
            <a:pPr algn="l"/>
            <a:r>
              <a:rPr sz="3200">
                <a:solidFill>
                  <a:srgbClr val="0766D1"/>
                </a:solidFill>
                <a:latin typeface="+mj-lt"/>
              </a:rPr>
              <a:t>87%</a:t>
            </a:r>
          </a:p>
        </p:txBody>
      </p:sp>
      <p:sp>
        <p:nvSpPr>
          <p:cNvPr id="33" name="TextBox 32"/>
          <p:cNvSpPr txBox="1"/>
          <p:nvPr/>
        </p:nvSpPr>
        <p:spPr>
          <a:xfrm>
            <a:off x="12377928" y="6720840"/>
            <a:ext cx="4282440" cy="502920"/>
          </a:xfrm>
          <a:prstGeom prst="rect">
            <a:avLst/>
          </a:prstGeom>
          <a:noFill/>
        </p:spPr>
        <p:txBody>
          <a:bodyPr wrap="square" lIns="45720" tIns="27432" rIns="45720" bIns="27432" anchor="t">
            <a:spAutoFit/>
          </a:bodyPr>
          <a:lstStyle/>
          <a:p>
            <a:pPr algn="l"/>
            <a:r>
              <a:rPr sz="1350">
                <a:solidFill>
                  <a:srgbClr val="262626"/>
                </a:solidFill>
                <a:latin typeface="+mj-lt"/>
              </a:rPr>
              <a:t>accuracy in clinical trial matching</a:t>
            </a:r>
          </a:p>
        </p:txBody>
      </p:sp>
      <p:sp>
        <p:nvSpPr>
          <p:cNvPr id="34" name="TextBox 33"/>
          <p:cNvSpPr txBox="1"/>
          <p:nvPr/>
        </p:nvSpPr>
        <p:spPr>
          <a:xfrm>
            <a:off x="12377928" y="7269479"/>
            <a:ext cx="4282440" cy="1188720"/>
          </a:xfrm>
          <a:prstGeom prst="rect">
            <a:avLst/>
          </a:prstGeom>
          <a:noFill/>
        </p:spPr>
        <p:txBody>
          <a:bodyPr wrap="square" lIns="45720" tIns="27432" rIns="45720" bIns="27432" anchor="t">
            <a:spAutoFit/>
          </a:bodyPr>
          <a:lstStyle/>
          <a:p>
            <a:pPr algn="l"/>
            <a:r>
              <a:rPr sz="1200">
                <a:solidFill>
                  <a:srgbClr val="262626"/>
                </a:solidFill>
              </a:rPr>
              <a:t>A language model screens patient records against trial criteria and explains each match; 42.6% less clinician screening time.</a:t>
            </a:r>
          </a:p>
        </p:txBody>
      </p:sp>
      <p:sp>
        <p:nvSpPr>
          <p:cNvPr id="35" name="TextBox 34"/>
          <p:cNvSpPr txBox="1"/>
          <p:nvPr/>
        </p:nvSpPr>
        <p:spPr>
          <a:xfrm>
            <a:off x="12377928" y="8458200"/>
            <a:ext cx="4282440" cy="365760"/>
          </a:xfrm>
          <a:prstGeom prst="rect">
            <a:avLst/>
          </a:prstGeom>
          <a:noFill/>
        </p:spPr>
        <p:txBody>
          <a:bodyPr wrap="square" lIns="45720" tIns="27432" rIns="45720" bIns="27432" anchor="t">
            <a:spAutoFit/>
          </a:bodyPr>
          <a:lstStyle/>
          <a:p>
            <a:pPr algn="l"/>
            <a:r>
              <a:rPr sz="1050">
                <a:solidFill>
                  <a:srgbClr val="7E889A"/>
                </a:solidFill>
              </a:rPr>
              <a:t>NIH TrialGPT · Nature Communications, 2024</a:t>
            </a:r>
          </a:p>
        </p:txBody>
      </p:sp>
      <p:sp>
        <p:nvSpPr>
          <p:cNvPr id="36" name="TextBox 35"/>
          <p:cNvSpPr txBox="1"/>
          <p:nvPr/>
        </p:nvSpPr>
        <p:spPr>
          <a:xfrm>
            <a:off x="1252728" y="9326880"/>
            <a:ext cx="15773400" cy="457200"/>
          </a:xfrm>
          <a:prstGeom prst="rect">
            <a:avLst/>
          </a:prstGeom>
          <a:noFill/>
        </p:spPr>
        <p:txBody>
          <a:bodyPr wrap="square" lIns="45720" tIns="27432" rIns="45720" bIns="27432" anchor="t">
            <a:spAutoFit/>
          </a:bodyPr>
          <a:lstStyle/>
          <a:p>
            <a:pPr algn="l"/>
            <a:r>
              <a:rPr sz="900">
                <a:solidFill>
                  <a:srgbClr val="7E889A"/>
                </a:solidFill>
              </a:rPr>
              <a:t>Sources: JAMA, April 2026, multisite AI-scribe study (Mass General Brigham, Emory, UCSF, Yale New Haven, UC Davis)  ·  Olson et al., JAMA Network Open, October 2025  ·  Manufacturing &amp; Service Operations Management, 2026 (Geisinger)  ·  WellSpan Health / Hippocratic AI retrospective analysis, 2025  ·  Becker's Hospital Review, 2025 (MUSC Health)  ·  Jin et al., Nature Communications, 2024.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1252728" y="713232"/>
            <a:ext cx="15773400" cy="1234440"/>
          </a:xfrm>
        </p:spPr>
        <p:txBody>
          <a:bodyPr wrap="square" anchor="t"/>
          <a:lstStyle/>
          <a:p>
            <a:r>
              <a:rPr sz="3200"/>
              <a:t>Where agentic AI can go to work: six places across the care pathway</a:t>
            </a:r>
          </a:p>
        </p:txBody>
      </p:sp>
      <p:sp>
        <p:nvSpPr>
          <p:cNvPr id="5" name="TextBox 4"/>
          <p:cNvSpPr txBox="1"/>
          <p:nvPr/>
        </p:nvSpPr>
        <p:spPr>
          <a:xfrm>
            <a:off x="1252728" y="329184"/>
            <a:ext cx="10972800" cy="292608"/>
          </a:xfrm>
          <a:prstGeom prst="rect">
            <a:avLst/>
          </a:prstGeom>
          <a:noFill/>
        </p:spPr>
        <p:txBody>
          <a:bodyPr wrap="square" lIns="45720" tIns="27432" rIns="45720" bIns="27432" anchor="t">
            <a:spAutoFit/>
          </a:bodyPr>
          <a:lstStyle/>
          <a:p>
            <a:pPr algn="l"/>
            <a:r>
              <a:rPr sz="1100">
                <a:solidFill>
                  <a:srgbClr val="0766D1"/>
                </a:solidFill>
                <a:latin typeface="+mj-lt"/>
              </a:rPr>
              <a:t>THE EVIDENCE</a:t>
            </a:r>
          </a:p>
        </p:txBody>
      </p:sp>
      <p:sp>
        <p:nvSpPr>
          <p:cNvPr id="6" name="Rounded Rectangle 5"/>
          <p:cNvSpPr/>
          <p:nvPr/>
        </p:nvSpPr>
        <p:spPr>
          <a:xfrm>
            <a:off x="1252728" y="2331720"/>
            <a:ext cx="5013960" cy="3154680"/>
          </a:xfrm>
          <a:prstGeom prst="roundRect">
            <a:avLst>
              <a:gd name="adj" fmla="val 8115"/>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490472" y="2569463"/>
            <a:ext cx="713232" cy="713232"/>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lipboard_w.png"/>
          <p:cNvPicPr>
            <a:picLocks noChangeAspect="1"/>
          </p:cNvPicPr>
          <p:nvPr/>
        </p:nvPicPr>
        <p:blipFill>
          <a:blip r:embed="rId2"/>
          <a:stretch>
            <a:fillRect/>
          </a:stretch>
        </p:blipFill>
        <p:spPr>
          <a:xfrm>
            <a:off x="1650949" y="2729941"/>
            <a:ext cx="392277" cy="392277"/>
          </a:xfrm>
          <a:prstGeom prst="rect">
            <a:avLst/>
          </a:prstGeom>
        </p:spPr>
      </p:pic>
      <p:sp>
        <p:nvSpPr>
          <p:cNvPr id="9" name="TextBox 8"/>
          <p:cNvSpPr txBox="1"/>
          <p:nvPr/>
        </p:nvSpPr>
        <p:spPr>
          <a:xfrm>
            <a:off x="2395728" y="2651760"/>
            <a:ext cx="3642360" cy="548640"/>
          </a:xfrm>
          <a:prstGeom prst="rect">
            <a:avLst/>
          </a:prstGeom>
          <a:noFill/>
        </p:spPr>
        <p:txBody>
          <a:bodyPr wrap="square" lIns="45720" tIns="27432" rIns="45720" bIns="27432" anchor="t">
            <a:spAutoFit/>
          </a:bodyPr>
          <a:lstStyle/>
          <a:p>
            <a:pPr algn="l"/>
            <a:r>
              <a:rPr sz="1800">
                <a:solidFill>
                  <a:srgbClr val="262626"/>
                </a:solidFill>
                <a:latin typeface="+mj-lt"/>
              </a:rPr>
              <a:t>Before the visit</a:t>
            </a:r>
          </a:p>
        </p:txBody>
      </p:sp>
      <p:sp>
        <p:nvSpPr>
          <p:cNvPr id="10" name="TextBox 9"/>
          <p:cNvSpPr txBox="1"/>
          <p:nvPr/>
        </p:nvSpPr>
        <p:spPr>
          <a:xfrm>
            <a:off x="1618488" y="3657600"/>
            <a:ext cx="4282440" cy="1691640"/>
          </a:xfrm>
          <a:prstGeom prst="rect">
            <a:avLst/>
          </a:prstGeom>
          <a:noFill/>
        </p:spPr>
        <p:txBody>
          <a:bodyPr wrap="square" lIns="45720" tIns="27432" rIns="45720" bIns="27432" anchor="t">
            <a:spAutoFit/>
          </a:bodyPr>
          <a:lstStyle/>
          <a:p>
            <a:pPr algn="l" marL="237744" indent="-237744">
              <a:spcAft>
                <a:spcPts val="800"/>
              </a:spcAft>
              <a:buClr>
                <a:srgbClr val="0766D1"/>
              </a:buClr>
              <a:buFont typeface="Arial"/>
              <a:buChar char="•"/>
            </a:pPr>
            <a:r>
              <a:rPr sz="1350">
                <a:solidFill>
                  <a:srgbClr val="262626"/>
                </a:solidFill>
              </a:rPr>
              <a:t>A conversational pre-visit interview, summarised for the clinician</a:t>
            </a:r>
          </a:p>
          <a:p>
            <a:pPr algn="l" marL="237744" indent="-237744">
              <a:spcAft>
                <a:spcPts val="800"/>
              </a:spcAft>
              <a:buClr>
                <a:srgbClr val="0766D1"/>
              </a:buClr>
              <a:buFont typeface="Arial"/>
              <a:buChar char="•"/>
            </a:pPr>
            <a:r>
              <a:rPr sz="1350">
                <a:solidFill>
                  <a:srgbClr val="262626"/>
                </a:solidFill>
              </a:rPr>
              <a:t>Symptoms triaged to the right route and the right slot</a:t>
            </a:r>
          </a:p>
        </p:txBody>
      </p:sp>
      <p:sp>
        <p:nvSpPr>
          <p:cNvPr id="11" name="Rounded Rectangle 10"/>
          <p:cNvSpPr/>
          <p:nvPr/>
        </p:nvSpPr>
        <p:spPr>
          <a:xfrm>
            <a:off x="6632448" y="2331720"/>
            <a:ext cx="5013960" cy="3154680"/>
          </a:xfrm>
          <a:prstGeom prst="roundRect">
            <a:avLst>
              <a:gd name="adj" fmla="val 8115"/>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870192" y="2569463"/>
            <a:ext cx="713232" cy="713232"/>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tethoscope_w.png"/>
          <p:cNvPicPr>
            <a:picLocks noChangeAspect="1"/>
          </p:cNvPicPr>
          <p:nvPr/>
        </p:nvPicPr>
        <p:blipFill>
          <a:blip r:embed="rId3"/>
          <a:stretch>
            <a:fillRect/>
          </a:stretch>
        </p:blipFill>
        <p:spPr>
          <a:xfrm>
            <a:off x="7030669" y="2729941"/>
            <a:ext cx="392277" cy="392277"/>
          </a:xfrm>
          <a:prstGeom prst="rect">
            <a:avLst/>
          </a:prstGeom>
        </p:spPr>
      </p:pic>
      <p:sp>
        <p:nvSpPr>
          <p:cNvPr id="14" name="TextBox 13"/>
          <p:cNvSpPr txBox="1"/>
          <p:nvPr/>
        </p:nvSpPr>
        <p:spPr>
          <a:xfrm>
            <a:off x="7775448" y="2651760"/>
            <a:ext cx="3642360" cy="548640"/>
          </a:xfrm>
          <a:prstGeom prst="rect">
            <a:avLst/>
          </a:prstGeom>
          <a:noFill/>
        </p:spPr>
        <p:txBody>
          <a:bodyPr wrap="square" lIns="45720" tIns="27432" rIns="45720" bIns="27432" anchor="t">
            <a:spAutoFit/>
          </a:bodyPr>
          <a:lstStyle/>
          <a:p>
            <a:pPr algn="l"/>
            <a:r>
              <a:rPr sz="1800">
                <a:solidFill>
                  <a:srgbClr val="262626"/>
                </a:solidFill>
                <a:latin typeface="+mj-lt"/>
              </a:rPr>
              <a:t>During the visit</a:t>
            </a:r>
          </a:p>
        </p:txBody>
      </p:sp>
      <p:sp>
        <p:nvSpPr>
          <p:cNvPr id="15" name="TextBox 14"/>
          <p:cNvSpPr txBox="1"/>
          <p:nvPr/>
        </p:nvSpPr>
        <p:spPr>
          <a:xfrm>
            <a:off x="6998208" y="3657600"/>
            <a:ext cx="4282440" cy="1691640"/>
          </a:xfrm>
          <a:prstGeom prst="rect">
            <a:avLst/>
          </a:prstGeom>
          <a:noFill/>
        </p:spPr>
        <p:txBody>
          <a:bodyPr wrap="square" lIns="45720" tIns="27432" rIns="45720" bIns="27432" anchor="t">
            <a:spAutoFit/>
          </a:bodyPr>
          <a:lstStyle/>
          <a:p>
            <a:pPr algn="l" marL="237744" indent="-237744">
              <a:spcAft>
                <a:spcPts val="800"/>
              </a:spcAft>
              <a:buClr>
                <a:srgbClr val="0766D1"/>
              </a:buClr>
              <a:buFont typeface="Arial"/>
              <a:buChar char="•"/>
            </a:pPr>
            <a:r>
              <a:rPr sz="1350">
                <a:solidFill>
                  <a:srgbClr val="262626"/>
                </a:solidFill>
              </a:rPr>
              <a:t>The note drafted while the clinician listens</a:t>
            </a:r>
          </a:p>
          <a:p>
            <a:pPr algn="l" marL="237744" indent="-237744">
              <a:spcAft>
                <a:spcPts val="800"/>
              </a:spcAft>
              <a:buClr>
                <a:srgbClr val="0766D1"/>
              </a:buClr>
              <a:buFont typeface="Arial"/>
              <a:buChar char="•"/>
            </a:pPr>
            <a:r>
              <a:rPr sz="1350">
                <a:solidFill>
                  <a:srgbClr val="262626"/>
                </a:solidFill>
              </a:rPr>
              <a:t>Decision support that cites the guideline by section</a:t>
            </a:r>
          </a:p>
        </p:txBody>
      </p:sp>
      <p:sp>
        <p:nvSpPr>
          <p:cNvPr id="16" name="Rounded Rectangle 15"/>
          <p:cNvSpPr/>
          <p:nvPr/>
        </p:nvSpPr>
        <p:spPr>
          <a:xfrm>
            <a:off x="12012168" y="2331720"/>
            <a:ext cx="5013960" cy="3154680"/>
          </a:xfrm>
          <a:prstGeom prst="roundRect">
            <a:avLst>
              <a:gd name="adj" fmla="val 8115"/>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2249912" y="2569463"/>
            <a:ext cx="713232" cy="713232"/>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phone_w.png"/>
          <p:cNvPicPr>
            <a:picLocks noChangeAspect="1"/>
          </p:cNvPicPr>
          <p:nvPr/>
        </p:nvPicPr>
        <p:blipFill>
          <a:blip r:embed="rId4"/>
          <a:stretch>
            <a:fillRect/>
          </a:stretch>
        </p:blipFill>
        <p:spPr>
          <a:xfrm>
            <a:off x="12410389" y="2729941"/>
            <a:ext cx="392277" cy="392277"/>
          </a:xfrm>
          <a:prstGeom prst="rect">
            <a:avLst/>
          </a:prstGeom>
        </p:spPr>
      </p:pic>
      <p:sp>
        <p:nvSpPr>
          <p:cNvPr id="19" name="TextBox 18"/>
          <p:cNvSpPr txBox="1"/>
          <p:nvPr/>
        </p:nvSpPr>
        <p:spPr>
          <a:xfrm>
            <a:off x="13155168" y="2651760"/>
            <a:ext cx="3642360" cy="548640"/>
          </a:xfrm>
          <a:prstGeom prst="rect">
            <a:avLst/>
          </a:prstGeom>
          <a:noFill/>
        </p:spPr>
        <p:txBody>
          <a:bodyPr wrap="square" lIns="45720" tIns="27432" rIns="45720" bIns="27432" anchor="t">
            <a:spAutoFit/>
          </a:bodyPr>
          <a:lstStyle/>
          <a:p>
            <a:pPr algn="l"/>
            <a:r>
              <a:rPr sz="1800">
                <a:solidFill>
                  <a:srgbClr val="262626"/>
                </a:solidFill>
                <a:latin typeface="+mj-lt"/>
              </a:rPr>
              <a:t>After the visit</a:t>
            </a:r>
          </a:p>
        </p:txBody>
      </p:sp>
      <p:sp>
        <p:nvSpPr>
          <p:cNvPr id="20" name="TextBox 19"/>
          <p:cNvSpPr txBox="1"/>
          <p:nvPr/>
        </p:nvSpPr>
        <p:spPr>
          <a:xfrm>
            <a:off x="12377928" y="3657600"/>
            <a:ext cx="4282440" cy="1691640"/>
          </a:xfrm>
          <a:prstGeom prst="rect">
            <a:avLst/>
          </a:prstGeom>
          <a:noFill/>
        </p:spPr>
        <p:txBody>
          <a:bodyPr wrap="square" lIns="45720" tIns="27432" rIns="45720" bIns="27432" anchor="t">
            <a:spAutoFit/>
          </a:bodyPr>
          <a:lstStyle/>
          <a:p>
            <a:pPr algn="l" marL="237744" indent="-237744">
              <a:spcAft>
                <a:spcPts val="800"/>
              </a:spcAft>
              <a:buClr>
                <a:srgbClr val="0766D1"/>
              </a:buClr>
              <a:buFont typeface="Arial"/>
              <a:buChar char="•"/>
            </a:pPr>
            <a:r>
              <a:rPr sz="1350">
                <a:solidFill>
                  <a:srgbClr val="262626"/>
                </a:solidFill>
              </a:rPr>
              <a:t>Post-discharge follow-up calls, in the patient's language</a:t>
            </a:r>
          </a:p>
          <a:p>
            <a:pPr algn="l" marL="237744" indent="-237744">
              <a:spcAft>
                <a:spcPts val="800"/>
              </a:spcAft>
              <a:buClr>
                <a:srgbClr val="0766D1"/>
              </a:buClr>
              <a:buFont typeface="Arial"/>
              <a:buChar char="•"/>
            </a:pPr>
            <a:r>
              <a:rPr sz="1350">
                <a:solidFill>
                  <a:srgbClr val="262626"/>
                </a:solidFill>
              </a:rPr>
              <a:t>Adherence and refill reminders, with a nurse on call</a:t>
            </a:r>
          </a:p>
        </p:txBody>
      </p:sp>
      <p:sp>
        <p:nvSpPr>
          <p:cNvPr id="21" name="Rounded Rectangle 20"/>
          <p:cNvSpPr/>
          <p:nvPr/>
        </p:nvSpPr>
        <p:spPr>
          <a:xfrm>
            <a:off x="1252728" y="5806440"/>
            <a:ext cx="5013960" cy="3154680"/>
          </a:xfrm>
          <a:prstGeom prst="roundRect">
            <a:avLst>
              <a:gd name="adj" fmla="val 8115"/>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490472" y="6044184"/>
            <a:ext cx="713232" cy="7132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heart_b.png"/>
          <p:cNvPicPr>
            <a:picLocks noChangeAspect="1"/>
          </p:cNvPicPr>
          <p:nvPr/>
        </p:nvPicPr>
        <p:blipFill>
          <a:blip r:embed="rId5"/>
          <a:stretch>
            <a:fillRect/>
          </a:stretch>
        </p:blipFill>
        <p:spPr>
          <a:xfrm>
            <a:off x="1650949" y="6204661"/>
            <a:ext cx="392277" cy="392277"/>
          </a:xfrm>
          <a:prstGeom prst="rect">
            <a:avLst/>
          </a:prstGeom>
        </p:spPr>
      </p:pic>
      <p:sp>
        <p:nvSpPr>
          <p:cNvPr id="24" name="TextBox 23"/>
          <p:cNvSpPr txBox="1"/>
          <p:nvPr/>
        </p:nvSpPr>
        <p:spPr>
          <a:xfrm>
            <a:off x="2395728" y="6126479"/>
            <a:ext cx="2087880" cy="548640"/>
          </a:xfrm>
          <a:prstGeom prst="rect">
            <a:avLst/>
          </a:prstGeom>
          <a:noFill/>
        </p:spPr>
        <p:txBody>
          <a:bodyPr wrap="square" lIns="45720" tIns="27432" rIns="45720" bIns="27432" anchor="t">
            <a:spAutoFit/>
          </a:bodyPr>
          <a:lstStyle/>
          <a:p>
            <a:pPr algn="l"/>
            <a:r>
              <a:rPr sz="1800">
                <a:solidFill>
                  <a:srgbClr val="FFFFFF"/>
                </a:solidFill>
                <a:latin typeface="+mj-lt"/>
              </a:rPr>
              <a:t>Population and prevention</a:t>
            </a:r>
          </a:p>
        </p:txBody>
      </p:sp>
      <p:sp>
        <p:nvSpPr>
          <p:cNvPr id="25" name="Rounded Rectangle 24"/>
          <p:cNvSpPr/>
          <p:nvPr/>
        </p:nvSpPr>
        <p:spPr>
          <a:xfrm>
            <a:off x="4575048" y="6217920"/>
            <a:ext cx="1417320" cy="402336"/>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100">
                <a:solidFill>
                  <a:srgbClr val="0766D1"/>
                </a:solidFill>
                <a:latin typeface="+mj-lt"/>
              </a:rPr>
              <a:t>Live today</a:t>
            </a:r>
          </a:p>
        </p:txBody>
      </p:sp>
      <p:sp>
        <p:nvSpPr>
          <p:cNvPr id="26" name="TextBox 25"/>
          <p:cNvSpPr txBox="1"/>
          <p:nvPr/>
        </p:nvSpPr>
        <p:spPr>
          <a:xfrm>
            <a:off x="1618488" y="7132320"/>
            <a:ext cx="4282440" cy="1691640"/>
          </a:xfrm>
          <a:prstGeom prst="rect">
            <a:avLst/>
          </a:prstGeom>
          <a:noFill/>
        </p:spPr>
        <p:txBody>
          <a:bodyPr wrap="square" lIns="45720" tIns="27432" rIns="45720" bIns="27432" anchor="t">
            <a:spAutoFit/>
          </a:bodyPr>
          <a:lstStyle/>
          <a:p>
            <a:pPr algn="l" marL="237744" indent="-237744">
              <a:spcAft>
                <a:spcPts val="800"/>
              </a:spcAft>
              <a:buClr>
                <a:srgbClr val="C4DEFD"/>
              </a:buClr>
              <a:buFont typeface="Arial"/>
              <a:buChar char="•"/>
            </a:pPr>
            <a:r>
              <a:rPr sz="1350">
                <a:solidFill>
                  <a:srgbClr val="FFFFFF"/>
                </a:solidFill>
              </a:rPr>
              <a:t>Registry surveillance: who is slipping, where the care gaps are</a:t>
            </a:r>
          </a:p>
          <a:p>
            <a:pPr algn="l" marL="237744" indent="-237744">
              <a:spcAft>
                <a:spcPts val="800"/>
              </a:spcAft>
              <a:buClr>
                <a:srgbClr val="C4DEFD"/>
              </a:buClr>
              <a:buFont typeface="Arial"/>
              <a:buChar char="•"/>
            </a:pPr>
            <a:r>
              <a:rPr sz="1350">
                <a:solidFill>
                  <a:srgbClr val="FFFFFF"/>
                </a:solidFill>
              </a:rPr>
              <a:t>Screening outreach and early warning: who is due, who has red flags</a:t>
            </a:r>
          </a:p>
        </p:txBody>
      </p:sp>
      <p:sp>
        <p:nvSpPr>
          <p:cNvPr id="27" name="Rounded Rectangle 26"/>
          <p:cNvSpPr/>
          <p:nvPr/>
        </p:nvSpPr>
        <p:spPr>
          <a:xfrm>
            <a:off x="6632448" y="5806440"/>
            <a:ext cx="5013960" cy="3154680"/>
          </a:xfrm>
          <a:prstGeom prst="roundRect">
            <a:avLst>
              <a:gd name="adj" fmla="val 8115"/>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870192" y="6044184"/>
            <a:ext cx="713232" cy="713232"/>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coins_w.png"/>
          <p:cNvPicPr>
            <a:picLocks noChangeAspect="1"/>
          </p:cNvPicPr>
          <p:nvPr/>
        </p:nvPicPr>
        <p:blipFill>
          <a:blip r:embed="rId6"/>
          <a:stretch>
            <a:fillRect/>
          </a:stretch>
        </p:blipFill>
        <p:spPr>
          <a:xfrm>
            <a:off x="7030669" y="6204661"/>
            <a:ext cx="392277" cy="392277"/>
          </a:xfrm>
          <a:prstGeom prst="rect">
            <a:avLst/>
          </a:prstGeom>
        </p:spPr>
      </p:pic>
      <p:sp>
        <p:nvSpPr>
          <p:cNvPr id="30" name="TextBox 29"/>
          <p:cNvSpPr txBox="1"/>
          <p:nvPr/>
        </p:nvSpPr>
        <p:spPr>
          <a:xfrm>
            <a:off x="7775448" y="6126479"/>
            <a:ext cx="3642360" cy="548640"/>
          </a:xfrm>
          <a:prstGeom prst="rect">
            <a:avLst/>
          </a:prstGeom>
          <a:noFill/>
        </p:spPr>
        <p:txBody>
          <a:bodyPr wrap="square" lIns="45720" tIns="27432" rIns="45720" bIns="27432" anchor="t">
            <a:spAutoFit/>
          </a:bodyPr>
          <a:lstStyle/>
          <a:p>
            <a:pPr algn="l"/>
            <a:r>
              <a:rPr sz="1800">
                <a:solidFill>
                  <a:srgbClr val="262626"/>
                </a:solidFill>
                <a:latin typeface="+mj-lt"/>
              </a:rPr>
              <a:t>Operations and finance</a:t>
            </a:r>
          </a:p>
        </p:txBody>
      </p:sp>
      <p:sp>
        <p:nvSpPr>
          <p:cNvPr id="31" name="TextBox 30"/>
          <p:cNvSpPr txBox="1"/>
          <p:nvPr/>
        </p:nvSpPr>
        <p:spPr>
          <a:xfrm>
            <a:off x="6998208" y="7132320"/>
            <a:ext cx="4282440" cy="1691640"/>
          </a:xfrm>
          <a:prstGeom prst="rect">
            <a:avLst/>
          </a:prstGeom>
          <a:noFill/>
        </p:spPr>
        <p:txBody>
          <a:bodyPr wrap="square" lIns="45720" tIns="27432" rIns="45720" bIns="27432" anchor="t">
            <a:spAutoFit/>
          </a:bodyPr>
          <a:lstStyle/>
          <a:p>
            <a:pPr algn="l" marL="237744" indent="-237744">
              <a:spcAft>
                <a:spcPts val="800"/>
              </a:spcAft>
              <a:buClr>
                <a:srgbClr val="0766D1"/>
              </a:buClr>
              <a:buFont typeface="Arial"/>
              <a:buChar char="•"/>
            </a:pPr>
            <a:r>
              <a:rPr sz="1350">
                <a:solidFill>
                  <a:srgbClr val="262626"/>
                </a:solidFill>
              </a:rPr>
              <a:t>Prior authorisation worked end to end, denials to a person</a:t>
            </a:r>
          </a:p>
          <a:p>
            <a:pPr algn="l" marL="237744" indent="-237744">
              <a:spcAft>
                <a:spcPts val="800"/>
              </a:spcAft>
              <a:buClr>
                <a:srgbClr val="0766D1"/>
              </a:buClr>
              <a:buFont typeface="Arial"/>
              <a:buChar char="•"/>
            </a:pPr>
            <a:r>
              <a:rPr sz="1350">
                <a:solidFill>
                  <a:srgbClr val="262626"/>
                </a:solidFill>
              </a:rPr>
              <a:t>Capacity and demand forecasting, with the draft plan attached</a:t>
            </a:r>
          </a:p>
        </p:txBody>
      </p:sp>
      <p:sp>
        <p:nvSpPr>
          <p:cNvPr id="32" name="Rounded Rectangle 31"/>
          <p:cNvSpPr/>
          <p:nvPr/>
        </p:nvSpPr>
        <p:spPr>
          <a:xfrm>
            <a:off x="12012168" y="5806440"/>
            <a:ext cx="5013960" cy="3154680"/>
          </a:xfrm>
          <a:prstGeom prst="roundRect">
            <a:avLst>
              <a:gd name="adj" fmla="val 8115"/>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2249912" y="6044184"/>
            <a:ext cx="713232" cy="713232"/>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flask_w.png"/>
          <p:cNvPicPr>
            <a:picLocks noChangeAspect="1"/>
          </p:cNvPicPr>
          <p:nvPr/>
        </p:nvPicPr>
        <p:blipFill>
          <a:blip r:embed="rId7"/>
          <a:stretch>
            <a:fillRect/>
          </a:stretch>
        </p:blipFill>
        <p:spPr>
          <a:xfrm>
            <a:off x="12410389" y="6204661"/>
            <a:ext cx="392277" cy="392277"/>
          </a:xfrm>
          <a:prstGeom prst="rect">
            <a:avLst/>
          </a:prstGeom>
        </p:spPr>
      </p:pic>
      <p:sp>
        <p:nvSpPr>
          <p:cNvPr id="35" name="TextBox 34"/>
          <p:cNvSpPr txBox="1"/>
          <p:nvPr/>
        </p:nvSpPr>
        <p:spPr>
          <a:xfrm>
            <a:off x="13155168" y="6126479"/>
            <a:ext cx="3642360" cy="548640"/>
          </a:xfrm>
          <a:prstGeom prst="rect">
            <a:avLst/>
          </a:prstGeom>
          <a:noFill/>
        </p:spPr>
        <p:txBody>
          <a:bodyPr wrap="square" lIns="45720" tIns="27432" rIns="45720" bIns="27432" anchor="t">
            <a:spAutoFit/>
          </a:bodyPr>
          <a:lstStyle/>
          <a:p>
            <a:pPr algn="l"/>
            <a:r>
              <a:rPr sz="1800">
                <a:solidFill>
                  <a:srgbClr val="262626"/>
                </a:solidFill>
                <a:latin typeface="+mj-lt"/>
              </a:rPr>
              <a:t>Research and evidence</a:t>
            </a:r>
          </a:p>
        </p:txBody>
      </p:sp>
      <p:sp>
        <p:nvSpPr>
          <p:cNvPr id="36" name="TextBox 35"/>
          <p:cNvSpPr txBox="1"/>
          <p:nvPr/>
        </p:nvSpPr>
        <p:spPr>
          <a:xfrm>
            <a:off x="12377928" y="7132320"/>
            <a:ext cx="4282440" cy="1691640"/>
          </a:xfrm>
          <a:prstGeom prst="rect">
            <a:avLst/>
          </a:prstGeom>
          <a:noFill/>
        </p:spPr>
        <p:txBody>
          <a:bodyPr wrap="square" lIns="45720" tIns="27432" rIns="45720" bIns="27432" anchor="t">
            <a:spAutoFit/>
          </a:bodyPr>
          <a:lstStyle/>
          <a:p>
            <a:pPr algn="l" marL="237744" indent="-237744">
              <a:spcAft>
                <a:spcPts val="800"/>
              </a:spcAft>
              <a:buClr>
                <a:srgbClr val="0766D1"/>
              </a:buClr>
              <a:buFont typeface="Arial"/>
              <a:buChar char="•"/>
            </a:pPr>
            <a:r>
              <a:rPr sz="1350">
                <a:solidFill>
                  <a:srgbClr val="262626"/>
                </a:solidFill>
              </a:rPr>
              <a:t>Trial matching with explained eligibility</a:t>
            </a:r>
          </a:p>
          <a:p>
            <a:pPr algn="l" marL="237744" indent="-237744">
              <a:spcAft>
                <a:spcPts val="800"/>
              </a:spcAft>
              <a:buClr>
                <a:srgbClr val="0766D1"/>
              </a:buClr>
              <a:buFont typeface="Arial"/>
              <a:buChar char="•"/>
            </a:pPr>
            <a:r>
              <a:rPr sz="1350">
                <a:solidFill>
                  <a:srgbClr val="262626"/>
                </a:solidFill>
              </a:rPr>
              <a:t>Continuous real-world evidence: safety signals, outcomes, registries</a:t>
            </a:r>
          </a:p>
        </p:txBody>
      </p:sp>
      <p:sp>
        <p:nvSpPr>
          <p:cNvPr id="37" name="TextBox 36"/>
          <p:cNvSpPr txBox="1"/>
          <p:nvPr/>
        </p:nvSpPr>
        <p:spPr>
          <a:xfrm>
            <a:off x="1252728" y="9098280"/>
            <a:ext cx="15773400" cy="365760"/>
          </a:xfrm>
          <a:prstGeom prst="rect">
            <a:avLst/>
          </a:prstGeom>
          <a:noFill/>
        </p:spPr>
        <p:txBody>
          <a:bodyPr wrap="square" lIns="45720" tIns="27432" rIns="45720" bIns="27432" anchor="t">
            <a:spAutoFit/>
          </a:bodyPr>
          <a:lstStyle/>
          <a:p>
            <a:pPr algn="l"/>
            <a:r>
              <a:rPr sz="1250">
                <a:solidFill>
                  <a:srgbClr val="7E889A"/>
                </a:solidFill>
              </a:rPr>
              <a:t>Every one of these follows the pattern on the previous two slides: a goal, governed tools over data that already exists, a person at the decision, a trace.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1252728" y="713232"/>
            <a:ext cx="15773400" cy="1234440"/>
          </a:xfrm>
        </p:spPr>
        <p:txBody>
          <a:bodyPr wrap="square" anchor="t"/>
          <a:lstStyle/>
          <a:p>
            <a:r>
              <a:rPr sz="3200"/>
              <a:t>Most AI pilots never show a return; the deployments that do share four traits</a:t>
            </a:r>
          </a:p>
        </p:txBody>
      </p:sp>
      <p:sp>
        <p:nvSpPr>
          <p:cNvPr id="5" name="TextBox 4"/>
          <p:cNvSpPr txBox="1"/>
          <p:nvPr/>
        </p:nvSpPr>
        <p:spPr>
          <a:xfrm>
            <a:off x="1252728" y="329184"/>
            <a:ext cx="10972800" cy="292608"/>
          </a:xfrm>
          <a:prstGeom prst="rect">
            <a:avLst/>
          </a:prstGeom>
          <a:noFill/>
        </p:spPr>
        <p:txBody>
          <a:bodyPr wrap="square" lIns="45720" tIns="27432" rIns="45720" bIns="27432" anchor="t">
            <a:spAutoFit/>
          </a:bodyPr>
          <a:lstStyle/>
          <a:p>
            <a:pPr algn="l"/>
            <a:r>
              <a:rPr sz="1100">
                <a:solidFill>
                  <a:srgbClr val="0766D1"/>
                </a:solidFill>
                <a:latin typeface="+mj-lt"/>
              </a:rPr>
              <a:t>THE EVIDENCE</a:t>
            </a:r>
          </a:p>
        </p:txBody>
      </p:sp>
      <p:sp>
        <p:nvSpPr>
          <p:cNvPr id="6" name="Rounded Rectangle 5"/>
          <p:cNvSpPr/>
          <p:nvPr/>
        </p:nvSpPr>
        <p:spPr>
          <a:xfrm>
            <a:off x="1252728" y="2377440"/>
            <a:ext cx="5852160" cy="2743200"/>
          </a:xfrm>
          <a:prstGeom prst="roundRect">
            <a:avLst>
              <a:gd name="adj" fmla="val 6666"/>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27048" y="2487168"/>
            <a:ext cx="5303520" cy="548640"/>
          </a:xfrm>
          <a:prstGeom prst="rect">
            <a:avLst/>
          </a:prstGeom>
          <a:noFill/>
        </p:spPr>
        <p:txBody>
          <a:bodyPr wrap="square" lIns="45720" tIns="27432" rIns="45720" bIns="27432" anchor="t">
            <a:spAutoFit/>
          </a:bodyPr>
          <a:lstStyle/>
          <a:p>
            <a:pPr algn="l"/>
            <a:r>
              <a:rPr sz="4000">
                <a:solidFill>
                  <a:srgbClr val="0766D1"/>
                </a:solidFill>
                <a:latin typeface="+mj-lt"/>
              </a:rPr>
              <a:t>95%</a:t>
            </a:r>
          </a:p>
        </p:txBody>
      </p:sp>
      <p:sp>
        <p:nvSpPr>
          <p:cNvPr id="8" name="TextBox 7"/>
          <p:cNvSpPr txBox="1"/>
          <p:nvPr/>
        </p:nvSpPr>
        <p:spPr>
          <a:xfrm>
            <a:off x="1527048" y="3035808"/>
            <a:ext cx="5303520" cy="2011680"/>
          </a:xfrm>
          <a:prstGeom prst="rect">
            <a:avLst/>
          </a:prstGeom>
          <a:noFill/>
        </p:spPr>
        <p:txBody>
          <a:bodyPr wrap="square" lIns="45720" tIns="27432" rIns="45720" bIns="27432" anchor="t">
            <a:spAutoFit/>
          </a:bodyPr>
          <a:lstStyle/>
          <a:p>
            <a:pPr algn="l"/>
            <a:r>
              <a:rPr sz="1200">
                <a:solidFill>
                  <a:srgbClr val="262626"/>
                </a:solidFill>
              </a:rPr>
              <a:t>of organisations saw no measurable return from their generative-AI pilots, against USD 30 to 40 billion invested. Brittle workflows and poor fit with daily operations, not the models (MIT NANDA, July 2025, preliminary).</a:t>
            </a:r>
          </a:p>
        </p:txBody>
      </p:sp>
      <p:sp>
        <p:nvSpPr>
          <p:cNvPr id="9" name="Rounded Rectangle 8"/>
          <p:cNvSpPr/>
          <p:nvPr/>
        </p:nvSpPr>
        <p:spPr>
          <a:xfrm>
            <a:off x="1252728" y="5394960"/>
            <a:ext cx="5852160" cy="2743200"/>
          </a:xfrm>
          <a:prstGeom prst="roundRect">
            <a:avLst>
              <a:gd name="adj" fmla="val 6666"/>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27048" y="5504688"/>
            <a:ext cx="5303520" cy="548640"/>
          </a:xfrm>
          <a:prstGeom prst="rect">
            <a:avLst/>
          </a:prstGeom>
          <a:noFill/>
        </p:spPr>
        <p:txBody>
          <a:bodyPr wrap="square" lIns="45720" tIns="27432" rIns="45720" bIns="27432" anchor="t">
            <a:spAutoFit/>
          </a:bodyPr>
          <a:lstStyle/>
          <a:p>
            <a:pPr algn="l"/>
            <a:r>
              <a:rPr sz="4000">
                <a:solidFill>
                  <a:srgbClr val="0766D1"/>
                </a:solidFill>
                <a:latin typeface="+mj-lt"/>
              </a:rPr>
              <a:t>&gt;40%</a:t>
            </a:r>
          </a:p>
        </p:txBody>
      </p:sp>
      <p:sp>
        <p:nvSpPr>
          <p:cNvPr id="11" name="TextBox 10"/>
          <p:cNvSpPr txBox="1"/>
          <p:nvPr/>
        </p:nvSpPr>
        <p:spPr>
          <a:xfrm>
            <a:off x="1527048" y="6053328"/>
            <a:ext cx="5303520" cy="2011680"/>
          </a:xfrm>
          <a:prstGeom prst="rect">
            <a:avLst/>
          </a:prstGeom>
          <a:noFill/>
        </p:spPr>
        <p:txBody>
          <a:bodyPr wrap="square" lIns="45720" tIns="27432" rIns="45720" bIns="27432" anchor="t">
            <a:spAutoFit/>
          </a:bodyPr>
          <a:lstStyle/>
          <a:p>
            <a:pPr algn="l"/>
            <a:r>
              <a:rPr sz="1200">
                <a:solidFill>
                  <a:srgbClr val="262626"/>
                </a:solidFill>
              </a:rPr>
              <a:t>of agentic AI projects will be cancelled by the end of 2027: escalating cost, unclear business value, inadequate risk controls. Of thousands of "agentic" vendors, Gartner counts about 130 as real (Gartner, June 2025).</a:t>
            </a:r>
          </a:p>
        </p:txBody>
      </p:sp>
      <p:sp>
        <p:nvSpPr>
          <p:cNvPr id="12" name="TextBox 11"/>
          <p:cNvSpPr txBox="1"/>
          <p:nvPr/>
        </p:nvSpPr>
        <p:spPr>
          <a:xfrm>
            <a:off x="7680960" y="2331720"/>
            <a:ext cx="9345168" cy="457200"/>
          </a:xfrm>
          <a:prstGeom prst="rect">
            <a:avLst/>
          </a:prstGeom>
          <a:noFill/>
        </p:spPr>
        <p:txBody>
          <a:bodyPr wrap="square" lIns="45720" tIns="27432" rIns="45720" bIns="27432" anchor="t">
            <a:spAutoFit/>
          </a:bodyPr>
          <a:lstStyle/>
          <a:p>
            <a:pPr algn="l"/>
            <a:r>
              <a:rPr sz="1900">
                <a:solidFill>
                  <a:srgbClr val="0766D1"/>
                </a:solidFill>
                <a:latin typeface="+mj-lt"/>
              </a:rPr>
              <a:t>What the deployments that work have in common</a:t>
            </a:r>
          </a:p>
        </p:txBody>
      </p:sp>
      <p:sp>
        <p:nvSpPr>
          <p:cNvPr id="13" name="Oval 12"/>
          <p:cNvSpPr/>
          <p:nvPr/>
        </p:nvSpPr>
        <p:spPr>
          <a:xfrm>
            <a:off x="7680960" y="3017520"/>
            <a:ext cx="566928" cy="566928"/>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800">
                <a:solidFill>
                  <a:srgbClr val="FFFFFF"/>
                </a:solidFill>
                <a:latin typeface="+mj-lt"/>
              </a:rPr>
              <a:t>1</a:t>
            </a:r>
          </a:p>
        </p:txBody>
      </p:sp>
      <p:sp>
        <p:nvSpPr>
          <p:cNvPr id="14" name="TextBox 13"/>
          <p:cNvSpPr txBox="1"/>
          <p:nvPr/>
        </p:nvSpPr>
        <p:spPr>
          <a:xfrm>
            <a:off x="8476488" y="2971800"/>
            <a:ext cx="8549640" cy="411480"/>
          </a:xfrm>
          <a:prstGeom prst="rect">
            <a:avLst/>
          </a:prstGeom>
          <a:noFill/>
        </p:spPr>
        <p:txBody>
          <a:bodyPr wrap="square" lIns="45720" tIns="27432" rIns="45720" bIns="27432" anchor="t">
            <a:spAutoFit/>
          </a:bodyPr>
          <a:lstStyle/>
          <a:p>
            <a:pPr algn="l"/>
            <a:r>
              <a:rPr sz="1700">
                <a:solidFill>
                  <a:srgbClr val="262626"/>
                </a:solidFill>
                <a:latin typeface="+mj-lt"/>
              </a:rPr>
              <a:t>A named workflow with a number attached</a:t>
            </a:r>
          </a:p>
        </p:txBody>
      </p:sp>
      <p:sp>
        <p:nvSpPr>
          <p:cNvPr id="15" name="TextBox 14"/>
          <p:cNvSpPr txBox="1"/>
          <p:nvPr/>
        </p:nvSpPr>
        <p:spPr>
          <a:xfrm>
            <a:off x="8476488" y="3383279"/>
            <a:ext cx="8549640" cy="1005840"/>
          </a:xfrm>
          <a:prstGeom prst="rect">
            <a:avLst/>
          </a:prstGeom>
          <a:noFill/>
        </p:spPr>
        <p:txBody>
          <a:bodyPr wrap="square" lIns="45720" tIns="27432" rIns="45720" bIns="27432" anchor="t">
            <a:spAutoFit/>
          </a:bodyPr>
          <a:lstStyle/>
          <a:p>
            <a:pPr algn="l"/>
            <a:r>
              <a:rPr sz="1350">
                <a:solidFill>
                  <a:srgbClr val="262626"/>
                </a:solidFill>
              </a:rPr>
              <a:t>Minutes per note, completions per hundred invitations, authorisations per day. Not "transformation".</a:t>
            </a:r>
          </a:p>
        </p:txBody>
      </p:sp>
      <p:sp>
        <p:nvSpPr>
          <p:cNvPr id="16" name="Oval 15"/>
          <p:cNvSpPr/>
          <p:nvPr/>
        </p:nvSpPr>
        <p:spPr>
          <a:xfrm>
            <a:off x="7680960" y="4526279"/>
            <a:ext cx="566928" cy="566928"/>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800">
                <a:solidFill>
                  <a:srgbClr val="FFFFFF"/>
                </a:solidFill>
                <a:latin typeface="+mj-lt"/>
              </a:rPr>
              <a:t>2</a:t>
            </a:r>
          </a:p>
        </p:txBody>
      </p:sp>
      <p:sp>
        <p:nvSpPr>
          <p:cNvPr id="17" name="TextBox 16"/>
          <p:cNvSpPr txBox="1"/>
          <p:nvPr/>
        </p:nvSpPr>
        <p:spPr>
          <a:xfrm>
            <a:off x="8476488" y="4480559"/>
            <a:ext cx="8549640" cy="411480"/>
          </a:xfrm>
          <a:prstGeom prst="rect">
            <a:avLst/>
          </a:prstGeom>
          <a:noFill/>
        </p:spPr>
        <p:txBody>
          <a:bodyPr wrap="square" lIns="45720" tIns="27432" rIns="45720" bIns="27432" anchor="t">
            <a:spAutoFit/>
          </a:bodyPr>
          <a:lstStyle/>
          <a:p>
            <a:pPr algn="l"/>
            <a:r>
              <a:rPr sz="1700">
                <a:solidFill>
                  <a:srgbClr val="262626"/>
                </a:solidFill>
                <a:latin typeface="+mj-lt"/>
              </a:rPr>
              <a:t>Data and systems that already exist</a:t>
            </a:r>
          </a:p>
        </p:txBody>
      </p:sp>
      <p:sp>
        <p:nvSpPr>
          <p:cNvPr id="18" name="TextBox 17"/>
          <p:cNvSpPr txBox="1"/>
          <p:nvPr/>
        </p:nvSpPr>
        <p:spPr>
          <a:xfrm>
            <a:off x="8476488" y="4892040"/>
            <a:ext cx="8549640" cy="1005840"/>
          </a:xfrm>
          <a:prstGeom prst="rect">
            <a:avLst/>
          </a:prstGeom>
          <a:noFill/>
        </p:spPr>
        <p:txBody>
          <a:bodyPr wrap="square" lIns="45720" tIns="27432" rIns="45720" bIns="27432" anchor="t">
            <a:spAutoFit/>
          </a:bodyPr>
          <a:lstStyle/>
          <a:p>
            <a:pPr algn="l"/>
            <a:r>
              <a:rPr sz="1350">
                <a:solidFill>
                  <a:srgbClr val="262626"/>
                </a:solidFill>
              </a:rPr>
              <a:t>The EHR, the registry, the payer portal, the guideline. The agent is added to a workflow, not sold as a replacement for one.</a:t>
            </a:r>
          </a:p>
        </p:txBody>
      </p:sp>
      <p:sp>
        <p:nvSpPr>
          <p:cNvPr id="19" name="Oval 18"/>
          <p:cNvSpPr/>
          <p:nvPr/>
        </p:nvSpPr>
        <p:spPr>
          <a:xfrm>
            <a:off x="7680960" y="6035040"/>
            <a:ext cx="566928" cy="566928"/>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800">
                <a:solidFill>
                  <a:srgbClr val="FFFFFF"/>
                </a:solidFill>
                <a:latin typeface="+mj-lt"/>
              </a:rPr>
              <a:t>3</a:t>
            </a:r>
          </a:p>
        </p:txBody>
      </p:sp>
      <p:sp>
        <p:nvSpPr>
          <p:cNvPr id="20" name="TextBox 19"/>
          <p:cNvSpPr txBox="1"/>
          <p:nvPr/>
        </p:nvSpPr>
        <p:spPr>
          <a:xfrm>
            <a:off x="8476488" y="5989320"/>
            <a:ext cx="8549640" cy="411480"/>
          </a:xfrm>
          <a:prstGeom prst="rect">
            <a:avLst/>
          </a:prstGeom>
          <a:noFill/>
        </p:spPr>
        <p:txBody>
          <a:bodyPr wrap="square" lIns="45720" tIns="27432" rIns="45720" bIns="27432" anchor="t">
            <a:spAutoFit/>
          </a:bodyPr>
          <a:lstStyle/>
          <a:p>
            <a:pPr algn="l"/>
            <a:r>
              <a:rPr sz="1700">
                <a:solidFill>
                  <a:srgbClr val="262626"/>
                </a:solidFill>
                <a:latin typeface="+mj-lt"/>
              </a:rPr>
              <a:t>A person at the decision, an agent at the legwork</a:t>
            </a:r>
          </a:p>
        </p:txBody>
      </p:sp>
      <p:sp>
        <p:nvSpPr>
          <p:cNvPr id="21" name="TextBox 20"/>
          <p:cNvSpPr txBox="1"/>
          <p:nvPr/>
        </p:nvSpPr>
        <p:spPr>
          <a:xfrm>
            <a:off x="8476488" y="6400800"/>
            <a:ext cx="8549640" cy="1005840"/>
          </a:xfrm>
          <a:prstGeom prst="rect">
            <a:avLst/>
          </a:prstGeom>
          <a:noFill/>
        </p:spPr>
        <p:txBody>
          <a:bodyPr wrap="square" lIns="45720" tIns="27432" rIns="45720" bIns="27432" anchor="t">
            <a:spAutoFit/>
          </a:bodyPr>
          <a:lstStyle/>
          <a:p>
            <a:pPr algn="l"/>
            <a:r>
              <a:rPr sz="1350">
                <a:solidFill>
                  <a:srgbClr val="262626"/>
                </a:solidFill>
              </a:rPr>
              <a:t>Denials go to a human. Drafts wait for sign-off. The clinician finalises the note.</a:t>
            </a:r>
          </a:p>
        </p:txBody>
      </p:sp>
      <p:sp>
        <p:nvSpPr>
          <p:cNvPr id="22" name="Oval 21"/>
          <p:cNvSpPr/>
          <p:nvPr/>
        </p:nvSpPr>
        <p:spPr>
          <a:xfrm>
            <a:off x="7680960" y="7543800"/>
            <a:ext cx="566928" cy="566928"/>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800">
                <a:solidFill>
                  <a:srgbClr val="FFFFFF"/>
                </a:solidFill>
                <a:latin typeface="+mj-lt"/>
              </a:rPr>
              <a:t>4</a:t>
            </a:r>
          </a:p>
        </p:txBody>
      </p:sp>
      <p:sp>
        <p:nvSpPr>
          <p:cNvPr id="23" name="TextBox 22"/>
          <p:cNvSpPr txBox="1"/>
          <p:nvPr/>
        </p:nvSpPr>
        <p:spPr>
          <a:xfrm>
            <a:off x="8476488" y="7498079"/>
            <a:ext cx="8549640" cy="411480"/>
          </a:xfrm>
          <a:prstGeom prst="rect">
            <a:avLst/>
          </a:prstGeom>
          <a:noFill/>
        </p:spPr>
        <p:txBody>
          <a:bodyPr wrap="square" lIns="45720" tIns="27432" rIns="45720" bIns="27432" anchor="t">
            <a:spAutoFit/>
          </a:bodyPr>
          <a:lstStyle/>
          <a:p>
            <a:pPr algn="l"/>
            <a:r>
              <a:rPr sz="1700">
                <a:solidFill>
                  <a:srgbClr val="262626"/>
                </a:solidFill>
                <a:latin typeface="+mj-lt"/>
              </a:rPr>
              <a:t>Measured in weeks, not promised in years</a:t>
            </a:r>
          </a:p>
        </p:txBody>
      </p:sp>
      <p:sp>
        <p:nvSpPr>
          <p:cNvPr id="24" name="TextBox 23"/>
          <p:cNvSpPr txBox="1"/>
          <p:nvPr/>
        </p:nvSpPr>
        <p:spPr>
          <a:xfrm>
            <a:off x="8476488" y="7909560"/>
            <a:ext cx="8549640" cy="1005840"/>
          </a:xfrm>
          <a:prstGeom prst="rect">
            <a:avLst/>
          </a:prstGeom>
          <a:noFill/>
        </p:spPr>
        <p:txBody>
          <a:bodyPr wrap="square" lIns="45720" tIns="27432" rIns="45720" bIns="27432" anchor="t">
            <a:spAutoFit/>
          </a:bodyPr>
          <a:lstStyle/>
          <a:p>
            <a:pPr algn="l"/>
            <a:r>
              <a:rPr sz="1350">
                <a:solidFill>
                  <a:srgbClr val="262626"/>
                </a:solidFill>
              </a:rPr>
              <a:t>Burnout at 30 days, completions at six months, authorisations the next morning. If it cannot be measured quickly, it is not ready.</a:t>
            </a:r>
          </a:p>
        </p:txBody>
      </p:sp>
      <p:sp>
        <p:nvSpPr>
          <p:cNvPr id="25" name="TextBox 24"/>
          <p:cNvSpPr txBox="1"/>
          <p:nvPr/>
        </p:nvSpPr>
        <p:spPr>
          <a:xfrm>
            <a:off x="1252728" y="9326880"/>
            <a:ext cx="15773400" cy="457200"/>
          </a:xfrm>
          <a:prstGeom prst="rect">
            <a:avLst/>
          </a:prstGeom>
          <a:noFill/>
        </p:spPr>
        <p:txBody>
          <a:bodyPr wrap="square" lIns="45720" tIns="27432" rIns="45720" bIns="27432" anchor="t">
            <a:spAutoFit/>
          </a:bodyPr>
          <a:lstStyle/>
          <a:p>
            <a:pPr algn="l"/>
            <a:r>
              <a:rPr sz="900">
                <a:solidFill>
                  <a:srgbClr val="7E889A"/>
                </a:solidFill>
              </a:rPr>
              <a:t>Sources: MIT NANDA, The GenAI Divide: State of AI in Business 2025 (preliminary, July 2025)  ·  Gartner, press release, 25 June 2025: over 40% of agentic AI projects will be cancelled by end of 2027.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5400"/>
              <a:t>Example 1 · Population health</a:t>
            </a:r>
          </a:p>
        </p:txBody>
      </p:sp>
      <p:sp>
        <p:nvSpPr>
          <p:cNvPr id="3" name="Text Placeholder 2"/>
          <p:cNvSpPr>
            <a:spLocks noGrp="1"/>
          </p:cNvSpPr>
          <p:nvPr>
            <p:ph type="body" idx="10" sz="quarter"/>
          </p:nvPr>
        </p:nvSpPr>
        <p:spPr/>
        <p:txBody>
          <a:bodyPr/>
          <a:lstStyle/>
          <a:p>
            <a:r>
              <a:rPr sz="3600"/>
              <a:t>A diabetes registry that answers back</a:t>
            </a:r>
          </a:p>
        </p:txBody>
      </p:sp>
      <p:sp>
        <p:nvSpPr>
          <p:cNvPr id="4" name="Oval 3"/>
          <p:cNvSpPr/>
          <p:nvPr/>
        </p:nvSpPr>
        <p:spPr>
          <a:xfrm>
            <a:off x="14630399" y="914400"/>
            <a:ext cx="2103120" cy="2103120"/>
          </a:xfrm>
          <a:prstGeom prst="ellipse">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heart_w.png"/>
          <p:cNvPicPr>
            <a:picLocks noChangeAspect="1"/>
          </p:cNvPicPr>
          <p:nvPr/>
        </p:nvPicPr>
        <p:blipFill>
          <a:blip r:embed="rId2"/>
          <a:stretch>
            <a:fillRect/>
          </a:stretch>
        </p:blipFill>
        <p:spPr>
          <a:xfrm>
            <a:off x="15115031" y="1399031"/>
            <a:ext cx="1133856" cy="113385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1252728" y="713232"/>
            <a:ext cx="15773400" cy="1234440"/>
          </a:xfrm>
        </p:spPr>
        <p:txBody>
          <a:bodyPr wrap="square" anchor="t"/>
          <a:lstStyle/>
          <a:p>
            <a:r>
              <a:rPr sz="3200"/>
              <a:t>The problem: the registry already knows who is slipping, but every answer costs days of analyst time</a:t>
            </a:r>
          </a:p>
        </p:txBody>
      </p:sp>
      <p:sp>
        <p:nvSpPr>
          <p:cNvPr id="5" name="TextBox 4"/>
          <p:cNvSpPr txBox="1"/>
          <p:nvPr/>
        </p:nvSpPr>
        <p:spPr>
          <a:xfrm>
            <a:off x="1252728" y="329184"/>
            <a:ext cx="10972800" cy="292608"/>
          </a:xfrm>
          <a:prstGeom prst="rect">
            <a:avLst/>
          </a:prstGeom>
          <a:noFill/>
        </p:spPr>
        <p:txBody>
          <a:bodyPr wrap="square" lIns="45720" tIns="27432" rIns="45720" bIns="27432" anchor="t">
            <a:spAutoFit/>
          </a:bodyPr>
          <a:lstStyle/>
          <a:p>
            <a:pPr algn="l"/>
            <a:r>
              <a:rPr sz="1100">
                <a:solidFill>
                  <a:srgbClr val="0766D1"/>
                </a:solidFill>
                <a:latin typeface="+mj-lt"/>
              </a:rPr>
              <a:t>EXAMPLE 1 · POPULATION HEALTH</a:t>
            </a:r>
          </a:p>
        </p:txBody>
      </p:sp>
      <p:sp>
        <p:nvSpPr>
          <p:cNvPr id="6" name="TextBox 5"/>
          <p:cNvSpPr txBox="1"/>
          <p:nvPr/>
        </p:nvSpPr>
        <p:spPr>
          <a:xfrm>
            <a:off x="1252728" y="2331720"/>
            <a:ext cx="9144000" cy="274320"/>
          </a:xfrm>
          <a:prstGeom prst="rect">
            <a:avLst/>
          </a:prstGeom>
          <a:noFill/>
        </p:spPr>
        <p:txBody>
          <a:bodyPr wrap="square" lIns="45720" tIns="27432" rIns="45720" bIns="27432" anchor="t">
            <a:spAutoFit/>
          </a:bodyPr>
          <a:lstStyle/>
          <a:p>
            <a:pPr algn="l"/>
            <a:r>
              <a:rPr sz="1050">
                <a:solidFill>
                  <a:srgbClr val="0766D1"/>
                </a:solidFill>
                <a:latin typeface="+mj-lt"/>
              </a:rPr>
              <a:t>SITUATION</a:t>
            </a:r>
          </a:p>
        </p:txBody>
      </p:sp>
      <p:sp>
        <p:nvSpPr>
          <p:cNvPr id="7" name="TextBox 6"/>
          <p:cNvSpPr txBox="1"/>
          <p:nvPr/>
        </p:nvSpPr>
        <p:spPr>
          <a:xfrm>
            <a:off x="1252728" y="2606039"/>
            <a:ext cx="9144000" cy="1828800"/>
          </a:xfrm>
          <a:prstGeom prst="rect">
            <a:avLst/>
          </a:prstGeom>
          <a:noFill/>
        </p:spPr>
        <p:txBody>
          <a:bodyPr wrap="square" lIns="45720" tIns="27432" rIns="45720" bIns="27432" anchor="t">
            <a:spAutoFit/>
          </a:bodyPr>
          <a:lstStyle/>
          <a:p>
            <a:pPr algn="l"/>
            <a:r>
              <a:rPr sz="1550">
                <a:solidFill>
                  <a:srgbClr val="262626"/>
                </a:solidFill>
              </a:rPr>
              <a:t>A programme lead runs diabetes care for 4,000 registered patients across 18 hospitals and health centres in five regions. The registry holds 54 fields per patient: HbA1c, blood pressure, lipids, kidney function, therapy, adherence, open care gaps, visits and cost, over 36 months.</a:t>
            </a:r>
          </a:p>
        </p:txBody>
      </p:sp>
      <p:sp>
        <p:nvSpPr>
          <p:cNvPr id="8" name="TextBox 7"/>
          <p:cNvSpPr txBox="1"/>
          <p:nvPr/>
        </p:nvSpPr>
        <p:spPr>
          <a:xfrm>
            <a:off x="1252728" y="4663440"/>
            <a:ext cx="9144000" cy="274320"/>
          </a:xfrm>
          <a:prstGeom prst="rect">
            <a:avLst/>
          </a:prstGeom>
          <a:noFill/>
        </p:spPr>
        <p:txBody>
          <a:bodyPr wrap="square" lIns="45720" tIns="27432" rIns="45720" bIns="27432" anchor="t">
            <a:spAutoFit/>
          </a:bodyPr>
          <a:lstStyle/>
          <a:p>
            <a:pPr algn="l"/>
            <a:r>
              <a:rPr sz="1050">
                <a:solidFill>
                  <a:srgbClr val="0766D1"/>
                </a:solidFill>
                <a:latin typeface="+mj-lt"/>
              </a:rPr>
              <a:t>COMPLICATION</a:t>
            </a:r>
          </a:p>
        </p:txBody>
      </p:sp>
      <p:sp>
        <p:nvSpPr>
          <p:cNvPr id="9" name="TextBox 8"/>
          <p:cNvSpPr txBox="1"/>
          <p:nvPr/>
        </p:nvSpPr>
        <p:spPr>
          <a:xfrm>
            <a:off x="1252728" y="4937759"/>
            <a:ext cx="9144000" cy="1828800"/>
          </a:xfrm>
          <a:prstGeom prst="rect">
            <a:avLst/>
          </a:prstGeom>
          <a:noFill/>
        </p:spPr>
        <p:txBody>
          <a:bodyPr wrap="square" lIns="45720" tIns="27432" rIns="45720" bIns="27432" anchor="t">
            <a:spAutoFit/>
          </a:bodyPr>
          <a:lstStyle/>
          <a:p>
            <a:pPr algn="l"/>
            <a:r>
              <a:rPr sz="1550">
                <a:solidFill>
                  <a:srgbClr val="262626"/>
                </a:solidFill>
              </a:rPr>
              <a:t>The questions that matter every week (who is uncontrolled, where the gaps are, who is at risk, what the guideline says, what a programme would save) each need an analyst request, a guideline lookup and a spreadsheet. Answers take days, so the questions are asked rarely, and the gaps are found late.</a:t>
            </a:r>
          </a:p>
        </p:txBody>
      </p:sp>
      <p:sp>
        <p:nvSpPr>
          <p:cNvPr id="10" name="TextBox 9"/>
          <p:cNvSpPr txBox="1"/>
          <p:nvPr/>
        </p:nvSpPr>
        <p:spPr>
          <a:xfrm>
            <a:off x="1252728" y="6995160"/>
            <a:ext cx="9144000" cy="274320"/>
          </a:xfrm>
          <a:prstGeom prst="rect">
            <a:avLst/>
          </a:prstGeom>
          <a:noFill/>
        </p:spPr>
        <p:txBody>
          <a:bodyPr wrap="square" lIns="45720" tIns="27432" rIns="45720" bIns="27432" anchor="t">
            <a:spAutoFit/>
          </a:bodyPr>
          <a:lstStyle/>
          <a:p>
            <a:pPr algn="l"/>
            <a:r>
              <a:rPr sz="1050">
                <a:solidFill>
                  <a:srgbClr val="0766D1"/>
                </a:solidFill>
                <a:latin typeface="+mj-lt"/>
              </a:rPr>
              <a:t>WHAT GOOD LOOKS LIKE</a:t>
            </a:r>
          </a:p>
        </p:txBody>
      </p:sp>
      <p:sp>
        <p:nvSpPr>
          <p:cNvPr id="11" name="TextBox 10"/>
          <p:cNvSpPr txBox="1"/>
          <p:nvPr/>
        </p:nvSpPr>
        <p:spPr>
          <a:xfrm>
            <a:off x="1252728" y="7269480"/>
            <a:ext cx="9144000" cy="1828800"/>
          </a:xfrm>
          <a:prstGeom prst="rect">
            <a:avLst/>
          </a:prstGeom>
          <a:noFill/>
        </p:spPr>
        <p:txBody>
          <a:bodyPr wrap="square" lIns="45720" tIns="27432" rIns="45720" bIns="27432" anchor="t">
            <a:spAutoFit/>
          </a:bodyPr>
          <a:lstStyle/>
          <a:p>
            <a:pPr algn="l"/>
            <a:r>
              <a:rPr sz="1550">
                <a:solidFill>
                  <a:srgbClr val="262626"/>
                </a:solidFill>
              </a:rPr>
              <a:t>Ask the registry in plain language and get the number with its cohort, the guideline section that applies, a chart, and a draft action ready for a clinician to approve. In seconds, with the trail to prove where every figure came from.</a:t>
            </a:r>
          </a:p>
        </p:txBody>
      </p:sp>
      <p:sp>
        <p:nvSpPr>
          <p:cNvPr id="12" name="Rounded Rectangle 11"/>
          <p:cNvSpPr/>
          <p:nvPr/>
        </p:nvSpPr>
        <p:spPr>
          <a:xfrm>
            <a:off x="11064240" y="2377440"/>
            <a:ext cx="2843784" cy="1783080"/>
          </a:xfrm>
          <a:prstGeom prst="roundRect">
            <a:avLst>
              <a:gd name="adj" fmla="val 10256"/>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338560" y="2487168"/>
            <a:ext cx="2295144" cy="548640"/>
          </a:xfrm>
          <a:prstGeom prst="rect">
            <a:avLst/>
          </a:prstGeom>
          <a:noFill/>
        </p:spPr>
        <p:txBody>
          <a:bodyPr wrap="square" lIns="45720" tIns="27432" rIns="45720" bIns="27432" anchor="t">
            <a:spAutoFit/>
          </a:bodyPr>
          <a:lstStyle/>
          <a:p>
            <a:pPr algn="l"/>
            <a:r>
              <a:rPr sz="3000">
                <a:solidFill>
                  <a:srgbClr val="0766D1"/>
                </a:solidFill>
                <a:latin typeface="+mj-lt"/>
              </a:rPr>
              <a:t>4,000</a:t>
            </a:r>
          </a:p>
        </p:txBody>
      </p:sp>
      <p:sp>
        <p:nvSpPr>
          <p:cNvPr id="14" name="TextBox 13"/>
          <p:cNvSpPr txBox="1"/>
          <p:nvPr/>
        </p:nvSpPr>
        <p:spPr>
          <a:xfrm>
            <a:off x="11338560" y="3035808"/>
            <a:ext cx="2295144" cy="1051560"/>
          </a:xfrm>
          <a:prstGeom prst="rect">
            <a:avLst/>
          </a:prstGeom>
          <a:noFill/>
        </p:spPr>
        <p:txBody>
          <a:bodyPr wrap="square" lIns="45720" tIns="27432" rIns="45720" bIns="27432" anchor="t">
            <a:spAutoFit/>
          </a:bodyPr>
          <a:lstStyle/>
          <a:p>
            <a:pPr algn="l"/>
            <a:r>
              <a:rPr sz="1300">
                <a:solidFill>
                  <a:srgbClr val="262626"/>
                </a:solidFill>
              </a:rPr>
              <a:t>patients, 18 facilities, 5 regions</a:t>
            </a:r>
          </a:p>
        </p:txBody>
      </p:sp>
      <p:sp>
        <p:nvSpPr>
          <p:cNvPr id="15" name="Rounded Rectangle 14"/>
          <p:cNvSpPr/>
          <p:nvPr/>
        </p:nvSpPr>
        <p:spPr>
          <a:xfrm>
            <a:off x="14182344" y="2377440"/>
            <a:ext cx="2843784" cy="1783080"/>
          </a:xfrm>
          <a:prstGeom prst="roundRect">
            <a:avLst>
              <a:gd name="adj" fmla="val 10256"/>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456664" y="2487168"/>
            <a:ext cx="2295144" cy="548640"/>
          </a:xfrm>
          <a:prstGeom prst="rect">
            <a:avLst/>
          </a:prstGeom>
          <a:noFill/>
        </p:spPr>
        <p:txBody>
          <a:bodyPr wrap="square" lIns="45720" tIns="27432" rIns="45720" bIns="27432" anchor="t">
            <a:spAutoFit/>
          </a:bodyPr>
          <a:lstStyle/>
          <a:p>
            <a:pPr algn="l"/>
            <a:r>
              <a:rPr sz="3000">
                <a:solidFill>
                  <a:srgbClr val="0766D1"/>
                </a:solidFill>
                <a:latin typeface="+mj-lt"/>
              </a:rPr>
              <a:t>34.9%</a:t>
            </a:r>
          </a:p>
        </p:txBody>
      </p:sp>
      <p:sp>
        <p:nvSpPr>
          <p:cNvPr id="17" name="TextBox 16"/>
          <p:cNvSpPr txBox="1"/>
          <p:nvPr/>
        </p:nvSpPr>
        <p:spPr>
          <a:xfrm>
            <a:off x="14456664" y="3035808"/>
            <a:ext cx="2295144" cy="1051560"/>
          </a:xfrm>
          <a:prstGeom prst="rect">
            <a:avLst/>
          </a:prstGeom>
          <a:noFill/>
        </p:spPr>
        <p:txBody>
          <a:bodyPr wrap="square" lIns="45720" tIns="27432" rIns="45720" bIns="27432" anchor="t">
            <a:spAutoFit/>
          </a:bodyPr>
          <a:lstStyle/>
          <a:p>
            <a:pPr algn="l"/>
            <a:r>
              <a:rPr sz="1300">
                <a:solidFill>
                  <a:srgbClr val="262626"/>
                </a:solidFill>
              </a:rPr>
              <a:t>well controlled (HbA1c below 7%)</a:t>
            </a:r>
          </a:p>
        </p:txBody>
      </p:sp>
      <p:sp>
        <p:nvSpPr>
          <p:cNvPr id="18" name="Rounded Rectangle 17"/>
          <p:cNvSpPr/>
          <p:nvPr/>
        </p:nvSpPr>
        <p:spPr>
          <a:xfrm>
            <a:off x="11064240" y="4434840"/>
            <a:ext cx="2843784" cy="1783080"/>
          </a:xfrm>
          <a:prstGeom prst="roundRect">
            <a:avLst>
              <a:gd name="adj" fmla="val 10256"/>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338560" y="4544568"/>
            <a:ext cx="2295144" cy="548640"/>
          </a:xfrm>
          <a:prstGeom prst="rect">
            <a:avLst/>
          </a:prstGeom>
          <a:noFill/>
        </p:spPr>
        <p:txBody>
          <a:bodyPr wrap="square" lIns="45720" tIns="27432" rIns="45720" bIns="27432" anchor="t">
            <a:spAutoFit/>
          </a:bodyPr>
          <a:lstStyle/>
          <a:p>
            <a:pPr algn="l"/>
            <a:r>
              <a:rPr sz="3000">
                <a:solidFill>
                  <a:srgbClr val="0766D1"/>
                </a:solidFill>
                <a:latin typeface="+mj-lt"/>
              </a:rPr>
              <a:t>760</a:t>
            </a:r>
          </a:p>
        </p:txBody>
      </p:sp>
      <p:sp>
        <p:nvSpPr>
          <p:cNvPr id="20" name="TextBox 19"/>
          <p:cNvSpPr txBox="1"/>
          <p:nvPr/>
        </p:nvSpPr>
        <p:spPr>
          <a:xfrm>
            <a:off x="11338560" y="5093207"/>
            <a:ext cx="2295144" cy="1051560"/>
          </a:xfrm>
          <a:prstGeom prst="rect">
            <a:avLst/>
          </a:prstGeom>
          <a:noFill/>
        </p:spPr>
        <p:txBody>
          <a:bodyPr wrap="square" lIns="45720" tIns="27432" rIns="45720" bIns="27432" anchor="t">
            <a:spAutoFit/>
          </a:bodyPr>
          <a:lstStyle/>
          <a:p>
            <a:pPr algn="l"/>
            <a:r>
              <a:rPr sz="1300">
                <a:solidFill>
                  <a:srgbClr val="262626"/>
                </a:solidFill>
              </a:rPr>
              <a:t>patients overdue an HbA1c test</a:t>
            </a:r>
          </a:p>
        </p:txBody>
      </p:sp>
      <p:sp>
        <p:nvSpPr>
          <p:cNvPr id="21" name="Rounded Rectangle 20"/>
          <p:cNvSpPr/>
          <p:nvPr/>
        </p:nvSpPr>
        <p:spPr>
          <a:xfrm>
            <a:off x="14182344" y="4434840"/>
            <a:ext cx="2843784" cy="1783080"/>
          </a:xfrm>
          <a:prstGeom prst="roundRect">
            <a:avLst>
              <a:gd name="adj" fmla="val 10256"/>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4456664" y="4544568"/>
            <a:ext cx="2295144" cy="548640"/>
          </a:xfrm>
          <a:prstGeom prst="rect">
            <a:avLst/>
          </a:prstGeom>
          <a:noFill/>
        </p:spPr>
        <p:txBody>
          <a:bodyPr wrap="square" lIns="45720" tIns="27432" rIns="45720" bIns="27432" anchor="t">
            <a:spAutoFit/>
          </a:bodyPr>
          <a:lstStyle/>
          <a:p>
            <a:pPr algn="l"/>
            <a:r>
              <a:rPr sz="3000">
                <a:solidFill>
                  <a:srgbClr val="0766D1"/>
                </a:solidFill>
                <a:latin typeface="+mj-lt"/>
              </a:rPr>
              <a:t>AED 64.0M</a:t>
            </a:r>
          </a:p>
        </p:txBody>
      </p:sp>
      <p:sp>
        <p:nvSpPr>
          <p:cNvPr id="23" name="TextBox 22"/>
          <p:cNvSpPr txBox="1"/>
          <p:nvPr/>
        </p:nvSpPr>
        <p:spPr>
          <a:xfrm>
            <a:off x="14456664" y="5093207"/>
            <a:ext cx="2295144" cy="1051560"/>
          </a:xfrm>
          <a:prstGeom prst="rect">
            <a:avLst/>
          </a:prstGeom>
          <a:noFill/>
        </p:spPr>
        <p:txBody>
          <a:bodyPr wrap="square" lIns="45720" tIns="27432" rIns="45720" bIns="27432" anchor="t">
            <a:spAutoFit/>
          </a:bodyPr>
          <a:lstStyle/>
          <a:p>
            <a:pPr algn="l"/>
            <a:r>
              <a:rPr sz="1300">
                <a:solidFill>
                  <a:srgbClr val="262626"/>
                </a:solidFill>
              </a:rPr>
              <a:t>annual cost, last 12 months</a:t>
            </a:r>
          </a:p>
        </p:txBody>
      </p:sp>
      <p:sp>
        <p:nvSpPr>
          <p:cNvPr id="24" name="TextBox 23"/>
          <p:cNvSpPr txBox="1"/>
          <p:nvPr/>
        </p:nvSpPr>
        <p:spPr>
          <a:xfrm>
            <a:off x="11064240" y="6537960"/>
            <a:ext cx="5961888" cy="1463040"/>
          </a:xfrm>
          <a:prstGeom prst="rect">
            <a:avLst/>
          </a:prstGeom>
          <a:noFill/>
        </p:spPr>
        <p:txBody>
          <a:bodyPr wrap="square" lIns="45720" tIns="27432" rIns="45720" bIns="27432" anchor="t">
            <a:spAutoFit/>
          </a:bodyPr>
          <a:lstStyle/>
          <a:p>
            <a:pPr algn="l"/>
            <a:r>
              <a:rPr sz="1200">
                <a:solidFill>
                  <a:srgbClr val="7E889A"/>
                </a:solidFill>
              </a:rPr>
              <a:t>A synthetic registry modelled on a national health information exchange, with a teaching set of national guidelines. The numbers are real for this data only.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1252728" y="713232"/>
            <a:ext cx="15773400" cy="1234440"/>
          </a:xfrm>
        </p:spPr>
        <p:txBody>
          <a:bodyPr wrap="square" anchor="t"/>
          <a:lstStyle/>
          <a:p>
            <a:r>
              <a:rPr sz="3200"/>
              <a:t>The solution: one agent over the registry, the guidelines and the models, and a person who signs every action</a:t>
            </a:r>
          </a:p>
        </p:txBody>
      </p:sp>
      <p:sp>
        <p:nvSpPr>
          <p:cNvPr id="5" name="TextBox 4"/>
          <p:cNvSpPr txBox="1"/>
          <p:nvPr/>
        </p:nvSpPr>
        <p:spPr>
          <a:xfrm>
            <a:off x="1252728" y="329184"/>
            <a:ext cx="10972800" cy="292608"/>
          </a:xfrm>
          <a:prstGeom prst="rect">
            <a:avLst/>
          </a:prstGeom>
          <a:noFill/>
        </p:spPr>
        <p:txBody>
          <a:bodyPr wrap="square" lIns="45720" tIns="27432" rIns="45720" bIns="27432" anchor="t">
            <a:spAutoFit/>
          </a:bodyPr>
          <a:lstStyle/>
          <a:p>
            <a:pPr algn="l"/>
            <a:r>
              <a:rPr sz="1100">
                <a:solidFill>
                  <a:srgbClr val="0766D1"/>
                </a:solidFill>
                <a:latin typeface="+mj-lt"/>
              </a:rPr>
              <a:t>EXAMPLE 1 · POPULATION HEALTH</a:t>
            </a:r>
          </a:p>
        </p:txBody>
      </p:sp>
      <p:sp>
        <p:nvSpPr>
          <p:cNvPr id="6" name="TextBox 5"/>
          <p:cNvSpPr txBox="1"/>
          <p:nvPr/>
        </p:nvSpPr>
        <p:spPr>
          <a:xfrm>
            <a:off x="1252728" y="2286000"/>
            <a:ext cx="3931920" cy="365760"/>
          </a:xfrm>
          <a:prstGeom prst="rect">
            <a:avLst/>
          </a:prstGeom>
          <a:noFill/>
        </p:spPr>
        <p:txBody>
          <a:bodyPr wrap="square" lIns="45720" tIns="27432" rIns="45720" bIns="27432" anchor="t">
            <a:spAutoFit/>
          </a:bodyPr>
          <a:lstStyle/>
          <a:p>
            <a:pPr algn="ctr"/>
            <a:r>
              <a:rPr sz="1600">
                <a:solidFill>
                  <a:srgbClr val="0766D1"/>
                </a:solidFill>
                <a:latin typeface="+mj-lt"/>
              </a:rPr>
              <a:t>Unstructured data</a:t>
            </a:r>
          </a:p>
        </p:txBody>
      </p:sp>
      <p:sp>
        <p:nvSpPr>
          <p:cNvPr id="7" name="Rounded Rectangle 6"/>
          <p:cNvSpPr/>
          <p:nvPr/>
        </p:nvSpPr>
        <p:spPr>
          <a:xfrm>
            <a:off x="1252728" y="2651760"/>
            <a:ext cx="3931920" cy="2971800"/>
          </a:xfrm>
          <a:prstGeom prst="roundRect">
            <a:avLst>
              <a:gd name="adj" fmla="val 7692"/>
            </a:avLst>
          </a:prstGeom>
          <a:noFill/>
          <a:ln w="15875">
            <a:solidFill>
              <a:srgbClr val="0766D1"/>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527048" y="2834640"/>
            <a:ext cx="3383280" cy="640080"/>
          </a:xfrm>
          <a:prstGeom prst="roundRect">
            <a:avLst>
              <a:gd name="adj" fmla="val 17142"/>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lstStyle/>
          <a:p>
            <a:pPr algn="ctr"/>
            <a:r>
              <a:rPr sz="1300">
                <a:solidFill>
                  <a:srgbClr val="262626"/>
                </a:solidFill>
                <a:latin typeface="+mj-lt"/>
              </a:rPr>
              <a:t>Clinical guidelines &amp; policy documents</a:t>
            </a:r>
          </a:p>
        </p:txBody>
      </p:sp>
      <p:sp>
        <p:nvSpPr>
          <p:cNvPr id="9" name="TextBox 8"/>
          <p:cNvSpPr txBox="1"/>
          <p:nvPr/>
        </p:nvSpPr>
        <p:spPr>
          <a:xfrm>
            <a:off x="1527048" y="3493008"/>
            <a:ext cx="3383280" cy="457200"/>
          </a:xfrm>
          <a:prstGeom prst="rect">
            <a:avLst/>
          </a:prstGeom>
          <a:noFill/>
        </p:spPr>
        <p:txBody>
          <a:bodyPr wrap="square" lIns="45720" tIns="27432" rIns="45720" bIns="27432" anchor="t">
            <a:spAutoFit/>
          </a:bodyPr>
          <a:lstStyle/>
          <a:p>
            <a:pPr algn="ctr"/>
            <a:r>
              <a:rPr sz="1100">
                <a:solidFill>
                  <a:srgbClr val="7E889A"/>
                </a:solidFill>
              </a:rPr>
              <a:t>National guidelines, care protocols, policy frameworks</a:t>
            </a:r>
          </a:p>
        </p:txBody>
      </p:sp>
      <p:sp>
        <p:nvSpPr>
          <p:cNvPr id="10" name="Down Arrow 9"/>
          <p:cNvSpPr/>
          <p:nvPr/>
        </p:nvSpPr>
        <p:spPr>
          <a:xfrm>
            <a:off x="3063240" y="3968496"/>
            <a:ext cx="310896" cy="292608"/>
          </a:xfrm>
          <a:prstGeom prst="down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801368" y="4297680"/>
            <a:ext cx="2834640" cy="475488"/>
          </a:xfrm>
          <a:prstGeom prst="roundRect">
            <a:avLst>
              <a:gd name="adj" fmla="val 19230"/>
            </a:avLst>
          </a:prstGeom>
          <a:solidFill>
            <a:srgbClr val="C4D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lstStyle/>
          <a:p>
            <a:pPr algn="ctr"/>
            <a:r>
              <a:rPr sz="1300">
                <a:solidFill>
                  <a:srgbClr val="032954"/>
                </a:solidFill>
                <a:latin typeface="+mj-lt"/>
              </a:rPr>
              <a:t>Embedding model</a:t>
            </a:r>
          </a:p>
        </p:txBody>
      </p:sp>
      <p:sp>
        <p:nvSpPr>
          <p:cNvPr id="12" name="Down Arrow 11"/>
          <p:cNvSpPr/>
          <p:nvPr/>
        </p:nvSpPr>
        <p:spPr>
          <a:xfrm>
            <a:off x="3063240" y="4809744"/>
            <a:ext cx="310896" cy="274320"/>
          </a:xfrm>
          <a:prstGeom prst="down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527048" y="5102352"/>
            <a:ext cx="3383280" cy="457200"/>
          </a:xfrm>
          <a:prstGeom prst="roundRect">
            <a:avLst>
              <a:gd name="adj" fmla="val 20000"/>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lstStyle/>
          <a:p>
            <a:pPr algn="ctr"/>
            <a:r>
              <a:rPr sz="1300">
                <a:solidFill>
                  <a:srgbClr val="FFFFFF"/>
                </a:solidFill>
                <a:latin typeface="+mj-lt"/>
              </a:rPr>
              <a:t>Vector store (RAG)</a:t>
            </a:r>
          </a:p>
        </p:txBody>
      </p:sp>
      <p:sp>
        <p:nvSpPr>
          <p:cNvPr id="14" name="TextBox 13"/>
          <p:cNvSpPr txBox="1"/>
          <p:nvPr/>
        </p:nvSpPr>
        <p:spPr>
          <a:xfrm>
            <a:off x="1252728" y="5806440"/>
            <a:ext cx="3931920" cy="365760"/>
          </a:xfrm>
          <a:prstGeom prst="rect">
            <a:avLst/>
          </a:prstGeom>
          <a:noFill/>
        </p:spPr>
        <p:txBody>
          <a:bodyPr wrap="square" lIns="45720" tIns="27432" rIns="45720" bIns="27432" anchor="t">
            <a:spAutoFit/>
          </a:bodyPr>
          <a:lstStyle/>
          <a:p>
            <a:pPr algn="ctr"/>
            <a:r>
              <a:rPr sz="1600">
                <a:solidFill>
                  <a:srgbClr val="0766D1"/>
                </a:solidFill>
                <a:latin typeface="+mj-lt"/>
              </a:rPr>
              <a:t>Structured data</a:t>
            </a:r>
          </a:p>
        </p:txBody>
      </p:sp>
      <p:sp>
        <p:nvSpPr>
          <p:cNvPr id="15" name="Rounded Rectangle 14"/>
          <p:cNvSpPr/>
          <p:nvPr/>
        </p:nvSpPr>
        <p:spPr>
          <a:xfrm>
            <a:off x="1252728" y="6172200"/>
            <a:ext cx="3931920" cy="1783080"/>
          </a:xfrm>
          <a:prstGeom prst="roundRect">
            <a:avLst>
              <a:gd name="adj" fmla="val 12820"/>
            </a:avLst>
          </a:prstGeom>
          <a:noFill/>
          <a:ln w="15875">
            <a:solidFill>
              <a:srgbClr val="0766D1"/>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527048" y="6355080"/>
            <a:ext cx="3383280" cy="640080"/>
          </a:xfrm>
          <a:prstGeom prst="roundRect">
            <a:avLst>
              <a:gd name="adj" fmla="val 17142"/>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lstStyle/>
          <a:p>
            <a:pPr algn="ctr"/>
            <a:r>
              <a:rPr sz="1300">
                <a:solidFill>
                  <a:srgbClr val="262626"/>
                </a:solidFill>
                <a:latin typeface="+mj-lt"/>
              </a:rPr>
              <a:t>National HIE  ·  diabetes registry</a:t>
            </a:r>
          </a:p>
        </p:txBody>
      </p:sp>
      <p:sp>
        <p:nvSpPr>
          <p:cNvPr id="17" name="TextBox 16"/>
          <p:cNvSpPr txBox="1"/>
          <p:nvPr/>
        </p:nvSpPr>
        <p:spPr>
          <a:xfrm>
            <a:off x="1527048" y="7040880"/>
            <a:ext cx="3383280" cy="685800"/>
          </a:xfrm>
          <a:prstGeom prst="rect">
            <a:avLst/>
          </a:prstGeom>
          <a:noFill/>
        </p:spPr>
        <p:txBody>
          <a:bodyPr wrap="square" lIns="45720" tIns="27432" rIns="45720" bIns="27432" anchor="t">
            <a:spAutoFit/>
          </a:bodyPr>
          <a:lstStyle/>
          <a:p>
            <a:pPr algn="ctr"/>
            <a:r>
              <a:rPr sz="1100">
                <a:solidFill>
                  <a:srgbClr val="7E889A"/>
                </a:solidFill>
              </a:rPr>
              <a:t>Patients, encounters, diagnoses, facilities: 4,000 patients, 36 months</a:t>
            </a:r>
          </a:p>
        </p:txBody>
      </p:sp>
      <p:sp>
        <p:nvSpPr>
          <p:cNvPr id="18" name="TextBox 17"/>
          <p:cNvSpPr txBox="1"/>
          <p:nvPr/>
        </p:nvSpPr>
        <p:spPr>
          <a:xfrm>
            <a:off x="5184648" y="3749039"/>
            <a:ext cx="1216152" cy="365760"/>
          </a:xfrm>
          <a:prstGeom prst="rect">
            <a:avLst/>
          </a:prstGeom>
          <a:noFill/>
        </p:spPr>
        <p:txBody>
          <a:bodyPr wrap="square" lIns="45720" tIns="27432" rIns="45720" bIns="27432" anchor="t">
            <a:spAutoFit/>
          </a:bodyPr>
          <a:lstStyle/>
          <a:p>
            <a:pPr algn="ctr"/>
            <a:r>
              <a:rPr sz="1200">
                <a:solidFill>
                  <a:srgbClr val="0766D1"/>
                </a:solidFill>
                <a:latin typeface="+mj-lt"/>
              </a:rPr>
              <a:t>Agentic retrieval</a:t>
            </a:r>
          </a:p>
        </p:txBody>
      </p:sp>
      <p:sp>
        <p:nvSpPr>
          <p:cNvPr id="19" name="Right Arrow 18"/>
          <p:cNvSpPr/>
          <p:nvPr/>
        </p:nvSpPr>
        <p:spPr>
          <a:xfrm>
            <a:off x="5257800" y="4114800"/>
            <a:ext cx="1069848" cy="329184"/>
          </a:xfrm>
          <a:prstGeom prst="right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00800" y="2423160"/>
            <a:ext cx="4023360" cy="4892040"/>
          </a:xfrm>
          <a:prstGeom prst="roundRect">
            <a:avLst>
              <a:gd name="adj" fmla="val 6363"/>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75120" y="2651760"/>
            <a:ext cx="3474720" cy="502920"/>
          </a:xfrm>
          <a:prstGeom prst="rect">
            <a:avLst/>
          </a:prstGeom>
          <a:noFill/>
        </p:spPr>
        <p:txBody>
          <a:bodyPr wrap="square" lIns="45720" tIns="27432" rIns="45720" bIns="27432" anchor="t">
            <a:spAutoFit/>
          </a:bodyPr>
          <a:lstStyle/>
          <a:p>
            <a:pPr algn="ctr"/>
            <a:r>
              <a:rPr sz="2000">
                <a:solidFill>
                  <a:srgbClr val="FFFFFF"/>
                </a:solidFill>
                <a:latin typeface="+mj-lt"/>
              </a:rPr>
              <a:t>Population Health Agent</a:t>
            </a:r>
          </a:p>
        </p:txBody>
      </p:sp>
      <p:sp>
        <p:nvSpPr>
          <p:cNvPr id="22" name="Rectangle 21"/>
          <p:cNvSpPr/>
          <p:nvPr/>
        </p:nvSpPr>
        <p:spPr>
          <a:xfrm>
            <a:off x="7223760" y="3200400"/>
            <a:ext cx="2377440" cy="27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0" y="3337560"/>
            <a:ext cx="3474720" cy="1325880"/>
          </a:xfrm>
          <a:prstGeom prst="rect">
            <a:avLst/>
          </a:prstGeom>
          <a:noFill/>
        </p:spPr>
        <p:txBody>
          <a:bodyPr wrap="square" lIns="45720" tIns="27432" rIns="45720" bIns="27432" anchor="t">
            <a:spAutoFit/>
          </a:bodyPr>
          <a:lstStyle/>
          <a:p>
            <a:pPr algn="ctr"/>
            <a:r>
              <a:rPr sz="1400">
                <a:solidFill>
                  <a:srgbClr val="FFFFFF"/>
                </a:solidFill>
              </a:rPr>
              <a:t>Patient-level questions, population insights, cost and policy what-ifs, with cited, traceable reasoning. English or Arabic.</a:t>
            </a:r>
          </a:p>
        </p:txBody>
      </p:sp>
      <p:sp>
        <p:nvSpPr>
          <p:cNvPr id="24" name="Rounded Rectangle 23"/>
          <p:cNvSpPr/>
          <p:nvPr/>
        </p:nvSpPr>
        <p:spPr>
          <a:xfrm>
            <a:off x="6675120" y="4800600"/>
            <a:ext cx="3474720" cy="2286000"/>
          </a:xfrm>
          <a:prstGeom prst="roundRect">
            <a:avLst>
              <a:gd name="adj" fmla="val 7199"/>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0" y="4937760"/>
            <a:ext cx="3108960" cy="2057400"/>
          </a:xfrm>
          <a:prstGeom prst="rect">
            <a:avLst/>
          </a:prstGeom>
          <a:noFill/>
        </p:spPr>
        <p:txBody>
          <a:bodyPr wrap="square" lIns="45720" tIns="27432" rIns="45720" bIns="27432" anchor="ctr">
            <a:spAutoFit/>
          </a:bodyPr>
          <a:lstStyle/>
          <a:p>
            <a:pPr algn="l" marL="237744" indent="-237744">
              <a:spcBef>
                <a:spcPts val="0"/>
              </a:spcBef>
              <a:buClr>
                <a:srgbClr val="0766D1"/>
              </a:buClr>
              <a:buFont typeface="Arial"/>
              <a:buChar char="•"/>
            </a:pPr>
            <a:r>
              <a:rPr sz="1300">
                <a:solidFill>
                  <a:srgbClr val="032954"/>
                </a:solidFill>
              </a:rPr>
              <a:t>Orchestrator: a supervisor sends five specialists to work</a:t>
            </a:r>
          </a:p>
          <a:p>
            <a:pPr algn="l" marL="237744" indent="-237744">
              <a:spcBef>
                <a:spcPts val="400"/>
              </a:spcBef>
              <a:buClr>
                <a:srgbClr val="0766D1"/>
              </a:buClr>
              <a:buFont typeface="Arial"/>
              <a:buChar char="•"/>
            </a:pPr>
            <a:r>
              <a:rPr sz="1300">
                <a:solidFill>
                  <a:srgbClr val="032954"/>
                </a:solidFill>
              </a:rPr>
              <a:t>Guideline grounding: every clinical statement cites its section</a:t>
            </a:r>
          </a:p>
          <a:p>
            <a:pPr algn="l" marL="237744" indent="-237744">
              <a:spcBef>
                <a:spcPts val="400"/>
              </a:spcBef>
              <a:buClr>
                <a:srgbClr val="0766D1"/>
              </a:buClr>
              <a:buFont typeface="Arial"/>
              <a:buChar char="•"/>
            </a:pPr>
            <a:r>
              <a:rPr sz="1300">
                <a:solidFill>
                  <a:srgbClr val="032954"/>
                </a:solidFill>
              </a:rPr>
              <a:t>Audit log: every call on record, next to the answer</a:t>
            </a:r>
          </a:p>
        </p:txBody>
      </p:sp>
      <p:sp>
        <p:nvSpPr>
          <p:cNvPr id="26" name="Right Arrow 25"/>
          <p:cNvSpPr/>
          <p:nvPr/>
        </p:nvSpPr>
        <p:spPr>
          <a:xfrm>
            <a:off x="10497312" y="4114800"/>
            <a:ext cx="676656" cy="329184"/>
          </a:xfrm>
          <a:prstGeom prst="right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1247120" y="3200400"/>
            <a:ext cx="2103120" cy="2103120"/>
          </a:xfrm>
          <a:prstGeom prst="roundRect">
            <a:avLst>
              <a:gd name="adj" fmla="val 13043"/>
            </a:avLst>
          </a:prstGeom>
          <a:solidFill>
            <a:srgbClr val="C4DEFD"/>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usb_n.png"/>
          <p:cNvPicPr>
            <a:picLocks noChangeAspect="1"/>
          </p:cNvPicPr>
          <p:nvPr/>
        </p:nvPicPr>
        <p:blipFill>
          <a:blip r:embed="rId2"/>
          <a:stretch>
            <a:fillRect/>
          </a:stretch>
        </p:blipFill>
        <p:spPr>
          <a:xfrm>
            <a:off x="11932920" y="3474720"/>
            <a:ext cx="731520" cy="731520"/>
          </a:xfrm>
          <a:prstGeom prst="rect">
            <a:avLst/>
          </a:prstGeom>
        </p:spPr>
      </p:pic>
      <p:sp>
        <p:nvSpPr>
          <p:cNvPr id="29" name="TextBox 28"/>
          <p:cNvSpPr txBox="1"/>
          <p:nvPr/>
        </p:nvSpPr>
        <p:spPr>
          <a:xfrm>
            <a:off x="11247120" y="4297680"/>
            <a:ext cx="2103120" cy="822960"/>
          </a:xfrm>
          <a:prstGeom prst="rect">
            <a:avLst/>
          </a:prstGeom>
          <a:noFill/>
        </p:spPr>
        <p:txBody>
          <a:bodyPr wrap="square" lIns="45720" tIns="27432" rIns="45720" bIns="27432" anchor="t">
            <a:spAutoFit/>
          </a:bodyPr>
          <a:lstStyle/>
          <a:p>
            <a:pPr algn="ctr"/>
            <a:r>
              <a:rPr sz="1800">
                <a:solidFill>
                  <a:srgbClr val="032954"/>
                </a:solidFill>
                <a:latin typeface="+mj-lt"/>
              </a:rPr>
              <a:t>MCP server</a:t>
            </a:r>
          </a:p>
          <a:p>
            <a:pPr algn="ctr"/>
            <a:r>
              <a:rPr sz="1100">
                <a:solidFill>
                  <a:srgbClr val="032954"/>
                </a:solidFill>
              </a:rPr>
              <a:t>one plug, every tool</a:t>
            </a:r>
          </a:p>
        </p:txBody>
      </p:sp>
      <p:sp>
        <p:nvSpPr>
          <p:cNvPr id="30" name="TextBox 29"/>
          <p:cNvSpPr txBox="1"/>
          <p:nvPr/>
        </p:nvSpPr>
        <p:spPr>
          <a:xfrm>
            <a:off x="14081760" y="2286000"/>
            <a:ext cx="2944368" cy="365760"/>
          </a:xfrm>
          <a:prstGeom prst="rect">
            <a:avLst/>
          </a:prstGeom>
          <a:noFill/>
        </p:spPr>
        <p:txBody>
          <a:bodyPr wrap="square" lIns="45720" tIns="27432" rIns="45720" bIns="27432" anchor="t">
            <a:spAutoFit/>
          </a:bodyPr>
          <a:lstStyle/>
          <a:p>
            <a:pPr algn="ctr"/>
            <a:r>
              <a:rPr sz="1600">
                <a:solidFill>
                  <a:srgbClr val="0766D1"/>
                </a:solidFill>
                <a:latin typeface="+mj-lt"/>
              </a:rPr>
              <a:t>Tools</a:t>
            </a:r>
          </a:p>
        </p:txBody>
      </p:sp>
      <p:sp>
        <p:nvSpPr>
          <p:cNvPr id="31" name="Rounded Rectangle 30"/>
          <p:cNvSpPr/>
          <p:nvPr/>
        </p:nvSpPr>
        <p:spPr>
          <a:xfrm>
            <a:off x="14081760" y="2788920"/>
            <a:ext cx="2944368" cy="658368"/>
          </a:xfrm>
          <a:prstGeom prst="roundRect">
            <a:avLst>
              <a:gd name="adj" fmla="val 13888"/>
            </a:avLst>
          </a:prstGeom>
          <a:solidFill>
            <a:srgbClr val="7E889A"/>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1200">
                <a:solidFill>
                  <a:srgbClr val="FFFFFF"/>
                </a:solidFill>
                <a:latin typeface="+mj-lt"/>
              </a:rPr>
              <a:t>Score &amp; simulate (deployed ML models)</a:t>
            </a:r>
          </a:p>
        </p:txBody>
      </p:sp>
      <p:cxnSp>
        <p:nvCxnSpPr>
          <p:cNvPr id="32" name="Connector 31"/>
          <p:cNvCxnSpPr/>
          <p:nvPr/>
        </p:nvCxnSpPr>
        <p:spPr>
          <a:xfrm flipV="1">
            <a:off x="13386816" y="3118103"/>
            <a:ext cx="649224" cy="1133857"/>
          </a:xfrm>
          <a:prstGeom prst="line">
            <a:avLst/>
          </a:prstGeom>
          <a:ln w="19050">
            <a:solidFill>
              <a:srgbClr val="0766D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4081760" y="3648456"/>
            <a:ext cx="2944368" cy="658368"/>
          </a:xfrm>
          <a:prstGeom prst="roundRect">
            <a:avLst>
              <a:gd name="adj" fmla="val 13888"/>
            </a:avLst>
          </a:prstGeom>
          <a:solidFill>
            <a:srgbClr val="C4DEFD"/>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1200">
                <a:solidFill>
                  <a:srgbClr val="032954"/>
                </a:solidFill>
                <a:latin typeface="+mj-lt"/>
              </a:rPr>
              <a:t>Quality measures &amp; care gaps</a:t>
            </a:r>
          </a:p>
        </p:txBody>
      </p:sp>
      <p:cxnSp>
        <p:nvCxnSpPr>
          <p:cNvPr id="34" name="Connector 33"/>
          <p:cNvCxnSpPr/>
          <p:nvPr/>
        </p:nvCxnSpPr>
        <p:spPr>
          <a:xfrm flipV="1">
            <a:off x="13386816" y="3977639"/>
            <a:ext cx="649224" cy="274321"/>
          </a:xfrm>
          <a:prstGeom prst="line">
            <a:avLst/>
          </a:prstGeom>
          <a:ln w="19050">
            <a:solidFill>
              <a:srgbClr val="0766D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14081760" y="4507992"/>
            <a:ext cx="2944368" cy="658368"/>
          </a:xfrm>
          <a:prstGeom prst="roundRect">
            <a:avLst>
              <a:gd name="adj" fmla="val 13888"/>
            </a:avLst>
          </a:prstGeom>
          <a:solidFill>
            <a:srgbClr val="4398F9"/>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1200">
                <a:solidFill>
                  <a:srgbClr val="FFFFFF"/>
                </a:solidFill>
                <a:latin typeface="+mj-lt"/>
              </a:rPr>
              <a:t>Draft action → approval queue</a:t>
            </a:r>
          </a:p>
        </p:txBody>
      </p:sp>
      <p:cxnSp>
        <p:nvCxnSpPr>
          <p:cNvPr id="36" name="Connector 35"/>
          <p:cNvCxnSpPr/>
          <p:nvPr/>
        </p:nvCxnSpPr>
        <p:spPr>
          <a:xfrm>
            <a:off x="13386816" y="4251960"/>
            <a:ext cx="649224" cy="585216"/>
          </a:xfrm>
          <a:prstGeom prst="line">
            <a:avLst/>
          </a:prstGeom>
          <a:ln w="19050">
            <a:solidFill>
              <a:srgbClr val="0766D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14081760" y="5367527"/>
            <a:ext cx="2944368" cy="658368"/>
          </a:xfrm>
          <a:prstGeom prst="roundRect">
            <a:avLst>
              <a:gd name="adj" fmla="val 13888"/>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1200">
                <a:solidFill>
                  <a:srgbClr val="FFFFFF"/>
                </a:solidFill>
                <a:latin typeface="+mj-lt"/>
              </a:rPr>
              <a:t>Generate charts</a:t>
            </a:r>
          </a:p>
        </p:txBody>
      </p:sp>
      <p:cxnSp>
        <p:nvCxnSpPr>
          <p:cNvPr id="38" name="Connector 37"/>
          <p:cNvCxnSpPr/>
          <p:nvPr/>
        </p:nvCxnSpPr>
        <p:spPr>
          <a:xfrm>
            <a:off x="13386816" y="4251960"/>
            <a:ext cx="649224" cy="1444752"/>
          </a:xfrm>
          <a:prstGeom prst="line">
            <a:avLst/>
          </a:prstGeom>
          <a:ln w="19050">
            <a:solidFill>
              <a:srgbClr val="0766D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14081760" y="6227064"/>
            <a:ext cx="2944368" cy="658368"/>
          </a:xfrm>
          <a:prstGeom prst="roundRect">
            <a:avLst>
              <a:gd name="adj" fmla="val 13888"/>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1200">
                <a:solidFill>
                  <a:srgbClr val="FFFFFF"/>
                </a:solidFill>
                <a:latin typeface="+mj-lt"/>
              </a:rPr>
              <a:t>Query data (SQL)</a:t>
            </a:r>
          </a:p>
        </p:txBody>
      </p:sp>
      <p:cxnSp>
        <p:nvCxnSpPr>
          <p:cNvPr id="40" name="Connector 39"/>
          <p:cNvCxnSpPr/>
          <p:nvPr/>
        </p:nvCxnSpPr>
        <p:spPr>
          <a:xfrm>
            <a:off x="13386816" y="4251960"/>
            <a:ext cx="649224" cy="2304288"/>
          </a:xfrm>
          <a:prstGeom prst="line">
            <a:avLst/>
          </a:prstGeom>
          <a:ln w="19050">
            <a:solidFill>
              <a:srgbClr val="0766D1"/>
            </a:solidFill>
            <a:tailEnd type="triangle" w="med" len="med"/>
          </a:ln>
          <a:effectLst/>
        </p:spPr>
        <p:style>
          <a:lnRef idx="2">
            <a:schemeClr val="accent1"/>
          </a:lnRef>
          <a:fillRef idx="0">
            <a:schemeClr val="accent1"/>
          </a:fillRef>
          <a:effectRef idx="1">
            <a:schemeClr val="accent1"/>
          </a:effectRef>
          <a:fontRef idx="minor">
            <a:schemeClr val="tx1"/>
          </a:fontRef>
        </p:style>
      </p:cxnSp>
      <p:pic>
        <p:nvPicPr>
          <p:cNvPr id="41" name="Picture 40" descr="table_b.png"/>
          <p:cNvPicPr>
            <a:picLocks noChangeAspect="1"/>
          </p:cNvPicPr>
          <p:nvPr/>
        </p:nvPicPr>
        <p:blipFill>
          <a:blip r:embed="rId3"/>
          <a:stretch>
            <a:fillRect/>
          </a:stretch>
        </p:blipFill>
        <p:spPr>
          <a:xfrm>
            <a:off x="6720840" y="7470648"/>
            <a:ext cx="457200" cy="457200"/>
          </a:xfrm>
          <a:prstGeom prst="rect">
            <a:avLst/>
          </a:prstGeom>
        </p:spPr>
      </p:pic>
      <p:sp>
        <p:nvSpPr>
          <p:cNvPr id="42" name="TextBox 41"/>
          <p:cNvSpPr txBox="1"/>
          <p:nvPr/>
        </p:nvSpPr>
        <p:spPr>
          <a:xfrm>
            <a:off x="7269480" y="7452360"/>
            <a:ext cx="3291840" cy="457200"/>
          </a:xfrm>
          <a:prstGeom prst="rect">
            <a:avLst/>
          </a:prstGeom>
          <a:noFill/>
        </p:spPr>
        <p:txBody>
          <a:bodyPr wrap="square" lIns="45720" tIns="27432" rIns="45720" bIns="27432" anchor="ctr">
            <a:spAutoFit/>
          </a:bodyPr>
          <a:lstStyle/>
          <a:p>
            <a:pPr algn="l"/>
            <a:r>
              <a:rPr sz="1600">
                <a:solidFill>
                  <a:srgbClr val="0766D1"/>
                </a:solidFill>
                <a:latin typeface="+mj-lt"/>
              </a:rPr>
              <a:t>CAS table (SAS Viya)</a:t>
            </a:r>
          </a:p>
        </p:txBody>
      </p:sp>
      <p:cxnSp>
        <p:nvCxnSpPr>
          <p:cNvPr id="43" name="Connector 42"/>
          <p:cNvCxnSpPr/>
          <p:nvPr/>
        </p:nvCxnSpPr>
        <p:spPr>
          <a:xfrm>
            <a:off x="5184648" y="6995160"/>
            <a:ext cx="1490472" cy="685800"/>
          </a:xfrm>
          <a:prstGeom prst="line">
            <a:avLst/>
          </a:prstGeom>
          <a:ln w="19050">
            <a:solidFill>
              <a:srgbClr val="0766D1"/>
            </a:solidFill>
            <a:prstDash val="sysDot"/>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9966960" y="6903719"/>
            <a:ext cx="5586984" cy="777241"/>
          </a:xfrm>
          <a:prstGeom prst="line">
            <a:avLst/>
          </a:prstGeom>
          <a:ln w="19050">
            <a:solidFill>
              <a:srgbClr val="0766D1"/>
            </a:solidFill>
            <a:prstDash val="sysDot"/>
            <a:tailEnd type="triangle" w="med" len="med"/>
          </a:ln>
          <a:effectLst/>
        </p:spPr>
        <p:style>
          <a:lnRef idx="2">
            <a:schemeClr val="accent1"/>
          </a:lnRef>
          <a:fillRef idx="0">
            <a:schemeClr val="accent1"/>
          </a:fillRef>
          <a:effectRef idx="1">
            <a:schemeClr val="accent1"/>
          </a:effectRef>
          <a:fontRef idx="minor">
            <a:schemeClr val="tx1"/>
          </a:fontRef>
        </p:style>
      </p:cxnSp>
      <p:pic>
        <p:nvPicPr>
          <p:cNvPr id="45" name="Picture 44" descr="check_b.png"/>
          <p:cNvPicPr>
            <a:picLocks noChangeAspect="1"/>
          </p:cNvPicPr>
          <p:nvPr/>
        </p:nvPicPr>
        <p:blipFill>
          <a:blip r:embed="rId4"/>
          <a:stretch>
            <a:fillRect/>
          </a:stretch>
        </p:blipFill>
        <p:spPr>
          <a:xfrm>
            <a:off x="1252728" y="8385048"/>
            <a:ext cx="365760" cy="365760"/>
          </a:xfrm>
          <a:prstGeom prst="rect">
            <a:avLst/>
          </a:prstGeom>
        </p:spPr>
      </p:pic>
      <p:sp>
        <p:nvSpPr>
          <p:cNvPr id="46" name="TextBox 45"/>
          <p:cNvSpPr txBox="1"/>
          <p:nvPr/>
        </p:nvSpPr>
        <p:spPr>
          <a:xfrm>
            <a:off x="1755648" y="8275320"/>
            <a:ext cx="4511040" cy="685800"/>
          </a:xfrm>
          <a:prstGeom prst="rect">
            <a:avLst/>
          </a:prstGeom>
          <a:noFill/>
        </p:spPr>
        <p:txBody>
          <a:bodyPr wrap="square" lIns="45720" tIns="27432" rIns="45720" bIns="27432" anchor="ctr">
            <a:spAutoFit/>
          </a:bodyPr>
          <a:lstStyle/>
          <a:p>
            <a:pPr algn="l"/>
            <a:r>
              <a:rPr sz="1300">
                <a:solidFill>
                  <a:srgbClr val="262626"/>
                </a:solidFill>
              </a:rPr>
              <a:t>Ask in plain language; get governed numbers, cohorts and charts</a:t>
            </a:r>
          </a:p>
        </p:txBody>
      </p:sp>
      <p:pic>
        <p:nvPicPr>
          <p:cNvPr id="47" name="Picture 46" descr="check_b.png"/>
          <p:cNvPicPr>
            <a:picLocks noChangeAspect="1"/>
          </p:cNvPicPr>
          <p:nvPr/>
        </p:nvPicPr>
        <p:blipFill>
          <a:blip r:embed="rId4"/>
          <a:stretch>
            <a:fillRect/>
          </a:stretch>
        </p:blipFill>
        <p:spPr>
          <a:xfrm>
            <a:off x="6632448" y="8385048"/>
            <a:ext cx="365760" cy="365760"/>
          </a:xfrm>
          <a:prstGeom prst="rect">
            <a:avLst/>
          </a:prstGeom>
        </p:spPr>
      </p:pic>
      <p:sp>
        <p:nvSpPr>
          <p:cNvPr id="48" name="TextBox 47"/>
          <p:cNvSpPr txBox="1"/>
          <p:nvPr/>
        </p:nvSpPr>
        <p:spPr>
          <a:xfrm>
            <a:off x="7135368" y="8275320"/>
            <a:ext cx="4511040" cy="685800"/>
          </a:xfrm>
          <a:prstGeom prst="rect">
            <a:avLst/>
          </a:prstGeom>
          <a:noFill/>
        </p:spPr>
        <p:txBody>
          <a:bodyPr wrap="square" lIns="45720" tIns="27432" rIns="45720" bIns="27432" anchor="ctr">
            <a:spAutoFit/>
          </a:bodyPr>
          <a:lstStyle/>
          <a:p>
            <a:pPr algn="l"/>
            <a:r>
              <a:rPr sz="1300">
                <a:solidFill>
                  <a:srgbClr val="262626"/>
                </a:solidFill>
              </a:rPr>
              <a:t>Risk scoring, programme simulation and demand forecasts on demand</a:t>
            </a:r>
          </a:p>
        </p:txBody>
      </p:sp>
      <p:pic>
        <p:nvPicPr>
          <p:cNvPr id="49" name="Picture 48" descr="check_b.png"/>
          <p:cNvPicPr>
            <a:picLocks noChangeAspect="1"/>
          </p:cNvPicPr>
          <p:nvPr/>
        </p:nvPicPr>
        <p:blipFill>
          <a:blip r:embed="rId4"/>
          <a:stretch>
            <a:fillRect/>
          </a:stretch>
        </p:blipFill>
        <p:spPr>
          <a:xfrm>
            <a:off x="12012168" y="8385048"/>
            <a:ext cx="365760" cy="365760"/>
          </a:xfrm>
          <a:prstGeom prst="rect">
            <a:avLst/>
          </a:prstGeom>
        </p:spPr>
      </p:pic>
      <p:sp>
        <p:nvSpPr>
          <p:cNvPr id="50" name="TextBox 49"/>
          <p:cNvSpPr txBox="1"/>
          <p:nvPr/>
        </p:nvSpPr>
        <p:spPr>
          <a:xfrm>
            <a:off x="12515088" y="8275320"/>
            <a:ext cx="4511040" cy="685800"/>
          </a:xfrm>
          <a:prstGeom prst="rect">
            <a:avLst/>
          </a:prstGeom>
          <a:noFill/>
        </p:spPr>
        <p:txBody>
          <a:bodyPr wrap="square" lIns="45720" tIns="27432" rIns="45720" bIns="27432" anchor="ctr">
            <a:spAutoFit/>
          </a:bodyPr>
          <a:lstStyle/>
          <a:p>
            <a:pPr algn="l"/>
            <a:r>
              <a:rPr sz="1300">
                <a:solidFill>
                  <a:srgbClr val="262626"/>
                </a:solidFill>
              </a:rPr>
              <a:t>Every answer cites the guideline, shows its tool calls, and ends in a draft a person approves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1252728" y="713232"/>
            <a:ext cx="15773400" cy="1234440"/>
          </a:xfrm>
        </p:spPr>
        <p:txBody>
          <a:bodyPr wrap="square" anchor="t"/>
          <a:lstStyle/>
          <a:p>
            <a:r>
              <a:rPr sz="3200"/>
              <a:t>What you will see: four questions a programme lead asks on a Monday morning</a:t>
            </a:r>
          </a:p>
        </p:txBody>
      </p:sp>
      <p:sp>
        <p:nvSpPr>
          <p:cNvPr id="5" name="TextBox 4"/>
          <p:cNvSpPr txBox="1"/>
          <p:nvPr/>
        </p:nvSpPr>
        <p:spPr>
          <a:xfrm>
            <a:off x="1252728" y="329184"/>
            <a:ext cx="10972800" cy="292608"/>
          </a:xfrm>
          <a:prstGeom prst="rect">
            <a:avLst/>
          </a:prstGeom>
          <a:noFill/>
        </p:spPr>
        <p:txBody>
          <a:bodyPr wrap="square" lIns="45720" tIns="27432" rIns="45720" bIns="27432" anchor="t">
            <a:spAutoFit/>
          </a:bodyPr>
          <a:lstStyle/>
          <a:p>
            <a:pPr algn="l"/>
            <a:r>
              <a:rPr sz="1100">
                <a:solidFill>
                  <a:srgbClr val="0766D1"/>
                </a:solidFill>
                <a:latin typeface="+mj-lt"/>
              </a:rPr>
              <a:t>EXAMPLE 1 · POPULATION HEALTH</a:t>
            </a:r>
          </a:p>
        </p:txBody>
      </p:sp>
      <p:sp>
        <p:nvSpPr>
          <p:cNvPr id="6" name="Rounded Rectangle 5"/>
          <p:cNvSpPr/>
          <p:nvPr/>
        </p:nvSpPr>
        <p:spPr>
          <a:xfrm>
            <a:off x="1252728" y="2286000"/>
            <a:ext cx="7703820" cy="3246120"/>
          </a:xfrm>
          <a:prstGeom prst="roundRect">
            <a:avLst>
              <a:gd name="adj" fmla="val 7887"/>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517904" y="2551176"/>
            <a:ext cx="566928" cy="566928"/>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800">
                <a:solidFill>
                  <a:srgbClr val="FFFFFF"/>
                </a:solidFill>
                <a:latin typeface="+mj-lt"/>
              </a:rPr>
              <a:t>1</a:t>
            </a:r>
          </a:p>
        </p:txBody>
      </p:sp>
      <p:sp>
        <p:nvSpPr>
          <p:cNvPr id="8" name="TextBox 7"/>
          <p:cNvSpPr txBox="1"/>
          <p:nvPr/>
        </p:nvSpPr>
        <p:spPr>
          <a:xfrm>
            <a:off x="2258568" y="2514600"/>
            <a:ext cx="6423660" cy="1234440"/>
          </a:xfrm>
          <a:prstGeom prst="rect">
            <a:avLst/>
          </a:prstGeom>
          <a:noFill/>
        </p:spPr>
        <p:txBody>
          <a:bodyPr wrap="square" lIns="45720" tIns="27432" rIns="45720" bIns="27432" anchor="t">
            <a:spAutoFit/>
          </a:bodyPr>
          <a:lstStyle/>
          <a:p>
            <a:pPr algn="l"/>
            <a:r>
              <a:rPr sz="1400">
                <a:solidFill>
                  <a:srgbClr val="032954"/>
                </a:solidFill>
                <a:latin typeface="+mj-lt"/>
              </a:rPr>
              <a:t>“Give me my morning briefing: review the panel and tell me who needs attention today.”</a:t>
            </a:r>
          </a:p>
        </p:txBody>
      </p:sp>
      <p:sp>
        <p:nvSpPr>
          <p:cNvPr id="9" name="TextBox 8"/>
          <p:cNvSpPr txBox="1"/>
          <p:nvPr/>
        </p:nvSpPr>
        <p:spPr>
          <a:xfrm>
            <a:off x="1618488" y="3840480"/>
            <a:ext cx="6972300" cy="274320"/>
          </a:xfrm>
          <a:prstGeom prst="rect">
            <a:avLst/>
          </a:prstGeom>
          <a:noFill/>
        </p:spPr>
        <p:txBody>
          <a:bodyPr wrap="square" lIns="45720" tIns="27432" rIns="45720" bIns="27432" anchor="t">
            <a:spAutoFit/>
          </a:bodyPr>
          <a:lstStyle/>
          <a:p>
            <a:pPr algn="l"/>
            <a:r>
              <a:rPr sz="1050">
                <a:solidFill>
                  <a:srgbClr val="0766D1"/>
                </a:solidFill>
                <a:latin typeface="+mj-lt"/>
              </a:rPr>
              <a:t>UNDERNEATH</a:t>
            </a:r>
          </a:p>
        </p:txBody>
      </p:sp>
      <p:sp>
        <p:nvSpPr>
          <p:cNvPr id="10" name="TextBox 9"/>
          <p:cNvSpPr txBox="1"/>
          <p:nvPr/>
        </p:nvSpPr>
        <p:spPr>
          <a:xfrm>
            <a:off x="1618488" y="4096512"/>
            <a:ext cx="6972300" cy="640080"/>
          </a:xfrm>
          <a:prstGeom prst="rect">
            <a:avLst/>
          </a:prstGeom>
          <a:noFill/>
        </p:spPr>
        <p:txBody>
          <a:bodyPr wrap="square" lIns="45720" tIns="27432" rIns="45720" bIns="27432" anchor="t">
            <a:spAutoFit/>
          </a:bodyPr>
          <a:lstStyle/>
          <a:p>
            <a:pPr algn="l"/>
            <a:r>
              <a:rPr sz="1250">
                <a:solidFill>
                  <a:srgbClr val="262626"/>
                </a:solidFill>
              </a:rPr>
              <a:t>The cohort and risk specialists scan the panel; the supervisor ranks who needs attention and why.</a:t>
            </a:r>
          </a:p>
        </p:txBody>
      </p:sp>
      <p:sp>
        <p:nvSpPr>
          <p:cNvPr id="11" name="TextBox 10"/>
          <p:cNvSpPr txBox="1"/>
          <p:nvPr/>
        </p:nvSpPr>
        <p:spPr>
          <a:xfrm>
            <a:off x="1618488" y="4709160"/>
            <a:ext cx="6972300" cy="274320"/>
          </a:xfrm>
          <a:prstGeom prst="rect">
            <a:avLst/>
          </a:prstGeom>
          <a:noFill/>
        </p:spPr>
        <p:txBody>
          <a:bodyPr wrap="square" lIns="45720" tIns="27432" rIns="45720" bIns="27432" anchor="t">
            <a:spAutoFit/>
          </a:bodyPr>
          <a:lstStyle/>
          <a:p>
            <a:pPr algn="l"/>
            <a:r>
              <a:rPr sz="1050">
                <a:solidFill>
                  <a:srgbClr val="0766D1"/>
                </a:solidFill>
                <a:latin typeface="+mj-lt"/>
              </a:rPr>
              <a:t>OUT, AND WHO DECIDES</a:t>
            </a:r>
          </a:p>
        </p:txBody>
      </p:sp>
      <p:sp>
        <p:nvSpPr>
          <p:cNvPr id="12" name="TextBox 11"/>
          <p:cNvSpPr txBox="1"/>
          <p:nvPr/>
        </p:nvSpPr>
        <p:spPr>
          <a:xfrm>
            <a:off x="1618488" y="4965192"/>
            <a:ext cx="6972300" cy="548640"/>
          </a:xfrm>
          <a:prstGeom prst="rect">
            <a:avLst/>
          </a:prstGeom>
          <a:noFill/>
        </p:spPr>
        <p:txBody>
          <a:bodyPr wrap="square" lIns="45720" tIns="27432" rIns="45720" bIns="27432" anchor="t">
            <a:spAutoFit/>
          </a:bodyPr>
          <a:lstStyle/>
          <a:p>
            <a:pPr algn="l"/>
            <a:r>
              <a:rPr sz="1250">
                <a:solidFill>
                  <a:srgbClr val="262626"/>
                </a:solidFill>
              </a:rPr>
              <a:t>A ranked list, one reason per name. The programme lead decides.</a:t>
            </a:r>
          </a:p>
        </p:txBody>
      </p:sp>
      <p:sp>
        <p:nvSpPr>
          <p:cNvPr id="13" name="Rounded Rectangle 12"/>
          <p:cNvSpPr/>
          <p:nvPr/>
        </p:nvSpPr>
        <p:spPr>
          <a:xfrm>
            <a:off x="9322308" y="2286000"/>
            <a:ext cx="7703820" cy="3246120"/>
          </a:xfrm>
          <a:prstGeom prst="roundRect">
            <a:avLst>
              <a:gd name="adj" fmla="val 7887"/>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587484" y="2551176"/>
            <a:ext cx="566928" cy="566928"/>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800">
                <a:solidFill>
                  <a:srgbClr val="FFFFFF"/>
                </a:solidFill>
                <a:latin typeface="+mj-lt"/>
              </a:rPr>
              <a:t>2</a:t>
            </a:r>
          </a:p>
        </p:txBody>
      </p:sp>
      <p:sp>
        <p:nvSpPr>
          <p:cNvPr id="15" name="TextBox 14"/>
          <p:cNvSpPr txBox="1"/>
          <p:nvPr/>
        </p:nvSpPr>
        <p:spPr>
          <a:xfrm>
            <a:off x="10328148" y="2514600"/>
            <a:ext cx="6423660" cy="1234440"/>
          </a:xfrm>
          <a:prstGeom prst="rect">
            <a:avLst/>
          </a:prstGeom>
          <a:noFill/>
        </p:spPr>
        <p:txBody>
          <a:bodyPr wrap="square" lIns="45720" tIns="27432" rIns="45720" bIns="27432" anchor="t">
            <a:spAutoFit/>
          </a:bodyPr>
          <a:lstStyle/>
          <a:p>
            <a:pPr algn="l"/>
            <a:r>
              <a:rPr sz="1400">
                <a:solidFill>
                  <a:srgbClr val="032954"/>
                </a:solidFill>
                <a:latin typeface="+mj-lt"/>
              </a:rPr>
              <a:t>“Review my highest-risk patient whose HbA1c is rising on metformin alone: summarise, score the risk, check the guideline, and draft what is needed.”</a:t>
            </a:r>
          </a:p>
        </p:txBody>
      </p:sp>
      <p:sp>
        <p:nvSpPr>
          <p:cNvPr id="16" name="TextBox 15"/>
          <p:cNvSpPr txBox="1"/>
          <p:nvPr/>
        </p:nvSpPr>
        <p:spPr>
          <a:xfrm>
            <a:off x="9688068" y="3840480"/>
            <a:ext cx="6972300" cy="274320"/>
          </a:xfrm>
          <a:prstGeom prst="rect">
            <a:avLst/>
          </a:prstGeom>
          <a:noFill/>
        </p:spPr>
        <p:txBody>
          <a:bodyPr wrap="square" lIns="45720" tIns="27432" rIns="45720" bIns="27432" anchor="t">
            <a:spAutoFit/>
          </a:bodyPr>
          <a:lstStyle/>
          <a:p>
            <a:pPr algn="l"/>
            <a:r>
              <a:rPr sz="1050">
                <a:solidFill>
                  <a:srgbClr val="0766D1"/>
                </a:solidFill>
                <a:latin typeface="+mj-lt"/>
              </a:rPr>
              <a:t>UNDERNEATH</a:t>
            </a:r>
          </a:p>
        </p:txBody>
      </p:sp>
      <p:sp>
        <p:nvSpPr>
          <p:cNvPr id="17" name="TextBox 16"/>
          <p:cNvSpPr txBox="1"/>
          <p:nvPr/>
        </p:nvSpPr>
        <p:spPr>
          <a:xfrm>
            <a:off x="9688068" y="4096512"/>
            <a:ext cx="6972300" cy="640080"/>
          </a:xfrm>
          <a:prstGeom prst="rect">
            <a:avLst/>
          </a:prstGeom>
          <a:noFill/>
        </p:spPr>
        <p:txBody>
          <a:bodyPr wrap="square" lIns="45720" tIns="27432" rIns="45720" bIns="27432" anchor="t">
            <a:spAutoFit/>
          </a:bodyPr>
          <a:lstStyle/>
          <a:p>
            <a:pPr algn="l"/>
            <a:r>
              <a:rPr sz="1250">
                <a:solidFill>
                  <a:srgbClr val="262626"/>
                </a:solidFill>
              </a:rPr>
              <a:t>The record and 36-month trajectory; the model score with its drivers; the guideline section; a draft prescription change.</a:t>
            </a:r>
          </a:p>
        </p:txBody>
      </p:sp>
      <p:sp>
        <p:nvSpPr>
          <p:cNvPr id="18" name="TextBox 17"/>
          <p:cNvSpPr txBox="1"/>
          <p:nvPr/>
        </p:nvSpPr>
        <p:spPr>
          <a:xfrm>
            <a:off x="9688068" y="4709160"/>
            <a:ext cx="6972300" cy="274320"/>
          </a:xfrm>
          <a:prstGeom prst="rect">
            <a:avLst/>
          </a:prstGeom>
          <a:noFill/>
        </p:spPr>
        <p:txBody>
          <a:bodyPr wrap="square" lIns="45720" tIns="27432" rIns="45720" bIns="27432" anchor="t">
            <a:spAutoFit/>
          </a:bodyPr>
          <a:lstStyle/>
          <a:p>
            <a:pPr algn="l"/>
            <a:r>
              <a:rPr sz="1050">
                <a:solidFill>
                  <a:srgbClr val="0766D1"/>
                </a:solidFill>
                <a:latin typeface="+mj-lt"/>
              </a:rPr>
              <a:t>OUT, AND WHO DECIDES</a:t>
            </a:r>
          </a:p>
        </p:txBody>
      </p:sp>
      <p:sp>
        <p:nvSpPr>
          <p:cNvPr id="19" name="TextBox 18"/>
          <p:cNvSpPr txBox="1"/>
          <p:nvPr/>
        </p:nvSpPr>
        <p:spPr>
          <a:xfrm>
            <a:off x="9688068" y="4965192"/>
            <a:ext cx="6972300" cy="548640"/>
          </a:xfrm>
          <a:prstGeom prst="rect">
            <a:avLst/>
          </a:prstGeom>
          <a:noFill/>
        </p:spPr>
        <p:txBody>
          <a:bodyPr wrap="square" lIns="45720" tIns="27432" rIns="45720" bIns="27432" anchor="t">
            <a:spAutoFit/>
          </a:bodyPr>
          <a:lstStyle/>
          <a:p>
            <a:pPr algn="l"/>
            <a:r>
              <a:rPr sz="1250">
                <a:solidFill>
                  <a:srgbClr val="262626"/>
                </a:solidFill>
              </a:rPr>
              <a:t>A summary, a score, a citation, a draft. The clinician decides, in the approval queue.</a:t>
            </a:r>
          </a:p>
        </p:txBody>
      </p:sp>
      <p:sp>
        <p:nvSpPr>
          <p:cNvPr id="20" name="Rounded Rectangle 19"/>
          <p:cNvSpPr/>
          <p:nvPr/>
        </p:nvSpPr>
        <p:spPr>
          <a:xfrm>
            <a:off x="1252728" y="5806440"/>
            <a:ext cx="7703820" cy="3246120"/>
          </a:xfrm>
          <a:prstGeom prst="roundRect">
            <a:avLst>
              <a:gd name="adj" fmla="val 7887"/>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517904" y="6071616"/>
            <a:ext cx="566928" cy="566928"/>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800">
                <a:solidFill>
                  <a:srgbClr val="FFFFFF"/>
                </a:solidFill>
                <a:latin typeface="+mj-lt"/>
              </a:rPr>
              <a:t>3</a:t>
            </a:r>
          </a:p>
        </p:txBody>
      </p:sp>
      <p:sp>
        <p:nvSpPr>
          <p:cNvPr id="22" name="TextBox 21"/>
          <p:cNvSpPr txBox="1"/>
          <p:nvPr/>
        </p:nvSpPr>
        <p:spPr>
          <a:xfrm>
            <a:off x="2258568" y="6035040"/>
            <a:ext cx="6423660" cy="1234440"/>
          </a:xfrm>
          <a:prstGeom prst="rect">
            <a:avLst/>
          </a:prstGeom>
          <a:noFill/>
        </p:spPr>
        <p:txBody>
          <a:bodyPr wrap="square" lIns="45720" tIns="27432" rIns="45720" bIns="27432" anchor="t">
            <a:spAutoFit/>
          </a:bodyPr>
          <a:lstStyle/>
          <a:p>
            <a:pPr algn="l"/>
            <a:r>
              <a:rPr sz="1400">
                <a:solidFill>
                  <a:srgbClr val="032954"/>
                </a:solidFill>
                <a:latin typeface="+mj-lt"/>
              </a:rPr>
              <a:t>“How many type 2 patients with HbA1c above 8% are not on an SGLT2 inhibitor or GLP-1 agonist, what is closing that gap worth, and draft the review list.”</a:t>
            </a:r>
          </a:p>
        </p:txBody>
      </p:sp>
      <p:sp>
        <p:nvSpPr>
          <p:cNvPr id="23" name="TextBox 22"/>
          <p:cNvSpPr txBox="1"/>
          <p:nvPr/>
        </p:nvSpPr>
        <p:spPr>
          <a:xfrm>
            <a:off x="1618488" y="7360919"/>
            <a:ext cx="6972300" cy="274320"/>
          </a:xfrm>
          <a:prstGeom prst="rect">
            <a:avLst/>
          </a:prstGeom>
          <a:noFill/>
        </p:spPr>
        <p:txBody>
          <a:bodyPr wrap="square" lIns="45720" tIns="27432" rIns="45720" bIns="27432" anchor="t">
            <a:spAutoFit/>
          </a:bodyPr>
          <a:lstStyle/>
          <a:p>
            <a:pPr algn="l"/>
            <a:r>
              <a:rPr sz="1050">
                <a:solidFill>
                  <a:srgbClr val="0766D1"/>
                </a:solidFill>
                <a:latin typeface="+mj-lt"/>
              </a:rPr>
              <a:t>UNDERNEATH</a:t>
            </a:r>
          </a:p>
        </p:txBody>
      </p:sp>
      <p:sp>
        <p:nvSpPr>
          <p:cNvPr id="24" name="TextBox 23"/>
          <p:cNvSpPr txBox="1"/>
          <p:nvPr/>
        </p:nvSpPr>
        <p:spPr>
          <a:xfrm>
            <a:off x="1618488" y="7616952"/>
            <a:ext cx="6972300" cy="640080"/>
          </a:xfrm>
          <a:prstGeom prst="rect">
            <a:avLst/>
          </a:prstGeom>
          <a:noFill/>
        </p:spPr>
        <p:txBody>
          <a:bodyPr wrap="square" lIns="45720" tIns="27432" rIns="45720" bIns="27432" anchor="t">
            <a:spAutoFit/>
          </a:bodyPr>
          <a:lstStyle/>
          <a:p>
            <a:pPr algn="l"/>
            <a:r>
              <a:rPr sz="1250">
                <a:solidFill>
                  <a:srgbClr val="262626"/>
                </a:solidFill>
              </a:rPr>
              <a:t>A cohort query; the intervention priced from the measured effects in the policy document; a review list drafted.</a:t>
            </a:r>
          </a:p>
        </p:txBody>
      </p:sp>
      <p:sp>
        <p:nvSpPr>
          <p:cNvPr id="25" name="TextBox 24"/>
          <p:cNvSpPr txBox="1"/>
          <p:nvPr/>
        </p:nvSpPr>
        <p:spPr>
          <a:xfrm>
            <a:off x="1618488" y="8229600"/>
            <a:ext cx="6972300" cy="274320"/>
          </a:xfrm>
          <a:prstGeom prst="rect">
            <a:avLst/>
          </a:prstGeom>
          <a:noFill/>
        </p:spPr>
        <p:txBody>
          <a:bodyPr wrap="square" lIns="45720" tIns="27432" rIns="45720" bIns="27432" anchor="t">
            <a:spAutoFit/>
          </a:bodyPr>
          <a:lstStyle/>
          <a:p>
            <a:pPr algn="l"/>
            <a:r>
              <a:rPr sz="1050">
                <a:solidFill>
                  <a:srgbClr val="0766D1"/>
                </a:solidFill>
                <a:latin typeface="+mj-lt"/>
              </a:rPr>
              <a:t>OUT, AND WHO DECIDES</a:t>
            </a:r>
          </a:p>
        </p:txBody>
      </p:sp>
      <p:sp>
        <p:nvSpPr>
          <p:cNvPr id="26" name="TextBox 25"/>
          <p:cNvSpPr txBox="1"/>
          <p:nvPr/>
        </p:nvSpPr>
        <p:spPr>
          <a:xfrm>
            <a:off x="1618488" y="8485632"/>
            <a:ext cx="6972300" cy="548640"/>
          </a:xfrm>
          <a:prstGeom prst="rect">
            <a:avLst/>
          </a:prstGeom>
          <a:noFill/>
        </p:spPr>
        <p:txBody>
          <a:bodyPr wrap="square" lIns="45720" tIns="27432" rIns="45720" bIns="27432" anchor="t">
            <a:spAutoFit/>
          </a:bodyPr>
          <a:lstStyle/>
          <a:p>
            <a:pPr algn="l"/>
            <a:r>
              <a:rPr sz="1250">
                <a:solidFill>
                  <a:srgbClr val="262626"/>
                </a:solidFill>
              </a:rPr>
              <a:t>A number with its cohort, a value in AED, a list. The clinic decides, from the queue.</a:t>
            </a:r>
          </a:p>
        </p:txBody>
      </p:sp>
      <p:sp>
        <p:nvSpPr>
          <p:cNvPr id="27" name="Rounded Rectangle 26"/>
          <p:cNvSpPr/>
          <p:nvPr/>
        </p:nvSpPr>
        <p:spPr>
          <a:xfrm>
            <a:off x="9322308" y="5806440"/>
            <a:ext cx="7703820" cy="3246120"/>
          </a:xfrm>
          <a:prstGeom prst="roundRect">
            <a:avLst>
              <a:gd name="adj" fmla="val 7887"/>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87484" y="6071616"/>
            <a:ext cx="566928" cy="566928"/>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800">
                <a:solidFill>
                  <a:srgbClr val="FFFFFF"/>
                </a:solidFill>
                <a:latin typeface="+mj-lt"/>
              </a:rPr>
              <a:t>4</a:t>
            </a:r>
          </a:p>
        </p:txBody>
      </p:sp>
      <p:sp>
        <p:nvSpPr>
          <p:cNvPr id="29" name="TextBox 28"/>
          <p:cNvSpPr txBox="1"/>
          <p:nvPr/>
        </p:nvSpPr>
        <p:spPr>
          <a:xfrm>
            <a:off x="10328148" y="6035040"/>
            <a:ext cx="6423660" cy="1234440"/>
          </a:xfrm>
          <a:prstGeom prst="rect">
            <a:avLst/>
          </a:prstGeom>
          <a:noFill/>
        </p:spPr>
        <p:txBody>
          <a:bodyPr wrap="square" lIns="45720" tIns="27432" rIns="45720" bIns="27432" anchor="t">
            <a:spAutoFit/>
          </a:bodyPr>
          <a:lstStyle/>
          <a:p>
            <a:pPr algn="l"/>
            <a:r>
              <a:rPr sz="1400">
                <a:solidFill>
                  <a:srgbClr val="032954"/>
                </a:solidFill>
                <a:latin typeface="+mj-lt"/>
              </a:rPr>
              <a:t>“Which patients are overdue for retinal screening, where is the backlog, and draft the recall.”</a:t>
            </a:r>
          </a:p>
        </p:txBody>
      </p:sp>
      <p:sp>
        <p:nvSpPr>
          <p:cNvPr id="30" name="TextBox 29"/>
          <p:cNvSpPr txBox="1"/>
          <p:nvPr/>
        </p:nvSpPr>
        <p:spPr>
          <a:xfrm>
            <a:off x="9688068" y="7360919"/>
            <a:ext cx="6972300" cy="274320"/>
          </a:xfrm>
          <a:prstGeom prst="rect">
            <a:avLst/>
          </a:prstGeom>
          <a:noFill/>
        </p:spPr>
        <p:txBody>
          <a:bodyPr wrap="square" lIns="45720" tIns="27432" rIns="45720" bIns="27432" anchor="t">
            <a:spAutoFit/>
          </a:bodyPr>
          <a:lstStyle/>
          <a:p>
            <a:pPr algn="l"/>
            <a:r>
              <a:rPr sz="1050">
                <a:solidFill>
                  <a:srgbClr val="0766D1"/>
                </a:solidFill>
                <a:latin typeface="+mj-lt"/>
              </a:rPr>
              <a:t>UNDERNEATH</a:t>
            </a:r>
          </a:p>
        </p:txBody>
      </p:sp>
      <p:sp>
        <p:nvSpPr>
          <p:cNvPr id="31" name="TextBox 30"/>
          <p:cNvSpPr txBox="1"/>
          <p:nvPr/>
        </p:nvSpPr>
        <p:spPr>
          <a:xfrm>
            <a:off x="9688068" y="7616952"/>
            <a:ext cx="6972300" cy="640080"/>
          </a:xfrm>
          <a:prstGeom prst="rect">
            <a:avLst/>
          </a:prstGeom>
          <a:noFill/>
        </p:spPr>
        <p:txBody>
          <a:bodyPr wrap="square" lIns="45720" tIns="27432" rIns="45720" bIns="27432" anchor="t">
            <a:spAutoFit/>
          </a:bodyPr>
          <a:lstStyle/>
          <a:p>
            <a:pPr algn="l"/>
            <a:r>
              <a:rPr sz="1250">
                <a:solidFill>
                  <a:srgbClr val="262626"/>
                </a:solidFill>
              </a:rPr>
              <a:t>A care-gap query by facility; a chart of the backlog; a recall campaign drafted.</a:t>
            </a:r>
          </a:p>
        </p:txBody>
      </p:sp>
      <p:sp>
        <p:nvSpPr>
          <p:cNvPr id="32" name="TextBox 31"/>
          <p:cNvSpPr txBox="1"/>
          <p:nvPr/>
        </p:nvSpPr>
        <p:spPr>
          <a:xfrm>
            <a:off x="9688068" y="8229600"/>
            <a:ext cx="6972300" cy="274320"/>
          </a:xfrm>
          <a:prstGeom prst="rect">
            <a:avLst/>
          </a:prstGeom>
          <a:noFill/>
        </p:spPr>
        <p:txBody>
          <a:bodyPr wrap="square" lIns="45720" tIns="27432" rIns="45720" bIns="27432" anchor="t">
            <a:spAutoFit/>
          </a:bodyPr>
          <a:lstStyle/>
          <a:p>
            <a:pPr algn="l"/>
            <a:r>
              <a:rPr sz="1050">
                <a:solidFill>
                  <a:srgbClr val="0766D1"/>
                </a:solidFill>
                <a:latin typeface="+mj-lt"/>
              </a:rPr>
              <a:t>OUT, AND WHO DECIDES</a:t>
            </a:r>
          </a:p>
        </p:txBody>
      </p:sp>
      <p:sp>
        <p:nvSpPr>
          <p:cNvPr id="33" name="TextBox 32"/>
          <p:cNvSpPr txBox="1"/>
          <p:nvPr/>
        </p:nvSpPr>
        <p:spPr>
          <a:xfrm>
            <a:off x="9688068" y="8485632"/>
            <a:ext cx="6972300" cy="548640"/>
          </a:xfrm>
          <a:prstGeom prst="rect">
            <a:avLst/>
          </a:prstGeom>
          <a:noFill/>
        </p:spPr>
        <p:txBody>
          <a:bodyPr wrap="square" lIns="45720" tIns="27432" rIns="45720" bIns="27432" anchor="t">
            <a:spAutoFit/>
          </a:bodyPr>
          <a:lstStyle/>
          <a:p>
            <a:pPr algn="l"/>
            <a:r>
              <a:rPr sz="1250">
                <a:solidFill>
                  <a:srgbClr val="262626"/>
                </a:solidFill>
              </a:rPr>
              <a:t>A chart, a facility ranking, a recall draft. The programme lead decides.</a:t>
            </a:r>
          </a:p>
        </p:txBody>
      </p:sp>
      <p:sp>
        <p:nvSpPr>
          <p:cNvPr id="34" name="TextBox 33"/>
          <p:cNvSpPr txBox="1"/>
          <p:nvPr/>
        </p:nvSpPr>
        <p:spPr>
          <a:xfrm>
            <a:off x="1252728" y="9144000"/>
            <a:ext cx="15773400" cy="365760"/>
          </a:xfrm>
          <a:prstGeom prst="rect">
            <a:avLst/>
          </a:prstGeom>
          <a:noFill/>
        </p:spPr>
        <p:txBody>
          <a:bodyPr wrap="square" lIns="45720" tIns="27432" rIns="45720" bIns="27432" anchor="t">
            <a:spAutoFit/>
          </a:bodyPr>
          <a:lstStyle/>
          <a:p>
            <a:pPr algn="l"/>
            <a:r>
              <a:rPr sz="1200">
                <a:solidFill>
                  <a:srgbClr val="7E889A"/>
                </a:solidFill>
              </a:rPr>
              <a:t>If time allows: the programme simulation on the ML model, the equity analysis, the 12-month demand forecast, the quality scorecard over MCP. Keep the trace panel open.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1252728" y="713232"/>
            <a:ext cx="15773400" cy="1234440"/>
          </a:xfrm>
        </p:spPr>
        <p:txBody>
          <a:bodyPr wrap="square" anchor="t"/>
          <a:lstStyle/>
          <a:p>
            <a:r>
              <a:rPr sz="3200"/>
              <a:t>Every number traces to a query, every recommendation to a guideline section, every action to a person</a:t>
            </a:r>
          </a:p>
        </p:txBody>
      </p:sp>
      <p:sp>
        <p:nvSpPr>
          <p:cNvPr id="5" name="TextBox 4"/>
          <p:cNvSpPr txBox="1"/>
          <p:nvPr/>
        </p:nvSpPr>
        <p:spPr>
          <a:xfrm>
            <a:off x="1252728" y="329184"/>
            <a:ext cx="10972800" cy="292608"/>
          </a:xfrm>
          <a:prstGeom prst="rect">
            <a:avLst/>
          </a:prstGeom>
          <a:noFill/>
        </p:spPr>
        <p:txBody>
          <a:bodyPr wrap="square" lIns="45720" tIns="27432" rIns="45720" bIns="27432" anchor="t">
            <a:spAutoFit/>
          </a:bodyPr>
          <a:lstStyle/>
          <a:p>
            <a:pPr algn="l"/>
            <a:r>
              <a:rPr sz="1100">
                <a:solidFill>
                  <a:srgbClr val="0766D1"/>
                </a:solidFill>
                <a:latin typeface="+mj-lt"/>
              </a:rPr>
              <a:t>EXAMPLE 1 · POPULATION HEALTH</a:t>
            </a:r>
          </a:p>
        </p:txBody>
      </p:sp>
      <p:sp>
        <p:nvSpPr>
          <p:cNvPr id="6" name="Rounded Rectangle 5"/>
          <p:cNvSpPr/>
          <p:nvPr/>
        </p:nvSpPr>
        <p:spPr>
          <a:xfrm>
            <a:off x="1252728" y="2331720"/>
            <a:ext cx="15773400" cy="6858000"/>
          </a:xfrm>
          <a:prstGeom prst="roundRect">
            <a:avLst>
              <a:gd name="adj" fmla="val 4666"/>
            </a:avLst>
          </a:prstGeom>
          <a:solidFill>
            <a:srgbClr val="E4E7EA"/>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9928" y="3063240"/>
            <a:ext cx="4617720" cy="2514600"/>
          </a:xfrm>
          <a:prstGeom prst="roundRect">
            <a:avLst>
              <a:gd name="adj" fmla="val 101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029968" y="2788920"/>
            <a:ext cx="3977639" cy="548640"/>
          </a:xfrm>
          <a:prstGeom prst="roundRect">
            <a:avLst>
              <a:gd name="adj" fmla="val 50000"/>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500">
                <a:solidFill>
                  <a:srgbClr val="FFFFFF"/>
                </a:solidFill>
                <a:latin typeface="+mj-lt"/>
              </a:rPr>
              <a:t>1 · Cohort specialist</a:t>
            </a:r>
          </a:p>
        </p:txBody>
      </p:sp>
      <p:sp>
        <p:nvSpPr>
          <p:cNvPr id="9" name="TextBox 8"/>
          <p:cNvSpPr txBox="1"/>
          <p:nvPr/>
        </p:nvSpPr>
        <p:spPr>
          <a:xfrm>
            <a:off x="2029968" y="3520440"/>
            <a:ext cx="3977639" cy="1920240"/>
          </a:xfrm>
          <a:prstGeom prst="rect">
            <a:avLst/>
          </a:prstGeom>
          <a:noFill/>
        </p:spPr>
        <p:txBody>
          <a:bodyPr wrap="square" lIns="45720" tIns="27432" rIns="45720" bIns="27432" anchor="ctr">
            <a:spAutoFit/>
          </a:bodyPr>
          <a:lstStyle/>
          <a:p>
            <a:pPr algn="ctr"/>
            <a:r>
              <a:rPr sz="1350">
                <a:solidFill>
                  <a:srgbClr val="262626"/>
                </a:solidFill>
              </a:rPr>
              <a:t>Pulls the patient's record and 36-month trajectory from the exchange: HbA1c rising from 9.2% to 10.3% on metformin alone, BMI 31.7, adherence 45%.</a:t>
            </a:r>
          </a:p>
        </p:txBody>
      </p:sp>
      <p:sp>
        <p:nvSpPr>
          <p:cNvPr id="10" name="Right Arrow 9"/>
          <p:cNvSpPr/>
          <p:nvPr/>
        </p:nvSpPr>
        <p:spPr>
          <a:xfrm>
            <a:off x="6437376" y="4119372"/>
            <a:ext cx="393192" cy="402336"/>
          </a:xfrm>
          <a:prstGeom prst="right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940296" y="3063240"/>
            <a:ext cx="4617720" cy="2514600"/>
          </a:xfrm>
          <a:prstGeom prst="roundRect">
            <a:avLst>
              <a:gd name="adj" fmla="val 101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260336" y="2788920"/>
            <a:ext cx="3977639" cy="548640"/>
          </a:xfrm>
          <a:prstGeom prst="roundRect">
            <a:avLst>
              <a:gd name="adj" fmla="val 50000"/>
            </a:avLst>
          </a:prstGeom>
          <a:solidFill>
            <a:srgbClr val="4398F9"/>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500">
                <a:solidFill>
                  <a:srgbClr val="FFFFFF"/>
                </a:solidFill>
                <a:latin typeface="+mj-lt"/>
              </a:rPr>
              <a:t>2 · Risk specialist</a:t>
            </a:r>
          </a:p>
        </p:txBody>
      </p:sp>
      <p:sp>
        <p:nvSpPr>
          <p:cNvPr id="13" name="TextBox 12"/>
          <p:cNvSpPr txBox="1"/>
          <p:nvPr/>
        </p:nvSpPr>
        <p:spPr>
          <a:xfrm>
            <a:off x="7260336" y="3520440"/>
            <a:ext cx="3977639" cy="1920240"/>
          </a:xfrm>
          <a:prstGeom prst="rect">
            <a:avLst/>
          </a:prstGeom>
          <a:noFill/>
        </p:spPr>
        <p:txBody>
          <a:bodyPr wrap="square" lIns="45720" tIns="27432" rIns="45720" bIns="27432" anchor="ctr">
            <a:spAutoFit/>
          </a:bodyPr>
          <a:lstStyle/>
          <a:p>
            <a:pPr algn="ctr"/>
            <a:r>
              <a:rPr sz="1350">
                <a:solidFill>
                  <a:srgbClr val="262626"/>
                </a:solidFill>
              </a:rPr>
              <a:t>Scores the deployed model: a deterioration risk well above the 10.4% base rate, with the drivers that moved it.</a:t>
            </a:r>
          </a:p>
        </p:txBody>
      </p:sp>
      <p:sp>
        <p:nvSpPr>
          <p:cNvPr id="14" name="Right Arrow 13"/>
          <p:cNvSpPr/>
          <p:nvPr/>
        </p:nvSpPr>
        <p:spPr>
          <a:xfrm>
            <a:off x="11667744" y="4119372"/>
            <a:ext cx="393192" cy="402336"/>
          </a:xfrm>
          <a:prstGeom prst="right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2170663" y="3063240"/>
            <a:ext cx="4617720" cy="2514600"/>
          </a:xfrm>
          <a:prstGeom prst="roundRect">
            <a:avLst>
              <a:gd name="adj" fmla="val 101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2490703" y="2788920"/>
            <a:ext cx="3977639" cy="548640"/>
          </a:xfrm>
          <a:prstGeom prst="roundRect">
            <a:avLst>
              <a:gd name="adj" fmla="val 50000"/>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500">
                <a:solidFill>
                  <a:srgbClr val="FFFFFF"/>
                </a:solidFill>
                <a:latin typeface="+mj-lt"/>
              </a:rPr>
              <a:t>3 · Guideline specialist</a:t>
            </a:r>
          </a:p>
        </p:txBody>
      </p:sp>
      <p:sp>
        <p:nvSpPr>
          <p:cNvPr id="17" name="TextBox 16"/>
          <p:cNvSpPr txBox="1"/>
          <p:nvPr/>
        </p:nvSpPr>
        <p:spPr>
          <a:xfrm>
            <a:off x="12490703" y="3520440"/>
            <a:ext cx="3977639" cy="1920240"/>
          </a:xfrm>
          <a:prstGeom prst="rect">
            <a:avLst/>
          </a:prstGeom>
          <a:noFill/>
        </p:spPr>
        <p:txBody>
          <a:bodyPr wrap="square" lIns="45720" tIns="27432" rIns="45720" bIns="27432" anchor="ctr">
            <a:spAutoFit/>
          </a:bodyPr>
          <a:lstStyle/>
          <a:p>
            <a:pPr algn="ctr"/>
            <a:r>
              <a:rPr sz="1350">
                <a:solidFill>
                  <a:srgbClr val="262626"/>
                </a:solidFill>
              </a:rPr>
              <a:t>Retrieves the diabetes guideline, section 4: consider a GLP-1 receptor agonist when HbA1c stays above target and BMI is over 30. Cited by section.</a:t>
            </a:r>
          </a:p>
        </p:txBody>
      </p:sp>
      <p:sp>
        <p:nvSpPr>
          <p:cNvPr id="18" name="Rounded Rectangle 17"/>
          <p:cNvSpPr/>
          <p:nvPr/>
        </p:nvSpPr>
        <p:spPr>
          <a:xfrm>
            <a:off x="1709928" y="6446520"/>
            <a:ext cx="4617720" cy="2514600"/>
          </a:xfrm>
          <a:prstGeom prst="roundRect">
            <a:avLst>
              <a:gd name="adj" fmla="val 101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029968" y="6172200"/>
            <a:ext cx="3977639" cy="548640"/>
          </a:xfrm>
          <a:prstGeom prst="roundRect">
            <a:avLst>
              <a:gd name="adj" fmla="val 50000"/>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500">
                <a:solidFill>
                  <a:srgbClr val="FFFFFF"/>
                </a:solidFill>
                <a:latin typeface="+mj-lt"/>
              </a:rPr>
              <a:t>4 · Action specialist</a:t>
            </a:r>
          </a:p>
        </p:txBody>
      </p:sp>
      <p:sp>
        <p:nvSpPr>
          <p:cNvPr id="20" name="TextBox 19"/>
          <p:cNvSpPr txBox="1"/>
          <p:nvPr/>
        </p:nvSpPr>
        <p:spPr>
          <a:xfrm>
            <a:off x="2029968" y="6903720"/>
            <a:ext cx="3977639" cy="1920240"/>
          </a:xfrm>
          <a:prstGeom prst="rect">
            <a:avLst/>
          </a:prstGeom>
          <a:noFill/>
        </p:spPr>
        <p:txBody>
          <a:bodyPr wrap="square" lIns="45720" tIns="27432" rIns="45720" bIns="27432" anchor="ctr">
            <a:spAutoFit/>
          </a:bodyPr>
          <a:lstStyle/>
          <a:p>
            <a:pPr algn="ctr"/>
            <a:r>
              <a:rPr sz="1350">
                <a:solidFill>
                  <a:srgbClr val="262626"/>
                </a:solidFill>
              </a:rPr>
              <a:t>Drafts the prescription change and the referral, citation attached. Nothing reaches the record.</a:t>
            </a:r>
          </a:p>
        </p:txBody>
      </p:sp>
      <p:sp>
        <p:nvSpPr>
          <p:cNvPr id="21" name="Right Arrow 20"/>
          <p:cNvSpPr/>
          <p:nvPr/>
        </p:nvSpPr>
        <p:spPr>
          <a:xfrm>
            <a:off x="6437376" y="7502652"/>
            <a:ext cx="393192" cy="402336"/>
          </a:xfrm>
          <a:prstGeom prst="right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940296" y="6446520"/>
            <a:ext cx="4617720" cy="2514600"/>
          </a:xfrm>
          <a:prstGeom prst="roundRect">
            <a:avLst>
              <a:gd name="adj" fmla="val 101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260336" y="6172200"/>
            <a:ext cx="3977639" cy="548640"/>
          </a:xfrm>
          <a:prstGeom prst="roundRect">
            <a:avLst>
              <a:gd name="adj" fmla="val 50000"/>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500">
                <a:solidFill>
                  <a:srgbClr val="FFFFFF"/>
                </a:solidFill>
                <a:latin typeface="+mj-lt"/>
              </a:rPr>
              <a:t>5 · Supervisor</a:t>
            </a:r>
          </a:p>
        </p:txBody>
      </p:sp>
      <p:sp>
        <p:nvSpPr>
          <p:cNvPr id="24" name="TextBox 23"/>
          <p:cNvSpPr txBox="1"/>
          <p:nvPr/>
        </p:nvSpPr>
        <p:spPr>
          <a:xfrm>
            <a:off x="7260336" y="6903720"/>
            <a:ext cx="3977639" cy="1920240"/>
          </a:xfrm>
          <a:prstGeom prst="rect">
            <a:avLst/>
          </a:prstGeom>
          <a:noFill/>
        </p:spPr>
        <p:txBody>
          <a:bodyPr wrap="square" lIns="45720" tIns="27432" rIns="45720" bIns="27432" anchor="ctr">
            <a:spAutoFit/>
          </a:bodyPr>
          <a:lstStyle/>
          <a:p>
            <a:pPr algn="ctr"/>
            <a:r>
              <a:rPr sz="1350">
                <a:solidFill>
                  <a:srgbClr val="262626"/>
                </a:solidFill>
              </a:rPr>
              <a:t>Writes the answer: summary, score, citation, draft, and a source line listing every call it made.</a:t>
            </a:r>
          </a:p>
        </p:txBody>
      </p:sp>
      <p:sp>
        <p:nvSpPr>
          <p:cNvPr id="25" name="Right Arrow 24"/>
          <p:cNvSpPr/>
          <p:nvPr/>
        </p:nvSpPr>
        <p:spPr>
          <a:xfrm>
            <a:off x="11667744" y="7502652"/>
            <a:ext cx="393192" cy="402336"/>
          </a:xfrm>
          <a:prstGeom prst="right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2170663" y="6446520"/>
            <a:ext cx="4617720" cy="2514600"/>
          </a:xfrm>
          <a:prstGeom prst="roundRect">
            <a:avLst>
              <a:gd name="adj" fmla="val 101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2490703" y="6172200"/>
            <a:ext cx="3977639" cy="548640"/>
          </a:xfrm>
          <a:prstGeom prst="roundRect">
            <a:avLst>
              <a:gd name="adj" fmla="val 50000"/>
            </a:avLst>
          </a:prstGeom>
          <a:solidFill>
            <a:srgbClr val="009242"/>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500">
                <a:solidFill>
                  <a:srgbClr val="FFFFFF"/>
                </a:solidFill>
                <a:latin typeface="+mj-lt"/>
              </a:rPr>
              <a:t>6 · The clinician</a:t>
            </a:r>
          </a:p>
        </p:txBody>
      </p:sp>
      <p:sp>
        <p:nvSpPr>
          <p:cNvPr id="28" name="TextBox 27"/>
          <p:cNvSpPr txBox="1"/>
          <p:nvPr/>
        </p:nvSpPr>
        <p:spPr>
          <a:xfrm>
            <a:off x="12490703" y="6903720"/>
            <a:ext cx="3977639" cy="1920240"/>
          </a:xfrm>
          <a:prstGeom prst="rect">
            <a:avLst/>
          </a:prstGeom>
          <a:noFill/>
        </p:spPr>
        <p:txBody>
          <a:bodyPr wrap="square" lIns="45720" tIns="27432" rIns="45720" bIns="27432" anchor="ctr">
            <a:spAutoFit/>
          </a:bodyPr>
          <a:lstStyle/>
          <a:p>
            <a:pPr algn="ctr"/>
            <a:r>
              <a:rPr sz="1350">
                <a:solidFill>
                  <a:srgbClr val="262626"/>
                </a:solidFill>
              </a:rPr>
              <a:t>Approves, edits or rejects in the queue. The decision and the full trace are logged together.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5400"/>
              <a:t>Example 2 · Cancer early warning</a:t>
            </a:r>
          </a:p>
        </p:txBody>
      </p:sp>
      <p:sp>
        <p:nvSpPr>
          <p:cNvPr id="3" name="Text Placeholder 2"/>
          <p:cNvSpPr>
            <a:spLocks noGrp="1"/>
          </p:cNvSpPr>
          <p:nvPr>
            <p:ph type="body" idx="10" sz="quarter"/>
          </p:nvPr>
        </p:nvSpPr>
        <p:spPr/>
        <p:txBody>
          <a:bodyPr/>
          <a:lstStyle/>
          <a:p>
            <a:r>
              <a:rPr sz="3600"/>
              <a:t>A bowel-cancer screening check that triages, routes and explains</a:t>
            </a:r>
          </a:p>
        </p:txBody>
      </p:sp>
      <p:sp>
        <p:nvSpPr>
          <p:cNvPr id="4" name="Oval 3"/>
          <p:cNvSpPr/>
          <p:nvPr/>
        </p:nvSpPr>
        <p:spPr>
          <a:xfrm>
            <a:off x="14630399" y="914400"/>
            <a:ext cx="2103120" cy="2103120"/>
          </a:xfrm>
          <a:prstGeom prst="ellipse">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an_w.png"/>
          <p:cNvPicPr>
            <a:picLocks noChangeAspect="1"/>
          </p:cNvPicPr>
          <p:nvPr/>
        </p:nvPicPr>
        <p:blipFill>
          <a:blip r:embed="rId2"/>
          <a:stretch>
            <a:fillRect/>
          </a:stretch>
        </p:blipFill>
        <p:spPr>
          <a:xfrm>
            <a:off x="15115031" y="1399031"/>
            <a:ext cx="1133856" cy="113385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1252728" y="713232"/>
            <a:ext cx="15773400" cy="1234440"/>
          </a:xfrm>
        </p:spPr>
        <p:txBody>
          <a:bodyPr wrap="square" anchor="t"/>
          <a:lstStyle/>
          <a:p>
            <a:r>
              <a:rPr sz="3200"/>
              <a:t>The problem: bowel cancer in the UAE strikes young, and screening only works if people know they are due</a:t>
            </a:r>
          </a:p>
        </p:txBody>
      </p:sp>
      <p:sp>
        <p:nvSpPr>
          <p:cNvPr id="5" name="TextBox 4"/>
          <p:cNvSpPr txBox="1"/>
          <p:nvPr/>
        </p:nvSpPr>
        <p:spPr>
          <a:xfrm>
            <a:off x="1252728" y="329184"/>
            <a:ext cx="10972800" cy="292608"/>
          </a:xfrm>
          <a:prstGeom prst="rect">
            <a:avLst/>
          </a:prstGeom>
          <a:noFill/>
        </p:spPr>
        <p:txBody>
          <a:bodyPr wrap="square" lIns="45720" tIns="27432" rIns="45720" bIns="27432" anchor="t">
            <a:spAutoFit/>
          </a:bodyPr>
          <a:lstStyle/>
          <a:p>
            <a:pPr algn="l"/>
            <a:r>
              <a:rPr sz="1100">
                <a:solidFill>
                  <a:srgbClr val="0766D1"/>
                </a:solidFill>
                <a:latin typeface="+mj-lt"/>
              </a:rPr>
              <a:t>EXAMPLE 2 · CANCER EARLY WARNING</a:t>
            </a:r>
          </a:p>
        </p:txBody>
      </p:sp>
      <p:sp>
        <p:nvSpPr>
          <p:cNvPr id="6" name="TextBox 5"/>
          <p:cNvSpPr txBox="1"/>
          <p:nvPr/>
        </p:nvSpPr>
        <p:spPr>
          <a:xfrm>
            <a:off x="1252728" y="2331720"/>
            <a:ext cx="9144000" cy="274320"/>
          </a:xfrm>
          <a:prstGeom prst="rect">
            <a:avLst/>
          </a:prstGeom>
          <a:noFill/>
        </p:spPr>
        <p:txBody>
          <a:bodyPr wrap="square" lIns="45720" tIns="27432" rIns="45720" bIns="27432" anchor="t">
            <a:spAutoFit/>
          </a:bodyPr>
          <a:lstStyle/>
          <a:p>
            <a:pPr algn="l"/>
            <a:r>
              <a:rPr sz="1050">
                <a:solidFill>
                  <a:srgbClr val="0766D1"/>
                </a:solidFill>
                <a:latin typeface="+mj-lt"/>
              </a:rPr>
              <a:t>SITUATION</a:t>
            </a:r>
          </a:p>
        </p:txBody>
      </p:sp>
      <p:sp>
        <p:nvSpPr>
          <p:cNvPr id="7" name="TextBox 6"/>
          <p:cNvSpPr txBox="1"/>
          <p:nvPr/>
        </p:nvSpPr>
        <p:spPr>
          <a:xfrm>
            <a:off x="1252728" y="2606039"/>
            <a:ext cx="9144000" cy="2103120"/>
          </a:xfrm>
          <a:prstGeom prst="rect">
            <a:avLst/>
          </a:prstGeom>
          <a:noFill/>
        </p:spPr>
        <p:txBody>
          <a:bodyPr wrap="square" lIns="45720" tIns="27432" rIns="45720" bIns="27432" anchor="t">
            <a:spAutoFit/>
          </a:bodyPr>
          <a:lstStyle/>
          <a:p>
            <a:pPr algn="l"/>
            <a:r>
              <a:rPr sz="1550">
                <a:solidFill>
                  <a:srgbClr val="262626"/>
                </a:solidFill>
              </a:rPr>
              <a:t>Bowel cancer is the most common cancer among men in the UAE and the third overall. Registered cases rose from 377 in 2013 to 532 in 2021, and between a quarter and a half are diagnosed before the age of 50. The national programme therefore starts at 40, with a yearly stool test (FIT) or a colonoscopy every ten years, up to 75.</a:t>
            </a:r>
          </a:p>
        </p:txBody>
      </p:sp>
      <p:sp>
        <p:nvSpPr>
          <p:cNvPr id="8" name="TextBox 7"/>
          <p:cNvSpPr txBox="1"/>
          <p:nvPr/>
        </p:nvSpPr>
        <p:spPr>
          <a:xfrm>
            <a:off x="1252728" y="4800600"/>
            <a:ext cx="9144000" cy="274320"/>
          </a:xfrm>
          <a:prstGeom prst="rect">
            <a:avLst/>
          </a:prstGeom>
          <a:noFill/>
        </p:spPr>
        <p:txBody>
          <a:bodyPr wrap="square" lIns="45720" tIns="27432" rIns="45720" bIns="27432" anchor="t">
            <a:spAutoFit/>
          </a:bodyPr>
          <a:lstStyle/>
          <a:p>
            <a:pPr algn="l"/>
            <a:r>
              <a:rPr sz="1050">
                <a:solidFill>
                  <a:srgbClr val="0766D1"/>
                </a:solidFill>
                <a:latin typeface="+mj-lt"/>
              </a:rPr>
              <a:t>COMPLICATION</a:t>
            </a:r>
          </a:p>
        </p:txBody>
      </p:sp>
      <p:sp>
        <p:nvSpPr>
          <p:cNvPr id="9" name="TextBox 8"/>
          <p:cNvSpPr txBox="1"/>
          <p:nvPr/>
        </p:nvSpPr>
        <p:spPr>
          <a:xfrm>
            <a:off x="1252728" y="5074920"/>
            <a:ext cx="9144000" cy="1737360"/>
          </a:xfrm>
          <a:prstGeom prst="rect">
            <a:avLst/>
          </a:prstGeom>
          <a:noFill/>
        </p:spPr>
        <p:txBody>
          <a:bodyPr wrap="square" lIns="45720" tIns="27432" rIns="45720" bIns="27432" anchor="t">
            <a:spAutoFit/>
          </a:bodyPr>
          <a:lstStyle/>
          <a:p>
            <a:pPr algn="l"/>
            <a:r>
              <a:rPr sz="1550">
                <a:solidFill>
                  <a:srgbClr val="262626"/>
                </a:solidFill>
              </a:rPr>
              <a:t>Most people do not know their risk tier, which test applies to them, when it is due or where the nearest door is. Family history changes the rules and is rarely asked. Warning symptoms get parked, and once there are symptoms a stool test is the wrong test.</a:t>
            </a:r>
          </a:p>
        </p:txBody>
      </p:sp>
      <p:sp>
        <p:nvSpPr>
          <p:cNvPr id="10" name="TextBox 9"/>
          <p:cNvSpPr txBox="1"/>
          <p:nvPr/>
        </p:nvSpPr>
        <p:spPr>
          <a:xfrm>
            <a:off x="1252728" y="6995160"/>
            <a:ext cx="9144000" cy="274320"/>
          </a:xfrm>
          <a:prstGeom prst="rect">
            <a:avLst/>
          </a:prstGeom>
          <a:noFill/>
        </p:spPr>
        <p:txBody>
          <a:bodyPr wrap="square" lIns="45720" tIns="27432" rIns="45720" bIns="27432" anchor="t">
            <a:spAutoFit/>
          </a:bodyPr>
          <a:lstStyle/>
          <a:p>
            <a:pPr algn="l"/>
            <a:r>
              <a:rPr sz="1050">
                <a:solidFill>
                  <a:srgbClr val="0766D1"/>
                </a:solidFill>
                <a:latin typeface="+mj-lt"/>
              </a:rPr>
              <a:t>WHAT GOOD LOOKS LIKE</a:t>
            </a:r>
          </a:p>
        </p:txBody>
      </p:sp>
      <p:sp>
        <p:nvSpPr>
          <p:cNvPr id="11" name="TextBox 10"/>
          <p:cNvSpPr txBox="1"/>
          <p:nvPr/>
        </p:nvSpPr>
        <p:spPr>
          <a:xfrm>
            <a:off x="1252728" y="7269480"/>
            <a:ext cx="9144000" cy="1737360"/>
          </a:xfrm>
          <a:prstGeom prst="rect">
            <a:avLst/>
          </a:prstGeom>
          <a:noFill/>
        </p:spPr>
        <p:txBody>
          <a:bodyPr wrap="square" lIns="45720" tIns="27432" rIns="45720" bIns="27432" anchor="t">
            <a:spAutoFit/>
          </a:bodyPr>
          <a:lstStyle/>
          <a:p>
            <a:pPr algn="l"/>
            <a:r>
              <a:rPr sz="1550">
                <a:solidFill>
                  <a:srgbClr val="262626"/>
                </a:solidFill>
              </a:rPr>
              <a:t>Anyone can find out in two minutes what applies to them and where to go. Red flags go straight to the urgent route. And the programme can see who is due, who is overdue and where the capacity is.</a:t>
            </a:r>
          </a:p>
        </p:txBody>
      </p:sp>
      <p:sp>
        <p:nvSpPr>
          <p:cNvPr id="12" name="Rounded Rectangle 11"/>
          <p:cNvSpPr/>
          <p:nvPr/>
        </p:nvSpPr>
        <p:spPr>
          <a:xfrm>
            <a:off x="11064240" y="2377440"/>
            <a:ext cx="2843784" cy="1783080"/>
          </a:xfrm>
          <a:prstGeom prst="roundRect">
            <a:avLst>
              <a:gd name="adj" fmla="val 10256"/>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338560" y="2487168"/>
            <a:ext cx="2295144" cy="548640"/>
          </a:xfrm>
          <a:prstGeom prst="rect">
            <a:avLst/>
          </a:prstGeom>
          <a:noFill/>
        </p:spPr>
        <p:txBody>
          <a:bodyPr wrap="square" lIns="45720" tIns="27432" rIns="45720" bIns="27432" anchor="t">
            <a:spAutoFit/>
          </a:bodyPr>
          <a:lstStyle/>
          <a:p>
            <a:pPr algn="l"/>
            <a:r>
              <a:rPr sz="3000">
                <a:solidFill>
                  <a:srgbClr val="0766D1"/>
                </a:solidFill>
                <a:latin typeface="+mj-lt"/>
              </a:rPr>
              <a:t>No. 1</a:t>
            </a:r>
          </a:p>
        </p:txBody>
      </p:sp>
      <p:sp>
        <p:nvSpPr>
          <p:cNvPr id="14" name="TextBox 13"/>
          <p:cNvSpPr txBox="1"/>
          <p:nvPr/>
        </p:nvSpPr>
        <p:spPr>
          <a:xfrm>
            <a:off x="11338560" y="3035808"/>
            <a:ext cx="2295144" cy="1051560"/>
          </a:xfrm>
          <a:prstGeom prst="rect">
            <a:avLst/>
          </a:prstGeom>
          <a:noFill/>
        </p:spPr>
        <p:txBody>
          <a:bodyPr wrap="square" lIns="45720" tIns="27432" rIns="45720" bIns="27432" anchor="t">
            <a:spAutoFit/>
          </a:bodyPr>
          <a:lstStyle/>
          <a:p>
            <a:pPr algn="l"/>
            <a:r>
              <a:rPr sz="1300">
                <a:solidFill>
                  <a:srgbClr val="262626"/>
                </a:solidFill>
              </a:rPr>
              <a:t>cancer among men in the UAE; third overall</a:t>
            </a:r>
          </a:p>
        </p:txBody>
      </p:sp>
      <p:sp>
        <p:nvSpPr>
          <p:cNvPr id="15" name="Rounded Rectangle 14"/>
          <p:cNvSpPr/>
          <p:nvPr/>
        </p:nvSpPr>
        <p:spPr>
          <a:xfrm>
            <a:off x="14182344" y="2377440"/>
            <a:ext cx="2843784" cy="1783080"/>
          </a:xfrm>
          <a:prstGeom prst="roundRect">
            <a:avLst>
              <a:gd name="adj" fmla="val 10256"/>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456664" y="2487168"/>
            <a:ext cx="2295144" cy="548640"/>
          </a:xfrm>
          <a:prstGeom prst="rect">
            <a:avLst/>
          </a:prstGeom>
          <a:noFill/>
        </p:spPr>
        <p:txBody>
          <a:bodyPr wrap="square" lIns="45720" tIns="27432" rIns="45720" bIns="27432" anchor="t">
            <a:spAutoFit/>
          </a:bodyPr>
          <a:lstStyle/>
          <a:p>
            <a:pPr algn="l"/>
            <a:r>
              <a:rPr sz="3000">
                <a:solidFill>
                  <a:srgbClr val="0766D1"/>
                </a:solidFill>
                <a:latin typeface="+mj-lt"/>
              </a:rPr>
              <a:t>532</a:t>
            </a:r>
          </a:p>
        </p:txBody>
      </p:sp>
      <p:sp>
        <p:nvSpPr>
          <p:cNvPr id="17" name="TextBox 16"/>
          <p:cNvSpPr txBox="1"/>
          <p:nvPr/>
        </p:nvSpPr>
        <p:spPr>
          <a:xfrm>
            <a:off x="14456664" y="3035808"/>
            <a:ext cx="2295144" cy="1051560"/>
          </a:xfrm>
          <a:prstGeom prst="rect">
            <a:avLst/>
          </a:prstGeom>
          <a:noFill/>
        </p:spPr>
        <p:txBody>
          <a:bodyPr wrap="square" lIns="45720" tIns="27432" rIns="45720" bIns="27432" anchor="t">
            <a:spAutoFit/>
          </a:bodyPr>
          <a:lstStyle/>
          <a:p>
            <a:pPr algn="l"/>
            <a:r>
              <a:rPr sz="1300">
                <a:solidFill>
                  <a:srgbClr val="262626"/>
                </a:solidFill>
              </a:rPr>
              <a:t>new cases in 2021, up from 377 in 2013</a:t>
            </a:r>
          </a:p>
        </p:txBody>
      </p:sp>
      <p:sp>
        <p:nvSpPr>
          <p:cNvPr id="18" name="Rounded Rectangle 17"/>
          <p:cNvSpPr/>
          <p:nvPr/>
        </p:nvSpPr>
        <p:spPr>
          <a:xfrm>
            <a:off x="11064240" y="4434840"/>
            <a:ext cx="2843784" cy="1783080"/>
          </a:xfrm>
          <a:prstGeom prst="roundRect">
            <a:avLst>
              <a:gd name="adj" fmla="val 10256"/>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338560" y="4544568"/>
            <a:ext cx="2295144" cy="548640"/>
          </a:xfrm>
          <a:prstGeom prst="rect">
            <a:avLst/>
          </a:prstGeom>
          <a:noFill/>
        </p:spPr>
        <p:txBody>
          <a:bodyPr wrap="square" lIns="45720" tIns="27432" rIns="45720" bIns="27432" anchor="t">
            <a:spAutoFit/>
          </a:bodyPr>
          <a:lstStyle/>
          <a:p>
            <a:pPr algn="l"/>
            <a:r>
              <a:rPr sz="3000">
                <a:solidFill>
                  <a:srgbClr val="0766D1"/>
                </a:solidFill>
                <a:latin typeface="+mj-lt"/>
              </a:rPr>
              <a:t>24–50%</a:t>
            </a:r>
          </a:p>
        </p:txBody>
      </p:sp>
      <p:sp>
        <p:nvSpPr>
          <p:cNvPr id="20" name="TextBox 19"/>
          <p:cNvSpPr txBox="1"/>
          <p:nvPr/>
        </p:nvSpPr>
        <p:spPr>
          <a:xfrm>
            <a:off x="11338560" y="5093207"/>
            <a:ext cx="2295144" cy="1051560"/>
          </a:xfrm>
          <a:prstGeom prst="rect">
            <a:avLst/>
          </a:prstGeom>
          <a:noFill/>
        </p:spPr>
        <p:txBody>
          <a:bodyPr wrap="square" lIns="45720" tIns="27432" rIns="45720" bIns="27432" anchor="t">
            <a:spAutoFit/>
          </a:bodyPr>
          <a:lstStyle/>
          <a:p>
            <a:pPr algn="l"/>
            <a:r>
              <a:rPr sz="1300">
                <a:solidFill>
                  <a:srgbClr val="262626"/>
                </a:solidFill>
              </a:rPr>
              <a:t>of cases diagnosed before the age of 50</a:t>
            </a:r>
          </a:p>
        </p:txBody>
      </p:sp>
      <p:sp>
        <p:nvSpPr>
          <p:cNvPr id="21" name="Rounded Rectangle 20"/>
          <p:cNvSpPr/>
          <p:nvPr/>
        </p:nvSpPr>
        <p:spPr>
          <a:xfrm>
            <a:off x="14182344" y="4434840"/>
            <a:ext cx="2843784" cy="1783080"/>
          </a:xfrm>
          <a:prstGeom prst="roundRect">
            <a:avLst>
              <a:gd name="adj" fmla="val 10256"/>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4456664" y="4544568"/>
            <a:ext cx="2295144" cy="548640"/>
          </a:xfrm>
          <a:prstGeom prst="rect">
            <a:avLst/>
          </a:prstGeom>
          <a:noFill/>
        </p:spPr>
        <p:txBody>
          <a:bodyPr wrap="square" lIns="45720" tIns="27432" rIns="45720" bIns="27432" anchor="t">
            <a:spAutoFit/>
          </a:bodyPr>
          <a:lstStyle/>
          <a:p>
            <a:pPr algn="l"/>
            <a:r>
              <a:rPr sz="3000">
                <a:solidFill>
                  <a:srgbClr val="0766D1"/>
                </a:solidFill>
                <a:latin typeface="+mj-lt"/>
              </a:rPr>
              <a:t>40</a:t>
            </a:r>
          </a:p>
        </p:txBody>
      </p:sp>
      <p:sp>
        <p:nvSpPr>
          <p:cNvPr id="23" name="TextBox 22"/>
          <p:cNvSpPr txBox="1"/>
          <p:nvPr/>
        </p:nvSpPr>
        <p:spPr>
          <a:xfrm>
            <a:off x="14456664" y="5093207"/>
            <a:ext cx="2295144" cy="1051560"/>
          </a:xfrm>
          <a:prstGeom prst="rect">
            <a:avLst/>
          </a:prstGeom>
          <a:noFill/>
        </p:spPr>
        <p:txBody>
          <a:bodyPr wrap="square" lIns="45720" tIns="27432" rIns="45720" bIns="27432" anchor="t">
            <a:spAutoFit/>
          </a:bodyPr>
          <a:lstStyle/>
          <a:p>
            <a:pPr algn="l"/>
            <a:r>
              <a:rPr sz="1300">
                <a:solidFill>
                  <a:srgbClr val="262626"/>
                </a:solidFill>
              </a:rPr>
              <a:t>the age screening starts in the UAE; 45 to 50 elsewhere</a:t>
            </a:r>
          </a:p>
        </p:txBody>
      </p:sp>
      <p:sp>
        <p:nvSpPr>
          <p:cNvPr id="24" name="TextBox 23"/>
          <p:cNvSpPr txBox="1"/>
          <p:nvPr/>
        </p:nvSpPr>
        <p:spPr>
          <a:xfrm>
            <a:off x="11064240" y="6537960"/>
            <a:ext cx="5961888" cy="1463040"/>
          </a:xfrm>
          <a:prstGeom prst="rect">
            <a:avLst/>
          </a:prstGeom>
          <a:noFill/>
        </p:spPr>
        <p:txBody>
          <a:bodyPr wrap="square" lIns="45720" tIns="27432" rIns="45720" bIns="27432" anchor="t">
            <a:spAutoFit/>
          </a:bodyPr>
          <a:lstStyle/>
          <a:p>
            <a:pPr algn="l"/>
            <a:r>
              <a:rPr sz="1200">
                <a:solidFill>
                  <a:srgbClr val="7E889A"/>
                </a:solidFill>
              </a:rPr>
              <a:t>The check is an educational prototype on a published risk score and a simplified version of the national programme. It does not diagnose, and it says so.</a:t>
            </a:r>
          </a:p>
        </p:txBody>
      </p:sp>
      <p:sp>
        <p:nvSpPr>
          <p:cNvPr id="25" name="TextBox 24"/>
          <p:cNvSpPr txBox="1"/>
          <p:nvPr/>
        </p:nvSpPr>
        <p:spPr>
          <a:xfrm>
            <a:off x="1252728" y="9326880"/>
            <a:ext cx="15773400" cy="457200"/>
          </a:xfrm>
          <a:prstGeom prst="rect">
            <a:avLst/>
          </a:prstGeom>
          <a:noFill/>
        </p:spPr>
        <p:txBody>
          <a:bodyPr wrap="square" lIns="45720" tIns="27432" rIns="45720" bIns="27432" anchor="t">
            <a:spAutoFit/>
          </a:bodyPr>
          <a:lstStyle/>
          <a:p>
            <a:pPr algn="l"/>
            <a:r>
              <a:rPr sz="900">
                <a:solidFill>
                  <a:srgbClr val="7E889A"/>
                </a:solidFill>
              </a:rPr>
              <a:t>Sources: UAE National Cancer Registry, Cancer Incidence in UAE, annual report (MOHAP)  ·  Al-Shamsi et al., "Not only a Western world issue: cancer incidence in younger individuals in the UAE", CA: A Cancer Journal for Clinicians, 2024  ·  UAE National Guideline for Colorectal Cancer Screening and Diagnosis (MOHAP).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1252728" y="713232"/>
            <a:ext cx="15773400" cy="1234440"/>
          </a:xfrm>
        </p:spPr>
        <p:txBody>
          <a:bodyPr wrap="square" anchor="t"/>
          <a:lstStyle/>
          <a:p>
            <a:r>
              <a:rPr sz="3200"/>
              <a:t>The solution: a screening agent that scores risk, picks the pathway and points to the nearest door</a:t>
            </a:r>
          </a:p>
        </p:txBody>
      </p:sp>
      <p:sp>
        <p:nvSpPr>
          <p:cNvPr id="5" name="TextBox 4"/>
          <p:cNvSpPr txBox="1"/>
          <p:nvPr/>
        </p:nvSpPr>
        <p:spPr>
          <a:xfrm>
            <a:off x="1252728" y="329184"/>
            <a:ext cx="10972800" cy="292608"/>
          </a:xfrm>
          <a:prstGeom prst="rect">
            <a:avLst/>
          </a:prstGeom>
          <a:noFill/>
        </p:spPr>
        <p:txBody>
          <a:bodyPr wrap="square" lIns="45720" tIns="27432" rIns="45720" bIns="27432" anchor="t">
            <a:spAutoFit/>
          </a:bodyPr>
          <a:lstStyle/>
          <a:p>
            <a:pPr algn="l"/>
            <a:r>
              <a:rPr sz="1100">
                <a:solidFill>
                  <a:srgbClr val="0766D1"/>
                </a:solidFill>
                <a:latin typeface="+mj-lt"/>
              </a:rPr>
              <a:t>EXAMPLE 2 · CANCER EARLY WARNING</a:t>
            </a:r>
          </a:p>
        </p:txBody>
      </p:sp>
      <p:sp>
        <p:nvSpPr>
          <p:cNvPr id="6" name="TextBox 5"/>
          <p:cNvSpPr txBox="1"/>
          <p:nvPr/>
        </p:nvSpPr>
        <p:spPr>
          <a:xfrm>
            <a:off x="1252728" y="2286000"/>
            <a:ext cx="3931920" cy="365760"/>
          </a:xfrm>
          <a:prstGeom prst="rect">
            <a:avLst/>
          </a:prstGeom>
          <a:noFill/>
        </p:spPr>
        <p:txBody>
          <a:bodyPr wrap="square" lIns="45720" tIns="27432" rIns="45720" bIns="27432" anchor="t">
            <a:spAutoFit/>
          </a:bodyPr>
          <a:lstStyle/>
          <a:p>
            <a:pPr algn="ctr"/>
            <a:r>
              <a:rPr sz="1600">
                <a:solidFill>
                  <a:srgbClr val="0766D1"/>
                </a:solidFill>
                <a:latin typeface="+mj-lt"/>
              </a:rPr>
              <a:t>Unstructured input</a:t>
            </a:r>
          </a:p>
        </p:txBody>
      </p:sp>
      <p:sp>
        <p:nvSpPr>
          <p:cNvPr id="7" name="Rounded Rectangle 6"/>
          <p:cNvSpPr/>
          <p:nvPr/>
        </p:nvSpPr>
        <p:spPr>
          <a:xfrm>
            <a:off x="1252728" y="2651760"/>
            <a:ext cx="3931920" cy="2971800"/>
          </a:xfrm>
          <a:prstGeom prst="roundRect">
            <a:avLst>
              <a:gd name="adj" fmla="val 7692"/>
            </a:avLst>
          </a:prstGeom>
          <a:noFill/>
          <a:ln w="15875">
            <a:solidFill>
              <a:srgbClr val="0766D1"/>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527048" y="2834640"/>
            <a:ext cx="3383280" cy="640080"/>
          </a:xfrm>
          <a:prstGeom prst="roundRect">
            <a:avLst>
              <a:gd name="adj" fmla="val 17142"/>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lstStyle/>
          <a:p>
            <a:pPr algn="ctr"/>
            <a:r>
              <a:rPr sz="1300">
                <a:solidFill>
                  <a:srgbClr val="262626"/>
                </a:solidFill>
                <a:latin typeface="+mj-lt"/>
              </a:rPr>
              <a:t>What the person writes in their own words</a:t>
            </a:r>
          </a:p>
        </p:txBody>
      </p:sp>
      <p:sp>
        <p:nvSpPr>
          <p:cNvPr id="9" name="TextBox 8"/>
          <p:cNvSpPr txBox="1"/>
          <p:nvPr/>
        </p:nvSpPr>
        <p:spPr>
          <a:xfrm>
            <a:off x="1527048" y="3493008"/>
            <a:ext cx="3383280" cy="457200"/>
          </a:xfrm>
          <a:prstGeom prst="rect">
            <a:avLst/>
          </a:prstGeom>
          <a:noFill/>
        </p:spPr>
        <p:txBody>
          <a:bodyPr wrap="square" lIns="45720" tIns="27432" rIns="45720" bIns="27432" anchor="t">
            <a:spAutoFit/>
          </a:bodyPr>
          <a:lstStyle/>
          <a:p>
            <a:pPr algn="ctr"/>
            <a:r>
              <a:rPr sz="1100">
                <a:solidFill>
                  <a:srgbClr val="7E889A"/>
                </a:solidFill>
              </a:rPr>
              <a:t>Symptoms, family history, worries, questions</a:t>
            </a:r>
          </a:p>
        </p:txBody>
      </p:sp>
      <p:sp>
        <p:nvSpPr>
          <p:cNvPr id="10" name="Down Arrow 9"/>
          <p:cNvSpPr/>
          <p:nvPr/>
        </p:nvSpPr>
        <p:spPr>
          <a:xfrm>
            <a:off x="3063240" y="3968496"/>
            <a:ext cx="310896" cy="292608"/>
          </a:xfrm>
          <a:prstGeom prst="down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801368" y="4297680"/>
            <a:ext cx="2834640" cy="475488"/>
          </a:xfrm>
          <a:prstGeom prst="roundRect">
            <a:avLst>
              <a:gd name="adj" fmla="val 19230"/>
            </a:avLst>
          </a:prstGeom>
          <a:solidFill>
            <a:srgbClr val="C4D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lstStyle/>
          <a:p>
            <a:pPr algn="ctr"/>
            <a:r>
              <a:rPr sz="1300">
                <a:solidFill>
                  <a:srgbClr val="032954"/>
                </a:solidFill>
                <a:latin typeface="+mj-lt"/>
              </a:rPr>
              <a:t>Language model reads it</a:t>
            </a:r>
          </a:p>
        </p:txBody>
      </p:sp>
      <p:sp>
        <p:nvSpPr>
          <p:cNvPr id="12" name="Down Arrow 11"/>
          <p:cNvSpPr/>
          <p:nvPr/>
        </p:nvSpPr>
        <p:spPr>
          <a:xfrm>
            <a:off x="3063240" y="4809744"/>
            <a:ext cx="310896" cy="274320"/>
          </a:xfrm>
          <a:prstGeom prst="down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527048" y="5102352"/>
            <a:ext cx="3383280" cy="457200"/>
          </a:xfrm>
          <a:prstGeom prst="roundRect">
            <a:avLst>
              <a:gd name="adj" fmla="val 20000"/>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lstStyle/>
          <a:p>
            <a:pPr algn="ctr"/>
            <a:r>
              <a:rPr sz="1300">
                <a:solidFill>
                  <a:srgbClr val="FFFFFF"/>
                </a:solidFill>
                <a:latin typeface="+mj-lt"/>
              </a:rPr>
              <a:t>Flags to tick, questions answered</a:t>
            </a:r>
          </a:p>
        </p:txBody>
      </p:sp>
      <p:sp>
        <p:nvSpPr>
          <p:cNvPr id="14" name="TextBox 13"/>
          <p:cNvSpPr txBox="1"/>
          <p:nvPr/>
        </p:nvSpPr>
        <p:spPr>
          <a:xfrm>
            <a:off x="1252728" y="5806440"/>
            <a:ext cx="3931920" cy="365760"/>
          </a:xfrm>
          <a:prstGeom prst="rect">
            <a:avLst/>
          </a:prstGeom>
          <a:noFill/>
        </p:spPr>
        <p:txBody>
          <a:bodyPr wrap="square" lIns="45720" tIns="27432" rIns="45720" bIns="27432" anchor="t">
            <a:spAutoFit/>
          </a:bodyPr>
          <a:lstStyle/>
          <a:p>
            <a:pPr algn="ctr"/>
            <a:r>
              <a:rPr sz="1600">
                <a:solidFill>
                  <a:srgbClr val="0766D1"/>
                </a:solidFill>
                <a:latin typeface="+mj-lt"/>
              </a:rPr>
              <a:t>Structured input</a:t>
            </a:r>
          </a:p>
        </p:txBody>
      </p:sp>
      <p:sp>
        <p:nvSpPr>
          <p:cNvPr id="15" name="Rounded Rectangle 14"/>
          <p:cNvSpPr/>
          <p:nvPr/>
        </p:nvSpPr>
        <p:spPr>
          <a:xfrm>
            <a:off x="1252728" y="6172200"/>
            <a:ext cx="3931920" cy="1783080"/>
          </a:xfrm>
          <a:prstGeom prst="roundRect">
            <a:avLst>
              <a:gd name="adj" fmla="val 12820"/>
            </a:avLst>
          </a:prstGeom>
          <a:noFill/>
          <a:ln w="15875">
            <a:solidFill>
              <a:srgbClr val="0766D1"/>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527048" y="6355080"/>
            <a:ext cx="3383280" cy="640080"/>
          </a:xfrm>
          <a:prstGeom prst="roundRect">
            <a:avLst>
              <a:gd name="adj" fmla="val 17142"/>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lstStyle/>
          <a:p>
            <a:pPr algn="ctr"/>
            <a:r>
              <a:rPr sz="1300">
                <a:solidFill>
                  <a:srgbClr val="262626"/>
                </a:solidFill>
                <a:latin typeface="+mj-lt"/>
              </a:rPr>
              <a:t>The screening form</a:t>
            </a:r>
          </a:p>
        </p:txBody>
      </p:sp>
      <p:sp>
        <p:nvSpPr>
          <p:cNvPr id="17" name="TextBox 16"/>
          <p:cNvSpPr txBox="1"/>
          <p:nvPr/>
        </p:nvSpPr>
        <p:spPr>
          <a:xfrm>
            <a:off x="1527048" y="7040880"/>
            <a:ext cx="3383280" cy="685800"/>
          </a:xfrm>
          <a:prstGeom prst="rect">
            <a:avLst/>
          </a:prstGeom>
          <a:noFill/>
        </p:spPr>
        <p:txBody>
          <a:bodyPr wrap="square" lIns="45720" tIns="27432" rIns="45720" bIns="27432" anchor="t">
            <a:spAutoFit/>
          </a:bodyPr>
          <a:lstStyle/>
          <a:p>
            <a:pPr algn="ctr"/>
            <a:r>
              <a:rPr sz="1100">
                <a:solidFill>
                  <a:srgbClr val="7E889A"/>
                </a:solidFill>
              </a:rPr>
              <a:t>Age, sex, BMI, smoking, family history, own history, symptoms, last test, location</a:t>
            </a:r>
          </a:p>
        </p:txBody>
      </p:sp>
      <p:sp>
        <p:nvSpPr>
          <p:cNvPr id="18" name="TextBox 17"/>
          <p:cNvSpPr txBox="1"/>
          <p:nvPr/>
        </p:nvSpPr>
        <p:spPr>
          <a:xfrm>
            <a:off x="5184648" y="3749039"/>
            <a:ext cx="1216152" cy="365760"/>
          </a:xfrm>
          <a:prstGeom prst="rect">
            <a:avLst/>
          </a:prstGeom>
          <a:noFill/>
        </p:spPr>
        <p:txBody>
          <a:bodyPr wrap="square" lIns="45720" tIns="27432" rIns="45720" bIns="27432" anchor="t">
            <a:spAutoFit/>
          </a:bodyPr>
          <a:lstStyle/>
          <a:p>
            <a:pPr algn="ctr"/>
            <a:r>
              <a:rPr sz="1200">
                <a:solidFill>
                  <a:srgbClr val="0766D1"/>
                </a:solidFill>
                <a:latin typeface="+mj-lt"/>
              </a:rPr>
              <a:t>Free text in</a:t>
            </a:r>
          </a:p>
        </p:txBody>
      </p:sp>
      <p:sp>
        <p:nvSpPr>
          <p:cNvPr id="19" name="Right Arrow 18"/>
          <p:cNvSpPr/>
          <p:nvPr/>
        </p:nvSpPr>
        <p:spPr>
          <a:xfrm>
            <a:off x="5257800" y="4114800"/>
            <a:ext cx="1069848" cy="329184"/>
          </a:xfrm>
          <a:prstGeom prst="right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00800" y="2423160"/>
            <a:ext cx="4023360" cy="4892040"/>
          </a:xfrm>
          <a:prstGeom prst="roundRect">
            <a:avLst>
              <a:gd name="adj" fmla="val 6363"/>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75120" y="2651760"/>
            <a:ext cx="3474720" cy="502920"/>
          </a:xfrm>
          <a:prstGeom prst="rect">
            <a:avLst/>
          </a:prstGeom>
          <a:noFill/>
        </p:spPr>
        <p:txBody>
          <a:bodyPr wrap="square" lIns="45720" tIns="27432" rIns="45720" bIns="27432" anchor="t">
            <a:spAutoFit/>
          </a:bodyPr>
          <a:lstStyle/>
          <a:p>
            <a:pPr algn="ctr"/>
            <a:r>
              <a:rPr sz="2000">
                <a:solidFill>
                  <a:srgbClr val="FFFFFF"/>
                </a:solidFill>
                <a:latin typeface="+mj-lt"/>
              </a:rPr>
              <a:t>Screening Agent</a:t>
            </a:r>
          </a:p>
        </p:txBody>
      </p:sp>
      <p:sp>
        <p:nvSpPr>
          <p:cNvPr id="22" name="Rectangle 21"/>
          <p:cNvSpPr/>
          <p:nvPr/>
        </p:nvSpPr>
        <p:spPr>
          <a:xfrm>
            <a:off x="7223760" y="3200400"/>
            <a:ext cx="2377440" cy="27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0" y="3337560"/>
            <a:ext cx="3474720" cy="1325880"/>
          </a:xfrm>
          <a:prstGeom prst="rect">
            <a:avLst/>
          </a:prstGeom>
          <a:noFill/>
        </p:spPr>
        <p:txBody>
          <a:bodyPr wrap="square" lIns="45720" tIns="27432" rIns="45720" bIns="27432" anchor="t">
            <a:spAutoFit/>
          </a:bodyPr>
          <a:lstStyle/>
          <a:p>
            <a:pPr algn="ctr"/>
            <a:r>
              <a:rPr sz="1400">
                <a:solidFill>
                  <a:srgbClr val="FFFFFF"/>
                </a:solidFill>
              </a:rPr>
              <a:t>Scores risk, picks the pathway, finds the nearest door, explains the result and answers questions. English or Arabic.</a:t>
            </a:r>
          </a:p>
        </p:txBody>
      </p:sp>
      <p:sp>
        <p:nvSpPr>
          <p:cNvPr id="24" name="Rounded Rectangle 23"/>
          <p:cNvSpPr/>
          <p:nvPr/>
        </p:nvSpPr>
        <p:spPr>
          <a:xfrm>
            <a:off x="6675120" y="4800600"/>
            <a:ext cx="3474720" cy="2286000"/>
          </a:xfrm>
          <a:prstGeom prst="roundRect">
            <a:avLst>
              <a:gd name="adj" fmla="val 7199"/>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0" y="4937760"/>
            <a:ext cx="3108960" cy="2057400"/>
          </a:xfrm>
          <a:prstGeom prst="rect">
            <a:avLst/>
          </a:prstGeom>
          <a:noFill/>
        </p:spPr>
        <p:txBody>
          <a:bodyPr wrap="square" lIns="45720" tIns="27432" rIns="45720" bIns="27432" anchor="ctr">
            <a:spAutoFit/>
          </a:bodyPr>
          <a:lstStyle/>
          <a:p>
            <a:pPr algn="l" marL="237744" indent="-237744">
              <a:spcBef>
                <a:spcPts val="0"/>
              </a:spcBef>
              <a:buClr>
                <a:srgbClr val="0766D1"/>
              </a:buClr>
              <a:buFont typeface="Arial"/>
              <a:buChar char="•"/>
            </a:pPr>
            <a:r>
              <a:rPr sz="1300">
                <a:solidFill>
                  <a:srgbClr val="032954"/>
                </a:solidFill>
              </a:rPr>
              <a:t>Rules first: a published score and the national programme decide</a:t>
            </a:r>
          </a:p>
          <a:p>
            <a:pPr algn="l" marL="237744" indent="-237744">
              <a:spcBef>
                <a:spcPts val="400"/>
              </a:spcBef>
              <a:buClr>
                <a:srgbClr val="0766D1"/>
              </a:buClr>
              <a:buFont typeface="Arial"/>
              <a:buChar char="•"/>
            </a:pPr>
            <a:r>
              <a:rPr sz="1300">
                <a:solidFill>
                  <a:srgbClr val="032954"/>
                </a:solidFill>
              </a:rPr>
              <a:t>Red flags override everything: a doctor within two weeks</a:t>
            </a:r>
          </a:p>
          <a:p>
            <a:pPr algn="l" marL="237744" indent="-237744">
              <a:spcBef>
                <a:spcPts val="400"/>
              </a:spcBef>
              <a:buClr>
                <a:srgbClr val="0766D1"/>
              </a:buClr>
              <a:buFont typeface="Arial"/>
              <a:buChar char="•"/>
            </a:pPr>
            <a:r>
              <a:rPr sz="1300">
                <a:solidFill>
                  <a:srgbClr val="032954"/>
                </a:solidFill>
              </a:rPr>
              <a:t>Never diagnoses, nothing stored</a:t>
            </a:r>
          </a:p>
        </p:txBody>
      </p:sp>
      <p:sp>
        <p:nvSpPr>
          <p:cNvPr id="26" name="Right Arrow 25"/>
          <p:cNvSpPr/>
          <p:nvPr/>
        </p:nvSpPr>
        <p:spPr>
          <a:xfrm>
            <a:off x="10497312" y="4114800"/>
            <a:ext cx="676656" cy="329184"/>
          </a:xfrm>
          <a:prstGeom prst="right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1247120" y="3200400"/>
            <a:ext cx="2103120" cy="2103120"/>
          </a:xfrm>
          <a:prstGeom prst="roundRect">
            <a:avLst>
              <a:gd name="adj" fmla="val 13043"/>
            </a:avLst>
          </a:prstGeom>
          <a:solidFill>
            <a:srgbClr val="C4DEFD"/>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usb_n.png"/>
          <p:cNvPicPr>
            <a:picLocks noChangeAspect="1"/>
          </p:cNvPicPr>
          <p:nvPr/>
        </p:nvPicPr>
        <p:blipFill>
          <a:blip r:embed="rId2"/>
          <a:stretch>
            <a:fillRect/>
          </a:stretch>
        </p:blipFill>
        <p:spPr>
          <a:xfrm>
            <a:off x="11932920" y="3474720"/>
            <a:ext cx="731520" cy="731520"/>
          </a:xfrm>
          <a:prstGeom prst="rect">
            <a:avLst/>
          </a:prstGeom>
        </p:spPr>
      </p:pic>
      <p:sp>
        <p:nvSpPr>
          <p:cNvPr id="29" name="TextBox 28"/>
          <p:cNvSpPr txBox="1"/>
          <p:nvPr/>
        </p:nvSpPr>
        <p:spPr>
          <a:xfrm>
            <a:off x="11247120" y="4297680"/>
            <a:ext cx="2103120" cy="822960"/>
          </a:xfrm>
          <a:prstGeom prst="rect">
            <a:avLst/>
          </a:prstGeom>
          <a:noFill/>
        </p:spPr>
        <p:txBody>
          <a:bodyPr wrap="square" lIns="45720" tIns="27432" rIns="45720" bIns="27432" anchor="t">
            <a:spAutoFit/>
          </a:bodyPr>
          <a:lstStyle/>
          <a:p>
            <a:pPr algn="ctr"/>
            <a:r>
              <a:rPr sz="1800">
                <a:solidFill>
                  <a:srgbClr val="032954"/>
                </a:solidFill>
                <a:latin typeface="+mj-lt"/>
              </a:rPr>
              <a:t>MCP server</a:t>
            </a:r>
          </a:p>
          <a:p>
            <a:pPr algn="ctr"/>
            <a:r>
              <a:rPr sz="1100">
                <a:solidFill>
                  <a:srgbClr val="032954"/>
                </a:solidFill>
              </a:rPr>
              <a:t>one plug, every tool</a:t>
            </a:r>
          </a:p>
        </p:txBody>
      </p:sp>
      <p:sp>
        <p:nvSpPr>
          <p:cNvPr id="30" name="TextBox 29"/>
          <p:cNvSpPr txBox="1"/>
          <p:nvPr/>
        </p:nvSpPr>
        <p:spPr>
          <a:xfrm>
            <a:off x="14081760" y="2286000"/>
            <a:ext cx="2944368" cy="365760"/>
          </a:xfrm>
          <a:prstGeom prst="rect">
            <a:avLst/>
          </a:prstGeom>
          <a:noFill/>
        </p:spPr>
        <p:txBody>
          <a:bodyPr wrap="square" lIns="45720" tIns="27432" rIns="45720" bIns="27432" anchor="t">
            <a:spAutoFit/>
          </a:bodyPr>
          <a:lstStyle/>
          <a:p>
            <a:pPr algn="ctr"/>
            <a:r>
              <a:rPr sz="1600">
                <a:solidFill>
                  <a:srgbClr val="0766D1"/>
                </a:solidFill>
                <a:latin typeface="+mj-lt"/>
              </a:rPr>
              <a:t>Tools</a:t>
            </a:r>
          </a:p>
        </p:txBody>
      </p:sp>
      <p:sp>
        <p:nvSpPr>
          <p:cNvPr id="31" name="Rounded Rectangle 30"/>
          <p:cNvSpPr/>
          <p:nvPr/>
        </p:nvSpPr>
        <p:spPr>
          <a:xfrm>
            <a:off x="14081760" y="2788920"/>
            <a:ext cx="2944368" cy="658368"/>
          </a:xfrm>
          <a:prstGeom prst="roundRect">
            <a:avLst>
              <a:gd name="adj" fmla="val 13888"/>
            </a:avLst>
          </a:prstGeom>
          <a:solidFill>
            <a:srgbClr val="7E889A"/>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1200">
                <a:solidFill>
                  <a:srgbClr val="FFFFFF"/>
                </a:solidFill>
                <a:latin typeface="+mj-lt"/>
              </a:rPr>
              <a:t>Score risk (APCS, Gut 2011)</a:t>
            </a:r>
          </a:p>
        </p:txBody>
      </p:sp>
      <p:cxnSp>
        <p:nvCxnSpPr>
          <p:cNvPr id="32" name="Connector 31"/>
          <p:cNvCxnSpPr/>
          <p:nvPr/>
        </p:nvCxnSpPr>
        <p:spPr>
          <a:xfrm flipV="1">
            <a:off x="13386816" y="3118103"/>
            <a:ext cx="649224" cy="1133857"/>
          </a:xfrm>
          <a:prstGeom prst="line">
            <a:avLst/>
          </a:prstGeom>
          <a:ln w="19050">
            <a:solidFill>
              <a:srgbClr val="0766D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4081760" y="3648456"/>
            <a:ext cx="2944368" cy="658368"/>
          </a:xfrm>
          <a:prstGeom prst="roundRect">
            <a:avLst>
              <a:gd name="adj" fmla="val 13888"/>
            </a:avLst>
          </a:prstGeom>
          <a:solidFill>
            <a:srgbClr val="C4DEFD"/>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1200">
                <a:solidFill>
                  <a:srgbClr val="032954"/>
                </a:solidFill>
                <a:latin typeface="+mj-lt"/>
              </a:rPr>
              <a:t>Apply pathway rules (national programme)</a:t>
            </a:r>
          </a:p>
        </p:txBody>
      </p:sp>
      <p:cxnSp>
        <p:nvCxnSpPr>
          <p:cNvPr id="34" name="Connector 33"/>
          <p:cNvCxnSpPr/>
          <p:nvPr/>
        </p:nvCxnSpPr>
        <p:spPr>
          <a:xfrm flipV="1">
            <a:off x="13386816" y="3977639"/>
            <a:ext cx="649224" cy="274321"/>
          </a:xfrm>
          <a:prstGeom prst="line">
            <a:avLst/>
          </a:prstGeom>
          <a:ln w="19050">
            <a:solidFill>
              <a:srgbClr val="0766D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14081760" y="4507992"/>
            <a:ext cx="2944368" cy="658368"/>
          </a:xfrm>
          <a:prstGeom prst="roundRect">
            <a:avLst>
              <a:gd name="adj" fmla="val 13888"/>
            </a:avLst>
          </a:prstGeom>
          <a:solidFill>
            <a:srgbClr val="4398F9"/>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1200">
                <a:solidFill>
                  <a:srgbClr val="FFFFFF"/>
                </a:solidFill>
                <a:latin typeface="+mj-lt"/>
              </a:rPr>
              <a:t>Find the nearest facility (distance, minutes)</a:t>
            </a:r>
          </a:p>
        </p:txBody>
      </p:sp>
      <p:cxnSp>
        <p:nvCxnSpPr>
          <p:cNvPr id="36" name="Connector 35"/>
          <p:cNvCxnSpPr/>
          <p:nvPr/>
        </p:nvCxnSpPr>
        <p:spPr>
          <a:xfrm>
            <a:off x="13386816" y="4251960"/>
            <a:ext cx="649224" cy="585216"/>
          </a:xfrm>
          <a:prstGeom prst="line">
            <a:avLst/>
          </a:prstGeom>
          <a:ln w="19050">
            <a:solidFill>
              <a:srgbClr val="0766D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14081760" y="5367527"/>
            <a:ext cx="2944368" cy="658368"/>
          </a:xfrm>
          <a:prstGeom prst="roundRect">
            <a:avLst>
              <a:gd name="adj" fmla="val 13888"/>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1200">
                <a:solidFill>
                  <a:srgbClr val="FFFFFF"/>
                </a:solidFill>
                <a:latin typeface="+mj-lt"/>
              </a:rPr>
              <a:t>Lifestyle levers</a:t>
            </a:r>
          </a:p>
        </p:txBody>
      </p:sp>
      <p:cxnSp>
        <p:nvCxnSpPr>
          <p:cNvPr id="38" name="Connector 37"/>
          <p:cNvCxnSpPr/>
          <p:nvPr/>
        </p:nvCxnSpPr>
        <p:spPr>
          <a:xfrm>
            <a:off x="13386816" y="4251960"/>
            <a:ext cx="649224" cy="1444752"/>
          </a:xfrm>
          <a:prstGeom prst="line">
            <a:avLst/>
          </a:prstGeom>
          <a:ln w="19050">
            <a:solidFill>
              <a:srgbClr val="0766D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14081760" y="6227064"/>
            <a:ext cx="2944368" cy="658368"/>
          </a:xfrm>
          <a:prstGeom prst="roundRect">
            <a:avLst>
              <a:gd name="adj" fmla="val 13888"/>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1200">
                <a:solidFill>
                  <a:srgbClr val="FFFFFF"/>
                </a:solidFill>
                <a:latin typeface="+mj-lt"/>
              </a:rPr>
              <a:t>Answer questions (LLM)</a:t>
            </a:r>
          </a:p>
        </p:txBody>
      </p:sp>
      <p:cxnSp>
        <p:nvCxnSpPr>
          <p:cNvPr id="40" name="Connector 39"/>
          <p:cNvCxnSpPr/>
          <p:nvPr/>
        </p:nvCxnSpPr>
        <p:spPr>
          <a:xfrm>
            <a:off x="13386816" y="4251960"/>
            <a:ext cx="649224" cy="2304288"/>
          </a:xfrm>
          <a:prstGeom prst="line">
            <a:avLst/>
          </a:prstGeom>
          <a:ln w="19050">
            <a:solidFill>
              <a:srgbClr val="0766D1"/>
            </a:solidFill>
            <a:tailEnd type="triangle" w="med" len="med"/>
          </a:ln>
          <a:effectLst/>
        </p:spPr>
        <p:style>
          <a:lnRef idx="2">
            <a:schemeClr val="accent1"/>
          </a:lnRef>
          <a:fillRef idx="0">
            <a:schemeClr val="accent1"/>
          </a:fillRef>
          <a:effectRef idx="1">
            <a:schemeClr val="accent1"/>
          </a:effectRef>
          <a:fontRef idx="minor">
            <a:schemeClr val="tx1"/>
          </a:fontRef>
        </p:style>
      </p:cxnSp>
      <p:pic>
        <p:nvPicPr>
          <p:cNvPr id="41" name="Picture 40" descr="map_b.png"/>
          <p:cNvPicPr>
            <a:picLocks noChangeAspect="1"/>
          </p:cNvPicPr>
          <p:nvPr/>
        </p:nvPicPr>
        <p:blipFill>
          <a:blip r:embed="rId3"/>
          <a:stretch>
            <a:fillRect/>
          </a:stretch>
        </p:blipFill>
        <p:spPr>
          <a:xfrm>
            <a:off x="6720840" y="7470648"/>
            <a:ext cx="457200" cy="457200"/>
          </a:xfrm>
          <a:prstGeom prst="rect">
            <a:avLst/>
          </a:prstGeom>
        </p:spPr>
      </p:pic>
      <p:sp>
        <p:nvSpPr>
          <p:cNvPr id="42" name="TextBox 41"/>
          <p:cNvSpPr txBox="1"/>
          <p:nvPr/>
        </p:nvSpPr>
        <p:spPr>
          <a:xfrm>
            <a:off x="7269480" y="7452360"/>
            <a:ext cx="3291840" cy="457200"/>
          </a:xfrm>
          <a:prstGeom prst="rect">
            <a:avLst/>
          </a:prstGeom>
          <a:noFill/>
        </p:spPr>
        <p:txBody>
          <a:bodyPr wrap="square" lIns="45720" tIns="27432" rIns="45720" bIns="27432" anchor="ctr">
            <a:spAutoFit/>
          </a:bodyPr>
          <a:lstStyle/>
          <a:p>
            <a:pPr algn="l"/>
            <a:r>
              <a:rPr sz="1600">
                <a:solidFill>
                  <a:srgbClr val="0766D1"/>
                </a:solidFill>
                <a:latin typeface="+mj-lt"/>
              </a:rPr>
              <a:t>Facilities &amp; services table</a:t>
            </a:r>
          </a:p>
        </p:txBody>
      </p:sp>
      <p:cxnSp>
        <p:nvCxnSpPr>
          <p:cNvPr id="43" name="Connector 42"/>
          <p:cNvCxnSpPr/>
          <p:nvPr/>
        </p:nvCxnSpPr>
        <p:spPr>
          <a:xfrm>
            <a:off x="5184648" y="6995160"/>
            <a:ext cx="1490472" cy="685800"/>
          </a:xfrm>
          <a:prstGeom prst="line">
            <a:avLst/>
          </a:prstGeom>
          <a:ln w="19050">
            <a:solidFill>
              <a:srgbClr val="0766D1"/>
            </a:solidFill>
            <a:prstDash val="sysDot"/>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9966960" y="5184647"/>
            <a:ext cx="5586984" cy="2496313"/>
          </a:xfrm>
          <a:prstGeom prst="line">
            <a:avLst/>
          </a:prstGeom>
          <a:ln w="19050">
            <a:solidFill>
              <a:srgbClr val="0766D1"/>
            </a:solidFill>
            <a:prstDash val="sysDot"/>
            <a:tailEnd type="triangle" w="med" len="med"/>
          </a:ln>
          <a:effectLst/>
        </p:spPr>
        <p:style>
          <a:lnRef idx="2">
            <a:schemeClr val="accent1"/>
          </a:lnRef>
          <a:fillRef idx="0">
            <a:schemeClr val="accent1"/>
          </a:fillRef>
          <a:effectRef idx="1">
            <a:schemeClr val="accent1"/>
          </a:effectRef>
          <a:fontRef idx="minor">
            <a:schemeClr val="tx1"/>
          </a:fontRef>
        </p:style>
      </p:cxnSp>
      <p:pic>
        <p:nvPicPr>
          <p:cNvPr id="45" name="Picture 44" descr="check_b.png"/>
          <p:cNvPicPr>
            <a:picLocks noChangeAspect="1"/>
          </p:cNvPicPr>
          <p:nvPr/>
        </p:nvPicPr>
        <p:blipFill>
          <a:blip r:embed="rId4"/>
          <a:stretch>
            <a:fillRect/>
          </a:stretch>
        </p:blipFill>
        <p:spPr>
          <a:xfrm>
            <a:off x="1252728" y="8385048"/>
            <a:ext cx="365760" cy="365760"/>
          </a:xfrm>
          <a:prstGeom prst="rect">
            <a:avLst/>
          </a:prstGeom>
        </p:spPr>
      </p:pic>
      <p:sp>
        <p:nvSpPr>
          <p:cNvPr id="46" name="TextBox 45"/>
          <p:cNvSpPr txBox="1"/>
          <p:nvPr/>
        </p:nvSpPr>
        <p:spPr>
          <a:xfrm>
            <a:off x="1755648" y="8275320"/>
            <a:ext cx="4511040" cy="685800"/>
          </a:xfrm>
          <a:prstGeom prst="rect">
            <a:avLst/>
          </a:prstGeom>
          <a:noFill/>
        </p:spPr>
        <p:txBody>
          <a:bodyPr wrap="square" lIns="45720" tIns="27432" rIns="45720" bIns="27432" anchor="ctr">
            <a:spAutoFit/>
          </a:bodyPr>
          <a:lstStyle/>
          <a:p>
            <a:pPr algn="l"/>
            <a:r>
              <a:rPr sz="1300">
                <a:solidFill>
                  <a:srgbClr val="262626"/>
                </a:solidFill>
              </a:rPr>
              <a:t>A risk tier with the measured chance of a finding at colonoscopy</a:t>
            </a:r>
          </a:p>
        </p:txBody>
      </p:sp>
      <p:pic>
        <p:nvPicPr>
          <p:cNvPr id="47" name="Picture 46" descr="check_b.png"/>
          <p:cNvPicPr>
            <a:picLocks noChangeAspect="1"/>
          </p:cNvPicPr>
          <p:nvPr/>
        </p:nvPicPr>
        <p:blipFill>
          <a:blip r:embed="rId4"/>
          <a:stretch>
            <a:fillRect/>
          </a:stretch>
        </p:blipFill>
        <p:spPr>
          <a:xfrm>
            <a:off x="6632448" y="8385048"/>
            <a:ext cx="365760" cy="365760"/>
          </a:xfrm>
          <a:prstGeom prst="rect">
            <a:avLst/>
          </a:prstGeom>
        </p:spPr>
      </p:pic>
      <p:sp>
        <p:nvSpPr>
          <p:cNvPr id="48" name="TextBox 47"/>
          <p:cNvSpPr txBox="1"/>
          <p:nvPr/>
        </p:nvSpPr>
        <p:spPr>
          <a:xfrm>
            <a:off x="7135368" y="8275320"/>
            <a:ext cx="4511040" cy="685800"/>
          </a:xfrm>
          <a:prstGeom prst="rect">
            <a:avLst/>
          </a:prstGeom>
          <a:noFill/>
        </p:spPr>
        <p:txBody>
          <a:bodyPr wrap="square" lIns="45720" tIns="27432" rIns="45720" bIns="27432" anchor="ctr">
            <a:spAutoFit/>
          </a:bodyPr>
          <a:lstStyle/>
          <a:p>
            <a:pPr algn="l"/>
            <a:r>
              <a:rPr sz="1300">
                <a:solidFill>
                  <a:srgbClr val="262626"/>
                </a:solidFill>
              </a:rPr>
              <a:t>The right test, when it is due, and where to go, on a map</a:t>
            </a:r>
          </a:p>
        </p:txBody>
      </p:sp>
      <p:pic>
        <p:nvPicPr>
          <p:cNvPr id="49" name="Picture 48" descr="check_b.png"/>
          <p:cNvPicPr>
            <a:picLocks noChangeAspect="1"/>
          </p:cNvPicPr>
          <p:nvPr/>
        </p:nvPicPr>
        <p:blipFill>
          <a:blip r:embed="rId4"/>
          <a:stretch>
            <a:fillRect/>
          </a:stretch>
        </p:blipFill>
        <p:spPr>
          <a:xfrm>
            <a:off x="12012168" y="8385048"/>
            <a:ext cx="365760" cy="365760"/>
          </a:xfrm>
          <a:prstGeom prst="rect">
            <a:avLst/>
          </a:prstGeom>
        </p:spPr>
      </p:pic>
      <p:sp>
        <p:nvSpPr>
          <p:cNvPr id="50" name="TextBox 49"/>
          <p:cNvSpPr txBox="1"/>
          <p:nvPr/>
        </p:nvSpPr>
        <p:spPr>
          <a:xfrm>
            <a:off x="12515088" y="8275320"/>
            <a:ext cx="4511040" cy="685800"/>
          </a:xfrm>
          <a:prstGeom prst="rect">
            <a:avLst/>
          </a:prstGeom>
          <a:noFill/>
        </p:spPr>
        <p:txBody>
          <a:bodyPr wrap="square" lIns="45720" tIns="27432" rIns="45720" bIns="27432" anchor="ctr">
            <a:spAutoFit/>
          </a:bodyPr>
          <a:lstStyle/>
          <a:p>
            <a:pPr algn="l"/>
            <a:r>
              <a:rPr sz="1300">
                <a:solidFill>
                  <a:srgbClr val="262626"/>
                </a:solidFill>
              </a:rPr>
              <a:t>Red flags routed to a doctor within two weeks, not into the screening queue</a:t>
            </a:r>
          </a:p>
        </p:txBody>
      </p:sp>
      <p:sp>
        <p:nvSpPr>
          <p:cNvPr id="51" name="TextBox 50"/>
          <p:cNvSpPr txBox="1"/>
          <p:nvPr/>
        </p:nvSpPr>
        <p:spPr>
          <a:xfrm>
            <a:off x="1252728" y="9006840"/>
            <a:ext cx="15773400" cy="365760"/>
          </a:xfrm>
          <a:prstGeom prst="rect">
            <a:avLst/>
          </a:prstGeom>
          <a:noFill/>
        </p:spPr>
        <p:txBody>
          <a:bodyPr wrap="square" lIns="45720" tIns="27432" rIns="45720" bIns="27432" anchor="t">
            <a:spAutoFit/>
          </a:bodyPr>
          <a:lstStyle/>
          <a:p>
            <a:pPr algn="l"/>
            <a:r>
              <a:rPr sz="1100">
                <a:solidFill>
                  <a:srgbClr val="7E889A"/>
                </a:solidFill>
              </a:rPr>
              <a:t>Educational prototype: a published score, a simplified version of the national programme, no diagnosis, nothing stored.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1252728" y="713232"/>
            <a:ext cx="15773400" cy="1234440"/>
          </a:xfrm>
        </p:spPr>
        <p:txBody>
          <a:bodyPr wrap="square" anchor="t"/>
          <a:lstStyle/>
          <a:p>
            <a:r>
              <a:rPr sz="3200"/>
              <a:t>What you will see: four people, four different routes through the same programme</a:t>
            </a:r>
          </a:p>
        </p:txBody>
      </p:sp>
      <p:sp>
        <p:nvSpPr>
          <p:cNvPr id="5" name="TextBox 4"/>
          <p:cNvSpPr txBox="1"/>
          <p:nvPr/>
        </p:nvSpPr>
        <p:spPr>
          <a:xfrm>
            <a:off x="1252728" y="329184"/>
            <a:ext cx="10972800" cy="292608"/>
          </a:xfrm>
          <a:prstGeom prst="rect">
            <a:avLst/>
          </a:prstGeom>
          <a:noFill/>
        </p:spPr>
        <p:txBody>
          <a:bodyPr wrap="square" lIns="45720" tIns="27432" rIns="45720" bIns="27432" anchor="t">
            <a:spAutoFit/>
          </a:bodyPr>
          <a:lstStyle/>
          <a:p>
            <a:pPr algn="l"/>
            <a:r>
              <a:rPr sz="1100">
                <a:solidFill>
                  <a:srgbClr val="0766D1"/>
                </a:solidFill>
                <a:latin typeface="+mj-lt"/>
              </a:rPr>
              <a:t>EXAMPLE 2 · CANCER EARLY WARNING</a:t>
            </a:r>
          </a:p>
        </p:txBody>
      </p:sp>
      <p:sp>
        <p:nvSpPr>
          <p:cNvPr id="6" name="Rounded Rectangle 5"/>
          <p:cNvSpPr/>
          <p:nvPr/>
        </p:nvSpPr>
        <p:spPr>
          <a:xfrm>
            <a:off x="1252728" y="2331720"/>
            <a:ext cx="3669030" cy="6126480"/>
          </a:xfrm>
          <a:prstGeom prst="roundRect">
            <a:avLst>
              <a:gd name="adj" fmla="val 697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72768" y="2606039"/>
            <a:ext cx="3028950" cy="502920"/>
          </a:xfrm>
          <a:prstGeom prst="rect">
            <a:avLst/>
          </a:prstGeom>
          <a:noFill/>
        </p:spPr>
        <p:txBody>
          <a:bodyPr wrap="square" lIns="45720" tIns="27432" rIns="45720" bIns="27432" anchor="t">
            <a:spAutoFit/>
          </a:bodyPr>
          <a:lstStyle/>
          <a:p>
            <a:pPr algn="l"/>
            <a:r>
              <a:rPr sz="2200">
                <a:solidFill>
                  <a:srgbClr val="262626"/>
                </a:solidFill>
                <a:latin typeface="+mj-lt"/>
              </a:rPr>
              <a:t>Fatima  </a:t>
            </a:r>
          </a:p>
          <a:p>
            <a:pPr algn="l"/>
            <a:r>
              <a:rPr sz="1600">
                <a:solidFill>
                  <a:srgbClr val="7E889A"/>
                </a:solidFill>
              </a:rPr>
              <a:t>44</a:t>
            </a:r>
          </a:p>
        </p:txBody>
      </p:sp>
      <p:sp>
        <p:nvSpPr>
          <p:cNvPr id="8" name="TextBox 7"/>
          <p:cNvSpPr txBox="1"/>
          <p:nvPr/>
        </p:nvSpPr>
        <p:spPr>
          <a:xfrm>
            <a:off x="1572768" y="3291839"/>
            <a:ext cx="3028950" cy="274320"/>
          </a:xfrm>
          <a:prstGeom prst="rect">
            <a:avLst/>
          </a:prstGeom>
          <a:noFill/>
        </p:spPr>
        <p:txBody>
          <a:bodyPr wrap="square" lIns="45720" tIns="27432" rIns="45720" bIns="27432" anchor="t">
            <a:spAutoFit/>
          </a:bodyPr>
          <a:lstStyle/>
          <a:p>
            <a:pPr algn="l"/>
            <a:r>
              <a:rPr sz="1050">
                <a:solidFill>
                  <a:srgbClr val="0766D1"/>
                </a:solidFill>
                <a:latin typeface="+mj-lt"/>
              </a:rPr>
              <a:t>ENTERS</a:t>
            </a:r>
          </a:p>
        </p:txBody>
      </p:sp>
      <p:sp>
        <p:nvSpPr>
          <p:cNvPr id="9" name="TextBox 8"/>
          <p:cNvSpPr txBox="1"/>
          <p:nvPr/>
        </p:nvSpPr>
        <p:spPr>
          <a:xfrm>
            <a:off x="1572768" y="3547872"/>
            <a:ext cx="3028950" cy="1188720"/>
          </a:xfrm>
          <a:prstGeom prst="rect">
            <a:avLst/>
          </a:prstGeom>
          <a:noFill/>
        </p:spPr>
        <p:txBody>
          <a:bodyPr wrap="square" lIns="45720" tIns="27432" rIns="45720" bIns="27432" anchor="t">
            <a:spAutoFit/>
          </a:bodyPr>
          <a:lstStyle/>
          <a:p>
            <a:pPr algn="l"/>
            <a:r>
              <a:rPr sz="1250">
                <a:solidFill>
                  <a:srgbClr val="262626"/>
                </a:solidFill>
              </a:rPr>
              <a:t>Never screened, no family history, non-smoker, BMI 24</a:t>
            </a:r>
          </a:p>
        </p:txBody>
      </p:sp>
      <p:sp>
        <p:nvSpPr>
          <p:cNvPr id="10" name="Rounded Rectangle 9"/>
          <p:cNvSpPr/>
          <p:nvPr/>
        </p:nvSpPr>
        <p:spPr>
          <a:xfrm>
            <a:off x="1572768" y="4846320"/>
            <a:ext cx="3028950" cy="457200"/>
          </a:xfrm>
          <a:prstGeom prst="roundRect">
            <a:avLst>
              <a:gd name="adj" fmla="val 50000"/>
            </a:avLst>
          </a:prstGeom>
          <a:solidFill>
            <a:srgbClr val="C4D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150">
                <a:solidFill>
                  <a:srgbClr val="032954"/>
                </a:solidFill>
                <a:latin typeface="+mj-lt"/>
              </a:rPr>
              <a:t>Average · 0 of 8 points</a:t>
            </a:r>
          </a:p>
        </p:txBody>
      </p:sp>
      <p:sp>
        <p:nvSpPr>
          <p:cNvPr id="11" name="TextBox 10"/>
          <p:cNvSpPr txBox="1"/>
          <p:nvPr/>
        </p:nvSpPr>
        <p:spPr>
          <a:xfrm>
            <a:off x="1572768" y="5532120"/>
            <a:ext cx="3028950" cy="274320"/>
          </a:xfrm>
          <a:prstGeom prst="rect">
            <a:avLst/>
          </a:prstGeom>
          <a:noFill/>
        </p:spPr>
        <p:txBody>
          <a:bodyPr wrap="square" lIns="45720" tIns="27432" rIns="45720" bIns="27432" anchor="t">
            <a:spAutoFit/>
          </a:bodyPr>
          <a:lstStyle/>
          <a:p>
            <a:pPr algn="l"/>
            <a:r>
              <a:rPr sz="1050">
                <a:solidFill>
                  <a:srgbClr val="0766D1"/>
                </a:solidFill>
                <a:latin typeface="+mj-lt"/>
              </a:rPr>
              <a:t>THE ROUTE</a:t>
            </a:r>
          </a:p>
        </p:txBody>
      </p:sp>
      <p:sp>
        <p:nvSpPr>
          <p:cNvPr id="12" name="TextBox 11"/>
          <p:cNvSpPr txBox="1"/>
          <p:nvPr/>
        </p:nvSpPr>
        <p:spPr>
          <a:xfrm>
            <a:off x="1572768" y="5788152"/>
            <a:ext cx="3028950" cy="1417320"/>
          </a:xfrm>
          <a:prstGeom prst="rect">
            <a:avLst/>
          </a:prstGeom>
          <a:noFill/>
        </p:spPr>
        <p:txBody>
          <a:bodyPr wrap="square" lIns="45720" tIns="27432" rIns="45720" bIns="27432" anchor="t">
            <a:spAutoFit/>
          </a:bodyPr>
          <a:lstStyle/>
          <a:p>
            <a:pPr algn="l"/>
            <a:r>
              <a:rPr sz="1300">
                <a:solidFill>
                  <a:srgbClr val="032954"/>
                </a:solidFill>
                <a:latin typeface="+mj-lt"/>
              </a:rPr>
              <a:t>Due now: a FIT kit at home, repeated yearly</a:t>
            </a:r>
          </a:p>
        </p:txBody>
      </p:sp>
      <p:sp>
        <p:nvSpPr>
          <p:cNvPr id="13" name="TextBox 12"/>
          <p:cNvSpPr txBox="1"/>
          <p:nvPr/>
        </p:nvSpPr>
        <p:spPr>
          <a:xfrm>
            <a:off x="1572768" y="7223759"/>
            <a:ext cx="3028950" cy="274320"/>
          </a:xfrm>
          <a:prstGeom prst="rect">
            <a:avLst/>
          </a:prstGeom>
          <a:noFill/>
        </p:spPr>
        <p:txBody>
          <a:bodyPr wrap="square" lIns="45720" tIns="27432" rIns="45720" bIns="27432" anchor="t">
            <a:spAutoFit/>
          </a:bodyPr>
          <a:lstStyle/>
          <a:p>
            <a:pPr algn="l"/>
            <a:r>
              <a:rPr sz="1050">
                <a:solidFill>
                  <a:srgbClr val="0766D1"/>
                </a:solidFill>
                <a:latin typeface="+mj-lt"/>
              </a:rPr>
              <a:t>WHERE</a:t>
            </a:r>
          </a:p>
        </p:txBody>
      </p:sp>
      <p:sp>
        <p:nvSpPr>
          <p:cNvPr id="14" name="TextBox 13"/>
          <p:cNvSpPr txBox="1"/>
          <p:nvPr/>
        </p:nvSpPr>
        <p:spPr>
          <a:xfrm>
            <a:off x="1572768" y="7479792"/>
            <a:ext cx="3028950" cy="868680"/>
          </a:xfrm>
          <a:prstGeom prst="rect">
            <a:avLst/>
          </a:prstGeom>
          <a:noFill/>
        </p:spPr>
        <p:txBody>
          <a:bodyPr wrap="square" lIns="45720" tIns="27432" rIns="45720" bIns="27432" anchor="t">
            <a:spAutoFit/>
          </a:bodyPr>
          <a:lstStyle/>
          <a:p>
            <a:pPr algn="l"/>
            <a:r>
              <a:rPr sz="1250">
                <a:solidFill>
                  <a:srgbClr val="262626"/>
                </a:solidFill>
              </a:rPr>
              <a:t>The nearest health centre</a:t>
            </a:r>
          </a:p>
        </p:txBody>
      </p:sp>
      <p:sp>
        <p:nvSpPr>
          <p:cNvPr id="15" name="Rounded Rectangle 14"/>
          <p:cNvSpPr/>
          <p:nvPr/>
        </p:nvSpPr>
        <p:spPr>
          <a:xfrm>
            <a:off x="5287518" y="2331720"/>
            <a:ext cx="3669030" cy="6126480"/>
          </a:xfrm>
          <a:prstGeom prst="roundRect">
            <a:avLst>
              <a:gd name="adj" fmla="val 697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07558" y="2606039"/>
            <a:ext cx="3028950" cy="502920"/>
          </a:xfrm>
          <a:prstGeom prst="rect">
            <a:avLst/>
          </a:prstGeom>
          <a:noFill/>
        </p:spPr>
        <p:txBody>
          <a:bodyPr wrap="square" lIns="45720" tIns="27432" rIns="45720" bIns="27432" anchor="t">
            <a:spAutoFit/>
          </a:bodyPr>
          <a:lstStyle/>
          <a:p>
            <a:pPr algn="l"/>
            <a:r>
              <a:rPr sz="2200">
                <a:solidFill>
                  <a:srgbClr val="262626"/>
                </a:solidFill>
                <a:latin typeface="+mj-lt"/>
              </a:rPr>
              <a:t>Khalid  </a:t>
            </a:r>
          </a:p>
          <a:p>
            <a:pPr algn="l"/>
            <a:r>
              <a:rPr sz="1600">
                <a:solidFill>
                  <a:srgbClr val="7E889A"/>
                </a:solidFill>
              </a:rPr>
              <a:t>56</a:t>
            </a:r>
          </a:p>
        </p:txBody>
      </p:sp>
      <p:sp>
        <p:nvSpPr>
          <p:cNvPr id="17" name="TextBox 16"/>
          <p:cNvSpPr txBox="1"/>
          <p:nvPr/>
        </p:nvSpPr>
        <p:spPr>
          <a:xfrm>
            <a:off x="5607558" y="3291839"/>
            <a:ext cx="3028950" cy="274320"/>
          </a:xfrm>
          <a:prstGeom prst="rect">
            <a:avLst/>
          </a:prstGeom>
          <a:noFill/>
        </p:spPr>
        <p:txBody>
          <a:bodyPr wrap="square" lIns="45720" tIns="27432" rIns="45720" bIns="27432" anchor="t">
            <a:spAutoFit/>
          </a:bodyPr>
          <a:lstStyle/>
          <a:p>
            <a:pPr algn="l"/>
            <a:r>
              <a:rPr sz="1050">
                <a:solidFill>
                  <a:srgbClr val="0766D1"/>
                </a:solidFill>
                <a:latin typeface="+mj-lt"/>
              </a:rPr>
              <a:t>ENTERS</a:t>
            </a:r>
          </a:p>
        </p:txBody>
      </p:sp>
      <p:sp>
        <p:nvSpPr>
          <p:cNvPr id="18" name="TextBox 17"/>
          <p:cNvSpPr txBox="1"/>
          <p:nvPr/>
        </p:nvSpPr>
        <p:spPr>
          <a:xfrm>
            <a:off x="5607558" y="3547872"/>
            <a:ext cx="3028950" cy="1188720"/>
          </a:xfrm>
          <a:prstGeom prst="rect">
            <a:avLst/>
          </a:prstGeom>
          <a:noFill/>
        </p:spPr>
        <p:txBody>
          <a:bodyPr wrap="square" lIns="45720" tIns="27432" rIns="45720" bIns="27432" anchor="t">
            <a:spAutoFit/>
          </a:bodyPr>
          <a:lstStyle/>
          <a:p>
            <a:pPr algn="l"/>
            <a:r>
              <a:rPr sz="1250">
                <a:solidFill>
                  <a:srgbClr val="262626"/>
                </a:solidFill>
              </a:rPr>
              <a:t>Smoker, diabetes, BMI 30, father diagnosed at 71, never screened</a:t>
            </a:r>
          </a:p>
        </p:txBody>
      </p:sp>
      <p:sp>
        <p:nvSpPr>
          <p:cNvPr id="19" name="Rounded Rectangle 18"/>
          <p:cNvSpPr/>
          <p:nvPr/>
        </p:nvSpPr>
        <p:spPr>
          <a:xfrm>
            <a:off x="5607558" y="4846320"/>
            <a:ext cx="3028950" cy="457200"/>
          </a:xfrm>
          <a:prstGeom prst="roundRect">
            <a:avLst>
              <a:gd name="adj" fmla="val 50000"/>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150">
                <a:solidFill>
                  <a:srgbClr val="FFFFFF"/>
                </a:solidFill>
                <a:latin typeface="+mj-lt"/>
              </a:rPr>
              <a:t>Higher · 7 of 8 points</a:t>
            </a:r>
          </a:p>
        </p:txBody>
      </p:sp>
      <p:sp>
        <p:nvSpPr>
          <p:cNvPr id="20" name="TextBox 19"/>
          <p:cNvSpPr txBox="1"/>
          <p:nvPr/>
        </p:nvSpPr>
        <p:spPr>
          <a:xfrm>
            <a:off x="5607558" y="5532120"/>
            <a:ext cx="3028950" cy="274320"/>
          </a:xfrm>
          <a:prstGeom prst="rect">
            <a:avLst/>
          </a:prstGeom>
          <a:noFill/>
        </p:spPr>
        <p:txBody>
          <a:bodyPr wrap="square" lIns="45720" tIns="27432" rIns="45720" bIns="27432" anchor="t">
            <a:spAutoFit/>
          </a:bodyPr>
          <a:lstStyle/>
          <a:p>
            <a:pPr algn="l"/>
            <a:r>
              <a:rPr sz="1050">
                <a:solidFill>
                  <a:srgbClr val="0766D1"/>
                </a:solidFill>
                <a:latin typeface="+mj-lt"/>
              </a:rPr>
              <a:t>THE ROUTE</a:t>
            </a:r>
          </a:p>
        </p:txBody>
      </p:sp>
      <p:sp>
        <p:nvSpPr>
          <p:cNvPr id="21" name="TextBox 20"/>
          <p:cNvSpPr txBox="1"/>
          <p:nvPr/>
        </p:nvSpPr>
        <p:spPr>
          <a:xfrm>
            <a:off x="5607558" y="5788152"/>
            <a:ext cx="3028950" cy="1417320"/>
          </a:xfrm>
          <a:prstGeom prst="rect">
            <a:avLst/>
          </a:prstGeom>
          <a:noFill/>
        </p:spPr>
        <p:txBody>
          <a:bodyPr wrap="square" lIns="45720" tIns="27432" rIns="45720" bIns="27432" anchor="t">
            <a:spAutoFit/>
          </a:bodyPr>
          <a:lstStyle/>
          <a:p>
            <a:pPr algn="l"/>
            <a:r>
              <a:rPr sz="1300">
                <a:solidFill>
                  <a:srgbClr val="032954"/>
                </a:solidFill>
                <a:latin typeface="+mj-lt"/>
              </a:rPr>
              <a:t>Due now; with this tier, colonoscopy is worth considering directly</a:t>
            </a:r>
          </a:p>
        </p:txBody>
      </p:sp>
      <p:sp>
        <p:nvSpPr>
          <p:cNvPr id="22" name="TextBox 21"/>
          <p:cNvSpPr txBox="1"/>
          <p:nvPr/>
        </p:nvSpPr>
        <p:spPr>
          <a:xfrm>
            <a:off x="5607558" y="7223759"/>
            <a:ext cx="3028950" cy="274320"/>
          </a:xfrm>
          <a:prstGeom prst="rect">
            <a:avLst/>
          </a:prstGeom>
          <a:noFill/>
        </p:spPr>
        <p:txBody>
          <a:bodyPr wrap="square" lIns="45720" tIns="27432" rIns="45720" bIns="27432" anchor="t">
            <a:spAutoFit/>
          </a:bodyPr>
          <a:lstStyle/>
          <a:p>
            <a:pPr algn="l"/>
            <a:r>
              <a:rPr sz="1050">
                <a:solidFill>
                  <a:srgbClr val="0766D1"/>
                </a:solidFill>
                <a:latin typeface="+mj-lt"/>
              </a:rPr>
              <a:t>WHERE</a:t>
            </a:r>
          </a:p>
        </p:txBody>
      </p:sp>
      <p:sp>
        <p:nvSpPr>
          <p:cNvPr id="23" name="TextBox 22"/>
          <p:cNvSpPr txBox="1"/>
          <p:nvPr/>
        </p:nvSpPr>
        <p:spPr>
          <a:xfrm>
            <a:off x="5607558" y="7479792"/>
            <a:ext cx="3028950" cy="868680"/>
          </a:xfrm>
          <a:prstGeom prst="rect">
            <a:avLst/>
          </a:prstGeom>
          <a:noFill/>
        </p:spPr>
        <p:txBody>
          <a:bodyPr wrap="square" lIns="45720" tIns="27432" rIns="45720" bIns="27432" anchor="t">
            <a:spAutoFit/>
          </a:bodyPr>
          <a:lstStyle/>
          <a:p>
            <a:pPr algn="l"/>
            <a:r>
              <a:rPr sz="1250">
                <a:solidFill>
                  <a:srgbClr val="262626"/>
                </a:solidFill>
              </a:rPr>
              <a:t>A health centre for FIT, or a hospital for colonoscopy</a:t>
            </a:r>
          </a:p>
        </p:txBody>
      </p:sp>
      <p:sp>
        <p:nvSpPr>
          <p:cNvPr id="24" name="Rounded Rectangle 23"/>
          <p:cNvSpPr/>
          <p:nvPr/>
        </p:nvSpPr>
        <p:spPr>
          <a:xfrm>
            <a:off x="9322308" y="2331720"/>
            <a:ext cx="3669030" cy="6126480"/>
          </a:xfrm>
          <a:prstGeom prst="roundRect">
            <a:avLst>
              <a:gd name="adj" fmla="val 697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42348" y="2606039"/>
            <a:ext cx="3028950" cy="502920"/>
          </a:xfrm>
          <a:prstGeom prst="rect">
            <a:avLst/>
          </a:prstGeom>
          <a:noFill/>
        </p:spPr>
        <p:txBody>
          <a:bodyPr wrap="square" lIns="45720" tIns="27432" rIns="45720" bIns="27432" anchor="t">
            <a:spAutoFit/>
          </a:bodyPr>
          <a:lstStyle/>
          <a:p>
            <a:pPr algn="l"/>
            <a:r>
              <a:rPr sz="2200">
                <a:solidFill>
                  <a:srgbClr val="262626"/>
                </a:solidFill>
                <a:latin typeface="+mj-lt"/>
              </a:rPr>
              <a:t>Mariam  </a:t>
            </a:r>
          </a:p>
          <a:p>
            <a:pPr algn="l"/>
            <a:r>
              <a:rPr sz="1600">
                <a:solidFill>
                  <a:srgbClr val="7E889A"/>
                </a:solidFill>
              </a:rPr>
              <a:t>38</a:t>
            </a:r>
          </a:p>
        </p:txBody>
      </p:sp>
      <p:sp>
        <p:nvSpPr>
          <p:cNvPr id="26" name="TextBox 25"/>
          <p:cNvSpPr txBox="1"/>
          <p:nvPr/>
        </p:nvSpPr>
        <p:spPr>
          <a:xfrm>
            <a:off x="9642348" y="3291839"/>
            <a:ext cx="3028950" cy="274320"/>
          </a:xfrm>
          <a:prstGeom prst="rect">
            <a:avLst/>
          </a:prstGeom>
          <a:noFill/>
        </p:spPr>
        <p:txBody>
          <a:bodyPr wrap="square" lIns="45720" tIns="27432" rIns="45720" bIns="27432" anchor="t">
            <a:spAutoFit/>
          </a:bodyPr>
          <a:lstStyle/>
          <a:p>
            <a:pPr algn="l"/>
            <a:r>
              <a:rPr sz="1050">
                <a:solidFill>
                  <a:srgbClr val="0766D1"/>
                </a:solidFill>
                <a:latin typeface="+mj-lt"/>
              </a:rPr>
              <a:t>ENTERS</a:t>
            </a:r>
          </a:p>
        </p:txBody>
      </p:sp>
      <p:sp>
        <p:nvSpPr>
          <p:cNvPr id="27" name="TextBox 26"/>
          <p:cNvSpPr txBox="1"/>
          <p:nvPr/>
        </p:nvSpPr>
        <p:spPr>
          <a:xfrm>
            <a:off x="9642348" y="3547872"/>
            <a:ext cx="3028950" cy="1188720"/>
          </a:xfrm>
          <a:prstGeom prst="rect">
            <a:avLst/>
          </a:prstGeom>
          <a:noFill/>
        </p:spPr>
        <p:txBody>
          <a:bodyPr wrap="square" lIns="45720" tIns="27432" rIns="45720" bIns="27432" anchor="t">
            <a:spAutoFit/>
          </a:bodyPr>
          <a:lstStyle/>
          <a:p>
            <a:pPr algn="l"/>
            <a:r>
              <a:rPr sz="1250">
                <a:solidFill>
                  <a:srgbClr val="262626"/>
                </a:solidFill>
              </a:rPr>
              <a:t>Sister diagnosed at 46; otherwise healthy, active, non-smoker</a:t>
            </a:r>
          </a:p>
        </p:txBody>
      </p:sp>
      <p:sp>
        <p:nvSpPr>
          <p:cNvPr id="28" name="Rounded Rectangle 27"/>
          <p:cNvSpPr/>
          <p:nvPr/>
        </p:nvSpPr>
        <p:spPr>
          <a:xfrm>
            <a:off x="9642348" y="4846320"/>
            <a:ext cx="3028950" cy="457200"/>
          </a:xfrm>
          <a:prstGeom prst="roundRect">
            <a:avLst>
              <a:gd name="adj" fmla="val 50000"/>
            </a:avLst>
          </a:prstGeom>
          <a:solidFill>
            <a:srgbClr val="4398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150">
                <a:solidFill>
                  <a:srgbClr val="FFFFFF"/>
                </a:solidFill>
                <a:latin typeface="+mj-lt"/>
              </a:rPr>
              <a:t>Moderately raised · 2 of 8</a:t>
            </a:r>
          </a:p>
        </p:txBody>
      </p:sp>
      <p:sp>
        <p:nvSpPr>
          <p:cNvPr id="29" name="TextBox 28"/>
          <p:cNvSpPr txBox="1"/>
          <p:nvPr/>
        </p:nvSpPr>
        <p:spPr>
          <a:xfrm>
            <a:off x="9642348" y="5532120"/>
            <a:ext cx="3028950" cy="274320"/>
          </a:xfrm>
          <a:prstGeom prst="rect">
            <a:avLst/>
          </a:prstGeom>
          <a:noFill/>
        </p:spPr>
        <p:txBody>
          <a:bodyPr wrap="square" lIns="45720" tIns="27432" rIns="45720" bIns="27432" anchor="t">
            <a:spAutoFit/>
          </a:bodyPr>
          <a:lstStyle/>
          <a:p>
            <a:pPr algn="l"/>
            <a:r>
              <a:rPr sz="1050">
                <a:solidFill>
                  <a:srgbClr val="0766D1"/>
                </a:solidFill>
                <a:latin typeface="+mj-lt"/>
              </a:rPr>
              <a:t>THE ROUTE</a:t>
            </a:r>
          </a:p>
        </p:txBody>
      </p:sp>
      <p:sp>
        <p:nvSpPr>
          <p:cNvPr id="30" name="TextBox 29"/>
          <p:cNvSpPr txBox="1"/>
          <p:nvPr/>
        </p:nvSpPr>
        <p:spPr>
          <a:xfrm>
            <a:off x="9642348" y="5788152"/>
            <a:ext cx="3028950" cy="1417320"/>
          </a:xfrm>
          <a:prstGeom prst="rect">
            <a:avLst/>
          </a:prstGeom>
          <a:noFill/>
        </p:spPr>
        <p:txBody>
          <a:bodyPr wrap="square" lIns="45720" tIns="27432" rIns="45720" bIns="27432" anchor="t">
            <a:spAutoFit/>
          </a:bodyPr>
          <a:lstStyle/>
          <a:p>
            <a:pPr algn="l"/>
            <a:r>
              <a:rPr sz="1300">
                <a:solidFill>
                  <a:srgbClr val="032954"/>
                </a:solidFill>
                <a:latin typeface="+mj-lt"/>
              </a:rPr>
              <a:t>Colonoscopy every five years from 36: due now, not at 40</a:t>
            </a:r>
          </a:p>
        </p:txBody>
      </p:sp>
      <p:sp>
        <p:nvSpPr>
          <p:cNvPr id="31" name="TextBox 30"/>
          <p:cNvSpPr txBox="1"/>
          <p:nvPr/>
        </p:nvSpPr>
        <p:spPr>
          <a:xfrm>
            <a:off x="9642348" y="7223759"/>
            <a:ext cx="3028950" cy="274320"/>
          </a:xfrm>
          <a:prstGeom prst="rect">
            <a:avLst/>
          </a:prstGeom>
          <a:noFill/>
        </p:spPr>
        <p:txBody>
          <a:bodyPr wrap="square" lIns="45720" tIns="27432" rIns="45720" bIns="27432" anchor="t">
            <a:spAutoFit/>
          </a:bodyPr>
          <a:lstStyle/>
          <a:p>
            <a:pPr algn="l"/>
            <a:r>
              <a:rPr sz="1050">
                <a:solidFill>
                  <a:srgbClr val="0766D1"/>
                </a:solidFill>
                <a:latin typeface="+mj-lt"/>
              </a:rPr>
              <a:t>WHERE</a:t>
            </a:r>
          </a:p>
        </p:txBody>
      </p:sp>
      <p:sp>
        <p:nvSpPr>
          <p:cNvPr id="32" name="TextBox 31"/>
          <p:cNvSpPr txBox="1"/>
          <p:nvPr/>
        </p:nvSpPr>
        <p:spPr>
          <a:xfrm>
            <a:off x="9642348" y="7479792"/>
            <a:ext cx="3028950" cy="868680"/>
          </a:xfrm>
          <a:prstGeom prst="rect">
            <a:avLst/>
          </a:prstGeom>
          <a:noFill/>
        </p:spPr>
        <p:txBody>
          <a:bodyPr wrap="square" lIns="45720" tIns="27432" rIns="45720" bIns="27432" anchor="t">
            <a:spAutoFit/>
          </a:bodyPr>
          <a:lstStyle/>
          <a:p>
            <a:pPr algn="l"/>
            <a:r>
              <a:rPr sz="1250">
                <a:solidFill>
                  <a:srgbClr val="262626"/>
                </a:solidFill>
              </a:rPr>
              <a:t>A hospital endoscopy unit</a:t>
            </a:r>
          </a:p>
        </p:txBody>
      </p:sp>
      <p:sp>
        <p:nvSpPr>
          <p:cNvPr id="33" name="Rounded Rectangle 32"/>
          <p:cNvSpPr/>
          <p:nvPr/>
        </p:nvSpPr>
        <p:spPr>
          <a:xfrm>
            <a:off x="13357098" y="2331720"/>
            <a:ext cx="3669030" cy="6126480"/>
          </a:xfrm>
          <a:prstGeom prst="roundRect">
            <a:avLst>
              <a:gd name="adj" fmla="val 697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3677138" y="2606039"/>
            <a:ext cx="3028950" cy="502920"/>
          </a:xfrm>
          <a:prstGeom prst="rect">
            <a:avLst/>
          </a:prstGeom>
          <a:noFill/>
        </p:spPr>
        <p:txBody>
          <a:bodyPr wrap="square" lIns="45720" tIns="27432" rIns="45720" bIns="27432" anchor="t">
            <a:spAutoFit/>
          </a:bodyPr>
          <a:lstStyle/>
          <a:p>
            <a:pPr algn="l"/>
            <a:r>
              <a:rPr sz="2200">
                <a:solidFill>
                  <a:srgbClr val="262626"/>
                </a:solidFill>
                <a:latin typeface="+mj-lt"/>
              </a:rPr>
              <a:t>Youssef  </a:t>
            </a:r>
          </a:p>
          <a:p>
            <a:pPr algn="l"/>
            <a:r>
              <a:rPr sz="1600">
                <a:solidFill>
                  <a:srgbClr val="7E889A"/>
                </a:solidFill>
              </a:rPr>
              <a:t>61</a:t>
            </a:r>
          </a:p>
        </p:txBody>
      </p:sp>
      <p:sp>
        <p:nvSpPr>
          <p:cNvPr id="35" name="TextBox 34"/>
          <p:cNvSpPr txBox="1"/>
          <p:nvPr/>
        </p:nvSpPr>
        <p:spPr>
          <a:xfrm>
            <a:off x="13677138" y="3291839"/>
            <a:ext cx="3028950" cy="274320"/>
          </a:xfrm>
          <a:prstGeom prst="rect">
            <a:avLst/>
          </a:prstGeom>
          <a:noFill/>
        </p:spPr>
        <p:txBody>
          <a:bodyPr wrap="square" lIns="45720" tIns="27432" rIns="45720" bIns="27432" anchor="t">
            <a:spAutoFit/>
          </a:bodyPr>
          <a:lstStyle/>
          <a:p>
            <a:pPr algn="l"/>
            <a:r>
              <a:rPr sz="1050">
                <a:solidFill>
                  <a:srgbClr val="0766D1"/>
                </a:solidFill>
                <a:latin typeface="+mj-lt"/>
              </a:rPr>
              <a:t>ENTERS</a:t>
            </a:r>
          </a:p>
        </p:txBody>
      </p:sp>
      <p:sp>
        <p:nvSpPr>
          <p:cNvPr id="36" name="TextBox 35"/>
          <p:cNvSpPr txBox="1"/>
          <p:nvPr/>
        </p:nvSpPr>
        <p:spPr>
          <a:xfrm>
            <a:off x="13677138" y="3547872"/>
            <a:ext cx="3028950" cy="1188720"/>
          </a:xfrm>
          <a:prstGeom prst="rect">
            <a:avLst/>
          </a:prstGeom>
          <a:noFill/>
        </p:spPr>
        <p:txBody>
          <a:bodyPr wrap="square" lIns="45720" tIns="27432" rIns="45720" bIns="27432" anchor="t">
            <a:spAutoFit/>
          </a:bodyPr>
          <a:lstStyle/>
          <a:p>
            <a:pPr algn="l"/>
            <a:r>
              <a:rPr sz="1250">
                <a:solidFill>
                  <a:srgbClr val="262626"/>
                </a:solidFill>
              </a:rPr>
              <a:t>Bleeding and a changed bowel habit for three weeks; last colonoscopy over ten years ago</a:t>
            </a:r>
          </a:p>
        </p:txBody>
      </p:sp>
      <p:sp>
        <p:nvSpPr>
          <p:cNvPr id="37" name="Rounded Rectangle 36"/>
          <p:cNvSpPr/>
          <p:nvPr/>
        </p:nvSpPr>
        <p:spPr>
          <a:xfrm>
            <a:off x="13677138" y="4846320"/>
            <a:ext cx="3028950" cy="457200"/>
          </a:xfrm>
          <a:prstGeom prst="roundRect">
            <a:avLst>
              <a:gd name="adj" fmla="val 5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150">
                <a:solidFill>
                  <a:srgbClr val="FFFFFF"/>
                </a:solidFill>
                <a:latin typeface="+mj-lt"/>
              </a:rPr>
              <a:t>Symptoms decide, not the score</a:t>
            </a:r>
          </a:p>
        </p:txBody>
      </p:sp>
      <p:sp>
        <p:nvSpPr>
          <p:cNvPr id="38" name="TextBox 37"/>
          <p:cNvSpPr txBox="1"/>
          <p:nvPr/>
        </p:nvSpPr>
        <p:spPr>
          <a:xfrm>
            <a:off x="13677138" y="5532120"/>
            <a:ext cx="3028950" cy="274320"/>
          </a:xfrm>
          <a:prstGeom prst="rect">
            <a:avLst/>
          </a:prstGeom>
          <a:noFill/>
        </p:spPr>
        <p:txBody>
          <a:bodyPr wrap="square" lIns="45720" tIns="27432" rIns="45720" bIns="27432" anchor="t">
            <a:spAutoFit/>
          </a:bodyPr>
          <a:lstStyle/>
          <a:p>
            <a:pPr algn="l"/>
            <a:r>
              <a:rPr sz="1050">
                <a:solidFill>
                  <a:srgbClr val="0766D1"/>
                </a:solidFill>
                <a:latin typeface="+mj-lt"/>
              </a:rPr>
              <a:t>THE ROUTE</a:t>
            </a:r>
          </a:p>
        </p:txBody>
      </p:sp>
      <p:sp>
        <p:nvSpPr>
          <p:cNvPr id="39" name="TextBox 38"/>
          <p:cNvSpPr txBox="1"/>
          <p:nvPr/>
        </p:nvSpPr>
        <p:spPr>
          <a:xfrm>
            <a:off x="13677138" y="5788152"/>
            <a:ext cx="3028950" cy="1417320"/>
          </a:xfrm>
          <a:prstGeom prst="rect">
            <a:avLst/>
          </a:prstGeom>
          <a:noFill/>
        </p:spPr>
        <p:txBody>
          <a:bodyPr wrap="square" lIns="45720" tIns="27432" rIns="45720" bIns="27432" anchor="t">
            <a:spAutoFit/>
          </a:bodyPr>
          <a:lstStyle/>
          <a:p>
            <a:pPr algn="l"/>
            <a:r>
              <a:rPr sz="1300">
                <a:solidFill>
                  <a:srgbClr val="032954"/>
                </a:solidFill>
                <a:latin typeface="+mj-lt"/>
              </a:rPr>
              <a:t>Urgent: a doctor within two weeks, then colonoscopy by referral. Not screening.</a:t>
            </a:r>
          </a:p>
        </p:txBody>
      </p:sp>
      <p:sp>
        <p:nvSpPr>
          <p:cNvPr id="40" name="TextBox 39"/>
          <p:cNvSpPr txBox="1"/>
          <p:nvPr/>
        </p:nvSpPr>
        <p:spPr>
          <a:xfrm>
            <a:off x="13677138" y="7223759"/>
            <a:ext cx="3028950" cy="274320"/>
          </a:xfrm>
          <a:prstGeom prst="rect">
            <a:avLst/>
          </a:prstGeom>
          <a:noFill/>
        </p:spPr>
        <p:txBody>
          <a:bodyPr wrap="square" lIns="45720" tIns="27432" rIns="45720" bIns="27432" anchor="t">
            <a:spAutoFit/>
          </a:bodyPr>
          <a:lstStyle/>
          <a:p>
            <a:pPr algn="l"/>
            <a:r>
              <a:rPr sz="1050">
                <a:solidFill>
                  <a:srgbClr val="0766D1"/>
                </a:solidFill>
                <a:latin typeface="+mj-lt"/>
              </a:rPr>
              <a:t>WHERE</a:t>
            </a:r>
          </a:p>
        </p:txBody>
      </p:sp>
      <p:sp>
        <p:nvSpPr>
          <p:cNvPr id="41" name="TextBox 40"/>
          <p:cNvSpPr txBox="1"/>
          <p:nvPr/>
        </p:nvSpPr>
        <p:spPr>
          <a:xfrm>
            <a:off x="13677138" y="7479792"/>
            <a:ext cx="3028950" cy="868680"/>
          </a:xfrm>
          <a:prstGeom prst="rect">
            <a:avLst/>
          </a:prstGeom>
          <a:noFill/>
        </p:spPr>
        <p:txBody>
          <a:bodyPr wrap="square" lIns="45720" tIns="27432" rIns="45720" bIns="27432" anchor="t">
            <a:spAutoFit/>
          </a:bodyPr>
          <a:lstStyle/>
          <a:p>
            <a:pPr algn="l"/>
            <a:r>
              <a:rPr sz="1250">
                <a:solidFill>
                  <a:srgbClr val="262626"/>
                </a:solidFill>
              </a:rPr>
              <a:t>The nearest doctor, this week</a:t>
            </a:r>
          </a:p>
        </p:txBody>
      </p:sp>
      <p:sp>
        <p:nvSpPr>
          <p:cNvPr id="42" name="TextBox 41"/>
          <p:cNvSpPr txBox="1"/>
          <p:nvPr/>
        </p:nvSpPr>
        <p:spPr>
          <a:xfrm>
            <a:off x="1252728" y="8686800"/>
            <a:ext cx="15773400" cy="640080"/>
          </a:xfrm>
          <a:prstGeom prst="rect">
            <a:avLst/>
          </a:prstGeom>
          <a:noFill/>
        </p:spPr>
        <p:txBody>
          <a:bodyPr wrap="square" lIns="45720" tIns="27432" rIns="45720" bIns="27432" anchor="t">
            <a:spAutoFit/>
          </a:bodyPr>
          <a:lstStyle/>
          <a:p>
            <a:pPr algn="l"/>
            <a:r>
              <a:rPr sz="1200">
                <a:solidFill>
                  <a:srgbClr val="7E889A"/>
                </a:solidFill>
              </a:rPr>
              <a:t>Then: type "I noticed some blood last week" into the notes and watch the check pick it up. Ask the assistant what a FIT test involves, in Arabic. Finally, zoom out to the programme view.</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1252728" y="713232"/>
            <a:ext cx="15773400" cy="1234440"/>
          </a:xfrm>
        </p:spPr>
        <p:txBody>
          <a:bodyPr wrap="square" anchor="t"/>
          <a:lstStyle/>
          <a:p>
            <a:r>
              <a:rPr sz="3200"/>
              <a:t>From one person to a programme: the same engine over the registry becomes an early-warning system</a:t>
            </a:r>
          </a:p>
        </p:txBody>
      </p:sp>
      <p:sp>
        <p:nvSpPr>
          <p:cNvPr id="5" name="TextBox 4"/>
          <p:cNvSpPr txBox="1"/>
          <p:nvPr/>
        </p:nvSpPr>
        <p:spPr>
          <a:xfrm>
            <a:off x="1252728" y="329184"/>
            <a:ext cx="10972800" cy="292608"/>
          </a:xfrm>
          <a:prstGeom prst="rect">
            <a:avLst/>
          </a:prstGeom>
          <a:noFill/>
        </p:spPr>
        <p:txBody>
          <a:bodyPr wrap="square" lIns="45720" tIns="27432" rIns="45720" bIns="27432" anchor="t">
            <a:spAutoFit/>
          </a:bodyPr>
          <a:lstStyle/>
          <a:p>
            <a:pPr algn="l"/>
            <a:r>
              <a:rPr sz="1100">
                <a:solidFill>
                  <a:srgbClr val="0766D1"/>
                </a:solidFill>
                <a:latin typeface="+mj-lt"/>
              </a:rPr>
              <a:t>EXAMPLE 2 · CANCER EARLY WARNING</a:t>
            </a:r>
          </a:p>
        </p:txBody>
      </p:sp>
      <p:sp>
        <p:nvSpPr>
          <p:cNvPr id="6" name="TextBox 5"/>
          <p:cNvSpPr txBox="1"/>
          <p:nvPr/>
        </p:nvSpPr>
        <p:spPr>
          <a:xfrm>
            <a:off x="1252728" y="2331720"/>
            <a:ext cx="8503920" cy="457200"/>
          </a:xfrm>
          <a:prstGeom prst="rect">
            <a:avLst/>
          </a:prstGeom>
          <a:noFill/>
        </p:spPr>
        <p:txBody>
          <a:bodyPr wrap="square" lIns="45720" tIns="27432" rIns="45720" bIns="27432" anchor="t">
            <a:spAutoFit/>
          </a:bodyPr>
          <a:lstStyle/>
          <a:p>
            <a:pPr algn="l"/>
            <a:r>
              <a:rPr sz="1900">
                <a:solidFill>
                  <a:srgbClr val="0766D1"/>
                </a:solidFill>
                <a:latin typeface="+mj-lt"/>
              </a:rPr>
              <a:t>What the engine does at population scale</a:t>
            </a:r>
          </a:p>
        </p:txBody>
      </p:sp>
      <p:sp>
        <p:nvSpPr>
          <p:cNvPr id="7" name="Oval 6"/>
          <p:cNvSpPr/>
          <p:nvPr/>
        </p:nvSpPr>
        <p:spPr>
          <a:xfrm>
            <a:off x="1252728" y="3108960"/>
            <a:ext cx="640080" cy="640080"/>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users_w.png"/>
          <p:cNvPicPr>
            <a:picLocks noChangeAspect="1"/>
          </p:cNvPicPr>
          <p:nvPr/>
        </p:nvPicPr>
        <p:blipFill>
          <a:blip r:embed="rId2"/>
          <a:stretch>
            <a:fillRect/>
          </a:stretch>
        </p:blipFill>
        <p:spPr>
          <a:xfrm>
            <a:off x="1396746" y="3252978"/>
            <a:ext cx="352044" cy="352044"/>
          </a:xfrm>
          <a:prstGeom prst="rect">
            <a:avLst/>
          </a:prstGeom>
        </p:spPr>
      </p:pic>
      <p:sp>
        <p:nvSpPr>
          <p:cNvPr id="9" name="TextBox 8"/>
          <p:cNvSpPr txBox="1"/>
          <p:nvPr/>
        </p:nvSpPr>
        <p:spPr>
          <a:xfrm>
            <a:off x="2093976" y="3054096"/>
            <a:ext cx="7662672" cy="384048"/>
          </a:xfrm>
          <a:prstGeom prst="rect">
            <a:avLst/>
          </a:prstGeom>
          <a:noFill/>
        </p:spPr>
        <p:txBody>
          <a:bodyPr wrap="square" lIns="45720" tIns="27432" rIns="45720" bIns="27432" anchor="t">
            <a:spAutoFit/>
          </a:bodyPr>
          <a:lstStyle/>
          <a:p>
            <a:pPr algn="l"/>
            <a:r>
              <a:rPr sz="1600">
                <a:solidFill>
                  <a:srgbClr val="262626"/>
                </a:solidFill>
                <a:latin typeface="+mj-lt"/>
              </a:rPr>
              <a:t>Who is due, and who is overdue</a:t>
            </a:r>
          </a:p>
        </p:txBody>
      </p:sp>
      <p:sp>
        <p:nvSpPr>
          <p:cNvPr id="10" name="TextBox 9"/>
          <p:cNvSpPr txBox="1"/>
          <p:nvPr/>
        </p:nvSpPr>
        <p:spPr>
          <a:xfrm>
            <a:off x="2093976" y="3419856"/>
            <a:ext cx="7662672" cy="1243584"/>
          </a:xfrm>
          <a:prstGeom prst="rect">
            <a:avLst/>
          </a:prstGeom>
          <a:noFill/>
        </p:spPr>
        <p:txBody>
          <a:bodyPr wrap="square" lIns="45720" tIns="27432" rIns="45720" bIns="27432" anchor="t">
            <a:spAutoFit/>
          </a:bodyPr>
          <a:lstStyle/>
          <a:p>
            <a:pPr algn="l"/>
            <a:r>
              <a:rPr sz="1350">
                <a:solidFill>
                  <a:srgbClr val="262626"/>
                </a:solidFill>
              </a:rPr>
              <a:t>By facility and region, with the test that applies to each person, so outreach starts from a list rather than a campaign.</a:t>
            </a:r>
          </a:p>
        </p:txBody>
      </p:sp>
      <p:sp>
        <p:nvSpPr>
          <p:cNvPr id="11" name="Oval 10"/>
          <p:cNvSpPr/>
          <p:nvPr/>
        </p:nvSpPr>
        <p:spPr>
          <a:xfrm>
            <a:off x="1252728" y="4846320"/>
            <a:ext cx="640080" cy="6400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larm_w.png"/>
          <p:cNvPicPr>
            <a:picLocks noChangeAspect="1"/>
          </p:cNvPicPr>
          <p:nvPr/>
        </p:nvPicPr>
        <p:blipFill>
          <a:blip r:embed="rId3"/>
          <a:stretch>
            <a:fillRect/>
          </a:stretch>
        </p:blipFill>
        <p:spPr>
          <a:xfrm>
            <a:off x="1396746" y="4990338"/>
            <a:ext cx="352044" cy="352044"/>
          </a:xfrm>
          <a:prstGeom prst="rect">
            <a:avLst/>
          </a:prstGeom>
        </p:spPr>
      </p:pic>
      <p:sp>
        <p:nvSpPr>
          <p:cNvPr id="13" name="TextBox 12"/>
          <p:cNvSpPr txBox="1"/>
          <p:nvPr/>
        </p:nvSpPr>
        <p:spPr>
          <a:xfrm>
            <a:off x="2093976" y="4791456"/>
            <a:ext cx="7662672" cy="384048"/>
          </a:xfrm>
          <a:prstGeom prst="rect">
            <a:avLst/>
          </a:prstGeom>
          <a:noFill/>
        </p:spPr>
        <p:txBody>
          <a:bodyPr wrap="square" lIns="45720" tIns="27432" rIns="45720" bIns="27432" anchor="t">
            <a:spAutoFit/>
          </a:bodyPr>
          <a:lstStyle/>
          <a:p>
            <a:pPr algn="l"/>
            <a:r>
              <a:rPr sz="1600">
                <a:solidFill>
                  <a:srgbClr val="262626"/>
                </a:solidFill>
                <a:latin typeface="+mj-lt"/>
              </a:rPr>
              <a:t>Red flags into the urgent route</a:t>
            </a:r>
          </a:p>
        </p:txBody>
      </p:sp>
      <p:sp>
        <p:nvSpPr>
          <p:cNvPr id="14" name="TextBox 13"/>
          <p:cNvSpPr txBox="1"/>
          <p:nvPr/>
        </p:nvSpPr>
        <p:spPr>
          <a:xfrm>
            <a:off x="2093976" y="5157216"/>
            <a:ext cx="7662672" cy="1243584"/>
          </a:xfrm>
          <a:prstGeom prst="rect">
            <a:avLst/>
          </a:prstGeom>
          <a:noFill/>
        </p:spPr>
        <p:txBody>
          <a:bodyPr wrap="square" lIns="45720" tIns="27432" rIns="45720" bIns="27432" anchor="t">
            <a:spAutoFit/>
          </a:bodyPr>
          <a:lstStyle/>
          <a:p>
            <a:pPr algn="l"/>
            <a:r>
              <a:rPr sz="1350">
                <a:solidFill>
                  <a:srgbClr val="262626"/>
                </a:solidFill>
              </a:rPr>
              <a:t>Symptoms reported anywhere (a form, a note, a call) are triaged to a doctor within two weeks, not into the screening queue.</a:t>
            </a:r>
          </a:p>
        </p:txBody>
      </p:sp>
      <p:sp>
        <p:nvSpPr>
          <p:cNvPr id="15" name="Oval 14"/>
          <p:cNvSpPr/>
          <p:nvPr/>
        </p:nvSpPr>
        <p:spPr>
          <a:xfrm>
            <a:off x="1252728" y="6583679"/>
            <a:ext cx="640080" cy="640080"/>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map_w.png"/>
          <p:cNvPicPr>
            <a:picLocks noChangeAspect="1"/>
          </p:cNvPicPr>
          <p:nvPr/>
        </p:nvPicPr>
        <p:blipFill>
          <a:blip r:embed="rId4"/>
          <a:stretch>
            <a:fillRect/>
          </a:stretch>
        </p:blipFill>
        <p:spPr>
          <a:xfrm>
            <a:off x="1396746" y="6727697"/>
            <a:ext cx="352044" cy="352044"/>
          </a:xfrm>
          <a:prstGeom prst="rect">
            <a:avLst/>
          </a:prstGeom>
        </p:spPr>
      </p:pic>
      <p:sp>
        <p:nvSpPr>
          <p:cNvPr id="17" name="TextBox 16"/>
          <p:cNvSpPr txBox="1"/>
          <p:nvPr/>
        </p:nvSpPr>
        <p:spPr>
          <a:xfrm>
            <a:off x="2093976" y="6528816"/>
            <a:ext cx="7662672" cy="384048"/>
          </a:xfrm>
          <a:prstGeom prst="rect">
            <a:avLst/>
          </a:prstGeom>
          <a:noFill/>
        </p:spPr>
        <p:txBody>
          <a:bodyPr wrap="square" lIns="45720" tIns="27432" rIns="45720" bIns="27432" anchor="t">
            <a:spAutoFit/>
          </a:bodyPr>
          <a:lstStyle/>
          <a:p>
            <a:pPr algn="l"/>
            <a:r>
              <a:rPr sz="1600">
                <a:solidFill>
                  <a:srgbClr val="262626"/>
                </a:solidFill>
                <a:latin typeface="+mj-lt"/>
              </a:rPr>
              <a:t>Capacity matched to demand</a:t>
            </a:r>
          </a:p>
        </p:txBody>
      </p:sp>
      <p:sp>
        <p:nvSpPr>
          <p:cNvPr id="18" name="TextBox 17"/>
          <p:cNvSpPr txBox="1"/>
          <p:nvPr/>
        </p:nvSpPr>
        <p:spPr>
          <a:xfrm>
            <a:off x="2093976" y="6894575"/>
            <a:ext cx="7662672" cy="1243584"/>
          </a:xfrm>
          <a:prstGeom prst="rect">
            <a:avLst/>
          </a:prstGeom>
          <a:noFill/>
        </p:spPr>
        <p:txBody>
          <a:bodyPr wrap="square" lIns="45720" tIns="27432" rIns="45720" bIns="27432" anchor="t">
            <a:spAutoFit/>
          </a:bodyPr>
          <a:lstStyle/>
          <a:p>
            <a:pPr algn="l"/>
            <a:r>
              <a:rPr sz="1350">
                <a:solidFill>
                  <a:srgbClr val="262626"/>
                </a:solidFill>
              </a:rPr>
              <a:t>FIT kits at health centres, endoscopy slots at hospitals, and the travel time in between, so the list is bookable.</a:t>
            </a:r>
          </a:p>
        </p:txBody>
      </p:sp>
      <p:sp>
        <p:nvSpPr>
          <p:cNvPr id="19" name="TextBox 18"/>
          <p:cNvSpPr txBox="1"/>
          <p:nvPr/>
        </p:nvSpPr>
        <p:spPr>
          <a:xfrm>
            <a:off x="10424160" y="2331720"/>
            <a:ext cx="6601968" cy="457200"/>
          </a:xfrm>
          <a:prstGeom prst="rect">
            <a:avLst/>
          </a:prstGeom>
          <a:noFill/>
        </p:spPr>
        <p:txBody>
          <a:bodyPr wrap="square" lIns="45720" tIns="27432" rIns="45720" bIns="27432" anchor="t">
            <a:spAutoFit/>
          </a:bodyPr>
          <a:lstStyle/>
          <a:p>
            <a:pPr algn="l"/>
            <a:r>
              <a:rPr sz="1900">
                <a:solidFill>
                  <a:srgbClr val="0766D1"/>
                </a:solidFill>
                <a:latin typeface="+mj-lt"/>
              </a:rPr>
              <a:t>What the evidence says it is worth</a:t>
            </a:r>
          </a:p>
        </p:txBody>
      </p:sp>
      <p:sp>
        <p:nvSpPr>
          <p:cNvPr id="20" name="Rounded Rectangle 19"/>
          <p:cNvSpPr/>
          <p:nvPr/>
        </p:nvSpPr>
        <p:spPr>
          <a:xfrm>
            <a:off x="10424160" y="3017520"/>
            <a:ext cx="6601968" cy="2468880"/>
          </a:xfrm>
          <a:prstGeom prst="roundRect">
            <a:avLst>
              <a:gd name="adj" fmla="val 7407"/>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698480" y="3127248"/>
            <a:ext cx="6053328" cy="548640"/>
          </a:xfrm>
          <a:prstGeom prst="rect">
            <a:avLst/>
          </a:prstGeom>
          <a:noFill/>
        </p:spPr>
        <p:txBody>
          <a:bodyPr wrap="square" lIns="45720" tIns="27432" rIns="45720" bIns="27432" anchor="t">
            <a:spAutoFit/>
          </a:bodyPr>
          <a:lstStyle/>
          <a:p>
            <a:pPr algn="l"/>
            <a:r>
              <a:rPr sz="3600">
                <a:solidFill>
                  <a:srgbClr val="0766D1"/>
                </a:solidFill>
                <a:latin typeface="+mj-lt"/>
              </a:rPr>
              <a:t>43%</a:t>
            </a:r>
          </a:p>
        </p:txBody>
      </p:sp>
      <p:sp>
        <p:nvSpPr>
          <p:cNvPr id="22" name="TextBox 21"/>
          <p:cNvSpPr txBox="1"/>
          <p:nvPr/>
        </p:nvSpPr>
        <p:spPr>
          <a:xfrm>
            <a:off x="10698480" y="3675887"/>
            <a:ext cx="6053328" cy="1737360"/>
          </a:xfrm>
          <a:prstGeom prst="rect">
            <a:avLst/>
          </a:prstGeom>
          <a:noFill/>
        </p:spPr>
        <p:txBody>
          <a:bodyPr wrap="square" lIns="45720" tIns="27432" rIns="45720" bIns="27432" anchor="t">
            <a:spAutoFit/>
          </a:bodyPr>
          <a:lstStyle/>
          <a:p>
            <a:pPr algn="l"/>
            <a:r>
              <a:rPr sz="1200">
                <a:solidFill>
                  <a:srgbClr val="262626"/>
                </a:solidFill>
              </a:rPr>
              <a:t>lower two-year mortality when machine learning picks who to call and the outreach follows the list; 6.9% more colonoscopies completed within six months (Geisinger, 2026).</a:t>
            </a:r>
          </a:p>
        </p:txBody>
      </p:sp>
      <p:sp>
        <p:nvSpPr>
          <p:cNvPr id="23" name="Rounded Rectangle 22"/>
          <p:cNvSpPr/>
          <p:nvPr/>
        </p:nvSpPr>
        <p:spPr>
          <a:xfrm>
            <a:off x="10424160" y="5760720"/>
            <a:ext cx="6601968" cy="2468880"/>
          </a:xfrm>
          <a:prstGeom prst="roundRect">
            <a:avLst>
              <a:gd name="adj" fmla="val 7407"/>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98480" y="5870448"/>
            <a:ext cx="6053328" cy="548640"/>
          </a:xfrm>
          <a:prstGeom prst="rect">
            <a:avLst/>
          </a:prstGeom>
          <a:noFill/>
        </p:spPr>
        <p:txBody>
          <a:bodyPr wrap="square" lIns="45720" tIns="27432" rIns="45720" bIns="27432" anchor="t">
            <a:spAutoFit/>
          </a:bodyPr>
          <a:lstStyle/>
          <a:p>
            <a:pPr algn="l"/>
            <a:r>
              <a:rPr sz="3600">
                <a:solidFill>
                  <a:srgbClr val="0766D1"/>
                </a:solidFill>
                <a:latin typeface="+mj-lt"/>
              </a:rPr>
              <a:t>2.6×</a:t>
            </a:r>
          </a:p>
        </p:txBody>
      </p:sp>
      <p:sp>
        <p:nvSpPr>
          <p:cNvPr id="25" name="TextBox 24"/>
          <p:cNvSpPr txBox="1"/>
          <p:nvPr/>
        </p:nvSpPr>
        <p:spPr>
          <a:xfrm>
            <a:off x="10698480" y="6419088"/>
            <a:ext cx="6053328" cy="1737360"/>
          </a:xfrm>
          <a:prstGeom prst="rect">
            <a:avLst/>
          </a:prstGeom>
          <a:noFill/>
        </p:spPr>
        <p:txBody>
          <a:bodyPr wrap="square" lIns="45720" tIns="27432" rIns="45720" bIns="27432" anchor="t">
            <a:spAutoFit/>
          </a:bodyPr>
          <a:lstStyle/>
          <a:p>
            <a:pPr algn="l"/>
            <a:r>
              <a:rPr sz="1200">
                <a:solidFill>
                  <a:srgbClr val="262626"/>
                </a:solidFill>
              </a:rPr>
              <a:t>the FIT opt-in rate when an AI agent calls people in their own language: 18.2% among Spanish speakers against 7.1% among English speakers (WellSpan Health with Hippocratic AI, 2025).</a:t>
            </a:r>
          </a:p>
        </p:txBody>
      </p:sp>
      <p:sp>
        <p:nvSpPr>
          <p:cNvPr id="26" name="TextBox 25"/>
          <p:cNvSpPr txBox="1"/>
          <p:nvPr/>
        </p:nvSpPr>
        <p:spPr>
          <a:xfrm>
            <a:off x="1252728" y="9326880"/>
            <a:ext cx="15773400" cy="457200"/>
          </a:xfrm>
          <a:prstGeom prst="rect">
            <a:avLst/>
          </a:prstGeom>
          <a:noFill/>
        </p:spPr>
        <p:txBody>
          <a:bodyPr wrap="square" lIns="45720" tIns="27432" rIns="45720" bIns="27432" anchor="t">
            <a:spAutoFit/>
          </a:bodyPr>
          <a:lstStyle/>
          <a:p>
            <a:pPr algn="l"/>
            <a:r>
              <a:rPr sz="900">
                <a:solidFill>
                  <a:srgbClr val="7E889A"/>
                </a:solidFill>
              </a:rPr>
              <a:t>Sources: "Cancer Screening Outreach Guided by Machine Learning: The Benefits of Proactive Care", Manufacturing &amp; Service Operations Management, 2026 (Geisinger)  ·  WellSpan Health / Hippocratic AI, retrospective analysis of a multilingual AI care agent for colorectal cancer screening, 2025 (completion rates not measured).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1252728" y="713232"/>
            <a:ext cx="15773400" cy="1234440"/>
          </a:xfrm>
        </p:spPr>
        <p:txBody>
          <a:bodyPr wrap="square" anchor="t"/>
          <a:lstStyle/>
          <a:p>
            <a:r>
              <a:rPr sz="3200"/>
              <a:t>Both examples follow one blueprint: real-world data, published evidence, governed tools, a human decision</a:t>
            </a:r>
          </a:p>
        </p:txBody>
      </p:sp>
      <p:sp>
        <p:nvSpPr>
          <p:cNvPr id="5" name="TextBox 4"/>
          <p:cNvSpPr txBox="1"/>
          <p:nvPr/>
        </p:nvSpPr>
        <p:spPr>
          <a:xfrm>
            <a:off x="1252728" y="329184"/>
            <a:ext cx="10972800" cy="292608"/>
          </a:xfrm>
          <a:prstGeom prst="rect">
            <a:avLst/>
          </a:prstGeom>
          <a:noFill/>
        </p:spPr>
        <p:txBody>
          <a:bodyPr wrap="square" lIns="45720" tIns="27432" rIns="45720" bIns="27432" anchor="t">
            <a:spAutoFit/>
          </a:bodyPr>
          <a:lstStyle/>
          <a:p>
            <a:pPr algn="l"/>
            <a:r>
              <a:rPr sz="1100">
                <a:solidFill>
                  <a:srgbClr val="0766D1"/>
                </a:solidFill>
                <a:latin typeface="+mj-lt"/>
              </a:rPr>
              <a:t>WHAT IT MEANS</a:t>
            </a:r>
          </a:p>
        </p:txBody>
      </p:sp>
      <p:graphicFrame>
        <p:nvGraphicFramePr>
          <p:cNvPr id="6" name="Table 5"/>
          <p:cNvGraphicFramePr>
            <a:graphicFrameLocks noGrp="1"/>
          </p:cNvGraphicFramePr>
          <p:nvPr/>
        </p:nvGraphicFramePr>
        <p:xfrm>
          <a:off x="1252728" y="2331720"/>
          <a:ext cx="15773400" cy="6309360"/>
        </p:xfrm>
        <a:graphic>
          <a:graphicData uri="http://schemas.openxmlformats.org/drawingml/2006/table">
            <a:tbl>
              <a:tblPr firstRow="1" bandRow="0">
                <a:tableStyleId>{5C22544A-7EE6-4342-B048-85BDC9FD1C3A}</a:tableStyleId>
              </a:tblPr>
              <a:tblGrid>
                <a:gridCol w="3063240"/>
                <a:gridCol w="6355080"/>
                <a:gridCol w="6355080"/>
              </a:tblGrid>
              <a:tr h="640080">
                <a:tc>
                  <a:txBody>
                    <a:bodyPr wrap="square"/>
                    <a:lstStyle/>
                    <a:p>
                      <a:pPr algn="l"/>
                    </a:p>
                  </a:txBody>
                  <a:tcPr marL="146304" marR="146304" marT="54864" marB="54864" anchor="ctr">
                    <a:solidFill>
                      <a:srgbClr val="032954"/>
                    </a:solidFill>
                  </a:tcPr>
                </a:tc>
                <a:tc>
                  <a:txBody>
                    <a:bodyPr wrap="square"/>
                    <a:lstStyle/>
                    <a:p>
                      <a:pPr algn="l"/>
                      <a:r>
                        <a:rPr sz="1500">
                          <a:solidFill>
                            <a:srgbClr val="FFFFFF"/>
                          </a:solidFill>
                          <a:latin typeface="+mj-lt"/>
                        </a:rPr>
                        <a:t>Example 1  ·  Population health</a:t>
                      </a:r>
                    </a:p>
                  </a:txBody>
                  <a:tcPr marL="146304" marR="146304" marT="54864" marB="54864" anchor="ctr">
                    <a:solidFill>
                      <a:srgbClr val="032954"/>
                    </a:solidFill>
                  </a:tcPr>
                </a:tc>
                <a:tc>
                  <a:txBody>
                    <a:bodyPr wrap="square"/>
                    <a:lstStyle/>
                    <a:p>
                      <a:pPr algn="l"/>
                      <a:r>
                        <a:rPr sz="1500">
                          <a:solidFill>
                            <a:srgbClr val="FFFFFF"/>
                          </a:solidFill>
                          <a:latin typeface="+mj-lt"/>
                        </a:rPr>
                        <a:t>Example 2  ·  Cancer early warning</a:t>
                      </a:r>
                    </a:p>
                  </a:txBody>
                  <a:tcPr marL="146304" marR="146304" marT="54864" marB="54864" anchor="ctr">
                    <a:solidFill>
                      <a:srgbClr val="032954"/>
                    </a:solidFill>
                  </a:tcPr>
                </a:tc>
              </a:tr>
              <a:tr h="1133856">
                <a:tc>
                  <a:txBody>
                    <a:bodyPr wrap="square"/>
                    <a:lstStyle/>
                    <a:p>
                      <a:pPr algn="l"/>
                      <a:r>
                        <a:rPr sz="1400">
                          <a:solidFill>
                            <a:srgbClr val="032954"/>
                          </a:solidFill>
                          <a:latin typeface="+mj-lt"/>
                        </a:rPr>
                        <a:t>Real-world data</a:t>
                      </a:r>
                    </a:p>
                  </a:txBody>
                  <a:tcPr marL="146304" marR="146304" marT="54864" marB="54864" anchor="ctr">
                    <a:solidFill>
                      <a:srgbClr val="FFFFFF"/>
                    </a:solidFill>
                  </a:tcPr>
                </a:tc>
                <a:tc>
                  <a:txBody>
                    <a:bodyPr wrap="square"/>
                    <a:lstStyle/>
                    <a:p>
                      <a:pPr algn="l"/>
                      <a:r>
                        <a:rPr sz="1400">
                          <a:solidFill>
                            <a:srgbClr val="262626"/>
                          </a:solidFill>
                        </a:rPr>
                        <a:t>A diabetes registry from the health information exchange: 4,000 patients, 36 months</a:t>
                      </a:r>
                    </a:p>
                  </a:txBody>
                  <a:tcPr marL="146304" marR="146304" marT="54864" marB="54864" anchor="ctr">
                    <a:solidFill>
                      <a:srgbClr val="FFFFFF"/>
                    </a:solidFill>
                  </a:tcPr>
                </a:tc>
                <a:tc>
                  <a:txBody>
                    <a:bodyPr wrap="square"/>
                    <a:lstStyle/>
                    <a:p>
                      <a:pPr algn="l"/>
                      <a:r>
                        <a:rPr sz="1400">
                          <a:solidFill>
                            <a:srgbClr val="262626"/>
                          </a:solidFill>
                        </a:rPr>
                        <a:t>What one person enters, plus the facilities and the services each offers</a:t>
                      </a:r>
                    </a:p>
                  </a:txBody>
                  <a:tcPr marL="146304" marR="146304" marT="54864" marB="54864" anchor="ctr">
                    <a:solidFill>
                      <a:srgbClr val="FFFFFF"/>
                    </a:solidFill>
                  </a:tcPr>
                </a:tc>
              </a:tr>
              <a:tr h="1133856">
                <a:tc>
                  <a:txBody>
                    <a:bodyPr wrap="square"/>
                    <a:lstStyle/>
                    <a:p>
                      <a:pPr algn="l"/>
                      <a:r>
                        <a:rPr sz="1400">
                          <a:solidFill>
                            <a:srgbClr val="032954"/>
                          </a:solidFill>
                          <a:latin typeface="+mj-lt"/>
                        </a:rPr>
                        <a:t>Evidence it stands on</a:t>
                      </a:r>
                    </a:p>
                  </a:txBody>
                  <a:tcPr marL="146304" marR="146304" marT="54864" marB="54864" anchor="ctr">
                    <a:solidFill>
                      <a:srgbClr val="F0F1F3"/>
                    </a:solidFill>
                  </a:tcPr>
                </a:tc>
                <a:tc>
                  <a:txBody>
                    <a:bodyPr wrap="square"/>
                    <a:lstStyle/>
                    <a:p>
                      <a:pPr algn="l"/>
                      <a:r>
                        <a:rPr sz="1400">
                          <a:solidFill>
                            <a:srgbClr val="262626"/>
                          </a:solidFill>
                        </a:rPr>
                        <a:t>Four national guidelines, cited by section; a deterioration-risk model with drivers</a:t>
                      </a:r>
                    </a:p>
                  </a:txBody>
                  <a:tcPr marL="146304" marR="146304" marT="54864" marB="54864" anchor="ctr">
                    <a:solidFill>
                      <a:srgbClr val="F0F1F3"/>
                    </a:solidFill>
                  </a:tcPr>
                </a:tc>
                <a:tc>
                  <a:txBody>
                    <a:bodyPr wrap="square"/>
                    <a:lstStyle/>
                    <a:p>
                      <a:pPr algn="l"/>
                      <a:r>
                        <a:rPr sz="1400">
                          <a:solidFill>
                            <a:srgbClr val="262626"/>
                          </a:solidFill>
                        </a:rPr>
                        <a:t>A validated clinical score (Gut, 2011) and the national screening programme</a:t>
                      </a:r>
                    </a:p>
                  </a:txBody>
                  <a:tcPr marL="146304" marR="146304" marT="54864" marB="54864" anchor="ctr">
                    <a:solidFill>
                      <a:srgbClr val="F0F1F3"/>
                    </a:solidFill>
                  </a:tcPr>
                </a:tc>
              </a:tr>
              <a:tr h="1133856">
                <a:tc>
                  <a:txBody>
                    <a:bodyPr wrap="square"/>
                    <a:lstStyle/>
                    <a:p>
                      <a:pPr algn="l"/>
                      <a:r>
                        <a:rPr sz="1400">
                          <a:solidFill>
                            <a:srgbClr val="032954"/>
                          </a:solidFill>
                          <a:latin typeface="+mj-lt"/>
                        </a:rPr>
                        <a:t>Tools the agent calls</a:t>
                      </a:r>
                    </a:p>
                  </a:txBody>
                  <a:tcPr marL="146304" marR="146304" marT="54864" marB="54864" anchor="ctr">
                    <a:solidFill>
                      <a:srgbClr val="FFFFFF"/>
                    </a:solidFill>
                  </a:tcPr>
                </a:tc>
                <a:tc>
                  <a:txBody>
                    <a:bodyPr wrap="square"/>
                    <a:lstStyle/>
                    <a:p>
                      <a:pPr algn="l"/>
                      <a:r>
                        <a:rPr sz="1400">
                          <a:solidFill>
                            <a:srgbClr val="262626"/>
                          </a:solidFill>
                        </a:rPr>
                        <a:t>Registry queries, model scoring, quality measures and care gaps over MCP, guideline retrieval</a:t>
                      </a:r>
                    </a:p>
                  </a:txBody>
                  <a:tcPr marL="146304" marR="146304" marT="54864" marB="54864" anchor="ctr">
                    <a:solidFill>
                      <a:srgbClr val="FFFFFF"/>
                    </a:solidFill>
                  </a:tcPr>
                </a:tc>
                <a:tc>
                  <a:txBody>
                    <a:bodyPr wrap="square"/>
                    <a:lstStyle/>
                    <a:p>
                      <a:pPr algn="l"/>
                      <a:r>
                        <a:rPr sz="1400">
                          <a:solidFill>
                            <a:srgbClr val="262626"/>
                          </a:solidFill>
                        </a:rPr>
                        <a:t>The score, the pathway rules, distance to facilities; the language model only explains</a:t>
                      </a:r>
                    </a:p>
                  </a:txBody>
                  <a:tcPr marL="146304" marR="146304" marT="54864" marB="54864" anchor="ctr">
                    <a:solidFill>
                      <a:srgbClr val="FFFFFF"/>
                    </a:solidFill>
                  </a:tcPr>
                </a:tc>
              </a:tr>
              <a:tr h="1133856">
                <a:tc>
                  <a:txBody>
                    <a:bodyPr wrap="square"/>
                    <a:lstStyle/>
                    <a:p>
                      <a:pPr algn="l"/>
                      <a:r>
                        <a:rPr sz="1400">
                          <a:solidFill>
                            <a:srgbClr val="032954"/>
                          </a:solidFill>
                          <a:latin typeface="+mj-lt"/>
                        </a:rPr>
                        <a:t>Output, and who decides</a:t>
                      </a:r>
                    </a:p>
                  </a:txBody>
                  <a:tcPr marL="146304" marR="146304" marT="54864" marB="54864" anchor="ctr">
                    <a:solidFill>
                      <a:srgbClr val="F0F1F3"/>
                    </a:solidFill>
                  </a:tcPr>
                </a:tc>
                <a:tc>
                  <a:txBody>
                    <a:bodyPr wrap="square"/>
                    <a:lstStyle/>
                    <a:p>
                      <a:pPr algn="l"/>
                      <a:r>
                        <a:rPr sz="1400">
                          <a:solidFill>
                            <a:srgbClr val="262626"/>
                          </a:solidFill>
                        </a:rPr>
                        <a:t>A cited answer, a chart, a draft in the approval queue; the clinician or programme lead decides</a:t>
                      </a:r>
                    </a:p>
                  </a:txBody>
                  <a:tcPr marL="146304" marR="146304" marT="54864" marB="54864" anchor="ctr">
                    <a:solidFill>
                      <a:srgbClr val="F0F1F3"/>
                    </a:solidFill>
                  </a:tcPr>
                </a:tc>
                <a:tc>
                  <a:txBody>
                    <a:bodyPr wrap="square"/>
                    <a:lstStyle/>
                    <a:p>
                      <a:pPr algn="l"/>
                      <a:r>
                        <a:rPr sz="1400">
                          <a:solidFill>
                            <a:srgbClr val="262626"/>
                          </a:solidFill>
                        </a:rPr>
                        <a:t>A tier, a pathway, a place to go, what to change; the person and their doctor decide</a:t>
                      </a:r>
                    </a:p>
                  </a:txBody>
                  <a:tcPr marL="146304" marR="146304" marT="54864" marB="54864" anchor="ctr">
                    <a:solidFill>
                      <a:srgbClr val="F0F1F3"/>
                    </a:solidFill>
                  </a:tcPr>
                </a:tc>
              </a:tr>
              <a:tr h="1133856">
                <a:tc>
                  <a:txBody>
                    <a:bodyPr wrap="square"/>
                    <a:lstStyle/>
                    <a:p>
                      <a:pPr algn="l"/>
                      <a:r>
                        <a:rPr sz="1400">
                          <a:solidFill>
                            <a:srgbClr val="032954"/>
                          </a:solidFill>
                          <a:latin typeface="+mj-lt"/>
                        </a:rPr>
                        <a:t>What is logged</a:t>
                      </a:r>
                    </a:p>
                  </a:txBody>
                  <a:tcPr marL="146304" marR="146304" marT="54864" marB="54864" anchor="ctr">
                    <a:solidFill>
                      <a:srgbClr val="FFFFFF"/>
                    </a:solidFill>
                  </a:tcPr>
                </a:tc>
                <a:tc>
                  <a:txBody>
                    <a:bodyPr wrap="square"/>
                    <a:lstStyle/>
                    <a:p>
                      <a:pPr algn="l"/>
                      <a:r>
                        <a:rPr sz="1400">
                          <a:solidFill>
                            <a:srgbClr val="262626"/>
                          </a:solidFill>
                        </a:rPr>
                        <a:t>Every specialist call, query and retrieval, next to the answer</a:t>
                      </a:r>
                    </a:p>
                  </a:txBody>
                  <a:tcPr marL="146304" marR="146304" marT="54864" marB="54864" anchor="ctr">
                    <a:solidFill>
                      <a:srgbClr val="FFFFFF"/>
                    </a:solidFill>
                  </a:tcPr>
                </a:tc>
                <a:tc>
                  <a:txBody>
                    <a:bodyPr wrap="square"/>
                    <a:lstStyle/>
                    <a:p>
                      <a:pPr algn="l"/>
                      <a:r>
                        <a:rPr sz="1400">
                          <a:solidFill>
                            <a:srgbClr val="262626"/>
                          </a:solidFill>
                        </a:rPr>
                        <a:t>Every input and the rule that fired, next to the result</a:t>
                      </a:r>
                    </a:p>
                  </a:txBody>
                  <a:tcPr marL="146304" marR="146304" marT="54864" marB="54864" anchor="ctr">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1252728" y="713232"/>
            <a:ext cx="15773400" cy="1234440"/>
          </a:xfrm>
        </p:spPr>
        <p:txBody>
          <a:bodyPr wrap="square" anchor="t"/>
          <a:lstStyle/>
          <a:p>
            <a:r>
              <a:rPr sz="3600"/>
              <a:t>Five tests for an agentic use case worth building</a:t>
            </a:r>
          </a:p>
        </p:txBody>
      </p:sp>
      <p:sp>
        <p:nvSpPr>
          <p:cNvPr id="5" name="TextBox 4"/>
          <p:cNvSpPr txBox="1"/>
          <p:nvPr/>
        </p:nvSpPr>
        <p:spPr>
          <a:xfrm>
            <a:off x="1252728" y="329184"/>
            <a:ext cx="10972800" cy="292608"/>
          </a:xfrm>
          <a:prstGeom prst="rect">
            <a:avLst/>
          </a:prstGeom>
          <a:noFill/>
        </p:spPr>
        <p:txBody>
          <a:bodyPr wrap="square" lIns="45720" tIns="27432" rIns="45720" bIns="27432" anchor="t">
            <a:spAutoFit/>
          </a:bodyPr>
          <a:lstStyle/>
          <a:p>
            <a:pPr algn="l"/>
            <a:r>
              <a:rPr sz="1100">
                <a:solidFill>
                  <a:srgbClr val="0766D1"/>
                </a:solidFill>
                <a:latin typeface="+mj-lt"/>
              </a:rPr>
              <a:t>WHAT IT MEANS</a:t>
            </a:r>
          </a:p>
        </p:txBody>
      </p:sp>
      <p:sp>
        <p:nvSpPr>
          <p:cNvPr id="6" name="Rounded Rectangle 5"/>
          <p:cNvSpPr/>
          <p:nvPr/>
        </p:nvSpPr>
        <p:spPr>
          <a:xfrm>
            <a:off x="1252728" y="2468880"/>
            <a:ext cx="2862072" cy="4846320"/>
          </a:xfrm>
          <a:prstGeom prst="roundRect">
            <a:avLst>
              <a:gd name="adj" fmla="val 8945"/>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481328" y="2697480"/>
            <a:ext cx="822960" cy="822960"/>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400">
                <a:solidFill>
                  <a:srgbClr val="FFFFFF"/>
                </a:solidFill>
                <a:latin typeface="+mj-lt"/>
              </a:rPr>
              <a:t>1</a:t>
            </a:r>
          </a:p>
        </p:txBody>
      </p:sp>
      <p:sp>
        <p:nvSpPr>
          <p:cNvPr id="8" name="TextBox 7"/>
          <p:cNvSpPr txBox="1"/>
          <p:nvPr/>
        </p:nvSpPr>
        <p:spPr>
          <a:xfrm>
            <a:off x="1527048" y="3794760"/>
            <a:ext cx="2313432" cy="1143000"/>
          </a:xfrm>
          <a:prstGeom prst="rect">
            <a:avLst/>
          </a:prstGeom>
          <a:noFill/>
        </p:spPr>
        <p:txBody>
          <a:bodyPr wrap="square" lIns="45720" tIns="27432" rIns="45720" bIns="27432" anchor="t">
            <a:spAutoFit/>
          </a:bodyPr>
          <a:lstStyle/>
          <a:p>
            <a:pPr algn="l"/>
            <a:r>
              <a:rPr sz="1700">
                <a:solidFill>
                  <a:srgbClr val="262626"/>
                </a:solidFill>
                <a:latin typeface="+mj-lt"/>
              </a:rPr>
              <a:t>A workflow with a number on it</a:t>
            </a:r>
          </a:p>
        </p:txBody>
      </p:sp>
      <p:sp>
        <p:nvSpPr>
          <p:cNvPr id="9" name="TextBox 8"/>
          <p:cNvSpPr txBox="1"/>
          <p:nvPr/>
        </p:nvSpPr>
        <p:spPr>
          <a:xfrm>
            <a:off x="1527048" y="4983480"/>
            <a:ext cx="2313432" cy="2148839"/>
          </a:xfrm>
          <a:prstGeom prst="rect">
            <a:avLst/>
          </a:prstGeom>
          <a:noFill/>
        </p:spPr>
        <p:txBody>
          <a:bodyPr wrap="square" lIns="45720" tIns="27432" rIns="45720" bIns="27432" anchor="t">
            <a:spAutoFit/>
          </a:bodyPr>
          <a:lstStyle/>
          <a:p>
            <a:pPr algn="l"/>
            <a:r>
              <a:rPr sz="1400">
                <a:solidFill>
                  <a:srgbClr val="262626"/>
                </a:solidFill>
              </a:rPr>
              <a:t>Someone does it by hand today, and you can say what better means: minutes, completions, approvals, days to an answer.</a:t>
            </a:r>
          </a:p>
        </p:txBody>
      </p:sp>
      <p:sp>
        <p:nvSpPr>
          <p:cNvPr id="10" name="Rounded Rectangle 9"/>
          <p:cNvSpPr/>
          <p:nvPr/>
        </p:nvSpPr>
        <p:spPr>
          <a:xfrm>
            <a:off x="4480560" y="2468880"/>
            <a:ext cx="2862072" cy="4846320"/>
          </a:xfrm>
          <a:prstGeom prst="roundRect">
            <a:avLst>
              <a:gd name="adj" fmla="val 8945"/>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709160" y="2697480"/>
            <a:ext cx="822960" cy="82296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400">
                <a:solidFill>
                  <a:srgbClr val="FFFFFF"/>
                </a:solidFill>
                <a:latin typeface="+mj-lt"/>
              </a:rPr>
              <a:t>2</a:t>
            </a:r>
          </a:p>
        </p:txBody>
      </p:sp>
      <p:sp>
        <p:nvSpPr>
          <p:cNvPr id="12" name="TextBox 11"/>
          <p:cNvSpPr txBox="1"/>
          <p:nvPr/>
        </p:nvSpPr>
        <p:spPr>
          <a:xfrm>
            <a:off x="4754880" y="3794760"/>
            <a:ext cx="2313432" cy="1143000"/>
          </a:xfrm>
          <a:prstGeom prst="rect">
            <a:avLst/>
          </a:prstGeom>
          <a:noFill/>
        </p:spPr>
        <p:txBody>
          <a:bodyPr wrap="square" lIns="45720" tIns="27432" rIns="45720" bIns="27432" anchor="t">
            <a:spAutoFit/>
          </a:bodyPr>
          <a:lstStyle/>
          <a:p>
            <a:pPr algn="l"/>
            <a:r>
              <a:rPr sz="1700">
                <a:solidFill>
                  <a:srgbClr val="262626"/>
                </a:solidFill>
                <a:latin typeface="+mj-lt"/>
              </a:rPr>
              <a:t>Data that already exists</a:t>
            </a:r>
          </a:p>
        </p:txBody>
      </p:sp>
      <p:sp>
        <p:nvSpPr>
          <p:cNvPr id="13" name="TextBox 12"/>
          <p:cNvSpPr txBox="1"/>
          <p:nvPr/>
        </p:nvSpPr>
        <p:spPr>
          <a:xfrm>
            <a:off x="4754880" y="4983480"/>
            <a:ext cx="2313432" cy="2148839"/>
          </a:xfrm>
          <a:prstGeom prst="rect">
            <a:avLst/>
          </a:prstGeom>
          <a:noFill/>
        </p:spPr>
        <p:txBody>
          <a:bodyPr wrap="square" lIns="45720" tIns="27432" rIns="45720" bIns="27432" anchor="t">
            <a:spAutoFit/>
          </a:bodyPr>
          <a:lstStyle/>
          <a:p>
            <a:pPr algn="l"/>
            <a:r>
              <a:rPr sz="1400">
                <a:solidFill>
                  <a:srgbClr val="262626"/>
                </a:solidFill>
              </a:rPr>
              <a:t>A registry, the HIE, a screening programme, claims. The agent reads what is there; it does not wait for a data project.</a:t>
            </a:r>
          </a:p>
        </p:txBody>
      </p:sp>
      <p:sp>
        <p:nvSpPr>
          <p:cNvPr id="14" name="Rounded Rectangle 13"/>
          <p:cNvSpPr/>
          <p:nvPr/>
        </p:nvSpPr>
        <p:spPr>
          <a:xfrm>
            <a:off x="7708392" y="2468880"/>
            <a:ext cx="2862072" cy="4846320"/>
          </a:xfrm>
          <a:prstGeom prst="roundRect">
            <a:avLst>
              <a:gd name="adj" fmla="val 8945"/>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936992" y="2697480"/>
            <a:ext cx="822960" cy="822960"/>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400">
                <a:solidFill>
                  <a:srgbClr val="FFFFFF"/>
                </a:solidFill>
                <a:latin typeface="+mj-lt"/>
              </a:rPr>
              <a:t>3</a:t>
            </a:r>
          </a:p>
        </p:txBody>
      </p:sp>
      <p:sp>
        <p:nvSpPr>
          <p:cNvPr id="16" name="TextBox 15"/>
          <p:cNvSpPr txBox="1"/>
          <p:nvPr/>
        </p:nvSpPr>
        <p:spPr>
          <a:xfrm>
            <a:off x="7982712" y="3794760"/>
            <a:ext cx="2313432" cy="1143000"/>
          </a:xfrm>
          <a:prstGeom prst="rect">
            <a:avLst/>
          </a:prstGeom>
          <a:noFill/>
        </p:spPr>
        <p:txBody>
          <a:bodyPr wrap="square" lIns="45720" tIns="27432" rIns="45720" bIns="27432" anchor="t">
            <a:spAutoFit/>
          </a:bodyPr>
          <a:lstStyle/>
          <a:p>
            <a:pPr algn="l"/>
            <a:r>
              <a:rPr sz="1700">
                <a:solidFill>
                  <a:srgbClr val="262626"/>
                </a:solidFill>
                <a:latin typeface="+mj-lt"/>
              </a:rPr>
              <a:t>Evidence to stand on</a:t>
            </a:r>
          </a:p>
        </p:txBody>
      </p:sp>
      <p:sp>
        <p:nvSpPr>
          <p:cNvPr id="17" name="TextBox 16"/>
          <p:cNvSpPr txBox="1"/>
          <p:nvPr/>
        </p:nvSpPr>
        <p:spPr>
          <a:xfrm>
            <a:off x="7982712" y="4983480"/>
            <a:ext cx="2313432" cy="2148839"/>
          </a:xfrm>
          <a:prstGeom prst="rect">
            <a:avLst/>
          </a:prstGeom>
          <a:noFill/>
        </p:spPr>
        <p:txBody>
          <a:bodyPr wrap="square" lIns="45720" tIns="27432" rIns="45720" bIns="27432" anchor="t">
            <a:spAutoFit/>
          </a:bodyPr>
          <a:lstStyle/>
          <a:p>
            <a:pPr algn="l"/>
            <a:r>
              <a:rPr sz="1400">
                <a:solidFill>
                  <a:srgbClr val="262626"/>
                </a:solidFill>
              </a:rPr>
              <a:t>A guideline to cite, a published score, a champion model. The agent quotes and calls; it does not improvise.</a:t>
            </a:r>
          </a:p>
        </p:txBody>
      </p:sp>
      <p:sp>
        <p:nvSpPr>
          <p:cNvPr id="18" name="Rounded Rectangle 17"/>
          <p:cNvSpPr/>
          <p:nvPr/>
        </p:nvSpPr>
        <p:spPr>
          <a:xfrm>
            <a:off x="10936224" y="2468880"/>
            <a:ext cx="2862072" cy="4846320"/>
          </a:xfrm>
          <a:prstGeom prst="roundRect">
            <a:avLst>
              <a:gd name="adj" fmla="val 8945"/>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164824" y="2697480"/>
            <a:ext cx="822960" cy="82296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400">
                <a:solidFill>
                  <a:srgbClr val="FFFFFF"/>
                </a:solidFill>
                <a:latin typeface="+mj-lt"/>
              </a:rPr>
              <a:t>4</a:t>
            </a:r>
          </a:p>
        </p:txBody>
      </p:sp>
      <p:sp>
        <p:nvSpPr>
          <p:cNvPr id="20" name="TextBox 19"/>
          <p:cNvSpPr txBox="1"/>
          <p:nvPr/>
        </p:nvSpPr>
        <p:spPr>
          <a:xfrm>
            <a:off x="11210544" y="3794760"/>
            <a:ext cx="2313432" cy="1143000"/>
          </a:xfrm>
          <a:prstGeom prst="rect">
            <a:avLst/>
          </a:prstGeom>
          <a:noFill/>
        </p:spPr>
        <p:txBody>
          <a:bodyPr wrap="square" lIns="45720" tIns="27432" rIns="45720" bIns="27432" anchor="t">
            <a:spAutoFit/>
          </a:bodyPr>
          <a:lstStyle/>
          <a:p>
            <a:pPr algn="l"/>
            <a:r>
              <a:rPr sz="1700">
                <a:solidFill>
                  <a:srgbClr val="262626"/>
                </a:solidFill>
                <a:latin typeface="+mj-lt"/>
              </a:rPr>
              <a:t>A person at the decision</a:t>
            </a:r>
          </a:p>
        </p:txBody>
      </p:sp>
      <p:sp>
        <p:nvSpPr>
          <p:cNvPr id="21" name="TextBox 20"/>
          <p:cNvSpPr txBox="1"/>
          <p:nvPr/>
        </p:nvSpPr>
        <p:spPr>
          <a:xfrm>
            <a:off x="11210544" y="4983480"/>
            <a:ext cx="2313432" cy="2148839"/>
          </a:xfrm>
          <a:prstGeom prst="rect">
            <a:avLst/>
          </a:prstGeom>
          <a:noFill/>
        </p:spPr>
        <p:txBody>
          <a:bodyPr wrap="square" lIns="45720" tIns="27432" rIns="45720" bIns="27432" anchor="t">
            <a:spAutoFit/>
          </a:bodyPr>
          <a:lstStyle/>
          <a:p>
            <a:pPr algn="l"/>
            <a:r>
              <a:rPr sz="1400">
                <a:solidFill>
                  <a:srgbClr val="262626"/>
                </a:solidFill>
              </a:rPr>
              <a:t>The agent drafts, lists and ranks. A clinician or a manager approves. Decide where that line sits before you build.</a:t>
            </a:r>
          </a:p>
        </p:txBody>
      </p:sp>
      <p:sp>
        <p:nvSpPr>
          <p:cNvPr id="22" name="Rounded Rectangle 21"/>
          <p:cNvSpPr/>
          <p:nvPr/>
        </p:nvSpPr>
        <p:spPr>
          <a:xfrm>
            <a:off x="14164055" y="2468880"/>
            <a:ext cx="2862072" cy="4846320"/>
          </a:xfrm>
          <a:prstGeom prst="roundRect">
            <a:avLst>
              <a:gd name="adj" fmla="val 8945"/>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4392655" y="26974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400">
                <a:solidFill>
                  <a:srgbClr val="032954"/>
                </a:solidFill>
                <a:latin typeface="+mj-lt"/>
              </a:rPr>
              <a:t>5</a:t>
            </a:r>
          </a:p>
        </p:txBody>
      </p:sp>
      <p:sp>
        <p:nvSpPr>
          <p:cNvPr id="24" name="TextBox 23"/>
          <p:cNvSpPr txBox="1"/>
          <p:nvPr/>
        </p:nvSpPr>
        <p:spPr>
          <a:xfrm>
            <a:off x="14438376" y="3794760"/>
            <a:ext cx="2313432" cy="1143000"/>
          </a:xfrm>
          <a:prstGeom prst="rect">
            <a:avLst/>
          </a:prstGeom>
          <a:noFill/>
        </p:spPr>
        <p:txBody>
          <a:bodyPr wrap="square" lIns="45720" tIns="27432" rIns="45720" bIns="27432" anchor="t">
            <a:spAutoFit/>
          </a:bodyPr>
          <a:lstStyle/>
          <a:p>
            <a:pPr algn="l"/>
            <a:r>
              <a:rPr sz="1700">
                <a:solidFill>
                  <a:srgbClr val="FFFFFF"/>
                </a:solidFill>
                <a:latin typeface="+mj-lt"/>
              </a:rPr>
              <a:t>A trace you could show an auditor</a:t>
            </a:r>
          </a:p>
        </p:txBody>
      </p:sp>
      <p:sp>
        <p:nvSpPr>
          <p:cNvPr id="25" name="TextBox 24"/>
          <p:cNvSpPr txBox="1"/>
          <p:nvPr/>
        </p:nvSpPr>
        <p:spPr>
          <a:xfrm>
            <a:off x="14438376" y="4983480"/>
            <a:ext cx="2313432" cy="2148839"/>
          </a:xfrm>
          <a:prstGeom prst="rect">
            <a:avLst/>
          </a:prstGeom>
          <a:noFill/>
        </p:spPr>
        <p:txBody>
          <a:bodyPr wrap="square" lIns="45720" tIns="27432" rIns="45720" bIns="27432" anchor="t">
            <a:spAutoFit/>
          </a:bodyPr>
          <a:lstStyle/>
          <a:p>
            <a:pPr algn="l"/>
            <a:r>
              <a:rPr sz="1400">
                <a:solidFill>
                  <a:srgbClr val="FFFFFF"/>
                </a:solidFill>
              </a:rPr>
              <a:t>Every query, retrieval and model call next to the answer. If you cannot see how it got there, you cannot trust it.</a:t>
            </a:r>
          </a:p>
        </p:txBody>
      </p:sp>
      <p:sp>
        <p:nvSpPr>
          <p:cNvPr id="26" name="TextBox 25"/>
          <p:cNvSpPr txBox="1"/>
          <p:nvPr/>
        </p:nvSpPr>
        <p:spPr>
          <a:xfrm>
            <a:off x="1252728" y="7635240"/>
            <a:ext cx="15773400" cy="1005840"/>
          </a:xfrm>
          <a:prstGeom prst="rect">
            <a:avLst/>
          </a:prstGeom>
          <a:noFill/>
        </p:spPr>
        <p:txBody>
          <a:bodyPr wrap="square" lIns="45720" tIns="27432" rIns="45720" bIns="27432" anchor="t">
            <a:spAutoFit/>
          </a:bodyPr>
          <a:lstStyle/>
          <a:p>
            <a:pPr algn="l"/>
            <a:r>
              <a:rPr sz="1250">
                <a:solidFill>
                  <a:srgbClr val="7E889A"/>
                </a:solidFill>
              </a:rPr>
              <a:t>On SAS Viya this is the standard toolkit: Intelligent Decisioning sets the autonomy-to-oversight ratio for an agent and approves, audits and traces its decisions; Retrieval Agent Manager builds the knowledge base and the agent without code; the models come from Model Studio. (SAS Innovate, April 2026.)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1252728" y="713232"/>
            <a:ext cx="15773400" cy="1234440"/>
          </a:xfrm>
        </p:spPr>
        <p:txBody>
          <a:bodyPr wrap="square" anchor="t"/>
          <a:lstStyle/>
          <a:p>
            <a:r>
              <a:rPr sz="3600"/>
              <a:t>Sources</a:t>
            </a:r>
          </a:p>
        </p:txBody>
      </p:sp>
      <p:sp>
        <p:nvSpPr>
          <p:cNvPr id="5" name="TextBox 4"/>
          <p:cNvSpPr txBox="1"/>
          <p:nvPr/>
        </p:nvSpPr>
        <p:spPr>
          <a:xfrm>
            <a:off x="1252728" y="2194560"/>
            <a:ext cx="7726679" cy="7040880"/>
          </a:xfrm>
          <a:prstGeom prst="rect">
            <a:avLst/>
          </a:prstGeom>
          <a:noFill/>
        </p:spPr>
        <p:txBody>
          <a:bodyPr wrap="square" lIns="45720" tIns="27432" rIns="45720" bIns="27432" anchor="t">
            <a:spAutoFit/>
          </a:bodyPr>
          <a:lstStyle/>
          <a:p>
            <a:pPr algn="l">
              <a:spcAft>
                <a:spcPts val="900"/>
              </a:spcAft>
            </a:pPr>
            <a:r>
              <a:rPr sz="1150">
                <a:solidFill>
                  <a:srgbClr val="262626"/>
                </a:solidFill>
              </a:rPr>
              <a:t>1. International Diabetes Federation. IDF Diabetes Atlas, 11th edition (2025): United Arab Emirates country profile.</a:t>
            </a:r>
          </a:p>
          <a:p>
            <a:pPr algn="l">
              <a:spcAft>
                <a:spcPts val="900"/>
              </a:spcAft>
            </a:pPr>
            <a:r>
              <a:rPr sz="1150">
                <a:solidFill>
                  <a:srgbClr val="262626"/>
                </a:solidFill>
              </a:rPr>
              <a:t>2. UAE National Cancer Registry. Cancer Incidence in United Arab Emirates, annual report 2021. Ministry of Health and Prevention.</a:t>
            </a:r>
          </a:p>
          <a:p>
            <a:pPr algn="l">
              <a:spcAft>
                <a:spcPts val="900"/>
              </a:spcAft>
            </a:pPr>
            <a:r>
              <a:rPr sz="1150">
                <a:solidFill>
                  <a:srgbClr val="262626"/>
                </a:solidFill>
              </a:rPr>
              <a:t>3. Al-Shamsi HO et al. Not only a Western world issue: cancer incidence in younger individuals in the United Arab Emirates. CA: A Cancer Journal for Clinicians, 2024.</a:t>
            </a:r>
          </a:p>
          <a:p>
            <a:pPr algn="l">
              <a:spcAft>
                <a:spcPts val="900"/>
              </a:spcAft>
            </a:pPr>
            <a:r>
              <a:rPr sz="1150">
                <a:solidFill>
                  <a:srgbClr val="262626"/>
                </a:solidFill>
              </a:rPr>
              <a:t>4. Ministry of Health and Prevention. The National Guideline for Colorectal Cancer Screening and Diagnosis, UAE.</a:t>
            </a:r>
          </a:p>
          <a:p>
            <a:pPr algn="l">
              <a:spcAft>
                <a:spcPts val="900"/>
              </a:spcAft>
            </a:pPr>
            <a:r>
              <a:rPr sz="1150">
                <a:solidFill>
                  <a:srgbClr val="262626"/>
                </a:solidFill>
              </a:rPr>
              <a:t>5. Yeoh KG et al. The Asia-Pacific Colorectal Screening score. Gut 2011;60:1236-41.</a:t>
            </a:r>
          </a:p>
          <a:p>
            <a:pPr algn="l">
              <a:spcAft>
                <a:spcPts val="900"/>
              </a:spcAft>
            </a:pPr>
            <a:r>
              <a:rPr sz="1150">
                <a:solidFill>
                  <a:srgbClr val="262626"/>
                </a:solidFill>
              </a:rPr>
              <a:t>6. JAMA, April 2026. Changes in clinician time expenditure and visit quantity with adoption of AI-powered scribes: a multisite study (Mass General Brigham, Emory, UCSF, Yale New Haven Health, UC Davis).</a:t>
            </a:r>
          </a:p>
          <a:p>
            <a:pPr algn="l">
              <a:spcAft>
                <a:spcPts val="900"/>
              </a:spcAft>
            </a:pPr>
            <a:r>
              <a:rPr sz="1150">
                <a:solidFill>
                  <a:srgbClr val="262626"/>
                </a:solidFill>
              </a:rPr>
              <a:t>7. Olson KE et al. Ambient artificial intelligence scribes to reduce administrative burden and professional burnout. JAMA Network Open, October 2025.</a:t>
            </a:r>
          </a:p>
          <a:p>
            <a:pPr algn="l">
              <a:spcAft>
                <a:spcPts val="900"/>
              </a:spcAft>
            </a:pPr>
            <a:r>
              <a:rPr sz="1150">
                <a:solidFill>
                  <a:srgbClr val="262626"/>
                </a:solidFill>
              </a:rPr>
              <a:t>8. Cancer screening outreach guided by machine learning: the benefits of proactive care. Manufacturing &amp; Service Operations Management, 2026 (Geisinger).</a:t>
            </a:r>
          </a:p>
        </p:txBody>
      </p:sp>
      <p:sp>
        <p:nvSpPr>
          <p:cNvPr id="6" name="TextBox 5"/>
          <p:cNvSpPr txBox="1"/>
          <p:nvPr/>
        </p:nvSpPr>
        <p:spPr>
          <a:xfrm>
            <a:off x="9299448" y="2194560"/>
            <a:ext cx="7726679" cy="7040880"/>
          </a:xfrm>
          <a:prstGeom prst="rect">
            <a:avLst/>
          </a:prstGeom>
          <a:noFill/>
        </p:spPr>
        <p:txBody>
          <a:bodyPr wrap="square" lIns="45720" tIns="27432" rIns="45720" bIns="27432" anchor="t">
            <a:spAutoFit/>
          </a:bodyPr>
          <a:lstStyle/>
          <a:p>
            <a:pPr algn="l">
              <a:spcAft>
                <a:spcPts val="900"/>
              </a:spcAft>
            </a:pPr>
            <a:r>
              <a:rPr sz="1150">
                <a:solidFill>
                  <a:srgbClr val="262626"/>
                </a:solidFill>
              </a:rPr>
              <a:t>9. WellSpan Health and Hippocratic AI. Using a multilingual AI care agent to reduce disparities in colorectal cancer screening: higher FIT adoption among Spanish-speaking patients. Retrospective analysis, 2025.</a:t>
            </a:r>
          </a:p>
          <a:p>
            <a:pPr algn="l">
              <a:spcAft>
                <a:spcPts val="900"/>
              </a:spcAft>
            </a:pPr>
            <a:r>
              <a:rPr sz="1150">
                <a:solidFill>
                  <a:srgbClr val="262626"/>
                </a:solidFill>
              </a:rPr>
              <a:t>10. Becker's Hospital Review, 2025. Prior authorizations, patient check-ins: MUSC Health's AI agents; Notable customer story.</a:t>
            </a:r>
          </a:p>
          <a:p>
            <a:pPr algn="l">
              <a:spcAft>
                <a:spcPts val="900"/>
              </a:spcAft>
            </a:pPr>
            <a:r>
              <a:rPr sz="1150">
                <a:solidFill>
                  <a:srgbClr val="262626"/>
                </a:solidFill>
              </a:rPr>
              <a:t>11. Jin Q et al. Matching patients to clinical trials with large language models (TrialGPT). Nature Communications, 2024.</a:t>
            </a:r>
          </a:p>
          <a:p>
            <a:pPr algn="l">
              <a:spcAft>
                <a:spcPts val="900"/>
              </a:spcAft>
            </a:pPr>
            <a:r>
              <a:rPr sz="1150">
                <a:solidFill>
                  <a:srgbClr val="262626"/>
                </a:solidFill>
              </a:rPr>
              <a:t>12. MIT NANDA. The GenAI Divide: State of AI in Business 2025. Preliminary report, July 2025.</a:t>
            </a:r>
          </a:p>
          <a:p>
            <a:pPr algn="l">
              <a:spcAft>
                <a:spcPts val="900"/>
              </a:spcAft>
            </a:pPr>
            <a:r>
              <a:rPr sz="1150">
                <a:solidFill>
                  <a:srgbClr val="262626"/>
                </a:solidFill>
              </a:rPr>
              <a:t>13. Gartner. Press release, 25 June 2025: Gartner predicts over 40% of agentic AI projects will be canceled by end of 2027.</a:t>
            </a:r>
          </a:p>
          <a:p>
            <a:pPr algn="l">
              <a:spcAft>
                <a:spcPts val="900"/>
              </a:spcAft>
            </a:pPr>
            <a:r>
              <a:rPr sz="1150">
                <a:solidFill>
                  <a:srgbClr val="262626"/>
                </a:solidFill>
              </a:rPr>
              <a:t>14. SAS. Press releases, SAS Innovate, April 2026: SAS Viya governed AI assistants and agentic AI capabilities; SAS Intelligent Decisioning; SAS Retrieval Agent Manager.</a:t>
            </a:r>
          </a:p>
          <a:p>
            <a:pPr algn="l">
              <a:spcAft>
                <a:spcPts val="900"/>
              </a:spcAft>
            </a:pPr>
            <a:r>
              <a:rPr sz="1150">
                <a:solidFill>
                  <a:srgbClr val="262626"/>
                </a:solidFill>
              </a:rPr>
              <a:t>15. MedCity News, March 2026. Real-world evidence meets machine learning (RWE in about 70% of new drug and biologic submissions to the FDA).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7200"/>
              <a:t>Thank you!</a:t>
            </a:r>
          </a:p>
        </p:txBody>
      </p:sp>
      <p:sp>
        <p:nvSpPr>
          <p:cNvPr id="3" name="Text Placeholder 2"/>
          <p:cNvSpPr>
            <a:spLocks noGrp="1"/>
          </p:cNvSpPr>
          <p:nvPr>
            <p:ph type="body" idx="11" sz="quarter"/>
          </p:nvPr>
        </p:nvSpPr>
        <p:spPr/>
        <p:txBody>
          <a:bodyPr/>
          <a:lstStyle/>
          <a:p>
            <a:r>
              <a:rPr sz="2800"/>
              <a:t>Questions?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2020-TEMPLATE-EXTERNAL" val="pdtUH84H"/>
  <p:tag name="ARTICULATE_DESIGN_ID_SAS-EXTERNAL-16X9-2023" val="CJxW6PTk"/>
  <p:tag name="ARTICULATE_DESIGN_ID_1_NDA" val="5KPCLKMf"/>
  <p:tag name="ARTICULATE_DESIGN_ID_1_SAS-EXTERNAL-16X9-2023" val="OvZPFYIY"/>
  <p:tag name="ARTICULATE_DESIGN_ID_SAS - EXTERNAL - 16X9 - 2023" val="iju6vBOG"/>
  <p:tag name="ARTICULATE_DESIGN_ID_SAS - EXTERNAL" val="IZ9bNYet"/>
  <p:tag name="ARTICULATE_DESIGN_ID_SAS - EXTERNAL - NDA" val="RR4fBfJW"/>
  <p:tag name="ARTICULATE_SLIDE_THUMBNAIL_REFRESH" val="1"/>
  <p:tag name="ARTICULATE_DESIGN_ID_CUSTOM DESIGN" val="WASRYxhz"/>
  <p:tag name="ARTICULATE_SLIDE_COUNT" val="1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AS - EXTERNAL">
  <a:themeElements>
    <a:clrScheme name="Custom 4">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smtClean="0">
            <a:solidFill>
              <a:schemeClr val="tx1"/>
            </a:solidFill>
          </a:defRPr>
        </a:defPPr>
      </a:lstStyle>
    </a:txDef>
  </a:objectDefaults>
  <a:extraClrSchemeLst/>
  <a:extLst>
    <a:ext uri="{05A4C25C-085E-4340-85A3-A5531E510DB2}">
      <thm15:themeFamily xmlns:thm15="http://schemas.microsoft.com/office/thememl/2012/main" name="EXTERNAL_Template_2023.potx" id="{2EA8CE33-CC8D-491A-8407-3C6ED769A2DD}" vid="{4D26F06B-4A77-4C47-863E-04711AA87A0D}"/>
    </a:ext>
  </a:extLst>
</a:theme>
</file>

<file path=ppt/theme/theme4.xml><?xml version="1.0" encoding="utf-8"?>
<a:theme xmlns:a="http://schemas.openxmlformats.org/drawingml/2006/main" name="Office Theme">
  <a:themeElements>
    <a:clrScheme name="SAS-2023">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SAS-2023">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mso-contentType ?>
<customXsn xmlns="http://schemas.microsoft.com/office/2006/metadata/customXsn">
  <xsnLocation/>
  <cached>True</cached>
  <openByDefault>True</openByDefault>
  <xsnScope/>
</customXsn>
</file>

<file path=customXml/item3.xml><?xml version="1.0" encoding="utf-8"?>
<p:properties xmlns:p="http://schemas.microsoft.com/office/2006/metadata/properties" xmlns:xsi="http://www.w3.org/2001/XMLSchema-instance" xmlns:pc="http://schemas.microsoft.com/office/infopath/2007/PartnerControls">
  <documentManagement>
    <TaxCatchAll xmlns="53acc77d-4382-4413-8c2d-408a8e2a5705">
      <Value>297</Value>
      <Value>303</Value>
      <Value>1142</Value>
    </TaxCatchAll>
    <SharedWithUsers xmlns="53acc77d-4382-4413-8c2d-408a8e2a5705">
      <UserInfo>
        <DisplayName>Elisabeth Peter</DisplayName>
        <AccountId>228</AccountId>
        <AccountType/>
      </UserInfo>
      <UserInfo>
        <DisplayName>Cameron McLauchlin</DisplayName>
        <AccountId>43</AccountId>
        <AccountType/>
      </UserInfo>
      <UserInfo>
        <DisplayName>Jocelyn Kline</DisplayName>
        <AccountId>144</AccountId>
        <AccountType/>
      </UserInfo>
      <UserInfo>
        <DisplayName>Emily Baranello</DisplayName>
        <AccountId>147</AccountId>
        <AccountType/>
      </UserInfo>
      <UserInfo>
        <DisplayName>Mari Nilsson Björkman</DisplayName>
        <AccountId>28</AccountId>
        <AccountType/>
      </UserInfo>
      <UserInfo>
        <DisplayName>Claire-Juliette Beale</DisplayName>
        <AccountId>17</AccountId>
        <AccountType/>
      </UserInfo>
      <UserInfo>
        <DisplayName>Amanda Wise</DisplayName>
        <AccountId>233</AccountId>
        <AccountType/>
      </UserInfo>
      <UserInfo>
        <DisplayName>Jennifer Olson</DisplayName>
        <AccountId>248</AccountId>
        <AccountType/>
      </UserInfo>
      <UserInfo>
        <DisplayName>Greg Heidrick</DisplayName>
        <AccountId>30</AccountId>
        <AccountType/>
      </UserInfo>
      <UserInfo>
        <DisplayName>Albert Qian</DisplayName>
        <AccountId>964</AccountId>
        <AccountType/>
      </UserInfo>
      <UserInfo>
        <DisplayName>Ali Ricke</DisplayName>
        <AccountId>271</AccountId>
        <AccountType/>
      </UserInfo>
      <UserInfo>
        <DisplayName>Alice McClure</DisplayName>
        <AccountId>255</AccountId>
        <AccountType/>
      </UserInfo>
      <UserInfo>
        <DisplayName>Ashley Danahy</DisplayName>
        <AccountId>965</AccountId>
        <AccountType/>
      </UserInfo>
      <UserInfo>
        <DisplayName>Augusta Zhang</DisplayName>
        <AccountId>247</AccountId>
        <AccountType/>
      </UserInfo>
      <UserInfo>
        <DisplayName>Briana Ullman</DisplayName>
        <AccountId>167</AccountId>
        <AccountType/>
      </UserInfo>
      <UserInfo>
        <DisplayName>Erin McCarthy</DisplayName>
        <AccountId>966</AccountId>
        <AccountType/>
      </UserInfo>
      <UserInfo>
        <DisplayName>Heather Williams</DisplayName>
        <AccountId>967</AccountId>
        <AccountType/>
      </UserInfo>
      <UserInfo>
        <DisplayName>Kunal Shah</DisplayName>
        <AccountId>245</AccountId>
        <AccountType/>
      </UserInfo>
      <UserInfo>
        <DisplayName>Lindsay Marshall</DisplayName>
        <AccountId>183</AccountId>
        <AccountType/>
      </UserInfo>
      <UserInfo>
        <DisplayName>Luis Flynn</DisplayName>
        <AccountId>968</AccountId>
        <AccountType/>
      </UserInfo>
      <UserInfo>
        <DisplayName>Marinela Profi</DisplayName>
        <AccountId>55</AccountId>
        <AccountType/>
      </UserInfo>
      <UserInfo>
        <DisplayName>Michelle France</DisplayName>
        <AccountId>610</AccountId>
        <AccountType/>
      </UserInfo>
      <UserInfo>
        <DisplayName>Spiros Potamitis</DisplayName>
        <AccountId>969</AccountId>
        <AccountType/>
      </UserInfo>
      <UserInfo>
        <DisplayName>Apurva More</DisplayName>
        <AccountId>174</AccountId>
        <AccountType/>
      </UserInfo>
      <UserInfo>
        <DisplayName>Bill Roberts</DisplayName>
        <AccountId>246</AccountId>
        <AccountType/>
      </UserInfo>
      <UserInfo>
        <DisplayName>Brooke Huckabee</DisplayName>
        <AccountId>173</AccountId>
        <AccountType/>
      </UserInfo>
      <UserInfo>
        <DisplayName>Dan Mitchell</DisplayName>
        <AccountId>50</AccountId>
        <AccountType/>
      </UserInfo>
      <UserInfo>
        <DisplayName>David Rogers</DisplayName>
        <AccountId>434</AccountId>
        <AccountType/>
      </UserInfo>
      <UserInfo>
        <DisplayName>Diana Rothfuss</DisplayName>
        <AccountId>180</AccountId>
        <AccountType/>
      </UserInfo>
      <UserInfo>
        <DisplayName>Ellen Roberson</DisplayName>
        <AccountId>177</AccountId>
        <AccountType/>
      </UserInfo>
      <UserInfo>
        <DisplayName>Jane Howell</DisplayName>
        <AccountId>51</AccountId>
        <AccountType/>
      </UserInfo>
      <UserInfo>
        <DisplayName>Jennifer Pearson</DisplayName>
        <AccountId>904</AccountId>
        <AccountType/>
      </UserInfo>
      <UserInfo>
        <DisplayName>Jonathan Moran</DisplayName>
        <AccountId>172</AccountId>
        <AccountType/>
      </UserInfo>
      <UserInfo>
        <DisplayName>Lisa Loftis</DisplayName>
        <AccountId>171</AccountId>
        <AccountType/>
      </UserInfo>
      <UserInfo>
        <DisplayName>Liz Goldberg</DisplayName>
        <AccountId>120</AccountId>
        <AccountType/>
      </UserInfo>
      <UserInfo>
        <DisplayName>Loren Byrd</DisplayName>
        <AccountId>619</AccountId>
        <AccountType/>
      </UserInfo>
      <UserInfo>
        <DisplayName>Paola Csirke-Juliano</DisplayName>
        <AccountId>608</AccountId>
        <AccountType/>
      </UserInfo>
      <UserInfo>
        <DisplayName>Thorsten Hein</DisplayName>
        <AccountId>137</AccountId>
        <AccountType/>
      </UserInfo>
      <UserInfo>
        <DisplayName>Vashinta Dickens</DisplayName>
        <AccountId>182</AccountId>
        <AccountType/>
      </UserInfo>
      <UserInfo>
        <DisplayName>Katy Salamati</DisplayName>
        <AccountId>392</AccountId>
        <AccountType/>
      </UserInfo>
      <UserInfo>
        <DisplayName>Colby Hoke</DisplayName>
        <AccountId>970</AccountId>
        <AccountType/>
      </UserInfo>
      <UserInfo>
        <DisplayName>Mark Demers</DisplayName>
        <AccountId>6</AccountId>
        <AccountType/>
      </UserInfo>
      <UserInfo>
        <DisplayName>Michelle Wells</DisplayName>
        <AccountId>23</AccountId>
        <AccountType/>
      </UserInfo>
      <UserInfo>
        <DisplayName>Alyssa Farrell</DisplayName>
        <AccountId>42</AccountId>
        <AccountType/>
      </UserInfo>
      <UserInfo>
        <DisplayName>Alex Kwiatkowski</DisplayName>
        <AccountId>25</AccountId>
        <AccountType/>
      </UserInfo>
      <UserInfo>
        <DisplayName>Lee Ann Dietz</DisplayName>
        <AccountId>14</AccountId>
        <AccountType/>
      </UserInfo>
      <UserInfo>
        <DisplayName>Patrick Homer</DisplayName>
        <AccountId>32</AccountId>
        <AccountType/>
      </UserInfo>
      <UserInfo>
        <DisplayName>Sydney Chicurel</DisplayName>
        <AccountId>278</AccountId>
        <AccountType/>
      </UserInfo>
      <UserInfo>
        <DisplayName>Robert Montgomery</DisplayName>
        <AccountId>881</AccountId>
        <AccountType/>
      </UserInfo>
      <UserInfo>
        <DisplayName>Alex Maiersperger</DisplayName>
        <AccountId>239</AccountId>
        <AccountType/>
      </UserInfo>
      <UserInfo>
        <DisplayName>Georgia Mariani</DisplayName>
        <AccountId>15</AccountId>
        <AccountType/>
      </UserInfo>
      <UserInfo>
        <DisplayName>Global Technology Product Marketing Members</DisplayName>
        <AccountId>971</AccountId>
        <AccountType/>
      </UserInfo>
      <UserInfo>
        <DisplayName>Kate Parker</DisplayName>
        <AccountId>69</AccountId>
        <AccountType/>
      </UserInfo>
    </SharedWithUsers>
    <Updated xmlns="53acc77d-4382-4413-8c2d-408a8e2a5705" xsi:nil="true"/>
    <a5eaf523e06a49de8d79f6acc451673f xmlns="53acc77d-4382-4413-8c2d-408a8e2a5705">
      <Terms xmlns="http://schemas.microsoft.com/office/infopath/2007/PartnerControls"/>
    </a5eaf523e06a49de8d79f6acc451673f>
    <IconOverlay xmlns="http://schemas.microsoft.com/sharepoint/v4" xsi:nil="true"/>
    <g1556e91db324706a2d96877947f44a1 xmlns="53acc77d-4382-4413-8c2d-408a8e2a5705">
      <Terms xmlns="http://schemas.microsoft.com/office/infopath/2007/PartnerControls">
        <TermInfo xmlns="http://schemas.microsoft.com/office/infopath/2007/PartnerControls">
          <TermName xmlns="http://schemas.microsoft.com/office/infopath/2007/PartnerControls">Application and Identity Fraud</TermName>
          <TermId xmlns="http://schemas.microsoft.com/office/infopath/2007/PartnerControls">40c05cd4-be95-4caf-8451-1dc26fa7f19f</TermId>
        </TermInfo>
        <TermInfo xmlns="http://schemas.microsoft.com/office/infopath/2007/PartnerControls">
          <TermName xmlns="http://schemas.microsoft.com/office/infopath/2007/PartnerControls">Payments Fraud</TermName>
          <TermId xmlns="http://schemas.microsoft.com/office/infopath/2007/PartnerControls">85715592-c0d5-4db6-a49b-e9cd7b557fd0</TermId>
        </TermInfo>
        <TermInfo xmlns="http://schemas.microsoft.com/office/infopath/2007/PartnerControls">
          <TermName xmlns="http://schemas.microsoft.com/office/infopath/2007/PartnerControls">Banking Fraud and Financial Crimes Compliance</TermName>
          <TermId xmlns="http://schemas.microsoft.com/office/infopath/2007/PartnerControls">45b62d14-9032-43d0-998f-4b424fe0f613</TermId>
        </TermInfo>
      </Terms>
    </g1556e91db324706a2d96877947f44a1>
    <Asset_x0020_Status xmlns="53acc77d-4382-4413-8c2d-408a8e2a5705">Publish</Asset_x0020_Status>
    <pc8465657618468292594f9ab4689c33 xmlns="53acc77d-4382-4413-8c2d-408a8e2a5705">
      <Terms xmlns="http://schemas.microsoft.com/office/infopath/2007/PartnerControls"/>
    </pc8465657618468292594f9ab4689c33>
    <Demo_x0020_ID xmlns="53acc77d-4382-4413-8c2d-408a8e2a5705" xsi:nil="true"/>
    <Value_x0020_Proposition xmlns="f6ce49f0-2995-48df-a9c9-3a6b87ac555a">Not Set</Value_x0020_Proposition>
    <PublishingContact xmlns="f6ce49f0-2995-48df-a9c9-3a6b87ac555a">
      <UserInfo>
        <DisplayName/>
        <AccountId xsi:nil="true"/>
        <AccountType/>
      </UserInfo>
    </PublishingContact>
    <Portal_x0020_Content_x0020_Asset_x0020_Type xmlns="53acc77d-4382-4413-8c2d-408a8e2a5705">Overview Presentation</Portal_x0020_Content_x0020_Asset_x0020_Type>
  </documentManagement>
</p:properties>
</file>

<file path=customXml/item4.xml><?xml version="1.0" encoding="utf-8"?>
<ct:contentTypeSchema xmlns:ct="http://schemas.microsoft.com/office/2006/metadata/contentType" xmlns:ma="http://schemas.microsoft.com/office/2006/metadata/properties/metaAttributes" ct:_="" ma:_="" ma:contentTypeName="SAS Portal Document" ma:contentTypeID="0x0101006BE659B9BD46644CB3C6870C03978025002CC455ACD93CE545B750EA5F55C04BF6" ma:contentTypeVersion="47" ma:contentTypeDescription="Custom content type used for content that is surfaced on the Sales &amp; Marketing Portal.." ma:contentTypeScope="" ma:versionID="c117b22ede2bb8718e6234b331348844">
  <xsd:schema xmlns:xsd="http://www.w3.org/2001/XMLSchema" xmlns:xs="http://www.w3.org/2001/XMLSchema" xmlns:p="http://schemas.microsoft.com/office/2006/metadata/properties" xmlns:ns2="53acc77d-4382-4413-8c2d-408a8e2a5705" xmlns:ns4="f6ce49f0-2995-48df-a9c9-3a6b87ac555a" xmlns:ns5="http://schemas.microsoft.com/sharepoint/v4" targetNamespace="http://schemas.microsoft.com/office/2006/metadata/properties" ma:root="true" ma:fieldsID="fcae80220d5a355a2e03199195f972c7" ns2:_="" ns4:_="" ns5:_="">
    <xsd:import namespace="53acc77d-4382-4413-8c2d-408a8e2a5705"/>
    <xsd:import namespace="f6ce49f0-2995-48df-a9c9-3a6b87ac555a"/>
    <xsd:import namespace="http://schemas.microsoft.com/sharepoint/v4"/>
    <xsd:element name="properties">
      <xsd:complexType>
        <xsd:sequence>
          <xsd:element name="documentManagement">
            <xsd:complexType>
              <xsd:all>
                <xsd:element ref="ns2:Portal_x0020_Content_x0020_Asset_x0020_Type"/>
                <xsd:element ref="ns2:Asset_x0020_Status"/>
                <xsd:element ref="ns2:Demo_x0020_ID" minOccurs="0"/>
                <xsd:element ref="ns4:Value_x0020_Proposition" minOccurs="0"/>
                <xsd:element ref="ns2:pc8465657618468292594f9ab4689c33" minOccurs="0"/>
                <xsd:element ref="ns2:Updated" minOccurs="0"/>
                <xsd:element ref="ns2:g1556e91db324706a2d96877947f44a1" minOccurs="0"/>
                <xsd:element ref="ns2:TaxCatchAll" minOccurs="0"/>
                <xsd:element ref="ns2:a5eaf523e06a49de8d79f6acc451673f" minOccurs="0"/>
                <xsd:element ref="ns2:TaxCatchAllLabel" minOccurs="0"/>
                <xsd:element ref="ns4:MediaServiceMetadata" minOccurs="0"/>
                <xsd:element ref="ns4:MediaServiceFastMetadata" minOccurs="0"/>
                <xsd:element ref="ns4:MediaServiceAutoKeyPoints" minOccurs="0"/>
                <xsd:element ref="ns4:MediaServiceKeyPoints" minOccurs="0"/>
                <xsd:element ref="ns4:MediaServiceDateTaken" minOccurs="0"/>
                <xsd:element ref="ns5:IconOverlay" minOccurs="0"/>
                <xsd:element ref="ns4:PublishingContact" minOccurs="0"/>
                <xsd:element ref="ns2:SharedWithUsers" minOccurs="0"/>
                <xsd:element ref="ns2:SharedWithDetails" minOccurs="0"/>
                <xsd:element ref="ns4:MediaLengthInSeconds" minOccurs="0"/>
                <xsd:element ref="ns4:MediaServiceObjectDetectorVersions" minOccurs="0"/>
                <xsd:element ref="ns4:MediaServiceGenerationTime" minOccurs="0"/>
                <xsd:element ref="ns4:MediaServiceEventHashCode"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3acc77d-4382-4413-8c2d-408a8e2a5705" elementFormDefault="qualified">
    <xsd:import namespace="http://schemas.microsoft.com/office/2006/documentManagement/types"/>
    <xsd:import namespace="http://schemas.microsoft.com/office/infopath/2007/PartnerControls"/>
    <xsd:element name="Portal_x0020_Content_x0020_Asset_x0020_Type" ma:index="2" ma:displayName="Asset Type" ma:description="Types of assets available for publishing in Portal Content Libraries." ma:format="Dropdown" ma:internalName="Portal_x0020_Content_x0020_Asset_x0020_Type" ma:readOnly="false">
      <xsd:simpleType>
        <xsd:restriction base="dms:Choice">
          <xsd:enumeration value="Battle Card"/>
          <xsd:enumeration value="Competitive Research"/>
          <xsd:enumeration value="Customer Challenge &amp; What SAS Offers"/>
          <xsd:enumeration value="Customer Introduction Letter"/>
          <xsd:enumeration value="Demo Recording (Customer Ready)"/>
          <xsd:enumeration value="Demo Recording (Internal)"/>
          <xsd:enumeration value="Demo Resource"/>
          <xsd:enumeration value="Demo Script"/>
          <xsd:enumeration value="Discovery Questions"/>
          <xsd:enumeration value="External Video"/>
          <xsd:enumeration value="FAQ"/>
          <xsd:enumeration value="Industry Overview Presentation"/>
          <xsd:enumeration value="Initiate Conversations"/>
          <xsd:enumeration value="Impact Brief"/>
          <xsd:enumeration value="Know Your Buyer"/>
          <xsd:enumeration value="Know Your User"/>
          <xsd:enumeration value="Overview Presentation"/>
          <xsd:enumeration value="Presentation - Internal"/>
          <xsd:enumeration value="Product Roadmap"/>
          <xsd:enumeration value="Product Vision"/>
          <xsd:enumeration value="Qualification Criteria"/>
          <xsd:enumeration value="ROI Calculator"/>
          <xsd:enumeration value="Sales Strategy"/>
          <xsd:enumeration value="Sales Tools - Other"/>
          <xsd:enumeration value="Self-Directed Learning"/>
          <xsd:enumeration value="Shark Finesse ROI Model"/>
          <xsd:enumeration value="Social Selling QuickStart Guide"/>
          <xsd:enumeration value="Solution Brief"/>
          <xsd:enumeration value="Technical - Other"/>
          <xsd:enumeration value="Use Cases"/>
        </xsd:restriction>
      </xsd:simpleType>
    </xsd:element>
    <xsd:element name="Asset_x0020_Status" ma:index="5" ma:displayName="Asset Status" ma:default="Draft" ma:description="Publishing status of asset.  Select &quot;Publish&quot; for asset to be available in Mercury / Sales &amp; Marketing Portal." ma:format="Dropdown" ma:internalName="Asset_x0020_Status" ma:readOnly="false">
      <xsd:simpleType>
        <xsd:restriction base="dms:Choice">
          <xsd:enumeration value="Draft"/>
          <xsd:enumeration value="Under Review"/>
          <xsd:enumeration value="Publish"/>
          <xsd:enumeration value="Archive"/>
        </xsd:restriction>
      </xsd:simpleType>
    </xsd:element>
    <xsd:element name="Demo_x0020_ID" ma:index="9" nillable="true" ma:displayName="Demo ID" ma:description="For demo resources only" ma:internalName="Demo_x0020_ID" ma:readOnly="false">
      <xsd:simpleType>
        <xsd:restriction base="dms:Text">
          <xsd:maxLength value="255"/>
        </xsd:restriction>
      </xsd:simpleType>
    </xsd:element>
    <xsd:element name="pc8465657618468292594f9ab4689c33" ma:index="11" nillable="true" ma:taxonomy="true" ma:internalName="pc8465657618468292594f9ab4689c33" ma:taxonomyFieldName="SAS_x0020_Offering" ma:displayName="SAS Offering" ma:readOnly="false" ma:default="" ma:fieldId="{9c846565-7618-4682-9259-4f9ab4689c33}" ma:taxonomyMulti="true" ma:sspId="7fd0e135-c9ac-4e89-9c36-fb2929ad0f0a" ma:termSetId="13b43256-b3b3-4bff-80b2-57e1064dbe9a" ma:anchorId="00000000-0000-0000-0000-000000000000" ma:open="false" ma:isKeyword="false">
      <xsd:complexType>
        <xsd:sequence>
          <xsd:element ref="pc:Terms" minOccurs="0" maxOccurs="1"/>
        </xsd:sequence>
      </xsd:complexType>
    </xsd:element>
    <xsd:element name="Updated" ma:index="12" nillable="true" ma:displayName="Updated" ma:description="This field MUST include the date of last update.  Asset expiration rules are based on this date, and assets will expire if they have not been recently updated (after 550 days for many asset types). See the Asset Lifecycle List at http://sww.sas.com/gobot/assets" ma:format="DateOnly" ma:hidden="true" ma:internalName="Updated" ma:readOnly="false">
      <xsd:simpleType>
        <xsd:restriction base="dms:DateTime"/>
      </xsd:simpleType>
    </xsd:element>
    <xsd:element name="g1556e91db324706a2d96877947f44a1" ma:index="15" nillable="true" ma:taxonomy="true" ma:internalName="g1556e91db324706a2d96877947f44a1" ma:taxonomyFieldName="SAS_x0020_CBO" ma:displayName="SAS CBO" ma:readOnly="false" ma:default="" ma:fieldId="{01556e91-db32-4706-a2d9-6877947f44a1}" ma:taxonomyMulti="true" ma:sspId="7fd0e135-c9ac-4e89-9c36-fb2929ad0f0a" ma:termSetId="ca7520f6-ccfb-4624-b7c3-7e078f59c263" ma:anchorId="00000000-0000-0000-0000-000000000000" ma:open="false" ma:isKeyword="false">
      <xsd:complexType>
        <xsd:sequence>
          <xsd:element ref="pc:Terms" minOccurs="0" maxOccurs="1"/>
        </xsd:sequence>
      </xsd:complexType>
    </xsd:element>
    <xsd:element name="TaxCatchAll" ma:index="17" nillable="true" ma:displayName="Taxonomy Catch All Column" ma:hidden="true" ma:list="{acba37b5-229d-48b1-a098-788030c8aec9}" ma:internalName="TaxCatchAll" ma:readOnly="false" ma:showField="CatchAllData" ma:web="53acc77d-4382-4413-8c2d-408a8e2a5705">
      <xsd:complexType>
        <xsd:complexContent>
          <xsd:extension base="dms:MultiChoiceLookup">
            <xsd:sequence>
              <xsd:element name="Value" type="dms:Lookup" maxOccurs="unbounded" minOccurs="0" nillable="true"/>
            </xsd:sequence>
          </xsd:extension>
        </xsd:complexContent>
      </xsd:complexType>
    </xsd:element>
    <xsd:element name="a5eaf523e06a49de8d79f6acc451673f" ma:index="18" nillable="true" ma:taxonomy="true" ma:internalName="a5eaf523e06a49de8d79f6acc451673f" ma:taxonomyFieldName="SAS_x0020_Industry" ma:displayName="SAS Industry" ma:readOnly="false" ma:default="" ma:fieldId="{a5eaf523-e06a-49de-8d79-f6acc451673f}" ma:taxonomyMulti="true" ma:sspId="7fd0e135-c9ac-4e89-9c36-fb2929ad0f0a" ma:termSetId="05306096-4b6f-4ef3-835e-901537768b2c" ma:anchorId="00000000-0000-0000-0000-000000000000" ma:open="false" ma:isKeyword="false">
      <xsd:complexType>
        <xsd:sequence>
          <xsd:element ref="pc:Terms" minOccurs="0" maxOccurs="1"/>
        </xsd:sequence>
      </xsd:complexType>
    </xsd:element>
    <xsd:element name="TaxCatchAllLabel" ma:index="19" nillable="true" ma:displayName="Taxonomy Catch All Column1" ma:hidden="true" ma:list="{acba37b5-229d-48b1-a098-788030c8aec9}" ma:internalName="TaxCatchAllLabel" ma:readOnly="true" ma:showField="CatchAllDataLabel" ma:web="53acc77d-4382-4413-8c2d-408a8e2a5705">
      <xsd:complexType>
        <xsd:complexContent>
          <xsd:extension base="dms:MultiChoiceLookup">
            <xsd:sequence>
              <xsd:element name="Value" type="dms:Lookup" maxOccurs="unbounded" minOccurs="0" nillable="true"/>
            </xsd:sequence>
          </xsd:extension>
        </xsd:complexContent>
      </xsd:complexType>
    </xsd:element>
    <xsd:element name="SharedWithUsers" ma:index="3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32"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6ce49f0-2995-48df-a9c9-3a6b87ac555a" elementFormDefault="qualified">
    <xsd:import namespace="http://schemas.microsoft.com/office/2006/documentManagement/types"/>
    <xsd:import namespace="http://schemas.microsoft.com/office/infopath/2007/PartnerControls"/>
    <xsd:element name="Value_x0020_Proposition" ma:index="10" nillable="true" ma:displayName="Library VP Filter" ma:default="Not Set" ma:description="Used for library views ONLY, for grouping and filtering assets. These values do NOT impact Mercury or Quick Find tagging.  Use SAS CBO for official content tagging." ma:format="Dropdown" ma:hidden="true" ma:internalName="Value_x0020_Proposition" ma:readOnly="false">
      <xsd:simpleType>
        <xsd:restriction base="dms:Choice">
          <xsd:enumeration value="N/A - Demo"/>
          <xsd:enumeration value="N/A - Focus Area"/>
          <xsd:enumeration value="Anti-Money Laundering (Banking)"/>
          <xsd:enumeration value="Anti-Money Laundering for Insurance"/>
          <xsd:enumeration value="Cyber Security"/>
          <xsd:enumeration value="Financial Crimes Analytics"/>
          <xsd:enumeration value="Identity and Digital Fraud"/>
          <xsd:enumeration value="Insurance Claims Fraud"/>
          <xsd:enumeration value="Payments Fraud"/>
          <xsd:enumeration value="Procurement Integrity"/>
          <xsd:enumeration value="N/A - Industry"/>
          <xsd:enumeration value="N/A - Roadmap"/>
          <xsd:enumeration value="N/A - Product &amp; Solution"/>
          <xsd:enumeration value="N/A - Retired VP Content"/>
          <xsd:enumeration value="Not Set"/>
        </xsd:restriction>
      </xsd:simpleType>
    </xsd:element>
    <xsd:element name="MediaServiceMetadata" ma:index="22" nillable="true" ma:displayName="MediaServiceMetadata" ma:hidden="true" ma:internalName="MediaServiceMetadata" ma:readOnly="true">
      <xsd:simpleType>
        <xsd:restriction base="dms:Note"/>
      </xsd:simpleType>
    </xsd:element>
    <xsd:element name="MediaServiceFastMetadata" ma:index="23" nillable="true" ma:displayName="MediaServiceFastMetadata" ma:hidden="true" ma:internalName="MediaServiceFastMetadata" ma:readOnly="true">
      <xsd:simpleType>
        <xsd:restriction base="dms:Note"/>
      </xsd:simpleType>
    </xsd:element>
    <xsd:element name="MediaServiceAutoKeyPoints" ma:index="24" nillable="true" ma:displayName="MediaServiceAutoKeyPoints" ma:hidden="true" ma:internalName="MediaServiceAutoKeyPoints" ma:readOnly="true">
      <xsd:simpleType>
        <xsd:restriction base="dms:Note"/>
      </xsd:simpleType>
    </xsd:element>
    <xsd:element name="MediaServiceKeyPoints" ma:index="25" nillable="true" ma:displayName="KeyPoints" ma:hidden="true" ma:internalName="MediaServiceKeyPoints" ma:readOnly="true">
      <xsd:simpleType>
        <xsd:restriction base="dms:Note"/>
      </xsd:simpleType>
    </xsd:element>
    <xsd:element name="MediaServiceDateTaken" ma:index="26" nillable="true" ma:displayName="MediaServiceDateTaken" ma:hidden="true" ma:internalName="MediaServiceDateTaken" ma:readOnly="true">
      <xsd:simpleType>
        <xsd:restriction base="dms:Text"/>
      </xsd:simpleType>
    </xsd:element>
    <xsd:element name="PublishingContact" ma:index="30" nillable="true" ma:displayName="Contact" ma:description="Populates Author field in Mercury." ma:hidden="true" ma:list="UserInfo" ma:SearchPeopleOnly="false" ma:SharePointGroup="0" ma:internalName="PublishingContact" ma:readOnly="false"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LengthInSeconds" ma:index="33" nillable="true" ma:displayName="MediaLengthInSeconds" ma:hidden="true" ma:internalName="MediaLengthInSeconds" ma:readOnly="true">
      <xsd:simpleType>
        <xsd:restriction base="dms:Unknown"/>
      </xsd:simpleType>
    </xsd:element>
    <xsd:element name="MediaServiceObjectDetectorVersions" ma:index="34" nillable="true" ma:displayName="MediaServiceObjectDetectorVersions" ma:hidden="true" ma:indexed="true" ma:internalName="MediaServiceObjectDetectorVersions" ma:readOnly="true">
      <xsd:simpleType>
        <xsd:restriction base="dms:Text"/>
      </xsd:simpleType>
    </xsd:element>
    <xsd:element name="MediaServiceGenerationTime" ma:index="35" nillable="true" ma:displayName="MediaServiceGenerationTime" ma:hidden="true" ma:internalName="MediaServiceGenerationTime" ma:readOnly="true">
      <xsd:simpleType>
        <xsd:restriction base="dms:Text"/>
      </xsd:simpleType>
    </xsd:element>
    <xsd:element name="MediaServiceEventHashCode" ma:index="36" nillable="true" ma:displayName="MediaServiceEventHashCode" ma:hidden="true" ma:internalName="MediaServiceEventHashCode" ma:readOnly="true">
      <xsd:simpleType>
        <xsd:restriction base="dms:Text"/>
      </xsd:simpleType>
    </xsd:element>
    <xsd:element name="MediaServiceSearchProperties" ma:index="3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27" nillable="true" ma:displayName="IconOverlay" ma:hidden="true" ma:internalName="IconOverlay" ma:readOnly="fals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axOccurs="1" ma:index="4" ma:displayName="Author"/>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axOccurs="1" ma:index="3" ma:displayName="Description"/>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E925E4-5239-4639-A029-07B3CFD6A3F1}">
  <ds:schemaRefs>
    <ds:schemaRef ds:uri="http://schemas.microsoft.com/sharepoint/v3/contenttype/forms"/>
  </ds:schemaRefs>
</ds:datastoreItem>
</file>

<file path=customXml/itemProps2.xml><?xml version="1.0" encoding="utf-8"?>
<ds:datastoreItem xmlns:ds="http://schemas.openxmlformats.org/officeDocument/2006/customXml" ds:itemID="{303C9089-9DA5-45ED-8193-FB522D1384FB}">
  <ds:schemaRefs>
    <ds:schemaRef ds:uri="http://schemas.microsoft.com/office/2006/metadata/customXsn"/>
  </ds:schemaRefs>
</ds:datastoreItem>
</file>

<file path=customXml/itemProps3.xml><?xml version="1.0" encoding="utf-8"?>
<ds:datastoreItem xmlns:ds="http://schemas.openxmlformats.org/officeDocument/2006/customXml" ds:itemID="{E2663518-7548-4643-8219-608BFF0DFA0C}">
  <ds:schemaRefs>
    <ds:schemaRef ds:uri="http://purl.org/dc/elements/1.1/"/>
    <ds:schemaRef ds:uri="http://purl.org/dc/terms/"/>
    <ds:schemaRef ds:uri="http://schemas.microsoft.com/office/infopath/2007/PartnerControls"/>
    <ds:schemaRef ds:uri="53acc77d-4382-4413-8c2d-408a8e2a5705"/>
    <ds:schemaRef ds:uri="http://schemas.microsoft.com/office/2006/metadata/properties"/>
    <ds:schemaRef ds:uri="http://purl.org/dc/dcmitype/"/>
    <ds:schemaRef ds:uri="http://schemas.microsoft.com/sharepoint/v4"/>
    <ds:schemaRef ds:uri="http://schemas.microsoft.com/office/2006/documentManagement/types"/>
    <ds:schemaRef ds:uri="http://schemas.openxmlformats.org/package/2006/metadata/core-properties"/>
    <ds:schemaRef ds:uri="f6ce49f0-2995-48df-a9c9-3a6b87ac555a"/>
    <ds:schemaRef ds:uri="http://www.w3.org/XML/1998/namespace"/>
  </ds:schemaRefs>
</ds:datastoreItem>
</file>

<file path=customXml/itemProps4.xml><?xml version="1.0" encoding="utf-8"?>
<ds:datastoreItem xmlns:ds="http://schemas.openxmlformats.org/officeDocument/2006/customXml" ds:itemID="{6B7B042F-9E6C-45C7-9C43-A250F3E13A9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3acc77d-4382-4413-8c2d-408a8e2a5705"/>
    <ds:schemaRef ds:uri="f6ce49f0-2995-48df-a9c9-3a6b87ac555a"/>
    <ds:schemaRef ds:uri="http://schemas.microsoft.com/sharepoint/v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b74a3ff5-3dcb-4075-8703-f74a393618ec}" enabled="0" method="" siteId="{b74a3ff5-3dcb-4075-8703-f74a393618ec}" removed="1"/>
  <clbl:label id="{e1c8c91a-c872-4000-818b-3383c70fafcf}" enabled="1" method="Privileged" siteId="{b1c14d5c-3625-45b3-a430-9552373a0c2f}" contentBits="0" removed="0"/>
</clbl:labelList>
</file>

<file path=docProps/app.xml><?xml version="1.0" encoding="utf-8"?>
<Properties xmlns="http://schemas.openxmlformats.org/officeDocument/2006/extended-properties" xmlns:vt="http://schemas.openxmlformats.org/officeDocument/2006/docPropsVTypes">
  <Template>EXTERNAL_Template_2023</Template>
  <TotalTime>656</TotalTime>
  <Words>597</Words>
  <Application>Microsoft Office PowerPoint</Application>
  <PresentationFormat>Custom</PresentationFormat>
  <Paragraphs>130</Paragraphs>
  <Slides>3</Slides>
  <Notes>2</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3</vt:i4>
      </vt:variant>
    </vt:vector>
  </HeadingPairs>
  <TitlesOfParts>
    <vt:vector size="12" baseType="lpstr">
      <vt:lpstr>Anova Light</vt:lpstr>
      <vt:lpstr>Anova</vt:lpstr>
      <vt:lpstr>Arial</vt:lpstr>
      <vt:lpstr>Calibri</vt:lpstr>
      <vt:lpstr>Calibri Light</vt:lpstr>
      <vt:lpstr>Anova Bold</vt:lpstr>
      <vt:lpstr>SAS - EXTERNAL</vt:lpstr>
      <vt:lpstr>1_SAS - EXTERNAL</vt:lpstr>
      <vt:lpstr>1_2020-Template-External</vt:lpstr>
      <vt:lpstr>MOHAP Agent 1</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SAS Fraud Decisioning - Customer Presentation</dc:title>
  <dc:creator>Jocelyn Kline</dc:creator>
  <dc:description>Customer presentation for SAS Fraud Decisioning</dc:description>
  <cp:lastModifiedBy>Raed Aldweik</cp:lastModifiedBy>
  <cp:revision>12</cp:revision>
  <dcterms:created xsi:type="dcterms:W3CDTF">2023-10-17T15:08:00Z</dcterms:created>
  <dcterms:modified xsi:type="dcterms:W3CDTF">2026-08-12T06:09:28Z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451006F2-8E20-4D4E-B05C-4B5D02827FD6</vt:lpwstr>
  </property>
  <property fmtid="{D5CDD505-2E9C-101B-9397-08002B2CF9AE}" pid="3" name="ArticulatePath">
    <vt:lpwstr>2020-Template-External</vt:lpwstr>
  </property>
  <property fmtid="{D5CDD505-2E9C-101B-9397-08002B2CF9AE}" pid="4" name="ContentTypeId">
    <vt:lpwstr>0x0101006BE659B9BD46644CB3C6870C03978025002CC455ACD93CE545B750EA5F55C04BF6</vt:lpwstr>
  </property>
  <property fmtid="{D5CDD505-2E9C-101B-9397-08002B2CF9AE}" pid="5" name="MediaServiceImageTags">
    <vt:lpwstr/>
  </property>
  <property fmtid="{D5CDD505-2E9C-101B-9397-08002B2CF9AE}" pid="6" name="SAS CBO">
    <vt:lpwstr>1142;#Application and Identity Fraud|40c05cd4-be95-4caf-8451-1dc26fa7f19f;#297;#Payments Fraud|85715592-c0d5-4db6-a49b-e9cd7b557fd0;#303;#Banking Fraud and Financial Crimes Compliance|45b62d14-9032-43d0-998f-4b424fe0f613</vt:lpwstr>
  </property>
  <property fmtid="{D5CDD505-2E9C-101B-9397-08002B2CF9AE}" pid="7" name="SAS Industry">
    <vt:lpwstr/>
  </property>
  <property fmtid="{D5CDD505-2E9C-101B-9397-08002B2CF9AE}" pid="8" name="SAS Offering">
    <vt:lpwstr/>
  </property>
  <property fmtid="{D5CDD505-2E9C-101B-9397-08002B2CF9AE}" pid="9" name="SAS_x0020_CBO">
    <vt:lpwstr>1142;#Application and Identity Fraud|40c05cd4-be95-4caf-8451-1dc26fa7f19f;#297;#Payments Fraud|85715592-c0d5-4db6-a49b-e9cd7b557fd0;#303;#Banking Fraud and Financial Crimes Compliance|45b62d14-9032-43d0-998f-4b424fe0f613</vt:lpwstr>
  </property>
  <property fmtid="{D5CDD505-2E9C-101B-9397-08002B2CF9AE}" pid="10" name="SAS_x0020_Industry">
    <vt:lpwstr/>
  </property>
  <property fmtid="{D5CDD505-2E9C-101B-9397-08002B2CF9AE}" pid="11" name="SAS_x0020_Offering">
    <vt:lpwstr/>
  </property>
</Properties>
</file>