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2.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5"/>
  </p:sldMasterIdLst>
  <p:notesMasterIdLst>
    <p:notesMasterId r:id="rId11"/>
  </p:notesMasterIdLst>
  <p:handoutMasterIdLst>
    <p:handoutMasterId r:id="rId12"/>
  </p:handoutMasterIdLst>
  <p:sldIdLst>
    <p:sldId id="256" r:id="rId10"/>
    <p:sldId id="257" r:id="rId9"/>
    <p:sldId id="258" r:id="rId8"/>
    <p:sldId id="259" r:id="rId7"/>
    <p:sldId id="260" r:id="rId6"/>
    <p:sldId id="261" r:id="rId32"/>
    <p:sldId id="262" r:id="rId33"/>
    <p:sldId id="263" r:id="rId34"/>
    <p:sldId id="264" r:id="rId35"/>
    <p:sldId id="265" r:id="rId36"/>
    <p:sldId id="266" r:id="rId37"/>
    <p:sldId id="267" r:id="rId38"/>
    <p:sldId id="268" r:id="rId39"/>
    <p:sldId id="269" r:id="rId40"/>
    <p:sldId id="270" r:id="rId41"/>
    <p:sldId id="271" r:id="rId42"/>
    <p:sldId id="272" r:id="rId43"/>
    <p:sldId id="273" r:id="rId44"/>
    <p:sldId id="274" r:id="rId45"/>
    <p:sldId id="275" r:id="rId46"/>
    <p:sldId id="276" r:id="rId47"/>
    <p:sldId id="277" r:id="rId48"/>
    <p:sldId id="278" r:id="rId49"/>
    <p:sldId id="279" r:id="rId50"/>
    <p:sldId id="280" r:id="rId51"/>
    <p:sldId id="281" r:id="rId52"/>
    <p:sldId id="282" r:id="rId53"/>
    <p:sldId id="283" r:id="rId54"/>
    <p:sldId id="284" r:id="rId55"/>
    <p:sldId id="285" r:id="rId56"/>
    <p:sldId id="286" r:id="rId57"/>
    <p:sldId id="287" r:id="rId58"/>
  </p:sldIdLst>
  <p:sldSz cx="18288000" cy="10287000"/>
  <p:notesSz cx="6858000" cy="9144000"/>
  <p:embeddedFontLst>
    <p:embeddedFont>
      <p:font typeface="Anova" panose="020B0604020202020204" charset="0"/>
      <p:regular r:id="rId13"/>
      <p:bold r:id="rId14"/>
      <p:italic r:id="rId15"/>
      <p:boldItalic r:id="rId16"/>
    </p:embeddedFont>
    <p:embeddedFont>
      <p:font typeface="Anova Bold" panose="020B0604020202020204" charset="0"/>
      <p:regular r:id="rId17"/>
      <p:bold r:id="rId18"/>
      <p:italic r:id="rId19"/>
      <p:boldItalic r:id="rId20"/>
    </p:embeddedFont>
    <p:embeddedFont>
      <p:font typeface="Anova Light" panose="020B0604020202020204" charset="0"/>
      <p:regular r:id="rId21"/>
      <p:bold r:id="rId22"/>
      <p:italic r:id="rId23"/>
      <p:boldItalic r:id="rId24"/>
    </p:embeddedFont>
  </p:embeddedFontLst>
  <p:custDataLst>
    <p:tags r:id="rId25"/>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4DA096-A44F-4CB2-86A9-989C8567BC99}">
          <p14:sldIdLst>
            <p14:sldId id="2147477438"/>
            <p14:sldId id="256"/>
            <p14:sldId id="2147483544"/>
          </p14:sldIdLst>
        </p14:section>
      </p14:sectionLst>
    </p:ex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4B708D14-BD54-920F-18BB-8395E60AE589}" name="Alice McClure" initials="AM" userId="S::alice.mcclure@sas.com::6210c489-566a-4639-8da1-84bcfd842f43" providerId="AD"/>
  <p188:author id="{7FD95D2A-4CAA-4E28-14CF-F6755ACD491D}" name="Mark Demers" initials="MD" userId="S::mark.demers@sas.com::a6c1815c-a07e-4ad8-b99d-835bfaf5b59a" providerId="AD"/>
  <p188:author id="{6DFEA739-C4EE-3CDE-94E6-A95954A908DE}" name="Tine Haaber" initials="TH" userId="S::Tine.Haaber@SAS.COM::b28dffea-6139-4081-9090-e82e8f843744" providerId="AD"/>
  <p188:author id="{9966B73D-F5BE-20D5-13EF-9EE7F32E485F}" name="Mark Demers" initials="MD" userId="S::Mark.Demers@sas.com::a6c1815c-a07e-4ad8-b99d-835bfaf5b59a" providerId="AD"/>
  <p188:author id="{8589D845-7987-B917-DB5A-8124C69673B1}" name="Ian Holmes" initials="IH" userId="S::Ian.Holmes@sas.com::be136b62-8947-4791-afb4-a71e75240925" providerId="AD"/>
  <p188:author id="{2809CD54-2E0F-B50C-4978-852C5F801C91}" name="Robert Montgomery" initials="RM" userId="S::robert.montgomery@SAS.com::28d4c29f-64b2-4ffd-8efa-fc826a00016a" providerId="AD"/>
  <p188:author id="{4711F45D-9A4C-C270-559F-E09685DD1391}" name="Elisabeth Peter" initials="EP" userId="S::Elisabeth.Peter@sas.com::e2c5cfb3-f426-4aa6-8c12-a369aa668627" providerId="AD"/>
  <p188:author id="{B039347D-3557-F9F0-E474-D5F325AD51B6}" name="Jocelyn Kline" initials="JK" userId="S::Jocelyn.Kline@sas.com::7590ce6a-d436-43a4-bfea-4908ec3bbc47" providerId="AD"/>
  <p188:author id="{D07952DD-C253-29C0-A67B-3D937B579047}" name="Cameron McLauchlin" initials="CM" userId="S::Cameron.McLauchlin@SAS.com::770c9921-c5b5-47cb-ae7c-d35ee10112a8" providerId="AD"/>
  <p188:author id="{20FD69E9-C4AD-FE04-2F1E-8C20C926D278}" name="Cameron McLauchlin" initials="CM" userId="S::cameron.mclauchlin@sas.com::770c9921-c5b5-47cb-ae7c-d35ee10112a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78DE"/>
    <a:srgbClr val="FF66B2"/>
    <a:srgbClr val="64234B"/>
    <a:srgbClr val="69224C"/>
    <a:srgbClr val="850D4A"/>
    <a:srgbClr val="DB12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089F89-7270-4661-92E8-8375F411D5B4}" v="4" dt="2026-08-10T10:39:47.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89922" autoAdjust="0"/>
  </p:normalViewPr>
  <p:slideViewPr>
    <p:cSldViewPr snapToGrid="0">
      <p:cViewPr varScale="1">
        <p:scale>
          <a:sx n="96" d="100"/>
          <a:sy n="96" d="100"/>
        </p:scale>
        <p:origin x="3030" y="96"/>
      </p:cViewPr>
      <p:guideLst>
        <p:guide orient="horz" pos="3240"/>
        <p:guide pos="57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font" Target="fonts/font10.fntdata"/><Relationship Id="rId23" Type="http://schemas.openxmlformats.org/officeDocument/2006/relationships/font" Target="fonts/font11.fntdata"/><Relationship Id="rId24" Type="http://schemas.openxmlformats.org/officeDocument/2006/relationships/font" Target="fonts/font12.fntdata"/><Relationship Id="rId25" Type="http://schemas.openxmlformats.org/officeDocument/2006/relationships/tags" Target="tags/tag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 Id="rId31" Type="http://schemas.microsoft.com/office/2018/10/relationships/authors" Target="authors.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7" Type="http://schemas.openxmlformats.org/officeDocument/2006/relationships/slide" Target="slides/slide21.xml"/><Relationship Id="rId48" Type="http://schemas.openxmlformats.org/officeDocument/2006/relationships/slide" Target="slides/slide22.xml"/><Relationship Id="rId49" Type="http://schemas.openxmlformats.org/officeDocument/2006/relationships/slide" Target="slides/slide23.xml"/><Relationship Id="rId50" Type="http://schemas.openxmlformats.org/officeDocument/2006/relationships/slide" Target="slides/slide24.xml"/><Relationship Id="rId51" Type="http://schemas.openxmlformats.org/officeDocument/2006/relationships/slide" Target="slides/slide25.xml"/><Relationship Id="rId52" Type="http://schemas.openxmlformats.org/officeDocument/2006/relationships/slide" Target="slides/slide26.xml"/><Relationship Id="rId53" Type="http://schemas.openxmlformats.org/officeDocument/2006/relationships/slide" Target="slides/slide27.xml"/><Relationship Id="rId54" Type="http://schemas.openxmlformats.org/officeDocument/2006/relationships/slide" Target="slides/slide28.xml"/><Relationship Id="rId55" Type="http://schemas.openxmlformats.org/officeDocument/2006/relationships/slide" Target="slides/slide29.xml"/><Relationship Id="rId56" Type="http://schemas.openxmlformats.org/officeDocument/2006/relationships/slide" Target="slides/slide30.xml"/><Relationship Id="rId57" Type="http://schemas.openxmlformats.org/officeDocument/2006/relationships/slide" Target="slides/slide31.xml"/><Relationship Id="rId58"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tags" Target="../tags/tag42.xml"/><Relationship Id="rId3" Type="http://schemas.openxmlformats.org/officeDocument/2006/relationships/image" Target="../media/image4.sv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01A56FA-0DF4-15B7-A216-DB01CF5CEB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E34E3-7E5C-436A-9E6D-2FFC8FFCFCBF}" type="datetimeFigureOut">
              <a:rPr lang="en-US" smtClean="0">
                <a:latin typeface="Anova Light" panose="020B0403020203020204" pitchFamily="34" charset="0"/>
              </a:rPr>
              <a:t>8/12/2026</a:t>
            </a:fld>
            <a:endParaRPr lang="en-US">
              <a:latin typeface="Anova Light" panose="020B0403020203020204" pitchFamily="34" charset="0"/>
            </a:endParaRPr>
          </a:p>
        </p:txBody>
      </p:sp>
      <p:sp>
        <p:nvSpPr>
          <p:cNvPr id="5" name="Slide Number Placeholder 4">
            <a:extLst>
              <a:ext uri="{FF2B5EF4-FFF2-40B4-BE49-F238E27FC236}">
                <a16:creationId xmlns:a16="http://schemas.microsoft.com/office/drawing/2014/main" id="{BA52EC1A-046B-DC8F-4AAC-4BB03667CCC0}"/>
              </a:ext>
            </a:extLst>
          </p:cNvPr>
          <p:cNvSpPr>
            <a:spLocks noGrp="1"/>
          </p:cNvSpPr>
          <p:nvPr>
            <p:ph type="sldNum" sz="quarter" idx="3"/>
          </p:nvPr>
        </p:nvSpPr>
        <p:spPr>
          <a:xfrm>
            <a:off x="0" y="0"/>
            <a:ext cx="2971800" cy="458787"/>
          </a:xfrm>
          <a:prstGeom prst="rect">
            <a:avLst/>
          </a:prstGeom>
        </p:spPr>
        <p:txBody>
          <a:bodyPr vert="horz" lIns="91440" tIns="45720" rIns="91440" bIns="45720" rtlCol="0" anchor="b"/>
          <a:lstStyle>
            <a:lvl1pPr algn="r">
              <a:defRPr sz="1200"/>
            </a:lvl1pPr>
          </a:lstStyle>
          <a:p>
            <a:pPr algn="l"/>
            <a:fld id="{C4EF46A2-9381-4C51-8277-3C7F2938E9F9}" type="slidenum">
              <a:rPr lang="en-US" smtClean="0">
                <a:latin typeface="Anova Light" panose="020B0403020203020204" pitchFamily="34" charset="0"/>
              </a:rPr>
              <a:pPr algn="l"/>
              <a:t>‹#›</a:t>
            </a:fld>
            <a:endParaRPr lang="en-US">
              <a:latin typeface="Anova Light" panose="020B0403020203020204" pitchFamily="34" charset="0"/>
            </a:endParaRPr>
          </a:p>
        </p:txBody>
      </p:sp>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3F6C63C1-B02C-0586-DDA1-7B0EB003F6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DEF6B2A-6211-F846-C47F-DC10CAA8C891}"/>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accent4"/>
                </a:solidFill>
                <a:latin typeface="Anova Light" panose="020B0403020203020204" pitchFamily="34" charset="0"/>
              </a:rPr>
              <a:t>sas.com</a:t>
            </a:r>
          </a:p>
        </p:txBody>
      </p:sp>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4.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solidFill>
                  <a:schemeClr val="tx1"/>
                </a:solidFill>
                <a:latin typeface="Anova Light" panose="020B0403020203020204" pitchFamily="34" charset="0"/>
              </a:defRPr>
            </a:lvl1pPr>
          </a:lstStyle>
          <a:p>
            <a:fld id="{D46682E9-A1D3-F04F-A14F-ABAA4D2618F2}" type="datetimeFigureOut">
              <a:rPr lang="en-US" smtClean="0"/>
              <a:pPr/>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10" name="Slide Number Placeholder 4">
            <a:extLst>
              <a:ext uri="{FF2B5EF4-FFF2-40B4-BE49-F238E27FC236}">
                <a16:creationId xmlns:a16="http://schemas.microsoft.com/office/drawing/2014/main" id="{9DE3AD8C-AE96-943C-8DAF-3D5594863A36}"/>
              </a:ext>
            </a:extLst>
          </p:cNvPr>
          <p:cNvSpPr>
            <a:spLocks noGrp="1"/>
          </p:cNvSpPr>
          <p:nvPr>
            <p:ph type="sldNum" sz="quarter" idx="5"/>
          </p:nvPr>
        </p:nvSpPr>
        <p:spPr>
          <a:xfrm>
            <a:off x="0" y="0"/>
            <a:ext cx="2971800" cy="458787"/>
          </a:xfrm>
          <a:prstGeom prst="rect">
            <a:avLst/>
          </a:prstGeom>
        </p:spPr>
        <p:txBody>
          <a:bodyPr vert="horz" lIns="91440" tIns="45720" rIns="91440" bIns="45720" rtlCol="0" anchor="b"/>
          <a:lstStyle>
            <a:lvl1pPr algn="r">
              <a:defRPr sz="1200" b="0" i="0">
                <a:solidFill>
                  <a:schemeClr val="tx1"/>
                </a:solidFill>
                <a:latin typeface="Anova Light" panose="020B0403020203020204" pitchFamily="34" charset="0"/>
              </a:defRPr>
            </a:lvl1pPr>
          </a:lstStyle>
          <a:p>
            <a:pPr algn="l"/>
            <a:fld id="{C4EF46A2-9381-4C51-8277-3C7F2938E9F9}" type="slidenum">
              <a:rPr lang="en-US" smtClean="0"/>
              <a:pPr algn="l"/>
              <a:t>‹#›</a:t>
            </a:fld>
            <a:endParaRPr lang="en-US"/>
          </a:p>
        </p:txBody>
      </p:sp>
      <p:pic>
        <p:nvPicPr>
          <p:cNvPr id="2" name="Picture 6">
            <a:extLst>
              <a:ext uri="{FF2B5EF4-FFF2-40B4-BE49-F238E27FC236}">
                <a16:creationId xmlns:a16="http://schemas.microsoft.com/office/drawing/2014/main" id="{D7A2D390-EEAD-C632-F276-85D15BA57F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607DE50-086C-7432-5C71-ADF401D86D53}"/>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tx1"/>
                </a:solidFill>
                <a:latin typeface="Anova Light" panose="020B0403020203020204" pitchFamily="34" charset="0"/>
              </a:rPr>
              <a:t>sas.com</a:t>
            </a: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mn-lt"/>
        <a:ea typeface="+mn-ea"/>
        <a:cs typeface="+mn-cs"/>
      </a:defRPr>
    </a:lvl1pPr>
    <a:lvl2pPr marL="1257300" indent="-342900" algn="l" defTabSz="1828800" rtl="0" eaLnBrk="1" latinLnBrk="0" hangingPunct="1">
      <a:buClr>
        <a:schemeClr val="accent5"/>
      </a:buClr>
      <a:buFont typeface="Anova Light" panose="020B0403020203020204" pitchFamily="34" charset="0"/>
      <a:buChar char="–"/>
      <a:defRPr sz="2000" b="0" i="0" kern="1200">
        <a:solidFill>
          <a:schemeClr val="tx1"/>
        </a:solidFill>
        <a:latin typeface="+mn-lt"/>
        <a:ea typeface="+mn-ea"/>
        <a:cs typeface="+mn-cs"/>
      </a:defRPr>
    </a:lvl2pPr>
    <a:lvl3pPr marL="2171700" indent="-342900" algn="l" defTabSz="1828800" rtl="0" eaLnBrk="1" latinLnBrk="0" hangingPunct="1">
      <a:buClr>
        <a:schemeClr val="accent5"/>
      </a:buClr>
      <a:buFont typeface="Anova Light" panose="020B0403020203020204" pitchFamily="34" charset="0"/>
      <a:buChar char="•"/>
      <a:defRPr sz="1800" b="0" i="0" kern="1200">
        <a:solidFill>
          <a:schemeClr val="tx1"/>
        </a:solidFill>
        <a:latin typeface="+mn-lt"/>
        <a:ea typeface="+mn-ea"/>
        <a:cs typeface="+mn-cs"/>
      </a:defRPr>
    </a:lvl3pPr>
    <a:lvl4pPr marL="3086100" indent="-342900" algn="l" defTabSz="1828800" rtl="0" eaLnBrk="1" latinLnBrk="0" hangingPunct="1">
      <a:buClr>
        <a:schemeClr val="accent5"/>
      </a:buClr>
      <a:buFont typeface="Anova Light" panose="020B0403020203020204" pitchFamily="34" charset="0"/>
      <a:buChar char="–"/>
      <a:defRPr sz="1600" b="0" i="0" kern="1200">
        <a:solidFill>
          <a:schemeClr val="tx1"/>
        </a:solidFill>
        <a:latin typeface="+mn-lt"/>
        <a:ea typeface="+mn-ea"/>
        <a:cs typeface="+mn-cs"/>
      </a:defRPr>
    </a:lvl4pPr>
    <a:lvl5pPr marL="4000500" indent="-342900" algn="l" defTabSz="1828800" rtl="0" eaLnBrk="1" latinLnBrk="0" hangingPunct="1">
      <a:buClr>
        <a:schemeClr val="accent5"/>
      </a:buClr>
      <a:buFont typeface="Anova Light" panose="020B0403020203020204" pitchFamily="34" charset="0"/>
      <a:buChar char="•"/>
      <a:defRPr sz="1400" b="0" i="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after the coffee break. Session 1 gave you the big picture: what Agentic AI is, how it differs from</a:t>
            </a:r>
          </a:p>
          <a:p>
            <a:r>
              <a:t>generative AI and automation, and the AI lifecycle. In the next 45 minutes we open the agent up and look inside.</a:t>
            </a:r>
          </a:p>
          <a:p>
            <a:r>
              <a:t>Promise for the session: by the end you will be able to describe any agent using six building blocks, follow the loop it</a:t>
            </a:r>
          </a:p>
          <a:p>
            <a:r>
              <a:t>runs, and decide how much freedom to give it and when a person must step in. No code, no maths.</a:t>
            </a:r>
          </a:p>
          <a:p>
            <a:r>
              <a:t>Timing guide: intro 3 min, anatomy 14 min, decision loop 9 min, enterprise integration 5 min, human-in-the-loop 7 min,</a:t>
            </a:r>
          </a:p>
          <a:p>
            <a:r>
              <a:t>boundaries &amp; escalation 7 min, exercise 5 min, wrap-up 2 min (~52 min). For a strict 45 minutes, skip slides 3 and 21</a:t>
            </a:r>
          </a:p>
          <a:p>
            <a:r>
              <a:t>and shorten the exercise to 3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five questions quickly. Everything today is illustrated with ONE running example from outpatient</a:t>
            </a:r>
          </a:p>
          <a:p>
            <a:r>
              <a:t>care, so that the audience never has to hold two stories in their head. The card on the right is the contract with the</a:t>
            </a:r>
          </a:p>
          <a:p>
            <a:r>
              <a:t>room: three things they will be able to do. Mention that the third one feeds directly into the use-case assessment</a:t>
            </a:r>
          </a:p>
          <a:p>
            <a:r>
              <a:t>session that follows at 11:30.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One-slide recap so that everybody starts from the same definition. Three words carry the whole session: goal, tools,</a:t>
            </a:r>
          </a:p>
          <a:p>
            <a:r>
              <a:t>boundaries. The comparison row is the litmus test: a chatbot answers, automation follows a script, an agent works</a:t>
            </a:r>
          </a:p>
          <a:p>
            <a:r>
              <a:t>towards a goal and adapts. If you are short on time, skip this slide; the definition is repeated on slide 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scene in 60 seconds. Ask the room: who has seen a no-show problem in their clinic or department? Most hands</a:t>
            </a:r>
          </a:p>
          <a:p>
            <a:r>
              <a:t>go up, which makes the rest of the session concrete. Stress the last bullet: the agent handles logistics, never</a:t>
            </a:r>
          </a:p>
          <a:p>
            <a:r>
              <a:t>medicine. That single boundary will come back in every section. The scenario is fictional but realistic; invite people</a:t>
            </a:r>
          </a:p>
          <a:p>
            <a:r>
              <a:t>to swap in their own process (referrals, discharge follow-up, prescription renewals) as we go.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of 5. About 14 minutes. One slide per building block, then the six blocks filled in for the No-Show Agent.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for the next six slides. Key message, borrowed from Session 1: an agent is a system, not a model. The language</a:t>
            </a:r>
          </a:p>
          <a:p>
            <a:r>
              <a:t>model is only one part (it sits mostly in Planning). Point out that Human oversight is drawn as a building block, not</a:t>
            </a:r>
          </a:p>
          <a:p>
            <a:r>
              <a:t>as something bolted on afterwards; that is deliberate and is the theme of the last two sections. Read the six blocks</a:t>
            </a:r>
          </a:p>
          <a:p>
            <a:r>
              <a:t>aloud with the No-Show Agent in mind, then go one by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what would you tell a new colleague on their first day? That is the goal. Read the weak goal, then the strong one.</a:t>
            </a:r>
          </a:p>
          <a:p>
            <a:r>
              <a:t>The strong goal contains three things: the outcome, the scope, and the must-never rules. Non-technical people are the</a:t>
            </a:r>
          </a:p>
          <a:p>
            <a:r>
              <a:t>best authors of goals because they know the process. Practical tip: if the team cannot write the goal in three</a:t>
            </a:r>
          </a:p>
          <a:p>
            <a:r>
              <a:t>sentences, the use case is not ready for an agent yet. This links to the use-case assessment session after the break.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is where the language model earns its place: it turns a goal into a sequence of steps and revises it when the</a:t>
            </a:r>
          </a:p>
          <a:p>
            <a:r>
              <a:t>world does not cooperate. Walk the five steps; they read like a checklist a good coordinator would write. Then the</a:t>
            </a:r>
          </a:p>
          <a:p>
            <a:r>
              <a:t>callout: the plan bends. That is powerful and slightly scary, which is exactly why sections 4 and 5 exist. Note for the</a:t>
            </a:r>
          </a:p>
          <a:p>
            <a:r>
              <a:t>curious: in practice the plan can be partly fixed by the designer (a workflow) and partly left to the model; the</a:t>
            </a:r>
          </a:p>
          <a:p>
            <a:r>
              <a:t>hands-on session this afternoon shows both.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sources of knowledge, in order of trust: what the model learned in training (general, sometimes outdated),</a:t>
            </a:r>
          </a:p>
          <a:p>
            <a:r>
              <a:t>enterprise documents retrieved on demand (that is RAG from the pre-reading deck), live data from systems, and memory of</a:t>
            </a:r>
          </a:p>
          <a:p>
            <a:r>
              <a:t>the current task. The failure mode to name explicitly: when none of these contains the answer, the model produces a</a:t>
            </a:r>
          </a:p>
          <a:p>
            <a:r>
              <a:t>plausible guess. That is the hallucination problem, and the cure is design: give the agent the documents and data</a:t>
            </a:r>
          </a:p>
          <a:p>
            <a:r>
              <a:t>it needs, and tell it to say 'I do not know' otherwise.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tool is anything the agent can call: a query, a model, a rule set, an application, even another agent. Two points</a:t>
            </a:r>
          </a:p>
          <a:p>
            <a:r>
              <a:t>matter for a non-technical audience. First, the model does not execute anything; it requests, and a runtime that we</a:t>
            </a:r>
          </a:p>
          <a:p>
            <a:r>
              <a:t>control performs the action under our permissions. That is where security lives (Session 4). Second, tools are</a:t>
            </a:r>
          </a:p>
          <a:p>
            <a:r>
              <a:t>described in plain language, so business people can review the tool list and understand what the agent can reach.</a:t>
            </a:r>
          </a:p>
          <a:p>
            <a:r>
              <a:t>MCP was covered in the pre-read deck as the USB-C of agents; the hands-on this afternoon makes it tangible.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useful mental model of the day for non-technical decision makers. Sort every action the agent could</a:t>
            </a:r>
          </a:p>
          <a:p>
            <a:r>
              <a:t>take into these four buckets. Reads are free. Suggestions are safe because a person acts. Reversible actions can be</a:t>
            </a:r>
          </a:p>
          <a:p>
            <a:r>
              <a:t>automated with monitoring. Irreversible actions need approval or stay with humans. Ask the room to classify: sending a</a:t>
            </a:r>
          </a:p>
          <a:p>
            <a:r>
              <a:t>WhatsApp reminder (reversible), moving an oncology appointment (irreversible in effect), telling a patient a result</a:t>
            </a:r>
          </a:p>
          <a:p>
            <a:r>
              <a:t>(clinical, human only).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Oversight is a building block, not an afterthought. Three moments: before (design), during (operation), after</a:t>
            </a:r>
          </a:p>
          <a:p>
            <a:r>
              <a:t>(review). Most of the room will be 'before' and 'after' people: they write goals and rules, and they read the reports.</a:t>
            </a:r>
          </a:p>
          <a:p>
            <a:r>
              <a:t>The 'during' role is usually a coordinator with an approval queue. End with the callout: the better the oversight,</a:t>
            </a:r>
          </a:p>
          <a:p>
            <a:r>
              <a:t>the more autonomy you can safely give, which is the trust ladder we will see in section 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from the last six slides on one page. This is the deliverable of the section: an 'agent canvas' that a</a:t>
            </a:r>
          </a:p>
          <a:p>
            <a:r>
              <a:t>business team can fill in without any technical help. Tell the audience they will fill one in for their own use case</a:t>
            </a:r>
          </a:p>
          <a:p>
            <a:r>
              <a:t>in the assessment session that follows, and again on Day 2. Pause for questions here before moving to the loop.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of 5. About 9 minutes: the loop, one worked case, what happens inside a reasoning step, and how the loop stops.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loop is the definition of 'agentic'. Four beats: perceive, reason and plan, act, observe, then round again. A</a:t>
            </a:r>
          </a:p>
          <a:p>
            <a:r>
              <a:t>chatbot runs the loop once; an agent runs it until the goal is met or a boundary stops it. The guardrail callout is the</a:t>
            </a:r>
          </a:p>
          <a:p>
            <a:r>
              <a:t>bridge to the security session: every proposed action is checked against the rules before it executes. If people ask</a:t>
            </a:r>
          </a:p>
          <a:p>
            <a:r>
              <a:t>'where is the LLM?', point to Reason &amp; plan: that is where it lives, and only there.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it as a story. Six beats, two full turns of the loop plus a close. Point out three design decisions hiding in the</a:t>
            </a:r>
          </a:p>
          <a:p>
            <a:r>
              <a:t>story: the message came from an approved template (boundary), the agent proposed slots rather than cancelling (hard</a:t>
            </a:r>
          </a:p>
          <a:p>
            <a:r>
              <a:t>rule), and everything was logged (oversight after the fact). Ask: where could this have gone wrong? Typical answers:</a:t>
            </a:r>
          </a:p>
          <a:p>
            <a:r>
              <a:t>patient asks a medical question, no free slot within policy, patient does not reply. Each is an escalation point,</a:t>
            </a:r>
          </a:p>
          <a:p>
            <a:r>
              <a:t>which we cover in section 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Demystify the 'thinking'. Every turn, the model receives a package: the goal and instructions, the situation so far,</a:t>
            </a:r>
          </a:p>
          <a:p>
            <a:r>
              <a:t>the list of tools with descriptions, and the rules. It returns exactly one of three things: a tool request, a message,</a:t>
            </a:r>
          </a:p>
          <a:p>
            <a:r>
              <a:t>or a hand-over. It cannot do anything else. That is why the tool list and the rules are the real levers of control.</a:t>
            </a:r>
          </a:p>
          <a:p>
            <a:r>
              <a:t>The analogy of the new colleague works well with non-technical audiences; use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worry: 'does it just keep going?'. No. Four exits, all designed by us: success, hand-over, a limit, or a</a:t>
            </a:r>
          </a:p>
          <a:p>
            <a:r>
              <a:t>block. Limits are boring but essential: attempts, time windows, daily volumes, budgets. Blocks are the safe failure:</a:t>
            </a:r>
          </a:p>
          <a:p>
            <a:r>
              <a:t>stop and alert rather than improvise. The rule at the bottom is a good one to write on the wall: silence is never an</a:t>
            </a:r>
          </a:p>
          <a:p>
            <a:r>
              <a:t>acceptable outcome.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of 5. About 5 minutes: the integration picture and four habits that keep it safe.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to remember: the agent never touches a database directly. It talks to a governed tool layer that knows who</a:t>
            </a:r>
          </a:p>
          <a:p>
            <a:r>
              <a:t>the agent is, what it may call, and writes every call to an audit log. Behind that layer sit the things the agent</a:t>
            </a:r>
          </a:p>
          <a:p>
            <a:r>
              <a:t>needs: data, documents, models and rules, applications and channels, and sometimes other agents. In SAS Viya the</a:t>
            </a:r>
          </a:p>
          <a:p>
            <a:r>
              <a:t>risk model and the decision rules sit on the right; the MCP server is the front door. Keep this slide short; Session 4</a:t>
            </a:r>
          </a:p>
          <a:p>
            <a:r>
              <a:t>covers identity and access in depth.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habits, no jargon. Own identity and least privilege: the agent is a user like any other, with a narrow badge.</a:t>
            </a:r>
          </a:p>
          <a:p>
            <a:r>
              <a:t>Validated tools: you review a short list of named capabilities, not an API. Data stays put. Everything is logged.</a:t>
            </a:r>
          </a:p>
          <a:p>
            <a:r>
              <a:t>These four make the difference between an agent you can defend in an audit and one you cannot. Hand over to Session 4</a:t>
            </a:r>
          </a:p>
          <a:p>
            <a:r>
              <a:t>for the details; here we only need the principles.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of 5. About 7 minutes: the autonomy spectrum, how to choose a level per action, and the trust ladder.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operating modes for the very same agent. Assist: it recommends, people act. Approve: it proposes, people click.</a:t>
            </a:r>
          </a:p>
          <a:p>
            <a:r>
              <a:t>Supervise: it acts, people handle exceptions and read summaries. Autonomous: it acts, people audit. The vocabulary</a:t>
            </a:r>
          </a:p>
          <a:p>
            <a:r>
              <a:t>'in the loop / on the loop / over the loop' is common in the literature; use whichever the room prefers. Key point:</a:t>
            </a:r>
          </a:p>
          <a:p>
            <a:r>
              <a:t>this is a dial, not a switch, and you set it per action,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simple grid that non-technical teams can apply in minutes. Two questions per action: how bad is a mistake, and can</a:t>
            </a:r>
          </a:p>
          <a:p>
            <a:r>
              <a:t>it be undone? Low impact and easy to undo: let it run. High impact and hard to undo: a person decides, always. The two</a:t>
            </a:r>
          </a:p>
          <a:p>
            <a:r>
              <a:t>middle cases get approval or supervision. Then the run-time twist: confidence. Even an autonomous action steps down</a:t>
            </a:r>
          </a:p>
          <a:p>
            <a:r>
              <a:t>when the agent is unsure. Try it live: ask the room where 'offer a freed slot to the waiting list' belongs and why.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practical answer to 'how much autonomy should we give?': start strict and earn your way up with evidence. Shadow</a:t>
            </a:r>
          </a:p>
          <a:p>
            <a:r>
              <a:t>mode costs nothing and produces the accuracy numbers. Approve mode builds trust with the coordinators who will later</a:t>
            </a:r>
          </a:p>
          <a:p>
            <a:r>
              <a:t>supervise. Move up only when the numbers say so, and remember the switch goes both ways. Many organisations run the</a:t>
            </a:r>
          </a:p>
          <a:p>
            <a:r>
              <a:t>same agent at different levels in different clinics; that is fine and expected.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of 5. About 7 minutes: four kinds of boundary, escalation triggers and a good hand-over, then the operating agreement on one page.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Boundaries are the fence. Four kinds: scope (what it works on), permissions (what it can reach), limits (how much and</a:t>
            </a:r>
          </a:p>
          <a:p>
            <a:r>
              <a:t>when), and hard rules (never, ever). All four are written in plain language by the process owners and enforced</a:t>
            </a:r>
          </a:p>
          <a:p>
            <a:r>
              <a:t>technically by the runtime and the tool layer; the model does not get to argue with them. Show the No-Show Agent</a:t>
            </a:r>
          </a:p>
          <a:p>
            <a:r>
              <a:t>examples and invite the room to add one more limit they would insist 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door in the fence. Six triggers; the last one is absolute. The right-hand card is what people forget: an escalation</a:t>
            </a:r>
          </a:p>
          <a:p>
            <a:r>
              <a:t>is only useful if it lands with a named role, carries the context, has a time target, and the patient is told what</a:t>
            </a:r>
          </a:p>
          <a:p>
            <a:r>
              <a:t>happens next. Ask the room: who would receive the escalations from the No-Show Agent in your clinic, and would they</a:t>
            </a:r>
          </a:p>
          <a:p>
            <a:r>
              <a:t>have time? That question often decides whether a use case is realistic.</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from sections 4 and 5 for one agent, on one page. Read it row by row. This is the artefact a clinic manager</a:t>
            </a:r>
          </a:p>
          <a:p>
            <a:r>
              <a:t>signs before go-live, and the artefact an auditor asks for afterwards. Note how the levels differ per action: the same</a:t>
            </a:r>
          </a:p>
          <a:p>
            <a:r>
              <a:t>agent is autonomous for reminders and 'human only' for anything clinical. Suggest the room keeps this format for</a:t>
            </a:r>
          </a:p>
          <a:p>
            <a:r>
              <a:t>their own use cases: action, level, boundary, escalation route.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minutes, pairs, no writing needed beyond a sticky note. Each pair takes one scenario and answers three questions.</a:t>
            </a:r>
          </a:p>
          <a:p>
            <a:r>
              <a:t>Debrief for two minutes: collect one answer per scenario. Expected patterns: A is 'Autonomous for normal results only</a:t>
            </a:r>
          </a:p>
          <a:p>
            <a:r>
              <a:t>if policy allows, Approve or human for anything abnormal'; B is 'Assist or Approve, clinician signs'; C is 'Supervise</a:t>
            </a:r>
          </a:p>
          <a:p>
            <a:r>
              <a:t>for routing, Approve for replies'. Disagreements are good; they show the boundaries need writing down. Carry the answers</a:t>
            </a:r>
          </a:p>
          <a:p>
            <a:r>
              <a:t>into the use-case assessment session.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sentences to remember. If they remember only one: autonomy is earned and bounded. Then hand over to the</a:t>
            </a:r>
          </a:p>
          <a:p>
            <a:r>
              <a:t>use-case assessment session, which starts from exactly the canvas and the operating agreement you have just seen.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questions for two or three minutes, then break into the use-case assessment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2927508"/>
            <a:ext cx="15778270"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3" y="4220171"/>
            <a:ext cx="15778270"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3" y="8276979"/>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a:t>
            </a:r>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3" y="5342755"/>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sp>
        <p:nvSpPr>
          <p:cNvPr id="2" name="TextBox 4">
            <a:extLst>
              <a:ext uri="{FF2B5EF4-FFF2-40B4-BE49-F238E27FC236}">
                <a16:creationId xmlns:a16="http://schemas.microsoft.com/office/drawing/2014/main" id="{BBE5A171-53B6-5D64-1680-262B90DACFE5}"/>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5"/>
            <a:ext cx="1112812" cy="461922"/>
          </a:xfrm>
          <a:prstGeom prst="rect">
            <a:avLst/>
          </a:prstGeom>
        </p:spPr>
      </p:pic>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1"/>
            <a:ext cx="15773400" cy="6865146"/>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301" y="2400301"/>
            <a:ext cx="7741846" cy="6865146"/>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1"/>
            <a:ext cx="7741848" cy="6865146"/>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301" y="5920997"/>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1252432" y="4153616"/>
            <a:ext cx="5001768" cy="1551194"/>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4497171"/>
            <a:ext cx="13063134"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3" y="8276979"/>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a website or email</a:t>
            </a:r>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30268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AS - Video Only">
    <p:bg>
      <p:bgPr>
        <a:solidFill>
          <a:schemeClr val="tx1"/>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D68E8285-3BE2-9990-FA54-E6AF741CC812}"/>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2" name="Picture 6">
            <a:extLst>
              <a:ext uri="{FF2B5EF4-FFF2-40B4-BE49-F238E27FC236}">
                <a16:creationId xmlns:a16="http://schemas.microsoft.com/office/drawing/2014/main" id="{9DCBE7B6-1449-C2E2-1508-3F2B78AA27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5"/>
            <a:ext cx="1112812" cy="461922"/>
          </a:xfrm>
          <a:prstGeom prst="rect">
            <a:avLst/>
          </a:prstGeom>
        </p:spPr>
      </p:pic>
    </p:spTree>
    <p:custDataLst>
      <p:tags r:id="rId1"/>
    </p:custDataLst>
    <p:extLst>
      <p:ext uri="{BB962C8B-B14F-4D97-AF65-F5344CB8AC3E}">
        <p14:creationId xmlns:p14="http://schemas.microsoft.com/office/powerpoint/2010/main" val="421662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type="tx">
  <p:cSld name="DEFAULT">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839200" y="9303714"/>
            <a:ext cx="4267200" cy="461624"/>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Calibri"/>
              <a:buNone/>
              <a:defRPr sz="2400"/>
            </a:lvl1pPr>
            <a:lvl2pPr marL="0" lvl="1" indent="0" algn="r">
              <a:lnSpc>
                <a:spcPct val="100000"/>
              </a:lnSpc>
              <a:spcBef>
                <a:spcPts val="0"/>
              </a:spcBef>
              <a:spcAft>
                <a:spcPts val="0"/>
              </a:spcAft>
              <a:buClr>
                <a:srgbClr val="000000"/>
              </a:buClr>
              <a:buSzPts val="1200"/>
              <a:buFont typeface="Calibri"/>
              <a:buNone/>
              <a:defRPr sz="2400"/>
            </a:lvl2pPr>
            <a:lvl3pPr marL="0" lvl="2" indent="0" algn="r">
              <a:lnSpc>
                <a:spcPct val="100000"/>
              </a:lnSpc>
              <a:spcBef>
                <a:spcPts val="0"/>
              </a:spcBef>
              <a:spcAft>
                <a:spcPts val="0"/>
              </a:spcAft>
              <a:buClr>
                <a:srgbClr val="000000"/>
              </a:buClr>
              <a:buSzPts val="1200"/>
              <a:buFont typeface="Calibri"/>
              <a:buNone/>
              <a:defRPr sz="2400"/>
            </a:lvl3pPr>
            <a:lvl4pPr marL="0" lvl="3" indent="0" algn="r">
              <a:lnSpc>
                <a:spcPct val="100000"/>
              </a:lnSpc>
              <a:spcBef>
                <a:spcPts val="0"/>
              </a:spcBef>
              <a:spcAft>
                <a:spcPts val="0"/>
              </a:spcAft>
              <a:buClr>
                <a:srgbClr val="000000"/>
              </a:buClr>
              <a:buSzPts val="1200"/>
              <a:buFont typeface="Calibri"/>
              <a:buNone/>
              <a:defRPr sz="2400"/>
            </a:lvl4pPr>
            <a:lvl5pPr marL="0" lvl="4" indent="0" algn="r">
              <a:lnSpc>
                <a:spcPct val="100000"/>
              </a:lnSpc>
              <a:spcBef>
                <a:spcPts val="0"/>
              </a:spcBef>
              <a:spcAft>
                <a:spcPts val="0"/>
              </a:spcAft>
              <a:buClr>
                <a:srgbClr val="000000"/>
              </a:buClr>
              <a:buSzPts val="1200"/>
              <a:buFont typeface="Calibri"/>
              <a:buNone/>
              <a:defRPr sz="2400"/>
            </a:lvl5pPr>
            <a:lvl6pPr marL="0" lvl="5" indent="0" algn="r">
              <a:lnSpc>
                <a:spcPct val="100000"/>
              </a:lnSpc>
              <a:spcBef>
                <a:spcPts val="0"/>
              </a:spcBef>
              <a:spcAft>
                <a:spcPts val="0"/>
              </a:spcAft>
              <a:buClr>
                <a:srgbClr val="000000"/>
              </a:buClr>
              <a:buSzPts val="1200"/>
              <a:buFont typeface="Calibri"/>
              <a:buNone/>
              <a:defRPr sz="2400"/>
            </a:lvl6pPr>
            <a:lvl7pPr marL="0" lvl="6" indent="0" algn="r">
              <a:lnSpc>
                <a:spcPct val="100000"/>
              </a:lnSpc>
              <a:spcBef>
                <a:spcPts val="0"/>
              </a:spcBef>
              <a:spcAft>
                <a:spcPts val="0"/>
              </a:spcAft>
              <a:buClr>
                <a:srgbClr val="000000"/>
              </a:buClr>
              <a:buSzPts val="1200"/>
              <a:buFont typeface="Calibri"/>
              <a:buNone/>
              <a:defRPr sz="2400"/>
            </a:lvl7pPr>
            <a:lvl8pPr marL="0" lvl="7" indent="0" algn="r">
              <a:lnSpc>
                <a:spcPct val="100000"/>
              </a:lnSpc>
              <a:spcBef>
                <a:spcPts val="0"/>
              </a:spcBef>
              <a:spcAft>
                <a:spcPts val="0"/>
              </a:spcAft>
              <a:buClr>
                <a:srgbClr val="000000"/>
              </a:buClr>
              <a:buSzPts val="1200"/>
              <a:buFont typeface="Calibri"/>
              <a:buNone/>
              <a:defRPr sz="2400"/>
            </a:lvl8pPr>
            <a:lvl9pPr marL="0" lvl="8" indent="0" algn="r">
              <a:lnSpc>
                <a:spcPct val="100000"/>
              </a:lnSpc>
              <a:spcBef>
                <a:spcPts val="0"/>
              </a:spcBef>
              <a:spcAft>
                <a:spcPts val="0"/>
              </a:spcAft>
              <a:buClr>
                <a:srgbClr val="000000"/>
              </a:buClr>
              <a:buSzPts val="1200"/>
              <a:buFont typeface="Calibri"/>
              <a:buNone/>
              <a:defRPr sz="2400"/>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626341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3290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SAS - Title &amp; Subtitle - ">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lgn="ctr">
              <a:defRPr b="0" i="0">
                <a:latin typeface="Calibri Light" panose="020F0302020204030204" pitchFamily="34" charset="0"/>
                <a:cs typeface="Calibri Light" panose="020F0302020204030204"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p:nvPr>
        </p:nvSpPr>
        <p:spPr>
          <a:xfrm>
            <a:off x="1257300" y="1463676"/>
            <a:ext cx="15773400" cy="566292"/>
          </a:xfrm>
        </p:spPr>
        <p:txBody>
          <a:bodyPr anchor="t">
            <a:normAutofit/>
          </a:bodyPr>
          <a:lstStyle>
            <a:lvl1pPr marL="0" indent="0" algn="ctr">
              <a:buNone/>
              <a:defRPr sz="2801">
                <a:solidFill>
                  <a:srgbClr val="1FA09A"/>
                </a:solidFill>
              </a:defRPr>
            </a:lvl1pPr>
            <a:lvl2pPr marL="365771" indent="0">
              <a:buNone/>
              <a:defRPr/>
            </a:lvl2pPr>
            <a:lvl3pPr marL="731538" indent="0">
              <a:buNone/>
              <a:defRPr/>
            </a:lvl3pPr>
            <a:lvl4pPr marL="2057453" indent="0">
              <a:buNone/>
              <a:defRPr/>
            </a:lvl4pPr>
            <a:lvl5pPr marL="2743269" indent="0">
              <a:buNone/>
              <a:defRPr/>
            </a:lvl5pPr>
          </a:lstStyle>
          <a:p>
            <a:pPr lvl="0"/>
            <a:r>
              <a:rPr lang="en-US"/>
              <a:t>Click to edit Master text styles</a:t>
            </a:r>
          </a:p>
        </p:txBody>
      </p:sp>
      <p:sp>
        <p:nvSpPr>
          <p:cNvPr id="4" name="Rectangle 3">
            <a:extLst>
              <a:ext uri="{FF2B5EF4-FFF2-40B4-BE49-F238E27FC236}">
                <a16:creationId xmlns:a16="http://schemas.microsoft.com/office/drawing/2014/main" id="{27C4BDB3-258F-8347-9741-6F21E0DD52AA}"/>
              </a:ext>
            </a:extLst>
          </p:cNvPr>
          <p:cNvSpPr/>
          <p:nvPr userDrawn="1"/>
        </p:nvSpPr>
        <p:spPr>
          <a:xfrm>
            <a:off x="0" y="2220686"/>
            <a:ext cx="18288000" cy="67856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sz="4800"/>
          </a:p>
        </p:txBody>
      </p:sp>
    </p:spTree>
    <p:custDataLst>
      <p:tags r:id="rId1"/>
    </p:custDataLst>
    <p:extLst>
      <p:ext uri="{BB962C8B-B14F-4D97-AF65-F5344CB8AC3E}">
        <p14:creationId xmlns:p14="http://schemas.microsoft.com/office/powerpoint/2010/main" val="3011025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4">
            <a:extLst>
              <a:ext uri="{FF2B5EF4-FFF2-40B4-BE49-F238E27FC236}">
                <a16:creationId xmlns:a16="http://schemas.microsoft.com/office/drawing/2014/main" id="{1E37FEA7-CA51-4399-92F6-AB705B7FF650}"/>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3" name="Text Placeholder 2"/>
          <p:cNvSpPr>
            <a:spLocks noGrp="1"/>
          </p:cNvSpPr>
          <p:nvPr>
            <p:ph type="body" idx="1"/>
          </p:nvPr>
        </p:nvSpPr>
        <p:spPr>
          <a:xfrm>
            <a:off x="1252432" y="2400301"/>
            <a:ext cx="15773400" cy="6865146"/>
          </a:xfrm>
          <a:prstGeom prst="rect">
            <a:avLst/>
          </a:prstGeom>
        </p:spPr>
        <p:txBody>
          <a:bodyPr vert="horz" lIns="0" tIns="0" rIns="0" bIns="0" rtlCol="0">
            <a:normAutofit/>
          </a:bodyPr>
          <a:lstStyle/>
          <a:p>
            <a:pPr lvl="0"/>
            <a:r>
              <a:rPr lang="en-US"/>
              <a:t>Click to Edit Text</a:t>
            </a:r>
          </a:p>
          <a:p>
            <a:pPr lvl="1"/>
            <a:r>
              <a:rPr lang="en-US"/>
              <a:t>Second level</a:t>
            </a:r>
          </a:p>
          <a:p>
            <a:pPr lvl="2"/>
            <a:r>
              <a:rPr lang="en-US"/>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a:t>Click to Add Slide Title</a:t>
            </a:r>
          </a:p>
        </p:txBody>
      </p:sp>
    </p:spTree>
    <p:custDataLst>
      <p:tags r:id="rId16"/>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38" r:id="rId2"/>
    <p:sldLayoutId id="2147483821" r:id="rId3"/>
    <p:sldLayoutId id="2147483820" r:id="rId4"/>
    <p:sldLayoutId id="2147483819" r:id="rId5"/>
    <p:sldLayoutId id="2147483822" r:id="rId6"/>
    <p:sldLayoutId id="2147483824" r:id="rId7"/>
    <p:sldLayoutId id="2147483832" r:id="rId8"/>
    <p:sldLayoutId id="2147483837" r:id="rId9"/>
    <p:sldLayoutId id="2147483828" r:id="rId10"/>
    <p:sldLayoutId id="2147483829" r:id="rId11"/>
    <p:sldLayoutId id="2147483943" r:id="rId12"/>
    <p:sldLayoutId id="2147483944" r:id="rId13"/>
    <p:sldLayoutId id="2147483945"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7E889A"/>
          </p15:clr>
        </p15:guide>
        <p15:guide id="2" pos="11520" userDrawn="1">
          <p15:clr>
            <a:srgbClr val="7E889A"/>
          </p15:clr>
        </p15:guide>
        <p15:guide id="3" pos="640" userDrawn="1">
          <p15:clr>
            <a:srgbClr val="7E889A"/>
          </p15:clr>
        </p15:guide>
        <p15:guide id="4" pos="810" userDrawn="1">
          <p15:clr>
            <a:srgbClr val="7E889A"/>
          </p15:clr>
        </p15:guide>
        <p15:guide id="5" pos="980" userDrawn="1">
          <p15:clr>
            <a:srgbClr val="7E889A"/>
          </p15:clr>
        </p15:guide>
        <p15:guide id="6" pos="1152" userDrawn="1">
          <p15:clr>
            <a:srgbClr val="7E889A"/>
          </p15:clr>
        </p15:guide>
        <p15:guide id="7" pos="1322" userDrawn="1">
          <p15:clr>
            <a:srgbClr val="7E889A"/>
          </p15:clr>
        </p15:guide>
        <p15:guide id="8" pos="1492" userDrawn="1">
          <p15:clr>
            <a:srgbClr val="7E889A"/>
          </p15:clr>
        </p15:guide>
        <p15:guide id="9" pos="1664" userDrawn="1">
          <p15:clr>
            <a:srgbClr val="7E889A"/>
          </p15:clr>
        </p15:guide>
        <p15:guide id="10" pos="1834" userDrawn="1">
          <p15:clr>
            <a:srgbClr val="7E889A"/>
          </p15:clr>
        </p15:guide>
        <p15:guide id="11" pos="2004" userDrawn="1">
          <p15:clr>
            <a:srgbClr val="7E889A"/>
          </p15:clr>
        </p15:guide>
        <p15:guide id="12" pos="2176" userDrawn="1">
          <p15:clr>
            <a:srgbClr val="7E889A"/>
          </p15:clr>
        </p15:guide>
        <p15:guide id="13" pos="2346" userDrawn="1">
          <p15:clr>
            <a:srgbClr val="7E889A"/>
          </p15:clr>
        </p15:guide>
        <p15:guide id="14" pos="2516" userDrawn="1">
          <p15:clr>
            <a:srgbClr val="7E889A"/>
          </p15:clr>
        </p15:guide>
        <p15:guide id="15" pos="2688" userDrawn="1">
          <p15:clr>
            <a:srgbClr val="7E889A"/>
          </p15:clr>
        </p15:guide>
        <p15:guide id="16" pos="2858" userDrawn="1">
          <p15:clr>
            <a:srgbClr val="7E889A"/>
          </p15:clr>
        </p15:guide>
        <p15:guide id="17" pos="3028" userDrawn="1">
          <p15:clr>
            <a:srgbClr val="7E889A"/>
          </p15:clr>
        </p15:guide>
        <p15:guide id="18" pos="3200" userDrawn="1">
          <p15:clr>
            <a:srgbClr val="7E889A"/>
          </p15:clr>
        </p15:guide>
        <p15:guide id="19" pos="3370" userDrawn="1">
          <p15:clr>
            <a:srgbClr val="7E889A"/>
          </p15:clr>
        </p15:guide>
        <p15:guide id="20" pos="3540" userDrawn="1">
          <p15:clr>
            <a:srgbClr val="7E889A"/>
          </p15:clr>
        </p15:guide>
        <p15:guide id="21" pos="3712" userDrawn="1">
          <p15:clr>
            <a:srgbClr val="7E889A"/>
          </p15:clr>
        </p15:guide>
        <p15:guide id="22" pos="3882" userDrawn="1">
          <p15:clr>
            <a:srgbClr val="7E889A"/>
          </p15:clr>
        </p15:guide>
        <p15:guide id="23" pos="4052" userDrawn="1">
          <p15:clr>
            <a:srgbClr val="7E889A"/>
          </p15:clr>
        </p15:guide>
        <p15:guide id="24" pos="4224" userDrawn="1">
          <p15:clr>
            <a:srgbClr val="7E889A"/>
          </p15:clr>
        </p15:guide>
        <p15:guide id="25" pos="4394" userDrawn="1">
          <p15:clr>
            <a:srgbClr val="7E889A"/>
          </p15:clr>
        </p15:guide>
        <p15:guide id="26" pos="4564" userDrawn="1">
          <p15:clr>
            <a:srgbClr val="7E889A"/>
          </p15:clr>
        </p15:guide>
        <p15:guide id="27" pos="4736" userDrawn="1">
          <p15:clr>
            <a:srgbClr val="7E889A"/>
          </p15:clr>
        </p15:guide>
        <p15:guide id="28" pos="4906" userDrawn="1">
          <p15:clr>
            <a:srgbClr val="7E889A"/>
          </p15:clr>
        </p15:guide>
        <p15:guide id="29" pos="5076" userDrawn="1">
          <p15:clr>
            <a:srgbClr val="7E889A"/>
          </p15:clr>
        </p15:guide>
        <p15:guide id="30" pos="5248" userDrawn="1">
          <p15:clr>
            <a:srgbClr val="7E889A"/>
          </p15:clr>
        </p15:guide>
        <p15:guide id="31" pos="5418" userDrawn="1">
          <p15:clr>
            <a:srgbClr val="7E889A"/>
          </p15:clr>
        </p15:guide>
        <p15:guide id="32" pos="5588" userDrawn="1">
          <p15:clr>
            <a:srgbClr val="7E889A"/>
          </p15:clr>
        </p15:guide>
        <p15:guide id="33" pos="5760" userDrawn="1">
          <p15:clr>
            <a:srgbClr val="7E889A"/>
          </p15:clr>
        </p15:guide>
        <p15:guide id="34" pos="5930" userDrawn="1">
          <p15:clr>
            <a:srgbClr val="7E889A"/>
          </p15:clr>
        </p15:guide>
        <p15:guide id="35" pos="6100" userDrawn="1">
          <p15:clr>
            <a:srgbClr val="7E889A"/>
          </p15:clr>
        </p15:guide>
        <p15:guide id="36" pos="6272" userDrawn="1">
          <p15:clr>
            <a:srgbClr val="7E889A"/>
          </p15:clr>
        </p15:guide>
        <p15:guide id="37" pos="6442" userDrawn="1">
          <p15:clr>
            <a:srgbClr val="7E889A"/>
          </p15:clr>
        </p15:guide>
        <p15:guide id="38" pos="6612" userDrawn="1">
          <p15:clr>
            <a:srgbClr val="7E889A"/>
          </p15:clr>
        </p15:guide>
        <p15:guide id="39" pos="6784" userDrawn="1">
          <p15:clr>
            <a:srgbClr val="7E889A"/>
          </p15:clr>
        </p15:guide>
        <p15:guide id="40" pos="6954" userDrawn="1">
          <p15:clr>
            <a:srgbClr val="7E889A"/>
          </p15:clr>
        </p15:guide>
        <p15:guide id="41" pos="7124" userDrawn="1">
          <p15:clr>
            <a:srgbClr val="7E889A"/>
          </p15:clr>
        </p15:guide>
        <p15:guide id="42" pos="7296" userDrawn="1">
          <p15:clr>
            <a:srgbClr val="7E889A"/>
          </p15:clr>
        </p15:guide>
        <p15:guide id="43" pos="7466" userDrawn="1">
          <p15:clr>
            <a:srgbClr val="7E889A"/>
          </p15:clr>
        </p15:guide>
        <p15:guide id="44" pos="7636" userDrawn="1">
          <p15:clr>
            <a:srgbClr val="7E889A"/>
          </p15:clr>
        </p15:guide>
        <p15:guide id="45" pos="7808" userDrawn="1">
          <p15:clr>
            <a:srgbClr val="7E889A"/>
          </p15:clr>
        </p15:guide>
        <p15:guide id="46" pos="7978" userDrawn="1">
          <p15:clr>
            <a:srgbClr val="7E889A"/>
          </p15:clr>
        </p15:guide>
        <p15:guide id="47" pos="8148" userDrawn="1">
          <p15:clr>
            <a:srgbClr val="7E889A"/>
          </p15:clr>
        </p15:guide>
        <p15:guide id="48" pos="8320" userDrawn="1">
          <p15:clr>
            <a:srgbClr val="7E889A"/>
          </p15:clr>
        </p15:guide>
        <p15:guide id="49" pos="8490" userDrawn="1">
          <p15:clr>
            <a:srgbClr val="7E889A"/>
          </p15:clr>
        </p15:guide>
        <p15:guide id="50" pos="8660" userDrawn="1">
          <p15:clr>
            <a:srgbClr val="7E889A"/>
          </p15:clr>
        </p15:guide>
        <p15:guide id="51" pos="8832" userDrawn="1">
          <p15:clr>
            <a:srgbClr val="7E889A"/>
          </p15:clr>
        </p15:guide>
        <p15:guide id="52" pos="9002" userDrawn="1">
          <p15:clr>
            <a:srgbClr val="7E889A"/>
          </p15:clr>
        </p15:guide>
        <p15:guide id="53" pos="9172" userDrawn="1">
          <p15:clr>
            <a:srgbClr val="7E889A"/>
          </p15:clr>
        </p15:guide>
        <p15:guide id="54" pos="9344" userDrawn="1">
          <p15:clr>
            <a:srgbClr val="7E889A"/>
          </p15:clr>
        </p15:guide>
        <p15:guide id="55" pos="9514" userDrawn="1">
          <p15:clr>
            <a:srgbClr val="7E889A"/>
          </p15:clr>
        </p15:guide>
        <p15:guide id="56" pos="9684" userDrawn="1">
          <p15:clr>
            <a:srgbClr val="7E889A"/>
          </p15:clr>
        </p15:guide>
        <p15:guide id="57" pos="9856" userDrawn="1">
          <p15:clr>
            <a:srgbClr val="7E889A"/>
          </p15:clr>
        </p15:guide>
        <p15:guide id="58" pos="10026" userDrawn="1">
          <p15:clr>
            <a:srgbClr val="7E889A"/>
          </p15:clr>
        </p15:guide>
        <p15:guide id="59" pos="10196" userDrawn="1">
          <p15:clr>
            <a:srgbClr val="7E889A"/>
          </p15:clr>
        </p15:guide>
        <p15:guide id="60" pos="10368" userDrawn="1">
          <p15:clr>
            <a:srgbClr val="7E889A"/>
          </p15:clr>
        </p15:guide>
        <p15:guide id="61" pos="10538" userDrawn="1">
          <p15:clr>
            <a:srgbClr val="7E889A"/>
          </p15:clr>
        </p15:guide>
        <p15:guide id="62" pos="10708" userDrawn="1">
          <p15:clr>
            <a:srgbClr val="7E889A"/>
          </p15:clr>
        </p15:guide>
        <p15:guide id="63" pos="10880" userDrawn="1">
          <p15:clr>
            <a:srgbClr val="7E889A"/>
          </p15:clr>
        </p15:guide>
        <p15:guide id="64" orient="horz" userDrawn="1">
          <p15:clr>
            <a:srgbClr val="7E889A"/>
          </p15:clr>
        </p15:guide>
        <p15:guide id="65" orient="horz" pos="6480" userDrawn="1">
          <p15:clr>
            <a:srgbClr val="7E889A"/>
          </p15:clr>
        </p15:guide>
        <p15:guide id="66" orient="horz" pos="656" userDrawn="1">
          <p15:clr>
            <a:srgbClr val="7E889A"/>
          </p15:clr>
        </p15:guide>
        <p15:guide id="67" orient="horz" pos="828" userDrawn="1">
          <p15:clr>
            <a:srgbClr val="7E889A"/>
          </p15:clr>
        </p15:guide>
        <p15:guide id="68" orient="horz" pos="1000" userDrawn="1">
          <p15:clr>
            <a:srgbClr val="7E889A"/>
          </p15:clr>
        </p15:guide>
        <p15:guide id="69" orient="horz" pos="1172" userDrawn="1">
          <p15:clr>
            <a:srgbClr val="7E889A"/>
          </p15:clr>
        </p15:guide>
        <p15:guide id="70" orient="horz" pos="1344" userDrawn="1">
          <p15:clr>
            <a:srgbClr val="7E889A"/>
          </p15:clr>
        </p15:guide>
        <p15:guide id="71" orient="horz" pos="1516" userDrawn="1">
          <p15:clr>
            <a:srgbClr val="7E889A"/>
          </p15:clr>
        </p15:guide>
        <p15:guide id="72" orient="horz" pos="1688" userDrawn="1">
          <p15:clr>
            <a:srgbClr val="7E889A"/>
          </p15:clr>
        </p15:guide>
        <p15:guide id="73" orient="horz" pos="1860" userDrawn="1">
          <p15:clr>
            <a:srgbClr val="7E889A"/>
          </p15:clr>
        </p15:guide>
        <p15:guide id="74" orient="horz" pos="2034" userDrawn="1">
          <p15:clr>
            <a:srgbClr val="7E889A"/>
          </p15:clr>
        </p15:guide>
        <p15:guide id="75" orient="horz" pos="2206" userDrawn="1">
          <p15:clr>
            <a:srgbClr val="7E889A"/>
          </p15:clr>
        </p15:guide>
        <p15:guide id="76" orient="horz" pos="2378" userDrawn="1">
          <p15:clr>
            <a:srgbClr val="7E889A"/>
          </p15:clr>
        </p15:guide>
        <p15:guide id="77" orient="horz" pos="2550" userDrawn="1">
          <p15:clr>
            <a:srgbClr val="7E889A"/>
          </p15:clr>
        </p15:guide>
        <p15:guide id="78" orient="horz" pos="2722" userDrawn="1">
          <p15:clr>
            <a:srgbClr val="7E889A"/>
          </p15:clr>
        </p15:guide>
        <p15:guide id="79" orient="horz" pos="2894" userDrawn="1">
          <p15:clr>
            <a:srgbClr val="7E889A"/>
          </p15:clr>
        </p15:guide>
        <p15:guide id="80" orient="horz" pos="3066" userDrawn="1">
          <p15:clr>
            <a:srgbClr val="7E889A"/>
          </p15:clr>
        </p15:guide>
        <p15:guide id="81" orient="horz" pos="3240" userDrawn="1">
          <p15:clr>
            <a:srgbClr val="7E889A"/>
          </p15:clr>
        </p15:guide>
        <p15:guide id="82" orient="horz" pos="3412" userDrawn="1">
          <p15:clr>
            <a:srgbClr val="7E889A"/>
          </p15:clr>
        </p15:guide>
        <p15:guide id="83" orient="horz" pos="3584" userDrawn="1">
          <p15:clr>
            <a:srgbClr val="7E889A"/>
          </p15:clr>
        </p15:guide>
        <p15:guide id="84" orient="horz" pos="3756" userDrawn="1">
          <p15:clr>
            <a:srgbClr val="7E889A"/>
          </p15:clr>
        </p15:guide>
        <p15:guide id="85" orient="horz" pos="3928" userDrawn="1">
          <p15:clr>
            <a:srgbClr val="7E889A"/>
          </p15:clr>
        </p15:guide>
        <p15:guide id="86" orient="horz" pos="4100" userDrawn="1">
          <p15:clr>
            <a:srgbClr val="7E889A"/>
          </p15:clr>
        </p15:guide>
        <p15:guide id="87" orient="horz" pos="4272" userDrawn="1">
          <p15:clr>
            <a:srgbClr val="7E889A"/>
          </p15:clr>
        </p15:guide>
        <p15:guide id="88" orient="horz" pos="4444" userDrawn="1">
          <p15:clr>
            <a:srgbClr val="7E889A"/>
          </p15:clr>
        </p15:guide>
        <p15:guide id="89" orient="horz" pos="4618" userDrawn="1">
          <p15:clr>
            <a:srgbClr val="7E889A"/>
          </p15:clr>
        </p15:guide>
        <p15:guide id="90" orient="horz" pos="4790" userDrawn="1">
          <p15:clr>
            <a:srgbClr val="7E889A"/>
          </p15:clr>
        </p15:guide>
        <p15:guide id="91" orient="horz" pos="4962" userDrawn="1">
          <p15:clr>
            <a:srgbClr val="7E889A"/>
          </p15:clr>
        </p15:guide>
        <p15:guide id="92" orient="horz" pos="5134" userDrawn="1">
          <p15:clr>
            <a:srgbClr val="7E889A"/>
          </p15:clr>
        </p15:guide>
        <p15:guide id="93" orient="horz" pos="5306" userDrawn="1">
          <p15:clr>
            <a:srgbClr val="7E889A"/>
          </p15:clr>
        </p15:guide>
        <p15:guide id="94" orient="horz" pos="5478" userDrawn="1">
          <p15:clr>
            <a:srgbClr val="7E889A"/>
          </p15:clr>
        </p15:guide>
        <p15:guide id="95" orient="horz" pos="5650" userDrawn="1">
          <p15:clr>
            <a:srgbClr val="7E889A"/>
          </p15:clr>
        </p15:guide>
        <p15:guide id="96" orient="horz" pos="5824" userDrawn="1">
          <p15:clr>
            <a:srgbClr val="7E889A"/>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5.png"/><Relationship Id="rId7" Type="http://schemas.openxmlformats.org/officeDocument/2006/relationships/image" Target="../media/image21.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 Id="rId3" Type="http://schemas.openxmlformats.org/officeDocument/2006/relationships/image" Target="../media/image17.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 Id="rId3" Type="http://schemas.openxmlformats.org/officeDocument/2006/relationships/image" Target="../media/image22.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21.png"/><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 Id="rId3" Type="http://schemas.openxmlformats.org/officeDocument/2006/relationships/image" Target="../media/image3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26.png"/><Relationship Id="rId7" Type="http://schemas.openxmlformats.org/officeDocument/2006/relationships/image" Target="../media/image22.png"/><Relationship Id="rId8" Type="http://schemas.openxmlformats.org/officeDocument/2006/relationships/image" Target="../media/image25.png"/><Relationship Id="rId9" Type="http://schemas.openxmlformats.org/officeDocument/2006/relationships/image" Target="../media/image24.png"/><Relationship Id="rId10" Type="http://schemas.openxmlformats.org/officeDocument/2006/relationships/image" Target="../media/image28.png"/><Relationship Id="rId11" Type="http://schemas.openxmlformats.org/officeDocument/2006/relationships/image" Target="../media/image42.png"/><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25.png"/><Relationship Id="rId5" Type="http://schemas.openxmlformats.org/officeDocument/2006/relationships/image" Target="../media/image35.png"/><Relationship Id="rId6" Type="http://schemas.openxmlformats.org/officeDocument/2006/relationships/image" Target="../media/image50.png"/><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48.png"/><Relationship Id="rId4" Type="http://schemas.openxmlformats.org/officeDocument/2006/relationships/image" Target="../media/image18.png"/><Relationship Id="rId5" Type="http://schemas.openxmlformats.org/officeDocument/2006/relationships/image" Target="../media/image45.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image" Target="../media/image59.png"/><Relationship Id="rId9" Type="http://schemas.openxmlformats.org/officeDocument/2006/relationships/image" Target="../media/image24.png"/><Relationship Id="rId10" Type="http://schemas.openxmlformats.org/officeDocument/2006/relationships/image" Target="../media/image44.png"/><Relationship Id="rId11" Type="http://schemas.openxmlformats.org/officeDocument/2006/relationships/image" Target="../media/image42.pn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png"/><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6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600"/>
              <a:t>How an AI agent works</a:t>
            </a:r>
          </a:p>
          <a:p>
            <a:r>
              <a:rPr sz="6600"/>
              <a:t>and makes decisions</a:t>
            </a:r>
          </a:p>
        </p:txBody>
      </p:sp>
      <p:sp>
        <p:nvSpPr>
          <p:cNvPr id="3" name="Text Placeholder 2"/>
          <p:cNvSpPr>
            <a:spLocks noGrp="1"/>
          </p:cNvSpPr>
          <p:nvPr>
            <p:ph type="body" idx="10" sz="quarter"/>
          </p:nvPr>
        </p:nvSpPr>
        <p:spPr/>
        <p:txBody>
          <a:bodyPr/>
          <a:lstStyle/>
          <a:p>
            <a:r>
              <a:rPr sz="4000"/>
              <a:t>Session 2  ·  How an AI agent works</a:t>
            </a:r>
          </a:p>
        </p:txBody>
      </p:sp>
      <p:sp>
        <p:nvSpPr>
          <p:cNvPr id="4" name="Text Placeholder 3"/>
          <p:cNvSpPr>
            <a:spLocks noGrp="1"/>
          </p:cNvSpPr>
          <p:nvPr>
            <p:ph type="body" idx="11" sz="quarter"/>
          </p:nvPr>
        </p:nvSpPr>
        <p:spPr/>
        <p:txBody>
          <a:bodyPr/>
          <a:lstStyle/>
          <a:p>
            <a:r>
              <a:rPr sz="2400"/>
              <a:t>Raed Aldweik  |  SAS</a:t>
            </a:r>
          </a:p>
          <a:p>
            <a:r>
              <a:rPr sz="2400"/>
              <a:t>Agentic AI session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In the next 45 minutes</a:t>
            </a:r>
          </a:p>
        </p:txBody>
      </p:sp>
      <p:sp>
        <p:nvSpPr>
          <p:cNvPr id="3" name="Text Placeholder 2"/>
          <p:cNvSpPr>
            <a:spLocks noGrp="1"/>
          </p:cNvSpPr>
          <p:nvPr>
            <p:ph type="body" idx="10" sz="quarter"/>
          </p:nvPr>
        </p:nvSpPr>
        <p:spPr/>
        <p:txBody>
          <a:bodyPr/>
          <a:lstStyle/>
          <a:p>
            <a:r>
              <a:rPr sz="3000"/>
              <a:t>Five questions, one running example, and a short exercise</a:t>
            </a:r>
          </a:p>
        </p:txBody>
      </p:sp>
      <p:cxnSp>
        <p:nvCxnSpPr>
          <p:cNvPr id="5" name="Connector 4"/>
          <p:cNvCxnSpPr/>
          <p:nvPr/>
        </p:nvCxnSpPr>
        <p:spPr>
          <a:xfrm>
            <a:off x="1664208" y="3063240"/>
            <a:ext cx="0" cy="5120639"/>
          </a:xfrm>
          <a:prstGeom prst="line">
            <a:avLst/>
          </a:prstGeom>
          <a:ln w="31750">
            <a:solidFill>
              <a:srgbClr val="C4DEFD"/>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252728" y="2743200"/>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1</a:t>
            </a:r>
          </a:p>
        </p:txBody>
      </p:sp>
      <p:sp>
        <p:nvSpPr>
          <p:cNvPr id="7" name="TextBox 6"/>
          <p:cNvSpPr txBox="1"/>
          <p:nvPr/>
        </p:nvSpPr>
        <p:spPr>
          <a:xfrm>
            <a:off x="2331720" y="2706624"/>
            <a:ext cx="7498079" cy="457200"/>
          </a:xfrm>
          <a:prstGeom prst="rect">
            <a:avLst/>
          </a:prstGeom>
          <a:noFill/>
        </p:spPr>
        <p:txBody>
          <a:bodyPr wrap="square" lIns="45720" tIns="27432" rIns="45720" bIns="27432" anchor="t">
            <a:spAutoFit/>
          </a:bodyPr>
          <a:lstStyle/>
          <a:p>
            <a:pPr algn="l"/>
            <a:r>
              <a:rPr sz="2200">
                <a:solidFill>
                  <a:srgbClr val="262626"/>
                </a:solidFill>
                <a:latin typeface="+mj-lt"/>
              </a:rPr>
              <a:t>Anatomy of an AI agent</a:t>
            </a:r>
          </a:p>
        </p:txBody>
      </p:sp>
      <p:sp>
        <p:nvSpPr>
          <p:cNvPr id="8" name="TextBox 7"/>
          <p:cNvSpPr txBox="1"/>
          <p:nvPr/>
        </p:nvSpPr>
        <p:spPr>
          <a:xfrm>
            <a:off x="2331720" y="3127248"/>
            <a:ext cx="7498079" cy="457200"/>
          </a:xfrm>
          <a:prstGeom prst="rect">
            <a:avLst/>
          </a:prstGeom>
          <a:noFill/>
        </p:spPr>
        <p:txBody>
          <a:bodyPr wrap="square" lIns="45720" tIns="27432" rIns="45720" bIns="27432" anchor="t">
            <a:spAutoFit/>
          </a:bodyPr>
          <a:lstStyle/>
          <a:p>
            <a:pPr algn="l"/>
            <a:r>
              <a:rPr sz="1500">
                <a:solidFill>
                  <a:srgbClr val="7E889A"/>
                </a:solidFill>
              </a:rPr>
              <a:t>Goal, Planning, Knowledge, Tools, Actions and Human Oversight</a:t>
            </a:r>
          </a:p>
        </p:txBody>
      </p:sp>
      <p:sp>
        <p:nvSpPr>
          <p:cNvPr id="9" name="Rounded Rectangle 8"/>
          <p:cNvSpPr/>
          <p:nvPr/>
        </p:nvSpPr>
        <p:spPr>
          <a:xfrm>
            <a:off x="1252728" y="4041648"/>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2</a:t>
            </a:r>
          </a:p>
        </p:txBody>
      </p:sp>
      <p:sp>
        <p:nvSpPr>
          <p:cNvPr id="10" name="TextBox 9"/>
          <p:cNvSpPr txBox="1"/>
          <p:nvPr/>
        </p:nvSpPr>
        <p:spPr>
          <a:xfrm>
            <a:off x="2331720" y="4005072"/>
            <a:ext cx="7498079" cy="457200"/>
          </a:xfrm>
          <a:prstGeom prst="rect">
            <a:avLst/>
          </a:prstGeom>
          <a:noFill/>
        </p:spPr>
        <p:txBody>
          <a:bodyPr wrap="square" lIns="45720" tIns="27432" rIns="45720" bIns="27432" anchor="t">
            <a:spAutoFit/>
          </a:bodyPr>
          <a:lstStyle/>
          <a:p>
            <a:pPr algn="l"/>
            <a:r>
              <a:rPr sz="2200">
                <a:solidFill>
                  <a:srgbClr val="262626"/>
                </a:solidFill>
                <a:latin typeface="+mj-lt"/>
              </a:rPr>
              <a:t>How an agent decides and executes</a:t>
            </a:r>
          </a:p>
        </p:txBody>
      </p:sp>
      <p:sp>
        <p:nvSpPr>
          <p:cNvPr id="11" name="TextBox 10"/>
          <p:cNvSpPr txBox="1"/>
          <p:nvPr/>
        </p:nvSpPr>
        <p:spPr>
          <a:xfrm>
            <a:off x="2331720" y="4425696"/>
            <a:ext cx="7498079" cy="457200"/>
          </a:xfrm>
          <a:prstGeom prst="rect">
            <a:avLst/>
          </a:prstGeom>
          <a:noFill/>
        </p:spPr>
        <p:txBody>
          <a:bodyPr wrap="square" lIns="45720" tIns="27432" rIns="45720" bIns="27432" anchor="t">
            <a:spAutoFit/>
          </a:bodyPr>
          <a:lstStyle/>
          <a:p>
            <a:pPr algn="l"/>
            <a:r>
              <a:rPr sz="1500">
                <a:solidFill>
                  <a:srgbClr val="7E889A"/>
                </a:solidFill>
              </a:rPr>
              <a:t>The think, act, observe loop and what happens inside one step</a:t>
            </a:r>
          </a:p>
        </p:txBody>
      </p:sp>
      <p:sp>
        <p:nvSpPr>
          <p:cNvPr id="12" name="Rounded Rectangle 11"/>
          <p:cNvSpPr/>
          <p:nvPr/>
        </p:nvSpPr>
        <p:spPr>
          <a:xfrm>
            <a:off x="1252728" y="5340096"/>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3</a:t>
            </a:r>
          </a:p>
        </p:txBody>
      </p:sp>
      <p:sp>
        <p:nvSpPr>
          <p:cNvPr id="13" name="TextBox 12"/>
          <p:cNvSpPr txBox="1"/>
          <p:nvPr/>
        </p:nvSpPr>
        <p:spPr>
          <a:xfrm>
            <a:off x="2331720" y="5303520"/>
            <a:ext cx="7498079" cy="457200"/>
          </a:xfrm>
          <a:prstGeom prst="rect">
            <a:avLst/>
          </a:prstGeom>
          <a:noFill/>
        </p:spPr>
        <p:txBody>
          <a:bodyPr wrap="square" lIns="45720" tIns="27432" rIns="45720" bIns="27432" anchor="t">
            <a:spAutoFit/>
          </a:bodyPr>
          <a:lstStyle/>
          <a:p>
            <a:pPr algn="l"/>
            <a:r>
              <a:rPr sz="2200">
                <a:solidFill>
                  <a:srgbClr val="262626"/>
                </a:solidFill>
                <a:latin typeface="+mj-lt"/>
              </a:rPr>
              <a:t>Connecting to enterprise systems, data and tools</a:t>
            </a:r>
          </a:p>
        </p:txBody>
      </p:sp>
      <p:sp>
        <p:nvSpPr>
          <p:cNvPr id="14" name="TextBox 13"/>
          <p:cNvSpPr txBox="1"/>
          <p:nvPr/>
        </p:nvSpPr>
        <p:spPr>
          <a:xfrm>
            <a:off x="2331720" y="5724144"/>
            <a:ext cx="7498079" cy="457200"/>
          </a:xfrm>
          <a:prstGeom prst="rect">
            <a:avLst/>
          </a:prstGeom>
          <a:noFill/>
        </p:spPr>
        <p:txBody>
          <a:bodyPr wrap="square" lIns="45720" tIns="27432" rIns="45720" bIns="27432" anchor="t">
            <a:spAutoFit/>
          </a:bodyPr>
          <a:lstStyle/>
          <a:p>
            <a:pPr algn="l"/>
            <a:r>
              <a:rPr sz="1500">
                <a:solidFill>
                  <a:srgbClr val="7E889A"/>
                </a:solidFill>
              </a:rPr>
              <a:t>How the agent reaches your systems safely</a:t>
            </a:r>
          </a:p>
        </p:txBody>
      </p:sp>
      <p:sp>
        <p:nvSpPr>
          <p:cNvPr id="15" name="Rounded Rectangle 14"/>
          <p:cNvSpPr/>
          <p:nvPr/>
        </p:nvSpPr>
        <p:spPr>
          <a:xfrm>
            <a:off x="1252728" y="6638544"/>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4</a:t>
            </a:r>
          </a:p>
        </p:txBody>
      </p:sp>
      <p:sp>
        <p:nvSpPr>
          <p:cNvPr id="16" name="TextBox 15"/>
          <p:cNvSpPr txBox="1"/>
          <p:nvPr/>
        </p:nvSpPr>
        <p:spPr>
          <a:xfrm>
            <a:off x="2331720" y="6601968"/>
            <a:ext cx="7498079" cy="457200"/>
          </a:xfrm>
          <a:prstGeom prst="rect">
            <a:avLst/>
          </a:prstGeom>
          <a:noFill/>
        </p:spPr>
        <p:txBody>
          <a:bodyPr wrap="square" lIns="45720" tIns="27432" rIns="45720" bIns="27432" anchor="t">
            <a:spAutoFit/>
          </a:bodyPr>
          <a:lstStyle/>
          <a:p>
            <a:pPr algn="l"/>
            <a:r>
              <a:rPr sz="2200">
                <a:solidFill>
                  <a:srgbClr val="262626"/>
                </a:solidFill>
                <a:latin typeface="+mj-lt"/>
              </a:rPr>
              <a:t>Human-in-the-loop vs autonomous execution</a:t>
            </a:r>
          </a:p>
        </p:txBody>
      </p:sp>
      <p:sp>
        <p:nvSpPr>
          <p:cNvPr id="17" name="TextBox 16"/>
          <p:cNvSpPr txBox="1"/>
          <p:nvPr/>
        </p:nvSpPr>
        <p:spPr>
          <a:xfrm>
            <a:off x="2331720" y="7022592"/>
            <a:ext cx="7498079" cy="457200"/>
          </a:xfrm>
          <a:prstGeom prst="rect">
            <a:avLst/>
          </a:prstGeom>
          <a:noFill/>
        </p:spPr>
        <p:txBody>
          <a:bodyPr wrap="square" lIns="45720" tIns="27432" rIns="45720" bIns="27432" anchor="t">
            <a:spAutoFit/>
          </a:bodyPr>
          <a:lstStyle/>
          <a:p>
            <a:pPr algn="l"/>
            <a:r>
              <a:rPr sz="1500">
                <a:solidFill>
                  <a:srgbClr val="7E889A"/>
                </a:solidFill>
              </a:rPr>
              <a:t>The autonomy spectrum and how to choose a level</a:t>
            </a:r>
          </a:p>
        </p:txBody>
      </p:sp>
      <p:sp>
        <p:nvSpPr>
          <p:cNvPr id="18" name="Rounded Rectangle 17"/>
          <p:cNvSpPr/>
          <p:nvPr/>
        </p:nvSpPr>
        <p:spPr>
          <a:xfrm>
            <a:off x="1252728" y="7936992"/>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5</a:t>
            </a:r>
          </a:p>
        </p:txBody>
      </p:sp>
      <p:sp>
        <p:nvSpPr>
          <p:cNvPr id="19" name="TextBox 18"/>
          <p:cNvSpPr txBox="1"/>
          <p:nvPr/>
        </p:nvSpPr>
        <p:spPr>
          <a:xfrm>
            <a:off x="2331720" y="7900416"/>
            <a:ext cx="7498079" cy="457200"/>
          </a:xfrm>
          <a:prstGeom prst="rect">
            <a:avLst/>
          </a:prstGeom>
          <a:noFill/>
        </p:spPr>
        <p:txBody>
          <a:bodyPr wrap="square" lIns="45720" tIns="27432" rIns="45720" bIns="27432" anchor="t">
            <a:spAutoFit/>
          </a:bodyPr>
          <a:lstStyle/>
          <a:p>
            <a:pPr algn="l"/>
            <a:r>
              <a:rPr sz="2200">
                <a:solidFill>
                  <a:srgbClr val="262626"/>
                </a:solidFill>
                <a:latin typeface="+mj-lt"/>
              </a:rPr>
              <a:t>Autonomy, boundaries and escalation points</a:t>
            </a:r>
          </a:p>
        </p:txBody>
      </p:sp>
      <p:sp>
        <p:nvSpPr>
          <p:cNvPr id="20" name="TextBox 19"/>
          <p:cNvSpPr txBox="1"/>
          <p:nvPr/>
        </p:nvSpPr>
        <p:spPr>
          <a:xfrm>
            <a:off x="2331720" y="8321040"/>
            <a:ext cx="7498079" cy="457200"/>
          </a:xfrm>
          <a:prstGeom prst="rect">
            <a:avLst/>
          </a:prstGeom>
          <a:noFill/>
        </p:spPr>
        <p:txBody>
          <a:bodyPr wrap="square" lIns="45720" tIns="27432" rIns="45720" bIns="27432" anchor="t">
            <a:spAutoFit/>
          </a:bodyPr>
          <a:lstStyle/>
          <a:p>
            <a:pPr algn="l"/>
            <a:r>
              <a:rPr sz="1500">
                <a:solidFill>
                  <a:srgbClr val="7E889A"/>
                </a:solidFill>
              </a:rPr>
              <a:t>The fence around the agent, and the door out</a:t>
            </a:r>
          </a:p>
        </p:txBody>
      </p:sp>
      <p:sp>
        <p:nvSpPr>
          <p:cNvPr id="21" name="Rounded Rectangle 20"/>
          <p:cNvSpPr/>
          <p:nvPr/>
        </p:nvSpPr>
        <p:spPr>
          <a:xfrm>
            <a:off x="10424160" y="2697480"/>
            <a:ext cx="6601968" cy="6400800"/>
          </a:xfrm>
          <a:prstGeom prst="roundRect">
            <a:avLst>
              <a:gd name="adj" fmla="val 400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35640" y="3017520"/>
            <a:ext cx="5852160" cy="457200"/>
          </a:xfrm>
          <a:prstGeom prst="rect">
            <a:avLst/>
          </a:prstGeom>
          <a:noFill/>
        </p:spPr>
        <p:txBody>
          <a:bodyPr wrap="square" lIns="45720" tIns="27432" rIns="45720" bIns="27432" anchor="t">
            <a:spAutoFit/>
          </a:bodyPr>
          <a:lstStyle/>
          <a:p>
            <a:pPr algn="l"/>
            <a:r>
              <a:rPr sz="2200">
                <a:solidFill>
                  <a:srgbClr val="0766D1"/>
                </a:solidFill>
                <a:latin typeface="+mj-lt"/>
              </a:rPr>
              <a:t>By the end of this session you can…</a:t>
            </a:r>
          </a:p>
        </p:txBody>
      </p:sp>
      <p:sp>
        <p:nvSpPr>
          <p:cNvPr id="23" name="Oval 22"/>
          <p:cNvSpPr/>
          <p:nvPr/>
        </p:nvSpPr>
        <p:spPr>
          <a:xfrm>
            <a:off x="10835640" y="3886200"/>
            <a:ext cx="566928" cy="56692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png"/>
          <p:cNvPicPr>
            <a:picLocks noChangeAspect="1"/>
          </p:cNvPicPr>
          <p:nvPr/>
        </p:nvPicPr>
        <p:blipFill>
          <a:blip r:embed="rId2"/>
          <a:stretch>
            <a:fillRect/>
          </a:stretch>
        </p:blipFill>
        <p:spPr>
          <a:xfrm>
            <a:off x="10963198" y="4013758"/>
            <a:ext cx="311810" cy="311810"/>
          </a:xfrm>
          <a:prstGeom prst="rect">
            <a:avLst/>
          </a:prstGeom>
        </p:spPr>
      </p:pic>
      <p:sp>
        <p:nvSpPr>
          <p:cNvPr id="25" name="TextBox 24"/>
          <p:cNvSpPr txBox="1"/>
          <p:nvPr/>
        </p:nvSpPr>
        <p:spPr>
          <a:xfrm>
            <a:off x="11603736" y="3831336"/>
            <a:ext cx="5084064" cy="384048"/>
          </a:xfrm>
          <a:prstGeom prst="rect">
            <a:avLst/>
          </a:prstGeom>
          <a:noFill/>
        </p:spPr>
        <p:txBody>
          <a:bodyPr wrap="square" lIns="45720" tIns="27432" rIns="45720" bIns="27432" anchor="t">
            <a:spAutoFit/>
          </a:bodyPr>
          <a:lstStyle/>
          <a:p>
            <a:pPr algn="l"/>
            <a:r>
              <a:rPr sz="1700">
                <a:solidFill>
                  <a:srgbClr val="262626"/>
                </a:solidFill>
                <a:latin typeface="+mj-lt"/>
              </a:rPr>
              <a:t>Explain what is inside an agent</a:t>
            </a:r>
          </a:p>
        </p:txBody>
      </p:sp>
      <p:sp>
        <p:nvSpPr>
          <p:cNvPr id="26" name="TextBox 25"/>
          <p:cNvSpPr txBox="1"/>
          <p:nvPr/>
        </p:nvSpPr>
        <p:spPr>
          <a:xfrm>
            <a:off x="11603736" y="4197096"/>
            <a:ext cx="5084064" cy="969263"/>
          </a:xfrm>
          <a:prstGeom prst="rect">
            <a:avLst/>
          </a:prstGeom>
          <a:noFill/>
        </p:spPr>
        <p:txBody>
          <a:bodyPr wrap="square" lIns="45720" tIns="27432" rIns="45720" bIns="27432" anchor="t">
            <a:spAutoFit/>
          </a:bodyPr>
          <a:lstStyle/>
          <a:p>
            <a:pPr algn="l"/>
            <a:r>
              <a:rPr sz="1500">
                <a:solidFill>
                  <a:srgbClr val="262626"/>
                </a:solidFill>
              </a:rPr>
              <a:t>using the six building blocks and one healthcare example</a:t>
            </a:r>
          </a:p>
        </p:txBody>
      </p:sp>
      <p:sp>
        <p:nvSpPr>
          <p:cNvPr id="27" name="Oval 26"/>
          <p:cNvSpPr/>
          <p:nvPr/>
        </p:nvSpPr>
        <p:spPr>
          <a:xfrm>
            <a:off x="10835640" y="5486400"/>
            <a:ext cx="566928" cy="56692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heck_w.png"/>
          <p:cNvPicPr>
            <a:picLocks noChangeAspect="1"/>
          </p:cNvPicPr>
          <p:nvPr/>
        </p:nvPicPr>
        <p:blipFill>
          <a:blip r:embed="rId2"/>
          <a:stretch>
            <a:fillRect/>
          </a:stretch>
        </p:blipFill>
        <p:spPr>
          <a:xfrm>
            <a:off x="10963198" y="5613958"/>
            <a:ext cx="311810" cy="311810"/>
          </a:xfrm>
          <a:prstGeom prst="rect">
            <a:avLst/>
          </a:prstGeom>
        </p:spPr>
      </p:pic>
      <p:sp>
        <p:nvSpPr>
          <p:cNvPr id="29" name="TextBox 28"/>
          <p:cNvSpPr txBox="1"/>
          <p:nvPr/>
        </p:nvSpPr>
        <p:spPr>
          <a:xfrm>
            <a:off x="11603736" y="5431536"/>
            <a:ext cx="5084064" cy="384048"/>
          </a:xfrm>
          <a:prstGeom prst="rect">
            <a:avLst/>
          </a:prstGeom>
          <a:noFill/>
        </p:spPr>
        <p:txBody>
          <a:bodyPr wrap="square" lIns="45720" tIns="27432" rIns="45720" bIns="27432" anchor="t">
            <a:spAutoFit/>
          </a:bodyPr>
          <a:lstStyle/>
          <a:p>
            <a:pPr algn="l"/>
            <a:r>
              <a:rPr sz="1700">
                <a:solidFill>
                  <a:srgbClr val="262626"/>
                </a:solidFill>
                <a:latin typeface="+mj-lt"/>
              </a:rPr>
              <a:t>Read an agent's decision loop</a:t>
            </a:r>
          </a:p>
        </p:txBody>
      </p:sp>
      <p:sp>
        <p:nvSpPr>
          <p:cNvPr id="30" name="TextBox 29"/>
          <p:cNvSpPr txBox="1"/>
          <p:nvPr/>
        </p:nvSpPr>
        <p:spPr>
          <a:xfrm>
            <a:off x="11603736" y="5797296"/>
            <a:ext cx="5084064" cy="969263"/>
          </a:xfrm>
          <a:prstGeom prst="rect">
            <a:avLst/>
          </a:prstGeom>
          <a:noFill/>
        </p:spPr>
        <p:txBody>
          <a:bodyPr wrap="square" lIns="45720" tIns="27432" rIns="45720" bIns="27432" anchor="t">
            <a:spAutoFit/>
          </a:bodyPr>
          <a:lstStyle/>
          <a:p>
            <a:pPr algn="l"/>
            <a:r>
              <a:rPr sz="1500">
                <a:solidFill>
                  <a:srgbClr val="262626"/>
                </a:solidFill>
              </a:rPr>
              <a:t>and spot the points where it can go wrong</a:t>
            </a:r>
          </a:p>
        </p:txBody>
      </p:sp>
      <p:sp>
        <p:nvSpPr>
          <p:cNvPr id="31" name="Oval 30"/>
          <p:cNvSpPr/>
          <p:nvPr/>
        </p:nvSpPr>
        <p:spPr>
          <a:xfrm>
            <a:off x="10835640" y="7086600"/>
            <a:ext cx="566928" cy="56692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check_w.png"/>
          <p:cNvPicPr>
            <a:picLocks noChangeAspect="1"/>
          </p:cNvPicPr>
          <p:nvPr/>
        </p:nvPicPr>
        <p:blipFill>
          <a:blip r:embed="rId2"/>
          <a:stretch>
            <a:fillRect/>
          </a:stretch>
        </p:blipFill>
        <p:spPr>
          <a:xfrm>
            <a:off x="10963198" y="7214158"/>
            <a:ext cx="311810" cy="311810"/>
          </a:xfrm>
          <a:prstGeom prst="rect">
            <a:avLst/>
          </a:prstGeom>
        </p:spPr>
      </p:pic>
      <p:sp>
        <p:nvSpPr>
          <p:cNvPr id="33" name="TextBox 32"/>
          <p:cNvSpPr txBox="1"/>
          <p:nvPr/>
        </p:nvSpPr>
        <p:spPr>
          <a:xfrm>
            <a:off x="11603736" y="7031736"/>
            <a:ext cx="5084064" cy="384048"/>
          </a:xfrm>
          <a:prstGeom prst="rect">
            <a:avLst/>
          </a:prstGeom>
          <a:noFill/>
        </p:spPr>
        <p:txBody>
          <a:bodyPr wrap="square" lIns="45720" tIns="27432" rIns="45720" bIns="27432" anchor="t">
            <a:spAutoFit/>
          </a:bodyPr>
          <a:lstStyle/>
          <a:p>
            <a:pPr algn="l"/>
            <a:r>
              <a:rPr sz="1700">
                <a:solidFill>
                  <a:srgbClr val="262626"/>
                </a:solidFill>
                <a:latin typeface="+mj-lt"/>
              </a:rPr>
              <a:t>Decide how much autonomy to give</a:t>
            </a:r>
          </a:p>
        </p:txBody>
      </p:sp>
      <p:sp>
        <p:nvSpPr>
          <p:cNvPr id="34" name="TextBox 33"/>
          <p:cNvSpPr txBox="1"/>
          <p:nvPr/>
        </p:nvSpPr>
        <p:spPr>
          <a:xfrm>
            <a:off x="11603736" y="7397496"/>
            <a:ext cx="5084064" cy="969263"/>
          </a:xfrm>
          <a:prstGeom prst="rect">
            <a:avLst/>
          </a:prstGeom>
          <a:noFill/>
        </p:spPr>
        <p:txBody>
          <a:bodyPr wrap="square" lIns="45720" tIns="27432" rIns="45720" bIns="27432" anchor="t">
            <a:spAutoFit/>
          </a:bodyPr>
          <a:lstStyle/>
          <a:p>
            <a:pPr algn="l"/>
            <a:r>
              <a:rPr sz="1500">
                <a:solidFill>
                  <a:srgbClr val="262626"/>
                </a:solidFill>
              </a:rPr>
              <a:t>an agent for each action, and where a person must step 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From Session 1: an agent in one sentence</a:t>
            </a:r>
          </a:p>
        </p:txBody>
      </p:sp>
      <p:sp>
        <p:nvSpPr>
          <p:cNvPr id="3" name="Text Placeholder 2"/>
          <p:cNvSpPr>
            <a:spLocks noGrp="1"/>
          </p:cNvSpPr>
          <p:nvPr>
            <p:ph type="body" idx="10" sz="quarter"/>
          </p:nvPr>
        </p:nvSpPr>
        <p:spPr/>
        <p:txBody>
          <a:bodyPr/>
          <a:lstStyle/>
          <a:p>
            <a:r>
              <a:rPr sz="3000"/>
              <a:t>Perceive, reason, act, and keep going until the goal is met</a:t>
            </a:r>
          </a:p>
        </p:txBody>
      </p:sp>
      <p:sp>
        <p:nvSpPr>
          <p:cNvPr id="5" name="Rounded Rectangle 4"/>
          <p:cNvSpPr/>
          <p:nvPr/>
        </p:nvSpPr>
        <p:spPr>
          <a:xfrm>
            <a:off x="1252728" y="2697480"/>
            <a:ext cx="15773400" cy="2331720"/>
          </a:xfrm>
          <a:prstGeom prst="roundRect">
            <a:avLst>
              <a:gd name="adj" fmla="val 9803"/>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2834640"/>
            <a:ext cx="14859000" cy="2057400"/>
          </a:xfrm>
          <a:prstGeom prst="rect">
            <a:avLst/>
          </a:prstGeom>
          <a:noFill/>
        </p:spPr>
        <p:txBody>
          <a:bodyPr wrap="square" lIns="45720" tIns="27432" rIns="45720" bIns="27432" anchor="ctr">
            <a:spAutoFit/>
          </a:bodyPr>
          <a:lstStyle/>
          <a:p>
            <a:pPr algn="l">
              <a:lnSpc>
                <a:spcPct val="110000"/>
              </a:lnSpc>
            </a:pPr>
            <a:r>
              <a:rPr sz="2800">
                <a:solidFill>
                  <a:srgbClr val="032954"/>
                </a:solidFill>
              </a:rPr>
              <a:t>An AI agent is a system that pursues a </a:t>
            </a:r>
            <a:r>
              <a:rPr sz="2800">
                <a:solidFill>
                  <a:srgbClr val="032954"/>
                </a:solidFill>
                <a:latin typeface="+mj-lt"/>
              </a:rPr>
              <a:t>goal</a:t>
            </a:r>
            <a:r>
              <a:rPr sz="2800">
                <a:solidFill>
                  <a:srgbClr val="032954"/>
                </a:solidFill>
              </a:rPr>
              <a:t> by reasoning about what to do next, using </a:t>
            </a:r>
            <a:r>
              <a:rPr sz="2800">
                <a:solidFill>
                  <a:srgbClr val="032954"/>
                </a:solidFill>
                <a:latin typeface="+mj-lt"/>
              </a:rPr>
              <a:t>tools</a:t>
            </a:r>
            <a:r>
              <a:rPr sz="2800">
                <a:solidFill>
                  <a:srgbClr val="032954"/>
                </a:solidFill>
              </a:rPr>
              <a:t> to act, and checking the result, inside </a:t>
            </a:r>
            <a:r>
              <a:rPr sz="2800">
                <a:solidFill>
                  <a:srgbClr val="032954"/>
                </a:solidFill>
                <a:latin typeface="+mj-lt"/>
              </a:rPr>
              <a:t>boundaries</a:t>
            </a:r>
            <a:r>
              <a:rPr sz="2800">
                <a:solidFill>
                  <a:srgbClr val="032954"/>
                </a:solidFill>
              </a:rPr>
              <a:t> set by people.</a:t>
            </a:r>
          </a:p>
        </p:txBody>
      </p:sp>
      <p:sp>
        <p:nvSpPr>
          <p:cNvPr id="7" name="Rounded Rectangle 6"/>
          <p:cNvSpPr/>
          <p:nvPr/>
        </p:nvSpPr>
        <p:spPr>
          <a:xfrm>
            <a:off x="1252728" y="5486400"/>
            <a:ext cx="4983480" cy="3566160"/>
          </a:xfrm>
          <a:prstGeom prst="roundRect">
            <a:avLst>
              <a:gd name="adj" fmla="val 7179"/>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27048" y="5760720"/>
            <a:ext cx="822960" cy="82296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t_w.png"/>
          <p:cNvPicPr>
            <a:picLocks noChangeAspect="1"/>
          </p:cNvPicPr>
          <p:nvPr/>
        </p:nvPicPr>
        <p:blipFill>
          <a:blip r:embed="rId2"/>
          <a:stretch>
            <a:fillRect/>
          </a:stretch>
        </p:blipFill>
        <p:spPr>
          <a:xfrm>
            <a:off x="1724558" y="5958230"/>
            <a:ext cx="427939" cy="427939"/>
          </a:xfrm>
          <a:prstGeom prst="rect">
            <a:avLst/>
          </a:prstGeom>
        </p:spPr>
      </p:pic>
      <p:sp>
        <p:nvSpPr>
          <p:cNvPr id="10" name="TextBox 9"/>
          <p:cNvSpPr txBox="1"/>
          <p:nvPr/>
        </p:nvSpPr>
        <p:spPr>
          <a:xfrm>
            <a:off x="2578608" y="5870448"/>
            <a:ext cx="3337560" cy="548640"/>
          </a:xfrm>
          <a:prstGeom prst="rect">
            <a:avLst/>
          </a:prstGeom>
          <a:noFill/>
        </p:spPr>
        <p:txBody>
          <a:bodyPr wrap="square" lIns="45720" tIns="27432" rIns="45720" bIns="27432" anchor="t">
            <a:spAutoFit/>
          </a:bodyPr>
          <a:lstStyle/>
          <a:p>
            <a:pPr algn="l"/>
            <a:r>
              <a:rPr sz="2400">
                <a:solidFill>
                  <a:srgbClr val="262626"/>
                </a:solidFill>
                <a:latin typeface="+mj-lt"/>
              </a:rPr>
              <a:t>Chatbot</a:t>
            </a:r>
          </a:p>
        </p:txBody>
      </p:sp>
      <p:sp>
        <p:nvSpPr>
          <p:cNvPr id="11" name="TextBox 10"/>
          <p:cNvSpPr txBox="1"/>
          <p:nvPr/>
        </p:nvSpPr>
        <p:spPr>
          <a:xfrm>
            <a:off x="1618488" y="6903720"/>
            <a:ext cx="4251960" cy="1920239"/>
          </a:xfrm>
          <a:prstGeom prst="rect">
            <a:avLst/>
          </a:prstGeom>
          <a:noFill/>
        </p:spPr>
        <p:txBody>
          <a:bodyPr wrap="square" lIns="45720" tIns="27432" rIns="45720" bIns="27432" anchor="t">
            <a:spAutoFit/>
          </a:bodyPr>
          <a:lstStyle/>
          <a:p>
            <a:pPr algn="l"/>
            <a:r>
              <a:rPr sz="1700">
                <a:solidFill>
                  <a:srgbClr val="262626"/>
                </a:solidFill>
              </a:rPr>
              <a:t>Answers one question at a time. Stops when it has replied.</a:t>
            </a:r>
          </a:p>
        </p:txBody>
      </p:sp>
      <p:sp>
        <p:nvSpPr>
          <p:cNvPr id="12" name="Rounded Rectangle 11"/>
          <p:cNvSpPr/>
          <p:nvPr/>
        </p:nvSpPr>
        <p:spPr>
          <a:xfrm>
            <a:off x="6647688" y="5486400"/>
            <a:ext cx="4983480" cy="3566160"/>
          </a:xfrm>
          <a:prstGeom prst="roundRect">
            <a:avLst>
              <a:gd name="adj" fmla="val 7179"/>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922007" y="5760720"/>
            <a:ext cx="822960" cy="82296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g_w.png"/>
          <p:cNvPicPr>
            <a:picLocks noChangeAspect="1"/>
          </p:cNvPicPr>
          <p:nvPr/>
        </p:nvPicPr>
        <p:blipFill>
          <a:blip r:embed="rId3"/>
          <a:stretch>
            <a:fillRect/>
          </a:stretch>
        </p:blipFill>
        <p:spPr>
          <a:xfrm>
            <a:off x="7119518" y="5958230"/>
            <a:ext cx="427939" cy="427939"/>
          </a:xfrm>
          <a:prstGeom prst="rect">
            <a:avLst/>
          </a:prstGeom>
        </p:spPr>
      </p:pic>
      <p:sp>
        <p:nvSpPr>
          <p:cNvPr id="15" name="TextBox 14"/>
          <p:cNvSpPr txBox="1"/>
          <p:nvPr/>
        </p:nvSpPr>
        <p:spPr>
          <a:xfrm>
            <a:off x="7973568" y="5870448"/>
            <a:ext cx="3337560" cy="548640"/>
          </a:xfrm>
          <a:prstGeom prst="rect">
            <a:avLst/>
          </a:prstGeom>
          <a:noFill/>
        </p:spPr>
        <p:txBody>
          <a:bodyPr wrap="square" lIns="45720" tIns="27432" rIns="45720" bIns="27432" anchor="t">
            <a:spAutoFit/>
          </a:bodyPr>
          <a:lstStyle/>
          <a:p>
            <a:pPr algn="l"/>
            <a:r>
              <a:rPr sz="2400">
                <a:solidFill>
                  <a:srgbClr val="262626"/>
                </a:solidFill>
                <a:latin typeface="+mj-lt"/>
              </a:rPr>
              <a:t>Automation</a:t>
            </a:r>
          </a:p>
        </p:txBody>
      </p:sp>
      <p:sp>
        <p:nvSpPr>
          <p:cNvPr id="16" name="TextBox 15"/>
          <p:cNvSpPr txBox="1"/>
          <p:nvPr/>
        </p:nvSpPr>
        <p:spPr>
          <a:xfrm>
            <a:off x="7013448" y="6903720"/>
            <a:ext cx="4251960" cy="1920239"/>
          </a:xfrm>
          <a:prstGeom prst="rect">
            <a:avLst/>
          </a:prstGeom>
          <a:noFill/>
        </p:spPr>
        <p:txBody>
          <a:bodyPr wrap="square" lIns="45720" tIns="27432" rIns="45720" bIns="27432" anchor="t">
            <a:spAutoFit/>
          </a:bodyPr>
          <a:lstStyle/>
          <a:p>
            <a:pPr algn="l"/>
            <a:r>
              <a:rPr sz="1700">
                <a:solidFill>
                  <a:srgbClr val="262626"/>
                </a:solidFill>
              </a:rPr>
              <a:t>Follows a fixed script. Breaks when the situation is not in the script.</a:t>
            </a:r>
          </a:p>
        </p:txBody>
      </p:sp>
      <p:sp>
        <p:nvSpPr>
          <p:cNvPr id="17" name="Rounded Rectangle 16"/>
          <p:cNvSpPr/>
          <p:nvPr/>
        </p:nvSpPr>
        <p:spPr>
          <a:xfrm>
            <a:off x="12042648" y="5486400"/>
            <a:ext cx="4983480" cy="3566160"/>
          </a:xfrm>
          <a:prstGeom prst="roundRect">
            <a:avLst>
              <a:gd name="adj" fmla="val 7179"/>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2316968" y="576072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robot_b.png"/>
          <p:cNvPicPr>
            <a:picLocks noChangeAspect="1"/>
          </p:cNvPicPr>
          <p:nvPr/>
        </p:nvPicPr>
        <p:blipFill>
          <a:blip r:embed="rId4"/>
          <a:stretch>
            <a:fillRect/>
          </a:stretch>
        </p:blipFill>
        <p:spPr>
          <a:xfrm>
            <a:off x="12514478" y="5958230"/>
            <a:ext cx="427939" cy="427939"/>
          </a:xfrm>
          <a:prstGeom prst="rect">
            <a:avLst/>
          </a:prstGeom>
        </p:spPr>
      </p:pic>
      <p:sp>
        <p:nvSpPr>
          <p:cNvPr id="20" name="TextBox 19"/>
          <p:cNvSpPr txBox="1"/>
          <p:nvPr/>
        </p:nvSpPr>
        <p:spPr>
          <a:xfrm>
            <a:off x="13368528" y="5870448"/>
            <a:ext cx="3337560" cy="548640"/>
          </a:xfrm>
          <a:prstGeom prst="rect">
            <a:avLst/>
          </a:prstGeom>
          <a:noFill/>
        </p:spPr>
        <p:txBody>
          <a:bodyPr wrap="square" lIns="45720" tIns="27432" rIns="45720" bIns="27432" anchor="t">
            <a:spAutoFit/>
          </a:bodyPr>
          <a:lstStyle/>
          <a:p>
            <a:pPr algn="l"/>
            <a:r>
              <a:rPr sz="2400">
                <a:solidFill>
                  <a:srgbClr val="FFFFFF"/>
                </a:solidFill>
                <a:latin typeface="+mj-lt"/>
              </a:rPr>
              <a:t>AI agent</a:t>
            </a:r>
          </a:p>
        </p:txBody>
      </p:sp>
      <p:sp>
        <p:nvSpPr>
          <p:cNvPr id="21" name="TextBox 20"/>
          <p:cNvSpPr txBox="1"/>
          <p:nvPr/>
        </p:nvSpPr>
        <p:spPr>
          <a:xfrm>
            <a:off x="12408408" y="6903720"/>
            <a:ext cx="4251960" cy="1920239"/>
          </a:xfrm>
          <a:prstGeom prst="rect">
            <a:avLst/>
          </a:prstGeom>
          <a:noFill/>
        </p:spPr>
        <p:txBody>
          <a:bodyPr wrap="square" lIns="45720" tIns="27432" rIns="45720" bIns="27432" anchor="t">
            <a:spAutoFit/>
          </a:bodyPr>
          <a:lstStyle/>
          <a:p>
            <a:pPr algn="l"/>
            <a:r>
              <a:rPr sz="1700">
                <a:solidFill>
                  <a:srgbClr val="FFFFFF"/>
                </a:solidFill>
              </a:rPr>
              <a:t>Works towards a goal, step by step, choosing tools and adapting the plan as it goes.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Our running example: the No-Show Agent</a:t>
            </a:r>
          </a:p>
        </p:txBody>
      </p:sp>
      <p:sp>
        <p:nvSpPr>
          <p:cNvPr id="3" name="Text Placeholder 2"/>
          <p:cNvSpPr>
            <a:spLocks noGrp="1"/>
          </p:cNvSpPr>
          <p:nvPr>
            <p:ph type="body" idx="10" sz="quarter"/>
          </p:nvPr>
        </p:nvSpPr>
        <p:spPr/>
        <p:txBody>
          <a:bodyPr/>
          <a:lstStyle/>
          <a:p>
            <a:r>
              <a:rPr sz="3000"/>
              <a:t>One outpatient problem we will use on every slide today</a:t>
            </a:r>
          </a:p>
        </p:txBody>
      </p:sp>
      <p:sp>
        <p:nvSpPr>
          <p:cNvPr id="5" name="Rounded Rectangle 4"/>
          <p:cNvSpPr/>
          <p:nvPr/>
        </p:nvSpPr>
        <p:spPr>
          <a:xfrm>
            <a:off x="1252728" y="3017520"/>
            <a:ext cx="7589520" cy="5943600"/>
          </a:xfrm>
          <a:prstGeom prst="roundRect">
            <a:avLst>
              <a:gd name="adj" fmla="val 430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709928" y="2468879"/>
            <a:ext cx="1097280" cy="109728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spital_w.png"/>
          <p:cNvPicPr>
            <a:picLocks noChangeAspect="1"/>
          </p:cNvPicPr>
          <p:nvPr/>
        </p:nvPicPr>
        <p:blipFill>
          <a:blip r:embed="rId2"/>
          <a:stretch>
            <a:fillRect/>
          </a:stretch>
        </p:blipFill>
        <p:spPr>
          <a:xfrm>
            <a:off x="1973275" y="2732227"/>
            <a:ext cx="570585" cy="570585"/>
          </a:xfrm>
          <a:prstGeom prst="rect">
            <a:avLst/>
          </a:prstGeom>
        </p:spPr>
      </p:pic>
      <p:sp>
        <p:nvSpPr>
          <p:cNvPr id="8" name="TextBox 7"/>
          <p:cNvSpPr txBox="1"/>
          <p:nvPr/>
        </p:nvSpPr>
        <p:spPr>
          <a:xfrm>
            <a:off x="1664208" y="3794760"/>
            <a:ext cx="6766560" cy="457200"/>
          </a:xfrm>
          <a:prstGeom prst="rect">
            <a:avLst/>
          </a:prstGeom>
          <a:noFill/>
        </p:spPr>
        <p:txBody>
          <a:bodyPr wrap="square" lIns="45720" tIns="27432" rIns="45720" bIns="27432" anchor="t">
            <a:spAutoFit/>
          </a:bodyPr>
          <a:lstStyle/>
          <a:p>
            <a:pPr algn="l"/>
            <a:r>
              <a:rPr sz="2400">
                <a:solidFill>
                  <a:srgbClr val="262626"/>
                </a:solidFill>
                <a:latin typeface="+mj-lt"/>
              </a:rPr>
              <a:t>The situation</a:t>
            </a:r>
          </a:p>
        </p:txBody>
      </p:sp>
      <p:sp>
        <p:nvSpPr>
          <p:cNvPr id="9" name="TextBox 8"/>
          <p:cNvSpPr txBox="1"/>
          <p:nvPr/>
        </p:nvSpPr>
        <p:spPr>
          <a:xfrm>
            <a:off x="1664208" y="4343400"/>
            <a:ext cx="6766560" cy="4480560"/>
          </a:xfrm>
          <a:prstGeom prst="rect">
            <a:avLst/>
          </a:prstGeom>
          <a:noFill/>
        </p:spPr>
        <p:txBody>
          <a:bodyPr wrap="square" lIns="45720" tIns="27432" rIns="45720" bIns="27432" anchor="t">
            <a:spAutoFit/>
          </a:bodyPr>
          <a:lstStyle/>
          <a:p>
            <a:pPr algn="l">
              <a:spcAft>
                <a:spcPts val="600"/>
              </a:spcAft>
            </a:pPr>
            <a:r>
              <a:rPr sz="1800">
                <a:solidFill>
                  <a:srgbClr val="262626"/>
                </a:solidFill>
              </a:rPr>
              <a:t>Every day some patients do not turn up for their outpatient appointment.</a:t>
            </a:r>
          </a:p>
          <a:p>
            <a:pPr algn="l">
              <a:spcBef>
                <a:spcPts val="600"/>
              </a:spcBef>
              <a:spcAft>
                <a:spcPts val="600"/>
              </a:spcAft>
            </a:pPr>
            <a:r>
              <a:rPr sz="1800">
                <a:solidFill>
                  <a:srgbClr val="262626"/>
                </a:solidFill>
              </a:rPr>
              <a:t>Each missed slot is a wasted clinician hour, a longer waiting list, and a patient whose care is delayed.</a:t>
            </a:r>
          </a:p>
          <a:p>
            <a:pPr algn="l">
              <a:spcBef>
                <a:spcPts val="600"/>
              </a:spcBef>
              <a:spcAft>
                <a:spcPts val="600"/>
              </a:spcAft>
            </a:pPr>
            <a:r>
              <a:rPr sz="1800">
                <a:solidFill>
                  <a:srgbClr val="262626"/>
                </a:solidFill>
              </a:rPr>
              <a:t>Reminder calls help, but staff cannot phone every patient every day.</a:t>
            </a:r>
          </a:p>
        </p:txBody>
      </p:sp>
      <p:sp>
        <p:nvSpPr>
          <p:cNvPr id="10" name="Rounded Rectangle 9"/>
          <p:cNvSpPr/>
          <p:nvPr/>
        </p:nvSpPr>
        <p:spPr>
          <a:xfrm>
            <a:off x="9436608" y="3017520"/>
            <a:ext cx="7589520" cy="5943600"/>
          </a:xfrm>
          <a:prstGeom prst="roundRect">
            <a:avLst>
              <a:gd name="adj" fmla="val 430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93808" y="2468879"/>
            <a:ext cx="1097280" cy="109728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lendar_w.png"/>
          <p:cNvPicPr>
            <a:picLocks noChangeAspect="1"/>
          </p:cNvPicPr>
          <p:nvPr/>
        </p:nvPicPr>
        <p:blipFill>
          <a:blip r:embed="rId3"/>
          <a:stretch>
            <a:fillRect/>
          </a:stretch>
        </p:blipFill>
        <p:spPr>
          <a:xfrm>
            <a:off x="10157155" y="2732227"/>
            <a:ext cx="570585" cy="570585"/>
          </a:xfrm>
          <a:prstGeom prst="rect">
            <a:avLst/>
          </a:prstGeom>
        </p:spPr>
      </p:pic>
      <p:sp>
        <p:nvSpPr>
          <p:cNvPr id="13" name="TextBox 12"/>
          <p:cNvSpPr txBox="1"/>
          <p:nvPr/>
        </p:nvSpPr>
        <p:spPr>
          <a:xfrm>
            <a:off x="9848088" y="3794760"/>
            <a:ext cx="6766560" cy="457200"/>
          </a:xfrm>
          <a:prstGeom prst="rect">
            <a:avLst/>
          </a:prstGeom>
          <a:noFill/>
        </p:spPr>
        <p:txBody>
          <a:bodyPr wrap="square" lIns="45720" tIns="27432" rIns="45720" bIns="27432" anchor="t">
            <a:spAutoFit/>
          </a:bodyPr>
          <a:lstStyle/>
          <a:p>
            <a:pPr algn="l"/>
            <a:r>
              <a:rPr sz="2400">
                <a:solidFill>
                  <a:srgbClr val="262626"/>
                </a:solidFill>
                <a:latin typeface="+mj-lt"/>
              </a:rPr>
              <a:t>What we want the agent to do</a:t>
            </a:r>
          </a:p>
        </p:txBody>
      </p:sp>
      <p:sp>
        <p:nvSpPr>
          <p:cNvPr id="14" name="TextBox 13"/>
          <p:cNvSpPr txBox="1"/>
          <p:nvPr/>
        </p:nvSpPr>
        <p:spPr>
          <a:xfrm>
            <a:off x="9848088" y="4343400"/>
            <a:ext cx="6766560" cy="448056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800">
                <a:solidFill>
                  <a:srgbClr val="262626"/>
                </a:solidFill>
              </a:rPr>
              <a:t>Spot who is likely to miss </a:t>
            </a:r>
            <a:r>
              <a:rPr sz="1800">
                <a:solidFill>
                  <a:srgbClr val="262626"/>
                </a:solidFill>
                <a:latin typeface="+mj-lt"/>
              </a:rPr>
              <a:t>tomorrow's</a:t>
            </a:r>
            <a:r>
              <a:rPr sz="1800">
                <a:solidFill>
                  <a:srgbClr val="262626"/>
                </a:solidFill>
              </a:rPr>
              <a:t> appointment</a:t>
            </a:r>
          </a:p>
          <a:p>
            <a:pPr algn="l" marL="237744" indent="-237744">
              <a:spcAft>
                <a:spcPts val="800"/>
              </a:spcAft>
              <a:buClr>
                <a:srgbClr val="0766D1"/>
              </a:buClr>
              <a:buFont typeface="Arial"/>
              <a:buChar char="•"/>
            </a:pPr>
            <a:r>
              <a:rPr sz="1800">
                <a:solidFill>
                  <a:srgbClr val="262626"/>
                </a:solidFill>
              </a:rPr>
              <a:t>Reach out and confirm, or help them </a:t>
            </a:r>
            <a:r>
              <a:rPr sz="1800">
                <a:solidFill>
                  <a:srgbClr val="262626"/>
                </a:solidFill>
                <a:latin typeface="+mj-lt"/>
              </a:rPr>
              <a:t>reschedule</a:t>
            </a:r>
          </a:p>
          <a:p>
            <a:pPr algn="l" marL="237744" indent="-237744">
              <a:spcAft>
                <a:spcPts val="800"/>
              </a:spcAft>
              <a:buClr>
                <a:srgbClr val="0766D1"/>
              </a:buClr>
              <a:buFont typeface="Arial"/>
              <a:buChar char="•"/>
            </a:pPr>
            <a:r>
              <a:rPr sz="1800">
                <a:solidFill>
                  <a:srgbClr val="262626"/>
                </a:solidFill>
              </a:rPr>
              <a:t>Fill the freed slot from the </a:t>
            </a:r>
            <a:r>
              <a:rPr sz="1800">
                <a:solidFill>
                  <a:srgbClr val="262626"/>
                </a:solidFill>
                <a:latin typeface="+mj-lt"/>
              </a:rPr>
              <a:t>waiting list</a:t>
            </a:r>
          </a:p>
          <a:p>
            <a:pPr algn="l" marL="237744" indent="-237744">
              <a:spcAft>
                <a:spcPts val="800"/>
              </a:spcAft>
              <a:buClr>
                <a:srgbClr val="0766D1"/>
              </a:buClr>
              <a:buFont typeface="Arial"/>
              <a:buChar char="•"/>
            </a:pPr>
            <a:r>
              <a:rPr sz="1800">
                <a:solidFill>
                  <a:srgbClr val="262626"/>
                </a:solidFill>
              </a:rPr>
              <a:t>Hand over to staff when it is unsure or the case is sensitive</a:t>
            </a:r>
          </a:p>
          <a:p>
            <a:pPr algn="l" marL="237744" indent="-237744">
              <a:spcAft>
                <a:spcPts val="800"/>
              </a:spcAft>
              <a:buClr>
                <a:srgbClr val="C00000"/>
              </a:buClr>
              <a:buFont typeface="Arial"/>
              <a:buChar char="•"/>
            </a:pPr>
            <a:r>
              <a:rPr sz="1800">
                <a:solidFill>
                  <a:srgbClr val="262626"/>
                </a:solidFill>
              </a:rPr>
              <a:t>And never make a </a:t>
            </a:r>
            <a:r>
              <a:rPr sz="1800">
                <a:solidFill>
                  <a:srgbClr val="262626"/>
                </a:solidFill>
                <a:latin typeface="+mj-lt"/>
              </a:rPr>
              <a:t>clinical</a:t>
            </a:r>
            <a:r>
              <a:rPr sz="1800">
                <a:solidFill>
                  <a:srgbClr val="262626"/>
                </a:solidFill>
              </a:rPr>
              <a:t> decision</a:t>
            </a:r>
          </a:p>
        </p:txBody>
      </p:sp>
      <p:sp>
        <p:nvSpPr>
          <p:cNvPr id="15" name="TextBox 14"/>
          <p:cNvSpPr txBox="1"/>
          <p:nvPr/>
        </p:nvSpPr>
        <p:spPr>
          <a:xfrm>
            <a:off x="1252728" y="9144000"/>
            <a:ext cx="15773400" cy="365760"/>
          </a:xfrm>
          <a:prstGeom prst="rect">
            <a:avLst/>
          </a:prstGeom>
          <a:noFill/>
        </p:spPr>
        <p:txBody>
          <a:bodyPr wrap="square" lIns="45720" tIns="27432" rIns="45720" bIns="27432" anchor="t">
            <a:spAutoFit/>
          </a:bodyPr>
          <a:lstStyle/>
          <a:p>
            <a:pPr algn="l"/>
            <a:r>
              <a:rPr sz="1300">
                <a:solidFill>
                  <a:srgbClr val="7E889A"/>
                </a:solidFill>
              </a:rPr>
              <a:t>A fictional teaching scenario. The pattern applies to any clinic, any specialty, and most back-office processes.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000"/>
              <a:t>Anatomy of an AI agent</a:t>
            </a:r>
          </a:p>
        </p:txBody>
      </p:sp>
      <p:sp>
        <p:nvSpPr>
          <p:cNvPr id="3" name="Text Placeholder 2"/>
          <p:cNvSpPr>
            <a:spLocks noGrp="1"/>
          </p:cNvSpPr>
          <p:nvPr>
            <p:ph type="body" idx="10" sz="quarter"/>
          </p:nvPr>
        </p:nvSpPr>
        <p:spPr/>
        <p:txBody>
          <a:bodyPr/>
          <a:lstStyle/>
          <a:p>
            <a:r>
              <a:rPr sz="3600"/>
              <a:t>Six parts every agent has, whatever it is built for</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ayers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Anatomy of an AI agent</a:t>
            </a:r>
          </a:p>
        </p:txBody>
      </p:sp>
      <p:sp>
        <p:nvSpPr>
          <p:cNvPr id="3" name="Text Placeholder 2"/>
          <p:cNvSpPr>
            <a:spLocks noGrp="1"/>
          </p:cNvSpPr>
          <p:nvPr>
            <p:ph type="body" idx="10" sz="quarter"/>
          </p:nvPr>
        </p:nvSpPr>
        <p:spPr/>
        <p:txBody>
          <a:bodyPr/>
          <a:lstStyle/>
          <a:p>
            <a:r>
              <a:rPr sz="3000"/>
              <a:t>Six building blocks, and the human is one of them</a:t>
            </a:r>
          </a:p>
        </p:txBody>
      </p:sp>
      <p:cxnSp>
        <p:nvCxnSpPr>
          <p:cNvPr id="5" name="Connector 4"/>
          <p:cNvCxnSpPr/>
          <p:nvPr/>
        </p:nvCxnSpPr>
        <p:spPr>
          <a:xfrm>
            <a:off x="6922008" y="3680460"/>
            <a:ext cx="804671" cy="249174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252728" y="2743200"/>
            <a:ext cx="5669280" cy="1874519"/>
          </a:xfrm>
          <a:prstGeom prst="roundRect">
            <a:avLst>
              <a:gd name="adj" fmla="val 136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18488" y="3177540"/>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oal_w.png"/>
          <p:cNvPicPr>
            <a:picLocks noChangeAspect="1"/>
          </p:cNvPicPr>
          <p:nvPr/>
        </p:nvPicPr>
        <p:blipFill>
          <a:blip r:embed="rId2"/>
          <a:stretch>
            <a:fillRect/>
          </a:stretch>
        </p:blipFill>
        <p:spPr>
          <a:xfrm>
            <a:off x="1859889" y="3418941"/>
            <a:ext cx="523036" cy="523036"/>
          </a:xfrm>
          <a:prstGeom prst="rect">
            <a:avLst/>
          </a:prstGeom>
        </p:spPr>
      </p:pic>
      <p:sp>
        <p:nvSpPr>
          <p:cNvPr id="9" name="TextBox 8"/>
          <p:cNvSpPr txBox="1"/>
          <p:nvPr/>
        </p:nvSpPr>
        <p:spPr>
          <a:xfrm>
            <a:off x="2852928" y="3044952"/>
            <a:ext cx="3840480" cy="457200"/>
          </a:xfrm>
          <a:prstGeom prst="rect">
            <a:avLst/>
          </a:prstGeom>
          <a:noFill/>
        </p:spPr>
        <p:txBody>
          <a:bodyPr wrap="square" lIns="45720" tIns="27432" rIns="45720" bIns="27432" anchor="t">
            <a:spAutoFit/>
          </a:bodyPr>
          <a:lstStyle/>
          <a:p>
            <a:pPr algn="l"/>
            <a:r>
              <a:rPr sz="2200">
                <a:solidFill>
                  <a:srgbClr val="262626"/>
                </a:solidFill>
                <a:latin typeface="+mj-lt"/>
              </a:rPr>
              <a:t>1  Goal</a:t>
            </a:r>
          </a:p>
        </p:txBody>
      </p:sp>
      <p:sp>
        <p:nvSpPr>
          <p:cNvPr id="10" name="TextBox 9"/>
          <p:cNvSpPr txBox="1"/>
          <p:nvPr/>
        </p:nvSpPr>
        <p:spPr>
          <a:xfrm>
            <a:off x="2852928" y="3547872"/>
            <a:ext cx="3840480" cy="914400"/>
          </a:xfrm>
          <a:prstGeom prst="rect">
            <a:avLst/>
          </a:prstGeom>
          <a:noFill/>
        </p:spPr>
        <p:txBody>
          <a:bodyPr wrap="square" lIns="45720" tIns="27432" rIns="45720" bIns="27432" anchor="t">
            <a:spAutoFit/>
          </a:bodyPr>
          <a:lstStyle/>
          <a:p>
            <a:pPr algn="l"/>
            <a:r>
              <a:rPr sz="1500">
                <a:solidFill>
                  <a:srgbClr val="262626"/>
                </a:solidFill>
              </a:rPr>
              <a:t>What it must achieve, and what it must never do</a:t>
            </a:r>
          </a:p>
        </p:txBody>
      </p:sp>
      <p:cxnSp>
        <p:nvCxnSpPr>
          <p:cNvPr id="11" name="Connector 10"/>
          <p:cNvCxnSpPr/>
          <p:nvPr/>
        </p:nvCxnSpPr>
        <p:spPr>
          <a:xfrm>
            <a:off x="6922008" y="6012179"/>
            <a:ext cx="804671" cy="160021"/>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52728" y="5074920"/>
            <a:ext cx="5669280" cy="1874519"/>
          </a:xfrm>
          <a:prstGeom prst="roundRect">
            <a:avLst>
              <a:gd name="adj" fmla="val 136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18488" y="5509259"/>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lanning_w.png"/>
          <p:cNvPicPr>
            <a:picLocks noChangeAspect="1"/>
          </p:cNvPicPr>
          <p:nvPr/>
        </p:nvPicPr>
        <p:blipFill>
          <a:blip r:embed="rId3"/>
          <a:stretch>
            <a:fillRect/>
          </a:stretch>
        </p:blipFill>
        <p:spPr>
          <a:xfrm>
            <a:off x="1859889" y="5750661"/>
            <a:ext cx="523036" cy="523036"/>
          </a:xfrm>
          <a:prstGeom prst="rect">
            <a:avLst/>
          </a:prstGeom>
        </p:spPr>
      </p:pic>
      <p:sp>
        <p:nvSpPr>
          <p:cNvPr id="15" name="TextBox 14"/>
          <p:cNvSpPr txBox="1"/>
          <p:nvPr/>
        </p:nvSpPr>
        <p:spPr>
          <a:xfrm>
            <a:off x="2852928" y="5376672"/>
            <a:ext cx="3840480" cy="457200"/>
          </a:xfrm>
          <a:prstGeom prst="rect">
            <a:avLst/>
          </a:prstGeom>
          <a:noFill/>
        </p:spPr>
        <p:txBody>
          <a:bodyPr wrap="square" lIns="45720" tIns="27432" rIns="45720" bIns="27432" anchor="t">
            <a:spAutoFit/>
          </a:bodyPr>
          <a:lstStyle/>
          <a:p>
            <a:pPr algn="l"/>
            <a:r>
              <a:rPr sz="2200">
                <a:solidFill>
                  <a:srgbClr val="262626"/>
                </a:solidFill>
                <a:latin typeface="+mj-lt"/>
              </a:rPr>
              <a:t>2  Planning</a:t>
            </a:r>
          </a:p>
        </p:txBody>
      </p:sp>
      <p:sp>
        <p:nvSpPr>
          <p:cNvPr id="16" name="TextBox 15"/>
          <p:cNvSpPr txBox="1"/>
          <p:nvPr/>
        </p:nvSpPr>
        <p:spPr>
          <a:xfrm>
            <a:off x="2852928" y="5879592"/>
            <a:ext cx="3840480" cy="914400"/>
          </a:xfrm>
          <a:prstGeom prst="rect">
            <a:avLst/>
          </a:prstGeom>
          <a:noFill/>
        </p:spPr>
        <p:txBody>
          <a:bodyPr wrap="square" lIns="45720" tIns="27432" rIns="45720" bIns="27432" anchor="t">
            <a:spAutoFit/>
          </a:bodyPr>
          <a:lstStyle/>
          <a:p>
            <a:pPr algn="l"/>
            <a:r>
              <a:rPr sz="1500">
                <a:solidFill>
                  <a:srgbClr val="262626"/>
                </a:solidFill>
              </a:rPr>
              <a:t>How it breaks the goal into steps and adapts them</a:t>
            </a:r>
          </a:p>
        </p:txBody>
      </p:sp>
      <p:cxnSp>
        <p:nvCxnSpPr>
          <p:cNvPr id="17" name="Connector 16"/>
          <p:cNvCxnSpPr/>
          <p:nvPr/>
        </p:nvCxnSpPr>
        <p:spPr>
          <a:xfrm flipV="1">
            <a:off x="6922008" y="6172200"/>
            <a:ext cx="804671" cy="217170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252728" y="7406640"/>
            <a:ext cx="5669280" cy="1874519"/>
          </a:xfrm>
          <a:prstGeom prst="roundRect">
            <a:avLst>
              <a:gd name="adj" fmla="val 136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618488" y="7840979"/>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knowledge_w.png"/>
          <p:cNvPicPr>
            <a:picLocks noChangeAspect="1"/>
          </p:cNvPicPr>
          <p:nvPr/>
        </p:nvPicPr>
        <p:blipFill>
          <a:blip r:embed="rId4"/>
          <a:stretch>
            <a:fillRect/>
          </a:stretch>
        </p:blipFill>
        <p:spPr>
          <a:xfrm>
            <a:off x="1859889" y="8082381"/>
            <a:ext cx="523036" cy="523036"/>
          </a:xfrm>
          <a:prstGeom prst="rect">
            <a:avLst/>
          </a:prstGeom>
        </p:spPr>
      </p:pic>
      <p:sp>
        <p:nvSpPr>
          <p:cNvPr id="21" name="TextBox 20"/>
          <p:cNvSpPr txBox="1"/>
          <p:nvPr/>
        </p:nvSpPr>
        <p:spPr>
          <a:xfrm>
            <a:off x="2852928" y="7708392"/>
            <a:ext cx="3840480" cy="457200"/>
          </a:xfrm>
          <a:prstGeom prst="rect">
            <a:avLst/>
          </a:prstGeom>
          <a:noFill/>
        </p:spPr>
        <p:txBody>
          <a:bodyPr wrap="square" lIns="45720" tIns="27432" rIns="45720" bIns="27432" anchor="t">
            <a:spAutoFit/>
          </a:bodyPr>
          <a:lstStyle/>
          <a:p>
            <a:pPr algn="l"/>
            <a:r>
              <a:rPr sz="2200">
                <a:solidFill>
                  <a:srgbClr val="262626"/>
                </a:solidFill>
                <a:latin typeface="+mj-lt"/>
              </a:rPr>
              <a:t>3  Knowledge</a:t>
            </a:r>
          </a:p>
        </p:txBody>
      </p:sp>
      <p:sp>
        <p:nvSpPr>
          <p:cNvPr id="22" name="TextBox 21"/>
          <p:cNvSpPr txBox="1"/>
          <p:nvPr/>
        </p:nvSpPr>
        <p:spPr>
          <a:xfrm>
            <a:off x="2852928" y="8211312"/>
            <a:ext cx="3840480" cy="914400"/>
          </a:xfrm>
          <a:prstGeom prst="rect">
            <a:avLst/>
          </a:prstGeom>
          <a:noFill/>
        </p:spPr>
        <p:txBody>
          <a:bodyPr wrap="square" lIns="45720" tIns="27432" rIns="45720" bIns="27432" anchor="t">
            <a:spAutoFit/>
          </a:bodyPr>
          <a:lstStyle/>
          <a:p>
            <a:pPr algn="l"/>
            <a:r>
              <a:rPr sz="1500">
                <a:solidFill>
                  <a:srgbClr val="262626"/>
                </a:solidFill>
              </a:rPr>
              <a:t>What it knows: data, documents, memory</a:t>
            </a:r>
          </a:p>
        </p:txBody>
      </p:sp>
      <p:cxnSp>
        <p:nvCxnSpPr>
          <p:cNvPr id="23" name="Connector 22"/>
          <p:cNvCxnSpPr/>
          <p:nvPr/>
        </p:nvCxnSpPr>
        <p:spPr>
          <a:xfrm flipH="1">
            <a:off x="10561320" y="3680460"/>
            <a:ext cx="795528" cy="249174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1356848" y="2743200"/>
            <a:ext cx="5669280" cy="1874519"/>
          </a:xfrm>
          <a:prstGeom prst="roundRect">
            <a:avLst>
              <a:gd name="adj" fmla="val 136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722608" y="3177540"/>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tools_w.png"/>
          <p:cNvPicPr>
            <a:picLocks noChangeAspect="1"/>
          </p:cNvPicPr>
          <p:nvPr/>
        </p:nvPicPr>
        <p:blipFill>
          <a:blip r:embed="rId5"/>
          <a:stretch>
            <a:fillRect/>
          </a:stretch>
        </p:blipFill>
        <p:spPr>
          <a:xfrm>
            <a:off x="11964009" y="3418941"/>
            <a:ext cx="523036" cy="523036"/>
          </a:xfrm>
          <a:prstGeom prst="rect">
            <a:avLst/>
          </a:prstGeom>
        </p:spPr>
      </p:pic>
      <p:sp>
        <p:nvSpPr>
          <p:cNvPr id="27" name="TextBox 26"/>
          <p:cNvSpPr txBox="1"/>
          <p:nvPr/>
        </p:nvSpPr>
        <p:spPr>
          <a:xfrm>
            <a:off x="12957048" y="3044952"/>
            <a:ext cx="3840480" cy="457200"/>
          </a:xfrm>
          <a:prstGeom prst="rect">
            <a:avLst/>
          </a:prstGeom>
          <a:noFill/>
        </p:spPr>
        <p:txBody>
          <a:bodyPr wrap="square" lIns="45720" tIns="27432" rIns="45720" bIns="27432" anchor="t">
            <a:spAutoFit/>
          </a:bodyPr>
          <a:lstStyle/>
          <a:p>
            <a:pPr algn="l"/>
            <a:r>
              <a:rPr sz="2200">
                <a:solidFill>
                  <a:srgbClr val="262626"/>
                </a:solidFill>
                <a:latin typeface="+mj-lt"/>
              </a:rPr>
              <a:t>4  Tools</a:t>
            </a:r>
          </a:p>
        </p:txBody>
      </p:sp>
      <p:sp>
        <p:nvSpPr>
          <p:cNvPr id="28" name="TextBox 27"/>
          <p:cNvSpPr txBox="1"/>
          <p:nvPr/>
        </p:nvSpPr>
        <p:spPr>
          <a:xfrm>
            <a:off x="12957048" y="3547872"/>
            <a:ext cx="3840480" cy="914400"/>
          </a:xfrm>
          <a:prstGeom prst="rect">
            <a:avLst/>
          </a:prstGeom>
          <a:noFill/>
        </p:spPr>
        <p:txBody>
          <a:bodyPr wrap="square" lIns="45720" tIns="27432" rIns="45720" bIns="27432" anchor="t">
            <a:spAutoFit/>
          </a:bodyPr>
          <a:lstStyle/>
          <a:p>
            <a:pPr algn="l"/>
            <a:r>
              <a:rPr sz="1500">
                <a:solidFill>
                  <a:srgbClr val="262626"/>
                </a:solidFill>
              </a:rPr>
              <a:t>What it can use: systems, models, rules, channels</a:t>
            </a:r>
          </a:p>
        </p:txBody>
      </p:sp>
      <p:cxnSp>
        <p:nvCxnSpPr>
          <p:cNvPr id="29" name="Connector 28"/>
          <p:cNvCxnSpPr/>
          <p:nvPr/>
        </p:nvCxnSpPr>
        <p:spPr>
          <a:xfrm flipH="1">
            <a:off x="10561320" y="6012179"/>
            <a:ext cx="795528" cy="160021"/>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1356848" y="5074920"/>
            <a:ext cx="5669280" cy="1874519"/>
          </a:xfrm>
          <a:prstGeom prst="roundRect">
            <a:avLst>
              <a:gd name="adj" fmla="val 136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722608" y="5509259"/>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actions_w.png"/>
          <p:cNvPicPr>
            <a:picLocks noChangeAspect="1"/>
          </p:cNvPicPr>
          <p:nvPr/>
        </p:nvPicPr>
        <p:blipFill>
          <a:blip r:embed="rId6"/>
          <a:stretch>
            <a:fillRect/>
          </a:stretch>
        </p:blipFill>
        <p:spPr>
          <a:xfrm>
            <a:off x="11964009" y="5750661"/>
            <a:ext cx="523036" cy="523036"/>
          </a:xfrm>
          <a:prstGeom prst="rect">
            <a:avLst/>
          </a:prstGeom>
        </p:spPr>
      </p:pic>
      <p:sp>
        <p:nvSpPr>
          <p:cNvPr id="33" name="TextBox 32"/>
          <p:cNvSpPr txBox="1"/>
          <p:nvPr/>
        </p:nvSpPr>
        <p:spPr>
          <a:xfrm>
            <a:off x="12957048" y="5376672"/>
            <a:ext cx="3840480" cy="457200"/>
          </a:xfrm>
          <a:prstGeom prst="rect">
            <a:avLst/>
          </a:prstGeom>
          <a:noFill/>
        </p:spPr>
        <p:txBody>
          <a:bodyPr wrap="square" lIns="45720" tIns="27432" rIns="45720" bIns="27432" anchor="t">
            <a:spAutoFit/>
          </a:bodyPr>
          <a:lstStyle/>
          <a:p>
            <a:pPr algn="l"/>
            <a:r>
              <a:rPr sz="2200">
                <a:solidFill>
                  <a:srgbClr val="262626"/>
                </a:solidFill>
                <a:latin typeface="+mj-lt"/>
              </a:rPr>
              <a:t>5  Actions</a:t>
            </a:r>
          </a:p>
        </p:txBody>
      </p:sp>
      <p:sp>
        <p:nvSpPr>
          <p:cNvPr id="34" name="TextBox 33"/>
          <p:cNvSpPr txBox="1"/>
          <p:nvPr/>
        </p:nvSpPr>
        <p:spPr>
          <a:xfrm>
            <a:off x="12957048" y="5879592"/>
            <a:ext cx="3840480" cy="914400"/>
          </a:xfrm>
          <a:prstGeom prst="rect">
            <a:avLst/>
          </a:prstGeom>
          <a:noFill/>
        </p:spPr>
        <p:txBody>
          <a:bodyPr wrap="square" lIns="45720" tIns="27432" rIns="45720" bIns="27432" anchor="t">
            <a:spAutoFit/>
          </a:bodyPr>
          <a:lstStyle/>
          <a:p>
            <a:pPr algn="l"/>
            <a:r>
              <a:rPr sz="1500">
                <a:solidFill>
                  <a:srgbClr val="262626"/>
                </a:solidFill>
              </a:rPr>
              <a:t>What it actually does in the real world</a:t>
            </a:r>
          </a:p>
        </p:txBody>
      </p:sp>
      <p:cxnSp>
        <p:nvCxnSpPr>
          <p:cNvPr id="35" name="Connector 34"/>
          <p:cNvCxnSpPr/>
          <p:nvPr/>
        </p:nvCxnSpPr>
        <p:spPr>
          <a:xfrm flipH="1" flipV="1">
            <a:off x="10561320" y="6172200"/>
            <a:ext cx="795528" cy="217170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1356848" y="7406640"/>
            <a:ext cx="5669280" cy="1874519"/>
          </a:xfrm>
          <a:prstGeom prst="roundRect">
            <a:avLst>
              <a:gd name="adj" fmla="val 136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722608" y="7840979"/>
            <a:ext cx="1005840" cy="100584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oversight_w.png"/>
          <p:cNvPicPr>
            <a:picLocks noChangeAspect="1"/>
          </p:cNvPicPr>
          <p:nvPr/>
        </p:nvPicPr>
        <p:blipFill>
          <a:blip r:embed="rId7"/>
          <a:stretch>
            <a:fillRect/>
          </a:stretch>
        </p:blipFill>
        <p:spPr>
          <a:xfrm>
            <a:off x="11964009" y="8082381"/>
            <a:ext cx="523036" cy="523036"/>
          </a:xfrm>
          <a:prstGeom prst="rect">
            <a:avLst/>
          </a:prstGeom>
        </p:spPr>
      </p:pic>
      <p:sp>
        <p:nvSpPr>
          <p:cNvPr id="39" name="TextBox 38"/>
          <p:cNvSpPr txBox="1"/>
          <p:nvPr/>
        </p:nvSpPr>
        <p:spPr>
          <a:xfrm>
            <a:off x="12957048" y="7708392"/>
            <a:ext cx="3840480" cy="457200"/>
          </a:xfrm>
          <a:prstGeom prst="rect">
            <a:avLst/>
          </a:prstGeom>
          <a:noFill/>
        </p:spPr>
        <p:txBody>
          <a:bodyPr wrap="square" lIns="45720" tIns="27432" rIns="45720" bIns="27432" anchor="t">
            <a:spAutoFit/>
          </a:bodyPr>
          <a:lstStyle/>
          <a:p>
            <a:pPr algn="l"/>
            <a:r>
              <a:rPr sz="2200">
                <a:solidFill>
                  <a:srgbClr val="262626"/>
                </a:solidFill>
                <a:latin typeface="+mj-lt"/>
              </a:rPr>
              <a:t>6  Human oversight</a:t>
            </a:r>
          </a:p>
        </p:txBody>
      </p:sp>
      <p:sp>
        <p:nvSpPr>
          <p:cNvPr id="40" name="TextBox 39"/>
          <p:cNvSpPr txBox="1"/>
          <p:nvPr/>
        </p:nvSpPr>
        <p:spPr>
          <a:xfrm>
            <a:off x="12957048" y="8211312"/>
            <a:ext cx="3840480" cy="914400"/>
          </a:xfrm>
          <a:prstGeom prst="rect">
            <a:avLst/>
          </a:prstGeom>
          <a:noFill/>
        </p:spPr>
        <p:txBody>
          <a:bodyPr wrap="square" lIns="45720" tIns="27432" rIns="45720" bIns="27432" anchor="t">
            <a:spAutoFit/>
          </a:bodyPr>
          <a:lstStyle/>
          <a:p>
            <a:pPr algn="l"/>
            <a:r>
              <a:rPr sz="1500">
                <a:solidFill>
                  <a:srgbClr val="262626"/>
                </a:solidFill>
              </a:rPr>
              <a:t>Where people set limits, approve and review</a:t>
            </a:r>
          </a:p>
        </p:txBody>
      </p:sp>
      <p:sp>
        <p:nvSpPr>
          <p:cNvPr id="41" name="Oval 40"/>
          <p:cNvSpPr/>
          <p:nvPr/>
        </p:nvSpPr>
        <p:spPr>
          <a:xfrm>
            <a:off x="7726679" y="4754880"/>
            <a:ext cx="2834640" cy="28346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886700" y="4914900"/>
            <a:ext cx="2514600" cy="2514600"/>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55279" y="5532120"/>
            <a:ext cx="2377440" cy="1280160"/>
          </a:xfrm>
          <a:prstGeom prst="rect">
            <a:avLst/>
          </a:prstGeom>
          <a:noFill/>
        </p:spPr>
        <p:txBody>
          <a:bodyPr wrap="square" lIns="45720" tIns="27432" rIns="45720" bIns="27432" anchor="ctr">
            <a:spAutoFit/>
          </a:bodyPr>
          <a:lstStyle/>
          <a:p>
            <a:pPr algn="ctr"/>
            <a:r>
              <a:rPr sz="2200">
                <a:solidFill>
                  <a:srgbClr val="FFFFFF"/>
                </a:solidFill>
                <a:latin typeface="+mj-lt"/>
              </a:rPr>
              <a:t>AI AGENT</a:t>
            </a:r>
          </a:p>
          <a:p>
            <a:pPr algn="ctr"/>
            <a:r>
              <a:rPr sz="1300">
                <a:solidFill>
                  <a:srgbClr val="FFFFFF"/>
                </a:solidFill>
                <a:latin typeface="+mj-lt"/>
              </a:rPr>
              <a:t>a system, not a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1 · Goal</a:t>
            </a:r>
          </a:p>
        </p:txBody>
      </p:sp>
      <p:sp>
        <p:nvSpPr>
          <p:cNvPr id="3" name="Text Placeholder 2"/>
          <p:cNvSpPr>
            <a:spLocks noGrp="1"/>
          </p:cNvSpPr>
          <p:nvPr>
            <p:ph type="body" idx="10" sz="quarter"/>
          </p:nvPr>
        </p:nvSpPr>
        <p:spPr/>
        <p:txBody>
          <a:bodyPr/>
          <a:lstStyle/>
          <a:p>
            <a:r>
              <a:rPr sz="3000"/>
              <a:t>What the agent is trying to achieve, and what it must never do</a:t>
            </a:r>
          </a:p>
        </p:txBody>
      </p:sp>
      <p:sp>
        <p:nvSpPr>
          <p:cNvPr id="5" name="Rounded Rectangle 4"/>
          <p:cNvSpPr/>
          <p:nvPr/>
        </p:nvSpPr>
        <p:spPr>
          <a:xfrm>
            <a:off x="1252728" y="2743200"/>
            <a:ext cx="5120640" cy="6537960"/>
          </a:xfrm>
          <a:prstGeom prst="roundRect">
            <a:avLst>
              <a:gd name="adj" fmla="val 500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18488" y="3063240"/>
            <a:ext cx="4480560" cy="457200"/>
          </a:xfrm>
          <a:prstGeom prst="rect">
            <a:avLst/>
          </a:prstGeom>
          <a:noFill/>
        </p:spPr>
        <p:txBody>
          <a:bodyPr wrap="square" lIns="45720" tIns="27432" rIns="45720" bIns="27432" anchor="t">
            <a:spAutoFit/>
          </a:bodyPr>
          <a:lstStyle/>
          <a:p>
            <a:pPr algn="l"/>
            <a:r>
              <a:rPr sz="2200">
                <a:solidFill>
                  <a:srgbClr val="0766D1"/>
                </a:solidFill>
                <a:latin typeface="+mj-lt"/>
              </a:rPr>
              <a:t>A good goal is…</a:t>
            </a:r>
          </a:p>
        </p:txBody>
      </p:sp>
      <p:sp>
        <p:nvSpPr>
          <p:cNvPr id="7" name="Oval 6"/>
          <p:cNvSpPr/>
          <p:nvPr/>
        </p:nvSpPr>
        <p:spPr>
          <a:xfrm>
            <a:off x="1618488" y="3840480"/>
            <a:ext cx="603504" cy="60350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oal_w.png"/>
          <p:cNvPicPr>
            <a:picLocks noChangeAspect="1"/>
          </p:cNvPicPr>
          <p:nvPr/>
        </p:nvPicPr>
        <p:blipFill>
          <a:blip r:embed="rId2"/>
          <a:stretch>
            <a:fillRect/>
          </a:stretch>
        </p:blipFill>
        <p:spPr>
          <a:xfrm>
            <a:off x="1754276" y="3976268"/>
            <a:ext cx="331927" cy="331927"/>
          </a:xfrm>
          <a:prstGeom prst="rect">
            <a:avLst/>
          </a:prstGeom>
        </p:spPr>
      </p:pic>
      <p:sp>
        <p:nvSpPr>
          <p:cNvPr id="9" name="TextBox 8"/>
          <p:cNvSpPr txBox="1"/>
          <p:nvPr/>
        </p:nvSpPr>
        <p:spPr>
          <a:xfrm>
            <a:off x="2423160" y="3785616"/>
            <a:ext cx="3675888" cy="384048"/>
          </a:xfrm>
          <a:prstGeom prst="rect">
            <a:avLst/>
          </a:prstGeom>
          <a:noFill/>
        </p:spPr>
        <p:txBody>
          <a:bodyPr wrap="square" lIns="45720" tIns="27432" rIns="45720" bIns="27432" anchor="t">
            <a:spAutoFit/>
          </a:bodyPr>
          <a:lstStyle/>
          <a:p>
            <a:pPr algn="l"/>
            <a:r>
              <a:rPr sz="1800">
                <a:solidFill>
                  <a:srgbClr val="262626"/>
                </a:solidFill>
                <a:latin typeface="+mj-lt"/>
              </a:rPr>
              <a:t>Specific</a:t>
            </a:r>
          </a:p>
        </p:txBody>
      </p:sp>
      <p:sp>
        <p:nvSpPr>
          <p:cNvPr id="10" name="TextBox 9"/>
          <p:cNvSpPr txBox="1"/>
          <p:nvPr/>
        </p:nvSpPr>
        <p:spPr>
          <a:xfrm>
            <a:off x="2423160" y="4151376"/>
            <a:ext cx="3675888" cy="1060704"/>
          </a:xfrm>
          <a:prstGeom prst="rect">
            <a:avLst/>
          </a:prstGeom>
          <a:noFill/>
        </p:spPr>
        <p:txBody>
          <a:bodyPr wrap="square" lIns="45720" tIns="27432" rIns="45720" bIns="27432" anchor="t">
            <a:spAutoFit/>
          </a:bodyPr>
          <a:lstStyle/>
          <a:p>
            <a:pPr algn="l"/>
            <a:r>
              <a:rPr sz="1500">
                <a:solidFill>
                  <a:srgbClr val="262626"/>
                </a:solidFill>
              </a:rPr>
              <a:t>Which outcome, for whom, by when</a:t>
            </a:r>
          </a:p>
        </p:txBody>
      </p:sp>
      <p:sp>
        <p:nvSpPr>
          <p:cNvPr id="11" name="Oval 10"/>
          <p:cNvSpPr/>
          <p:nvPr/>
        </p:nvSpPr>
        <p:spPr>
          <a:xfrm>
            <a:off x="1618488" y="5532120"/>
            <a:ext cx="603504" cy="60350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gauge_w.png"/>
          <p:cNvPicPr>
            <a:picLocks noChangeAspect="1"/>
          </p:cNvPicPr>
          <p:nvPr/>
        </p:nvPicPr>
        <p:blipFill>
          <a:blip r:embed="rId3"/>
          <a:stretch>
            <a:fillRect/>
          </a:stretch>
        </p:blipFill>
        <p:spPr>
          <a:xfrm>
            <a:off x="1754276" y="5667908"/>
            <a:ext cx="331927" cy="331927"/>
          </a:xfrm>
          <a:prstGeom prst="rect">
            <a:avLst/>
          </a:prstGeom>
        </p:spPr>
      </p:pic>
      <p:sp>
        <p:nvSpPr>
          <p:cNvPr id="13" name="TextBox 12"/>
          <p:cNvSpPr txBox="1"/>
          <p:nvPr/>
        </p:nvSpPr>
        <p:spPr>
          <a:xfrm>
            <a:off x="2423160" y="5477256"/>
            <a:ext cx="3675888" cy="384048"/>
          </a:xfrm>
          <a:prstGeom prst="rect">
            <a:avLst/>
          </a:prstGeom>
          <a:noFill/>
        </p:spPr>
        <p:txBody>
          <a:bodyPr wrap="square" lIns="45720" tIns="27432" rIns="45720" bIns="27432" anchor="t">
            <a:spAutoFit/>
          </a:bodyPr>
          <a:lstStyle/>
          <a:p>
            <a:pPr algn="l"/>
            <a:r>
              <a:rPr sz="1800">
                <a:solidFill>
                  <a:srgbClr val="262626"/>
                </a:solidFill>
                <a:latin typeface="+mj-lt"/>
              </a:rPr>
              <a:t>Measurable</a:t>
            </a:r>
          </a:p>
        </p:txBody>
      </p:sp>
      <p:sp>
        <p:nvSpPr>
          <p:cNvPr id="14" name="TextBox 13"/>
          <p:cNvSpPr txBox="1"/>
          <p:nvPr/>
        </p:nvSpPr>
        <p:spPr>
          <a:xfrm>
            <a:off x="2423160" y="5843016"/>
            <a:ext cx="3675888" cy="1060704"/>
          </a:xfrm>
          <a:prstGeom prst="rect">
            <a:avLst/>
          </a:prstGeom>
          <a:noFill/>
        </p:spPr>
        <p:txBody>
          <a:bodyPr wrap="square" lIns="45720" tIns="27432" rIns="45720" bIns="27432" anchor="t">
            <a:spAutoFit/>
          </a:bodyPr>
          <a:lstStyle/>
          <a:p>
            <a:pPr algn="l"/>
            <a:r>
              <a:rPr sz="1500">
                <a:solidFill>
                  <a:srgbClr val="262626"/>
                </a:solidFill>
              </a:rPr>
              <a:t>How we will know the agent succeeded</a:t>
            </a:r>
          </a:p>
        </p:txBody>
      </p:sp>
      <p:sp>
        <p:nvSpPr>
          <p:cNvPr id="15" name="Oval 14"/>
          <p:cNvSpPr/>
          <p:nvPr/>
        </p:nvSpPr>
        <p:spPr>
          <a:xfrm>
            <a:off x="1618488" y="7223760"/>
            <a:ext cx="603504" cy="60350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ence_w.png"/>
          <p:cNvPicPr>
            <a:picLocks noChangeAspect="1"/>
          </p:cNvPicPr>
          <p:nvPr/>
        </p:nvPicPr>
        <p:blipFill>
          <a:blip r:embed="rId4"/>
          <a:stretch>
            <a:fillRect/>
          </a:stretch>
        </p:blipFill>
        <p:spPr>
          <a:xfrm>
            <a:off x="1754276" y="7359548"/>
            <a:ext cx="331927" cy="331927"/>
          </a:xfrm>
          <a:prstGeom prst="rect">
            <a:avLst/>
          </a:prstGeom>
        </p:spPr>
      </p:pic>
      <p:sp>
        <p:nvSpPr>
          <p:cNvPr id="17" name="TextBox 16"/>
          <p:cNvSpPr txBox="1"/>
          <p:nvPr/>
        </p:nvSpPr>
        <p:spPr>
          <a:xfrm>
            <a:off x="2423160" y="7168896"/>
            <a:ext cx="3675888" cy="384048"/>
          </a:xfrm>
          <a:prstGeom prst="rect">
            <a:avLst/>
          </a:prstGeom>
          <a:noFill/>
        </p:spPr>
        <p:txBody>
          <a:bodyPr wrap="square" lIns="45720" tIns="27432" rIns="45720" bIns="27432" anchor="t">
            <a:spAutoFit/>
          </a:bodyPr>
          <a:lstStyle/>
          <a:p>
            <a:pPr algn="l"/>
            <a:r>
              <a:rPr sz="1800">
                <a:solidFill>
                  <a:srgbClr val="262626"/>
                </a:solidFill>
                <a:latin typeface="+mj-lt"/>
              </a:rPr>
              <a:t>Bounded</a:t>
            </a:r>
          </a:p>
        </p:txBody>
      </p:sp>
      <p:sp>
        <p:nvSpPr>
          <p:cNvPr id="18" name="TextBox 17"/>
          <p:cNvSpPr txBox="1"/>
          <p:nvPr/>
        </p:nvSpPr>
        <p:spPr>
          <a:xfrm>
            <a:off x="2423160" y="7534656"/>
            <a:ext cx="3675888" cy="1060704"/>
          </a:xfrm>
          <a:prstGeom prst="rect">
            <a:avLst/>
          </a:prstGeom>
          <a:noFill/>
        </p:spPr>
        <p:txBody>
          <a:bodyPr wrap="square" lIns="45720" tIns="27432" rIns="45720" bIns="27432" anchor="t">
            <a:spAutoFit/>
          </a:bodyPr>
          <a:lstStyle/>
          <a:p>
            <a:pPr algn="l"/>
            <a:r>
              <a:rPr sz="1500">
                <a:solidFill>
                  <a:srgbClr val="262626"/>
                </a:solidFill>
              </a:rPr>
              <a:t>What it must never do, written into the goal itself</a:t>
            </a:r>
          </a:p>
        </p:txBody>
      </p:sp>
      <p:sp>
        <p:nvSpPr>
          <p:cNvPr id="19" name="Rounded Rectangle 18"/>
          <p:cNvSpPr/>
          <p:nvPr/>
        </p:nvSpPr>
        <p:spPr>
          <a:xfrm>
            <a:off x="6830568" y="2743200"/>
            <a:ext cx="4892040" cy="5029200"/>
          </a:xfrm>
          <a:prstGeom prst="roundRect">
            <a:avLst>
              <a:gd name="adj" fmla="val 523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04888" y="2971800"/>
            <a:ext cx="731520" cy="7315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x_w.png"/>
          <p:cNvPicPr>
            <a:picLocks noChangeAspect="1"/>
          </p:cNvPicPr>
          <p:nvPr/>
        </p:nvPicPr>
        <p:blipFill>
          <a:blip r:embed="rId5"/>
          <a:stretch>
            <a:fillRect/>
          </a:stretch>
        </p:blipFill>
        <p:spPr>
          <a:xfrm>
            <a:off x="7287768" y="3154679"/>
            <a:ext cx="365760" cy="365760"/>
          </a:xfrm>
          <a:prstGeom prst="rect">
            <a:avLst/>
          </a:prstGeom>
        </p:spPr>
      </p:pic>
      <p:sp>
        <p:nvSpPr>
          <p:cNvPr id="22" name="TextBox 21"/>
          <p:cNvSpPr txBox="1"/>
          <p:nvPr/>
        </p:nvSpPr>
        <p:spPr>
          <a:xfrm>
            <a:off x="7973567" y="3108960"/>
            <a:ext cx="3520440" cy="457200"/>
          </a:xfrm>
          <a:prstGeom prst="rect">
            <a:avLst/>
          </a:prstGeom>
          <a:noFill/>
        </p:spPr>
        <p:txBody>
          <a:bodyPr wrap="square" lIns="45720" tIns="27432" rIns="45720" bIns="27432" anchor="t">
            <a:spAutoFit/>
          </a:bodyPr>
          <a:lstStyle/>
          <a:p>
            <a:pPr algn="l"/>
            <a:r>
              <a:rPr sz="2000">
                <a:solidFill>
                  <a:srgbClr val="262626"/>
                </a:solidFill>
                <a:latin typeface="+mj-lt"/>
              </a:rPr>
              <a:t>Weak goal</a:t>
            </a:r>
          </a:p>
        </p:txBody>
      </p:sp>
      <p:sp>
        <p:nvSpPr>
          <p:cNvPr id="23" name="TextBox 22"/>
          <p:cNvSpPr txBox="1"/>
          <p:nvPr/>
        </p:nvSpPr>
        <p:spPr>
          <a:xfrm>
            <a:off x="7196328" y="4069080"/>
            <a:ext cx="4160520" cy="3474720"/>
          </a:xfrm>
          <a:prstGeom prst="rect">
            <a:avLst/>
          </a:prstGeom>
          <a:noFill/>
        </p:spPr>
        <p:txBody>
          <a:bodyPr wrap="square" lIns="45720" tIns="27432" rIns="45720" bIns="27432" anchor="t">
            <a:spAutoFit/>
          </a:bodyPr>
          <a:lstStyle/>
          <a:p>
            <a:pPr algn="l"/>
            <a:r>
              <a:rPr sz="2200">
                <a:solidFill>
                  <a:srgbClr val="032954"/>
                </a:solidFill>
              </a:rPr>
              <a:t>“Help reduce no-shows.”</a:t>
            </a:r>
          </a:p>
          <a:p>
            <a:pPr algn="l">
              <a:spcBef>
                <a:spcPts val="1000"/>
              </a:spcBef>
            </a:pPr>
            <a:r>
              <a:rPr sz="1500">
                <a:solidFill>
                  <a:srgbClr val="032954"/>
                </a:solidFill>
              </a:rPr>
              <a:t>Nothing says which patients, which clinics, what counts as success, or what the agent may not do. A goal like this leaves the model to guess, and it will.</a:t>
            </a:r>
          </a:p>
        </p:txBody>
      </p:sp>
      <p:sp>
        <p:nvSpPr>
          <p:cNvPr id="24" name="Rounded Rectangle 23"/>
          <p:cNvSpPr/>
          <p:nvPr/>
        </p:nvSpPr>
        <p:spPr>
          <a:xfrm>
            <a:off x="12134088" y="2743200"/>
            <a:ext cx="4892040" cy="5029200"/>
          </a:xfrm>
          <a:prstGeom prst="roundRect">
            <a:avLst>
              <a:gd name="adj" fmla="val 523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408407" y="2971800"/>
            <a:ext cx="731520" cy="731520"/>
          </a:xfrm>
          <a:prstGeom prst="ellipse">
            <a:avLst/>
          </a:prstGeom>
          <a:solidFill>
            <a:srgbClr val="009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heck_w.png"/>
          <p:cNvPicPr>
            <a:picLocks noChangeAspect="1"/>
          </p:cNvPicPr>
          <p:nvPr/>
        </p:nvPicPr>
        <p:blipFill>
          <a:blip r:embed="rId6"/>
          <a:stretch>
            <a:fillRect/>
          </a:stretch>
        </p:blipFill>
        <p:spPr>
          <a:xfrm>
            <a:off x="12591288" y="3154679"/>
            <a:ext cx="365760" cy="365760"/>
          </a:xfrm>
          <a:prstGeom prst="rect">
            <a:avLst/>
          </a:prstGeom>
        </p:spPr>
      </p:pic>
      <p:sp>
        <p:nvSpPr>
          <p:cNvPr id="27" name="TextBox 26"/>
          <p:cNvSpPr txBox="1"/>
          <p:nvPr/>
        </p:nvSpPr>
        <p:spPr>
          <a:xfrm>
            <a:off x="13277088" y="3108960"/>
            <a:ext cx="3520440" cy="457200"/>
          </a:xfrm>
          <a:prstGeom prst="rect">
            <a:avLst/>
          </a:prstGeom>
          <a:noFill/>
        </p:spPr>
        <p:txBody>
          <a:bodyPr wrap="square" lIns="45720" tIns="27432" rIns="45720" bIns="27432" anchor="t">
            <a:spAutoFit/>
          </a:bodyPr>
          <a:lstStyle/>
          <a:p>
            <a:pPr algn="l"/>
            <a:r>
              <a:rPr sz="2000">
                <a:solidFill>
                  <a:srgbClr val="262626"/>
                </a:solidFill>
                <a:latin typeface="+mj-lt"/>
              </a:rPr>
              <a:t>Strong goal</a:t>
            </a:r>
          </a:p>
        </p:txBody>
      </p:sp>
      <p:sp>
        <p:nvSpPr>
          <p:cNvPr id="28" name="TextBox 27"/>
          <p:cNvSpPr txBox="1"/>
          <p:nvPr/>
        </p:nvSpPr>
        <p:spPr>
          <a:xfrm>
            <a:off x="12499848" y="4069080"/>
            <a:ext cx="4160520" cy="3566160"/>
          </a:xfrm>
          <a:prstGeom prst="rect">
            <a:avLst/>
          </a:prstGeom>
          <a:noFill/>
        </p:spPr>
        <p:txBody>
          <a:bodyPr wrap="square" lIns="45720" tIns="27432" rIns="45720" bIns="27432" anchor="t">
            <a:spAutoFit/>
          </a:bodyPr>
          <a:lstStyle/>
          <a:p>
            <a:pPr algn="l"/>
            <a:r>
              <a:rPr sz="1700">
                <a:solidFill>
                  <a:srgbClr val="032954"/>
                </a:solidFill>
              </a:rPr>
              <a:t>“Every working day, contact outpatients at high risk of missing tomorrow's appointment, confirm or reschedule, and refill freed slots from the waiting list.</a:t>
            </a:r>
          </a:p>
          <a:p>
            <a:pPr algn="l">
              <a:spcBef>
                <a:spcPts val="600"/>
              </a:spcBef>
            </a:pPr>
            <a:r>
              <a:rPr sz="1700">
                <a:solidFill>
                  <a:srgbClr val="032954"/>
                </a:solidFill>
                <a:latin typeface="+mj-lt"/>
              </a:rPr>
              <a:t>Never cancel without the patient's consent. Never give medical advice.”</a:t>
            </a:r>
          </a:p>
        </p:txBody>
      </p:sp>
      <p:sp>
        <p:nvSpPr>
          <p:cNvPr id="29" name="Rounded Rectangle 28"/>
          <p:cNvSpPr/>
          <p:nvPr/>
        </p:nvSpPr>
        <p:spPr>
          <a:xfrm>
            <a:off x="6830568" y="8092440"/>
            <a:ext cx="10195560" cy="1188720"/>
          </a:xfrm>
          <a:prstGeom prst="roundRect">
            <a:avLst>
              <a:gd name="adj" fmla="val 16923"/>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users_n.png"/>
          <p:cNvPicPr>
            <a:picLocks noChangeAspect="1"/>
          </p:cNvPicPr>
          <p:nvPr/>
        </p:nvPicPr>
        <p:blipFill>
          <a:blip r:embed="rId7"/>
          <a:stretch>
            <a:fillRect/>
          </a:stretch>
        </p:blipFill>
        <p:spPr>
          <a:xfrm>
            <a:off x="7150607" y="8366760"/>
            <a:ext cx="640080" cy="640080"/>
          </a:xfrm>
          <a:prstGeom prst="rect">
            <a:avLst/>
          </a:prstGeom>
        </p:spPr>
      </p:pic>
      <p:sp>
        <p:nvSpPr>
          <p:cNvPr id="31" name="TextBox 30"/>
          <p:cNvSpPr txBox="1"/>
          <p:nvPr/>
        </p:nvSpPr>
        <p:spPr>
          <a:xfrm>
            <a:off x="8065008" y="8202167"/>
            <a:ext cx="8686800" cy="969264"/>
          </a:xfrm>
          <a:prstGeom prst="rect">
            <a:avLst/>
          </a:prstGeom>
          <a:noFill/>
        </p:spPr>
        <p:txBody>
          <a:bodyPr wrap="square" lIns="45720" tIns="27432" rIns="45720" bIns="27432" anchor="ctr">
            <a:spAutoFit/>
          </a:bodyPr>
          <a:lstStyle/>
          <a:p>
            <a:pPr algn="l"/>
            <a:r>
              <a:rPr sz="1800">
                <a:solidFill>
                  <a:srgbClr val="032954"/>
                </a:solidFill>
              </a:rPr>
              <a:t>The goal is written by </a:t>
            </a:r>
            <a:r>
              <a:rPr sz="1800">
                <a:solidFill>
                  <a:srgbClr val="032954"/>
                </a:solidFill>
                <a:latin typeface="+mj-lt"/>
              </a:rPr>
              <a:t>people</a:t>
            </a:r>
            <a:r>
              <a:rPr sz="1800">
                <a:solidFill>
                  <a:srgbClr val="032954"/>
                </a:solidFill>
              </a:rPr>
              <a:t>, not by the model. Think of it as the agent's job description.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2 · Planning</a:t>
            </a:r>
          </a:p>
        </p:txBody>
      </p:sp>
      <p:sp>
        <p:nvSpPr>
          <p:cNvPr id="3" name="Text Placeholder 2"/>
          <p:cNvSpPr>
            <a:spLocks noGrp="1"/>
          </p:cNvSpPr>
          <p:nvPr>
            <p:ph type="body" idx="10" sz="quarter"/>
          </p:nvPr>
        </p:nvSpPr>
        <p:spPr/>
        <p:txBody>
          <a:bodyPr/>
          <a:lstStyle/>
          <a:p>
            <a:r>
              <a:rPr sz="3000"/>
              <a:t>How the agent turns a goal into steps, and changes the plan when reality changes</a:t>
            </a:r>
          </a:p>
        </p:txBody>
      </p:sp>
      <p:sp>
        <p:nvSpPr>
          <p:cNvPr id="5" name="Rounded Rectangle 4"/>
          <p:cNvSpPr/>
          <p:nvPr/>
        </p:nvSpPr>
        <p:spPr>
          <a:xfrm>
            <a:off x="1252728" y="2743200"/>
            <a:ext cx="5212080" cy="6537960"/>
          </a:xfrm>
          <a:prstGeom prst="roundRect">
            <a:avLst>
              <a:gd name="adj" fmla="val 491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72768" y="3063240"/>
            <a:ext cx="914400" cy="91440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rain_w.png"/>
          <p:cNvPicPr>
            <a:picLocks noChangeAspect="1"/>
          </p:cNvPicPr>
          <p:nvPr/>
        </p:nvPicPr>
        <p:blipFill>
          <a:blip r:embed="rId2"/>
          <a:stretch>
            <a:fillRect/>
          </a:stretch>
        </p:blipFill>
        <p:spPr>
          <a:xfrm>
            <a:off x="1792224" y="3282696"/>
            <a:ext cx="475488" cy="475488"/>
          </a:xfrm>
          <a:prstGeom prst="rect">
            <a:avLst/>
          </a:prstGeom>
        </p:spPr>
      </p:pic>
      <p:sp>
        <p:nvSpPr>
          <p:cNvPr id="8" name="TextBox 7"/>
          <p:cNvSpPr txBox="1"/>
          <p:nvPr/>
        </p:nvSpPr>
        <p:spPr>
          <a:xfrm>
            <a:off x="2715768" y="3200400"/>
            <a:ext cx="3566160" cy="640080"/>
          </a:xfrm>
          <a:prstGeom prst="rect">
            <a:avLst/>
          </a:prstGeom>
          <a:noFill/>
        </p:spPr>
        <p:txBody>
          <a:bodyPr wrap="square" lIns="45720" tIns="27432" rIns="45720" bIns="27432" anchor="t">
            <a:spAutoFit/>
          </a:bodyPr>
          <a:lstStyle/>
          <a:p>
            <a:pPr algn="l"/>
            <a:r>
              <a:rPr sz="2000">
                <a:solidFill>
                  <a:srgbClr val="262626"/>
                </a:solidFill>
                <a:latin typeface="+mj-lt"/>
              </a:rPr>
              <a:t>The reasoning engine plans</a:t>
            </a:r>
          </a:p>
        </p:txBody>
      </p:sp>
      <p:sp>
        <p:nvSpPr>
          <p:cNvPr id="9" name="TextBox 8"/>
          <p:cNvSpPr txBox="1"/>
          <p:nvPr/>
        </p:nvSpPr>
        <p:spPr>
          <a:xfrm>
            <a:off x="1618488" y="4343400"/>
            <a:ext cx="4480560" cy="4754880"/>
          </a:xfrm>
          <a:prstGeom prst="rect">
            <a:avLst/>
          </a:prstGeom>
          <a:noFill/>
        </p:spPr>
        <p:txBody>
          <a:bodyPr wrap="square" lIns="45720" tIns="27432" rIns="45720" bIns="27432" anchor="t">
            <a:spAutoFit/>
          </a:bodyPr>
          <a:lstStyle/>
          <a:p>
            <a:pPr algn="l">
              <a:spcAft>
                <a:spcPts val="600"/>
              </a:spcAft>
            </a:pPr>
            <a:r>
              <a:rPr sz="1600">
                <a:solidFill>
                  <a:srgbClr val="262626"/>
                </a:solidFill>
              </a:rPr>
              <a:t>Given the goal, the current situation and the tools it may use, the language model proposes the </a:t>
            </a:r>
            <a:r>
              <a:rPr sz="1600">
                <a:solidFill>
                  <a:srgbClr val="262626"/>
                </a:solidFill>
                <a:latin typeface="+mj-lt"/>
              </a:rPr>
              <a:t>next step</a:t>
            </a:r>
            <a:r>
              <a:rPr sz="1600">
                <a:solidFill>
                  <a:srgbClr val="262626"/>
                </a:solidFill>
              </a:rPr>
              <a:t>.</a:t>
            </a:r>
          </a:p>
          <a:p>
            <a:pPr algn="l">
              <a:spcBef>
                <a:spcPts val="800"/>
              </a:spcBef>
              <a:spcAft>
                <a:spcPts val="600"/>
              </a:spcAft>
            </a:pPr>
            <a:r>
              <a:rPr sz="1600">
                <a:solidFill>
                  <a:srgbClr val="262626"/>
                </a:solidFill>
              </a:rPr>
              <a:t>It does not follow a fixed script. When something unexpected happens it </a:t>
            </a:r>
            <a:r>
              <a:rPr sz="1600">
                <a:solidFill>
                  <a:srgbClr val="262626"/>
                </a:solidFill>
                <a:latin typeface="+mj-lt"/>
              </a:rPr>
              <a:t>re-plans</a:t>
            </a:r>
            <a:r>
              <a:rPr sz="1600">
                <a:solidFill>
                  <a:srgbClr val="262626"/>
                </a:solidFill>
              </a:rPr>
              <a:t>.</a:t>
            </a:r>
          </a:p>
          <a:p>
            <a:pPr algn="l">
              <a:spcBef>
                <a:spcPts val="800"/>
              </a:spcBef>
              <a:spcAft>
                <a:spcPts val="600"/>
              </a:spcAft>
            </a:pPr>
            <a:r>
              <a:rPr sz="1600">
                <a:solidFill>
                  <a:srgbClr val="0766D1"/>
                </a:solidFill>
              </a:rPr>
              <a:t>That flexibility is the difference from classic automation, and the reason we need boundaries (section 5).</a:t>
            </a:r>
          </a:p>
        </p:txBody>
      </p:sp>
      <p:sp>
        <p:nvSpPr>
          <p:cNvPr id="10" name="TextBox 9"/>
          <p:cNvSpPr txBox="1"/>
          <p:nvPr/>
        </p:nvSpPr>
        <p:spPr>
          <a:xfrm>
            <a:off x="6922008" y="2697480"/>
            <a:ext cx="10104120" cy="457200"/>
          </a:xfrm>
          <a:prstGeom prst="rect">
            <a:avLst/>
          </a:prstGeom>
          <a:noFill/>
        </p:spPr>
        <p:txBody>
          <a:bodyPr wrap="square" lIns="45720" tIns="27432" rIns="45720" bIns="27432" anchor="t">
            <a:spAutoFit/>
          </a:bodyPr>
          <a:lstStyle/>
          <a:p>
            <a:pPr algn="l"/>
            <a:r>
              <a:rPr sz="2000">
                <a:solidFill>
                  <a:srgbClr val="0766D1"/>
                </a:solidFill>
                <a:latin typeface="+mj-lt"/>
              </a:rPr>
              <a:t>The No-Show Agent's plan for tomorrow's clinic</a:t>
            </a:r>
          </a:p>
        </p:txBody>
      </p:sp>
      <p:sp>
        <p:nvSpPr>
          <p:cNvPr id="11" name="Oval 10"/>
          <p:cNvSpPr/>
          <p:nvPr/>
        </p:nvSpPr>
        <p:spPr>
          <a:xfrm>
            <a:off x="6922008" y="329184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1</a:t>
            </a:r>
          </a:p>
        </p:txBody>
      </p:sp>
      <p:sp>
        <p:nvSpPr>
          <p:cNvPr id="12" name="TextBox 11"/>
          <p:cNvSpPr txBox="1"/>
          <p:nvPr/>
        </p:nvSpPr>
        <p:spPr>
          <a:xfrm>
            <a:off x="7671816" y="3246120"/>
            <a:ext cx="9354312" cy="384048"/>
          </a:xfrm>
          <a:prstGeom prst="rect">
            <a:avLst/>
          </a:prstGeom>
          <a:noFill/>
        </p:spPr>
        <p:txBody>
          <a:bodyPr wrap="square" lIns="45720" tIns="27432" rIns="45720" bIns="27432" anchor="t">
            <a:spAutoFit/>
          </a:bodyPr>
          <a:lstStyle/>
          <a:p>
            <a:pPr algn="l"/>
            <a:r>
              <a:rPr sz="1700">
                <a:solidFill>
                  <a:srgbClr val="262626"/>
                </a:solidFill>
                <a:latin typeface="+mj-lt"/>
              </a:rPr>
              <a:t>Get tomorrow's appointment list</a:t>
            </a:r>
          </a:p>
        </p:txBody>
      </p:sp>
      <p:sp>
        <p:nvSpPr>
          <p:cNvPr id="13" name="TextBox 12"/>
          <p:cNvSpPr txBox="1"/>
          <p:nvPr/>
        </p:nvSpPr>
        <p:spPr>
          <a:xfrm>
            <a:off x="7671816" y="3602736"/>
            <a:ext cx="9354312" cy="512064"/>
          </a:xfrm>
          <a:prstGeom prst="rect">
            <a:avLst/>
          </a:prstGeom>
          <a:noFill/>
        </p:spPr>
        <p:txBody>
          <a:bodyPr wrap="square" lIns="45720" tIns="27432" rIns="45720" bIns="27432" anchor="t">
            <a:spAutoFit/>
          </a:bodyPr>
          <a:lstStyle/>
          <a:p>
            <a:pPr algn="l"/>
            <a:r>
              <a:rPr sz="1400">
                <a:solidFill>
                  <a:srgbClr val="262626"/>
                </a:solidFill>
              </a:rPr>
              <a:t>from the scheduling system</a:t>
            </a:r>
          </a:p>
        </p:txBody>
      </p:sp>
      <p:sp>
        <p:nvSpPr>
          <p:cNvPr id="14" name="Oval 13"/>
          <p:cNvSpPr/>
          <p:nvPr/>
        </p:nvSpPr>
        <p:spPr>
          <a:xfrm>
            <a:off x="6922008" y="4187952"/>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2</a:t>
            </a:r>
          </a:p>
        </p:txBody>
      </p:sp>
      <p:sp>
        <p:nvSpPr>
          <p:cNvPr id="15" name="TextBox 14"/>
          <p:cNvSpPr txBox="1"/>
          <p:nvPr/>
        </p:nvSpPr>
        <p:spPr>
          <a:xfrm>
            <a:off x="7671816" y="4142232"/>
            <a:ext cx="9354312" cy="384048"/>
          </a:xfrm>
          <a:prstGeom prst="rect">
            <a:avLst/>
          </a:prstGeom>
          <a:noFill/>
        </p:spPr>
        <p:txBody>
          <a:bodyPr wrap="square" lIns="45720" tIns="27432" rIns="45720" bIns="27432" anchor="t">
            <a:spAutoFit/>
          </a:bodyPr>
          <a:lstStyle/>
          <a:p>
            <a:pPr algn="l"/>
            <a:r>
              <a:rPr sz="1700">
                <a:solidFill>
                  <a:srgbClr val="262626"/>
                </a:solidFill>
                <a:latin typeface="+mj-lt"/>
              </a:rPr>
              <a:t>Score each patient's no-show risk</a:t>
            </a:r>
          </a:p>
        </p:txBody>
      </p:sp>
      <p:sp>
        <p:nvSpPr>
          <p:cNvPr id="16" name="TextBox 15"/>
          <p:cNvSpPr txBox="1"/>
          <p:nvPr/>
        </p:nvSpPr>
        <p:spPr>
          <a:xfrm>
            <a:off x="7671816" y="4498848"/>
            <a:ext cx="9354312" cy="512064"/>
          </a:xfrm>
          <a:prstGeom prst="rect">
            <a:avLst/>
          </a:prstGeom>
          <a:noFill/>
        </p:spPr>
        <p:txBody>
          <a:bodyPr wrap="square" lIns="45720" tIns="27432" rIns="45720" bIns="27432" anchor="t">
            <a:spAutoFit/>
          </a:bodyPr>
          <a:lstStyle/>
          <a:p>
            <a:pPr algn="l"/>
            <a:r>
              <a:rPr sz="1400">
                <a:solidFill>
                  <a:srgbClr val="262626"/>
                </a:solidFill>
              </a:rPr>
              <a:t>using the prediction model</a:t>
            </a:r>
          </a:p>
        </p:txBody>
      </p:sp>
      <p:sp>
        <p:nvSpPr>
          <p:cNvPr id="17" name="Oval 16"/>
          <p:cNvSpPr/>
          <p:nvPr/>
        </p:nvSpPr>
        <p:spPr>
          <a:xfrm>
            <a:off x="6922008" y="5084064"/>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3</a:t>
            </a:r>
          </a:p>
        </p:txBody>
      </p:sp>
      <p:sp>
        <p:nvSpPr>
          <p:cNvPr id="18" name="TextBox 17"/>
          <p:cNvSpPr txBox="1"/>
          <p:nvPr/>
        </p:nvSpPr>
        <p:spPr>
          <a:xfrm>
            <a:off x="7671816" y="5038344"/>
            <a:ext cx="9354312" cy="384048"/>
          </a:xfrm>
          <a:prstGeom prst="rect">
            <a:avLst/>
          </a:prstGeom>
          <a:noFill/>
        </p:spPr>
        <p:txBody>
          <a:bodyPr wrap="square" lIns="45720" tIns="27432" rIns="45720" bIns="27432" anchor="t">
            <a:spAutoFit/>
          </a:bodyPr>
          <a:lstStyle/>
          <a:p>
            <a:pPr algn="l"/>
            <a:r>
              <a:rPr sz="1700">
                <a:solidFill>
                  <a:srgbClr val="262626"/>
                </a:solidFill>
                <a:latin typeface="+mj-lt"/>
              </a:rPr>
              <a:t>Contact high-risk patients</a:t>
            </a:r>
          </a:p>
        </p:txBody>
      </p:sp>
      <p:sp>
        <p:nvSpPr>
          <p:cNvPr id="19" name="TextBox 18"/>
          <p:cNvSpPr txBox="1"/>
          <p:nvPr/>
        </p:nvSpPr>
        <p:spPr>
          <a:xfrm>
            <a:off x="7671816" y="5394960"/>
            <a:ext cx="9354312" cy="512064"/>
          </a:xfrm>
          <a:prstGeom prst="rect">
            <a:avLst/>
          </a:prstGeom>
          <a:noFill/>
        </p:spPr>
        <p:txBody>
          <a:bodyPr wrap="square" lIns="45720" tIns="27432" rIns="45720" bIns="27432" anchor="t">
            <a:spAutoFit/>
          </a:bodyPr>
          <a:lstStyle/>
          <a:p>
            <a:pPr algn="l"/>
            <a:r>
              <a:rPr sz="1400">
                <a:solidFill>
                  <a:srgbClr val="262626"/>
                </a:solidFill>
              </a:rPr>
              <a:t>with an approved message, offering to confirm or reschedule</a:t>
            </a:r>
          </a:p>
        </p:txBody>
      </p:sp>
      <p:sp>
        <p:nvSpPr>
          <p:cNvPr id="20" name="Oval 19"/>
          <p:cNvSpPr/>
          <p:nvPr/>
        </p:nvSpPr>
        <p:spPr>
          <a:xfrm>
            <a:off x="6922008" y="5980176"/>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4</a:t>
            </a:r>
          </a:p>
        </p:txBody>
      </p:sp>
      <p:sp>
        <p:nvSpPr>
          <p:cNvPr id="21" name="TextBox 20"/>
          <p:cNvSpPr txBox="1"/>
          <p:nvPr/>
        </p:nvSpPr>
        <p:spPr>
          <a:xfrm>
            <a:off x="7671816" y="5934456"/>
            <a:ext cx="9354312" cy="384048"/>
          </a:xfrm>
          <a:prstGeom prst="rect">
            <a:avLst/>
          </a:prstGeom>
          <a:noFill/>
        </p:spPr>
        <p:txBody>
          <a:bodyPr wrap="square" lIns="45720" tIns="27432" rIns="45720" bIns="27432" anchor="t">
            <a:spAutoFit/>
          </a:bodyPr>
          <a:lstStyle/>
          <a:p>
            <a:pPr algn="l"/>
            <a:r>
              <a:rPr sz="1700">
                <a:solidFill>
                  <a:srgbClr val="262626"/>
                </a:solidFill>
                <a:latin typeface="+mj-lt"/>
              </a:rPr>
              <a:t>If they cannot come, offer alternative slots</a:t>
            </a:r>
          </a:p>
        </p:txBody>
      </p:sp>
      <p:sp>
        <p:nvSpPr>
          <p:cNvPr id="22" name="TextBox 21"/>
          <p:cNvSpPr txBox="1"/>
          <p:nvPr/>
        </p:nvSpPr>
        <p:spPr>
          <a:xfrm>
            <a:off x="7671816" y="6291072"/>
            <a:ext cx="9354312" cy="512064"/>
          </a:xfrm>
          <a:prstGeom prst="rect">
            <a:avLst/>
          </a:prstGeom>
          <a:noFill/>
        </p:spPr>
        <p:txBody>
          <a:bodyPr wrap="square" lIns="45720" tIns="27432" rIns="45720" bIns="27432" anchor="t">
            <a:spAutoFit/>
          </a:bodyPr>
          <a:lstStyle/>
          <a:p>
            <a:pPr algn="l"/>
            <a:r>
              <a:rPr sz="1400">
                <a:solidFill>
                  <a:srgbClr val="262626"/>
                </a:solidFill>
              </a:rPr>
              <a:t>within the clinic's rules</a:t>
            </a:r>
          </a:p>
        </p:txBody>
      </p:sp>
      <p:sp>
        <p:nvSpPr>
          <p:cNvPr id="23" name="Oval 22"/>
          <p:cNvSpPr/>
          <p:nvPr/>
        </p:nvSpPr>
        <p:spPr>
          <a:xfrm>
            <a:off x="6922008" y="6876288"/>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5</a:t>
            </a:r>
          </a:p>
        </p:txBody>
      </p:sp>
      <p:sp>
        <p:nvSpPr>
          <p:cNvPr id="24" name="TextBox 23"/>
          <p:cNvSpPr txBox="1"/>
          <p:nvPr/>
        </p:nvSpPr>
        <p:spPr>
          <a:xfrm>
            <a:off x="7671816" y="6830568"/>
            <a:ext cx="9354312" cy="384048"/>
          </a:xfrm>
          <a:prstGeom prst="rect">
            <a:avLst/>
          </a:prstGeom>
          <a:noFill/>
        </p:spPr>
        <p:txBody>
          <a:bodyPr wrap="square" lIns="45720" tIns="27432" rIns="45720" bIns="27432" anchor="t">
            <a:spAutoFit/>
          </a:bodyPr>
          <a:lstStyle/>
          <a:p>
            <a:pPr algn="l"/>
            <a:r>
              <a:rPr sz="1700">
                <a:solidFill>
                  <a:srgbClr val="262626"/>
                </a:solidFill>
                <a:latin typeface="+mj-lt"/>
              </a:rPr>
              <a:t>Fill the freed slot from the waiting list</a:t>
            </a:r>
          </a:p>
        </p:txBody>
      </p:sp>
      <p:sp>
        <p:nvSpPr>
          <p:cNvPr id="25" name="TextBox 24"/>
          <p:cNvSpPr txBox="1"/>
          <p:nvPr/>
        </p:nvSpPr>
        <p:spPr>
          <a:xfrm>
            <a:off x="7671816" y="7187183"/>
            <a:ext cx="9354312" cy="512064"/>
          </a:xfrm>
          <a:prstGeom prst="rect">
            <a:avLst/>
          </a:prstGeom>
          <a:noFill/>
        </p:spPr>
        <p:txBody>
          <a:bodyPr wrap="square" lIns="45720" tIns="27432" rIns="45720" bIns="27432" anchor="t">
            <a:spAutoFit/>
          </a:bodyPr>
          <a:lstStyle/>
          <a:p>
            <a:pPr algn="l"/>
            <a:r>
              <a:rPr sz="1400">
                <a:solidFill>
                  <a:srgbClr val="262626"/>
                </a:solidFill>
              </a:rPr>
              <a:t>and confirm to everyone involved</a:t>
            </a:r>
          </a:p>
        </p:txBody>
      </p:sp>
      <p:sp>
        <p:nvSpPr>
          <p:cNvPr id="26" name="Rounded Rectangle 25"/>
          <p:cNvSpPr/>
          <p:nvPr/>
        </p:nvSpPr>
        <p:spPr>
          <a:xfrm>
            <a:off x="6922008" y="7863840"/>
            <a:ext cx="10104120" cy="1417320"/>
          </a:xfrm>
          <a:prstGeom prst="roundRect">
            <a:avLst>
              <a:gd name="adj" fmla="val 14193"/>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oop_n.png"/>
          <p:cNvPicPr>
            <a:picLocks noChangeAspect="1"/>
          </p:cNvPicPr>
          <p:nvPr/>
        </p:nvPicPr>
        <p:blipFill>
          <a:blip r:embed="rId3"/>
          <a:stretch>
            <a:fillRect/>
          </a:stretch>
        </p:blipFill>
        <p:spPr>
          <a:xfrm>
            <a:off x="7242048" y="8252460"/>
            <a:ext cx="640080" cy="640080"/>
          </a:xfrm>
          <a:prstGeom prst="rect">
            <a:avLst/>
          </a:prstGeom>
        </p:spPr>
      </p:pic>
      <p:sp>
        <p:nvSpPr>
          <p:cNvPr id="28" name="TextBox 27"/>
          <p:cNvSpPr txBox="1"/>
          <p:nvPr/>
        </p:nvSpPr>
        <p:spPr>
          <a:xfrm>
            <a:off x="8156448" y="7973567"/>
            <a:ext cx="8595360" cy="1197864"/>
          </a:xfrm>
          <a:prstGeom prst="rect">
            <a:avLst/>
          </a:prstGeom>
          <a:noFill/>
        </p:spPr>
        <p:txBody>
          <a:bodyPr wrap="square" lIns="45720" tIns="27432" rIns="45720" bIns="27432" anchor="ctr">
            <a:spAutoFit/>
          </a:bodyPr>
          <a:lstStyle/>
          <a:p>
            <a:pPr algn="l"/>
            <a:r>
              <a:rPr sz="1700">
                <a:solidFill>
                  <a:srgbClr val="032954"/>
                </a:solidFill>
                <a:latin typeface="+mj-lt"/>
              </a:rPr>
              <a:t>When reality changes, the plan changes</a:t>
            </a:r>
          </a:p>
          <a:p>
            <a:pPr algn="l"/>
            <a:r>
              <a:rPr sz="1500">
                <a:solidFill>
                  <a:srgbClr val="032954"/>
                </a:solidFill>
              </a:rPr>
              <a:t>No reply after two messages → try a phone call → still nothing → hand the case to the clinic coordinator.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3 · Knowledge</a:t>
            </a:r>
          </a:p>
        </p:txBody>
      </p:sp>
      <p:sp>
        <p:nvSpPr>
          <p:cNvPr id="3" name="Text Placeholder 2"/>
          <p:cNvSpPr>
            <a:spLocks noGrp="1"/>
          </p:cNvSpPr>
          <p:nvPr>
            <p:ph type="body" idx="10" sz="quarter"/>
          </p:nvPr>
        </p:nvSpPr>
        <p:spPr/>
        <p:txBody>
          <a:bodyPr/>
          <a:lstStyle/>
          <a:p>
            <a:r>
              <a:rPr sz="3000"/>
              <a:t>An agent is only as smart as the resources available to it</a:t>
            </a:r>
          </a:p>
        </p:txBody>
      </p:sp>
      <p:sp>
        <p:nvSpPr>
          <p:cNvPr id="5" name="Rounded Rectangle 4"/>
          <p:cNvSpPr/>
          <p:nvPr/>
        </p:nvSpPr>
        <p:spPr>
          <a:xfrm>
            <a:off x="1252728" y="3154680"/>
            <a:ext cx="3655314" cy="4892040"/>
          </a:xfrm>
          <a:prstGeom prst="roundRect">
            <a:avLst>
              <a:gd name="adj" fmla="val 700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554605" y="2628900"/>
            <a:ext cx="1051560" cy="105156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rain_w.png"/>
          <p:cNvPicPr>
            <a:picLocks noChangeAspect="1"/>
          </p:cNvPicPr>
          <p:nvPr/>
        </p:nvPicPr>
        <p:blipFill>
          <a:blip r:embed="rId2"/>
          <a:stretch>
            <a:fillRect/>
          </a:stretch>
        </p:blipFill>
        <p:spPr>
          <a:xfrm>
            <a:off x="2806979" y="2881274"/>
            <a:ext cx="546811" cy="546811"/>
          </a:xfrm>
          <a:prstGeom prst="rect">
            <a:avLst/>
          </a:prstGeom>
        </p:spPr>
      </p:pic>
      <p:sp>
        <p:nvSpPr>
          <p:cNvPr id="8" name="TextBox 7"/>
          <p:cNvSpPr txBox="1"/>
          <p:nvPr/>
        </p:nvSpPr>
        <p:spPr>
          <a:xfrm>
            <a:off x="1527048" y="3931920"/>
            <a:ext cx="3106674" cy="548640"/>
          </a:xfrm>
          <a:prstGeom prst="rect">
            <a:avLst/>
          </a:prstGeom>
          <a:noFill/>
        </p:spPr>
        <p:txBody>
          <a:bodyPr wrap="square" lIns="45720" tIns="27432" rIns="45720" bIns="27432" anchor="t">
            <a:spAutoFit/>
          </a:bodyPr>
          <a:lstStyle/>
          <a:p>
            <a:pPr algn="ctr"/>
            <a:r>
              <a:rPr sz="2000">
                <a:solidFill>
                  <a:srgbClr val="262626"/>
                </a:solidFill>
                <a:latin typeface="+mj-lt"/>
              </a:rPr>
              <a:t>General knowledge</a:t>
            </a:r>
          </a:p>
        </p:txBody>
      </p:sp>
      <p:sp>
        <p:nvSpPr>
          <p:cNvPr id="9" name="TextBox 8"/>
          <p:cNvSpPr txBox="1"/>
          <p:nvPr/>
        </p:nvSpPr>
        <p:spPr>
          <a:xfrm>
            <a:off x="1572768" y="4617720"/>
            <a:ext cx="3015234" cy="2103120"/>
          </a:xfrm>
          <a:prstGeom prst="rect">
            <a:avLst/>
          </a:prstGeom>
          <a:noFill/>
        </p:spPr>
        <p:txBody>
          <a:bodyPr wrap="square" lIns="45720" tIns="27432" rIns="45720" bIns="27432" anchor="t">
            <a:spAutoFit/>
          </a:bodyPr>
          <a:lstStyle/>
          <a:p>
            <a:pPr algn="l"/>
            <a:r>
              <a:rPr sz="1500">
                <a:solidFill>
                  <a:srgbClr val="262626"/>
                </a:solidFill>
              </a:rPr>
              <a:t>From the model's training: language, common sense, how a conversation works.</a:t>
            </a:r>
          </a:p>
        </p:txBody>
      </p:sp>
      <p:sp>
        <p:nvSpPr>
          <p:cNvPr id="10" name="TextBox 9"/>
          <p:cNvSpPr txBox="1"/>
          <p:nvPr/>
        </p:nvSpPr>
        <p:spPr>
          <a:xfrm>
            <a:off x="1572768" y="6903720"/>
            <a:ext cx="3015234" cy="914400"/>
          </a:xfrm>
          <a:prstGeom prst="rect">
            <a:avLst/>
          </a:prstGeom>
          <a:noFill/>
        </p:spPr>
        <p:txBody>
          <a:bodyPr wrap="square" lIns="45720" tIns="27432" rIns="45720" bIns="27432" anchor="t">
            <a:spAutoFit/>
          </a:bodyPr>
          <a:lstStyle/>
          <a:p>
            <a:pPr algn="l"/>
            <a:r>
              <a:rPr sz="1400">
                <a:solidFill>
                  <a:srgbClr val="0766D1"/>
                </a:solidFill>
              </a:rPr>
              <a:t>Cannot know the organisation's policies or today's schedule.</a:t>
            </a:r>
          </a:p>
        </p:txBody>
      </p:sp>
      <p:sp>
        <p:nvSpPr>
          <p:cNvPr id="11" name="Rounded Rectangle 10"/>
          <p:cNvSpPr/>
          <p:nvPr/>
        </p:nvSpPr>
        <p:spPr>
          <a:xfrm>
            <a:off x="5292090" y="3154680"/>
            <a:ext cx="3655314" cy="4892040"/>
          </a:xfrm>
          <a:prstGeom prst="roundRect">
            <a:avLst>
              <a:gd name="adj" fmla="val 700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3967" y="2628900"/>
            <a:ext cx="1051560" cy="105156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les_w.png"/>
          <p:cNvPicPr>
            <a:picLocks noChangeAspect="1"/>
          </p:cNvPicPr>
          <p:nvPr/>
        </p:nvPicPr>
        <p:blipFill>
          <a:blip r:embed="rId3"/>
          <a:stretch>
            <a:fillRect/>
          </a:stretch>
        </p:blipFill>
        <p:spPr>
          <a:xfrm>
            <a:off x="6846341" y="2881274"/>
            <a:ext cx="546811" cy="546811"/>
          </a:xfrm>
          <a:prstGeom prst="rect">
            <a:avLst/>
          </a:prstGeom>
        </p:spPr>
      </p:pic>
      <p:sp>
        <p:nvSpPr>
          <p:cNvPr id="14" name="TextBox 13"/>
          <p:cNvSpPr txBox="1"/>
          <p:nvPr/>
        </p:nvSpPr>
        <p:spPr>
          <a:xfrm>
            <a:off x="5566410" y="3931920"/>
            <a:ext cx="3106674" cy="548640"/>
          </a:xfrm>
          <a:prstGeom prst="rect">
            <a:avLst/>
          </a:prstGeom>
          <a:noFill/>
        </p:spPr>
        <p:txBody>
          <a:bodyPr wrap="square" lIns="45720" tIns="27432" rIns="45720" bIns="27432" anchor="t">
            <a:spAutoFit/>
          </a:bodyPr>
          <a:lstStyle/>
          <a:p>
            <a:pPr algn="ctr"/>
            <a:r>
              <a:rPr sz="2000">
                <a:solidFill>
                  <a:srgbClr val="262626"/>
                </a:solidFill>
                <a:latin typeface="+mj-lt"/>
              </a:rPr>
              <a:t>Enterprise documents</a:t>
            </a:r>
          </a:p>
        </p:txBody>
      </p:sp>
      <p:sp>
        <p:nvSpPr>
          <p:cNvPr id="15" name="TextBox 14"/>
          <p:cNvSpPr txBox="1"/>
          <p:nvPr/>
        </p:nvSpPr>
        <p:spPr>
          <a:xfrm>
            <a:off x="5612130" y="4617720"/>
            <a:ext cx="3015234" cy="2103120"/>
          </a:xfrm>
          <a:prstGeom prst="rect">
            <a:avLst/>
          </a:prstGeom>
          <a:noFill/>
        </p:spPr>
        <p:txBody>
          <a:bodyPr wrap="square" lIns="45720" tIns="27432" rIns="45720" bIns="27432" anchor="t">
            <a:spAutoFit/>
          </a:bodyPr>
          <a:lstStyle/>
          <a:p>
            <a:pPr algn="l"/>
            <a:r>
              <a:rPr sz="1500">
                <a:solidFill>
                  <a:srgbClr val="262626"/>
                </a:solidFill>
              </a:rPr>
              <a:t>Retrieved when needed: scheduling policy, clinic rules, approved message templates.</a:t>
            </a:r>
          </a:p>
        </p:txBody>
      </p:sp>
      <p:sp>
        <p:nvSpPr>
          <p:cNvPr id="16" name="TextBox 15"/>
          <p:cNvSpPr txBox="1"/>
          <p:nvPr/>
        </p:nvSpPr>
        <p:spPr>
          <a:xfrm>
            <a:off x="5612130" y="6903720"/>
            <a:ext cx="3015234" cy="914400"/>
          </a:xfrm>
          <a:prstGeom prst="rect">
            <a:avLst/>
          </a:prstGeom>
          <a:noFill/>
        </p:spPr>
        <p:txBody>
          <a:bodyPr wrap="square" lIns="45720" tIns="27432" rIns="45720" bIns="27432" anchor="t">
            <a:spAutoFit/>
          </a:bodyPr>
          <a:lstStyle/>
          <a:p>
            <a:pPr algn="l"/>
            <a:r>
              <a:rPr sz="1400">
                <a:solidFill>
                  <a:srgbClr val="0766D1"/>
                </a:solidFill>
              </a:rPr>
              <a:t>Grounds answers in your own knowledge (RAG).</a:t>
            </a:r>
          </a:p>
        </p:txBody>
      </p:sp>
      <p:sp>
        <p:nvSpPr>
          <p:cNvPr id="17" name="Rounded Rectangle 16"/>
          <p:cNvSpPr/>
          <p:nvPr/>
        </p:nvSpPr>
        <p:spPr>
          <a:xfrm>
            <a:off x="9331452" y="3154680"/>
            <a:ext cx="3655314" cy="4892040"/>
          </a:xfrm>
          <a:prstGeom prst="roundRect">
            <a:avLst>
              <a:gd name="adj" fmla="val 700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33329" y="2628900"/>
            <a:ext cx="1051560" cy="1051560"/>
          </a:xfrm>
          <a:prstGeom prst="ellipse">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database_w.png"/>
          <p:cNvPicPr>
            <a:picLocks noChangeAspect="1"/>
          </p:cNvPicPr>
          <p:nvPr/>
        </p:nvPicPr>
        <p:blipFill>
          <a:blip r:embed="rId4"/>
          <a:stretch>
            <a:fillRect/>
          </a:stretch>
        </p:blipFill>
        <p:spPr>
          <a:xfrm>
            <a:off x="10885703" y="2881274"/>
            <a:ext cx="546811" cy="546811"/>
          </a:xfrm>
          <a:prstGeom prst="rect">
            <a:avLst/>
          </a:prstGeom>
        </p:spPr>
      </p:pic>
      <p:sp>
        <p:nvSpPr>
          <p:cNvPr id="20" name="TextBox 19"/>
          <p:cNvSpPr txBox="1"/>
          <p:nvPr/>
        </p:nvSpPr>
        <p:spPr>
          <a:xfrm>
            <a:off x="9605772" y="3931920"/>
            <a:ext cx="3106674" cy="548640"/>
          </a:xfrm>
          <a:prstGeom prst="rect">
            <a:avLst/>
          </a:prstGeom>
          <a:noFill/>
        </p:spPr>
        <p:txBody>
          <a:bodyPr wrap="square" lIns="45720" tIns="27432" rIns="45720" bIns="27432" anchor="t">
            <a:spAutoFit/>
          </a:bodyPr>
          <a:lstStyle/>
          <a:p>
            <a:pPr algn="ctr"/>
            <a:r>
              <a:rPr sz="2000">
                <a:solidFill>
                  <a:srgbClr val="262626"/>
                </a:solidFill>
                <a:latin typeface="+mj-lt"/>
              </a:rPr>
              <a:t>Live data</a:t>
            </a:r>
          </a:p>
        </p:txBody>
      </p:sp>
      <p:sp>
        <p:nvSpPr>
          <p:cNvPr id="21" name="TextBox 20"/>
          <p:cNvSpPr txBox="1"/>
          <p:nvPr/>
        </p:nvSpPr>
        <p:spPr>
          <a:xfrm>
            <a:off x="9651492" y="4617720"/>
            <a:ext cx="3015234" cy="2103120"/>
          </a:xfrm>
          <a:prstGeom prst="rect">
            <a:avLst/>
          </a:prstGeom>
          <a:noFill/>
        </p:spPr>
        <p:txBody>
          <a:bodyPr wrap="square" lIns="45720" tIns="27432" rIns="45720" bIns="27432" anchor="t">
            <a:spAutoFit/>
          </a:bodyPr>
          <a:lstStyle/>
          <a:p>
            <a:pPr algn="l"/>
            <a:r>
              <a:rPr sz="1500">
                <a:solidFill>
                  <a:srgbClr val="262626"/>
                </a:solidFill>
              </a:rPr>
              <a:t>Read from systems at run time: tomorrow's list, contact preferences, waiting list.</a:t>
            </a:r>
          </a:p>
        </p:txBody>
      </p:sp>
      <p:sp>
        <p:nvSpPr>
          <p:cNvPr id="22" name="TextBox 21"/>
          <p:cNvSpPr txBox="1"/>
          <p:nvPr/>
        </p:nvSpPr>
        <p:spPr>
          <a:xfrm>
            <a:off x="9651492" y="6903720"/>
            <a:ext cx="3015234" cy="914400"/>
          </a:xfrm>
          <a:prstGeom prst="rect">
            <a:avLst/>
          </a:prstGeom>
          <a:noFill/>
        </p:spPr>
        <p:txBody>
          <a:bodyPr wrap="square" lIns="45720" tIns="27432" rIns="45720" bIns="27432" anchor="t">
            <a:spAutoFit/>
          </a:bodyPr>
          <a:lstStyle/>
          <a:p>
            <a:pPr algn="l"/>
            <a:r>
              <a:rPr sz="1400">
                <a:solidFill>
                  <a:srgbClr val="0766D1"/>
                </a:solidFill>
              </a:rPr>
              <a:t>Always current, never copied into the model.</a:t>
            </a:r>
          </a:p>
        </p:txBody>
      </p:sp>
      <p:sp>
        <p:nvSpPr>
          <p:cNvPr id="23" name="Rounded Rectangle 22"/>
          <p:cNvSpPr/>
          <p:nvPr/>
        </p:nvSpPr>
        <p:spPr>
          <a:xfrm>
            <a:off x="13370814" y="3154680"/>
            <a:ext cx="3655314" cy="4892040"/>
          </a:xfrm>
          <a:prstGeom prst="roundRect">
            <a:avLst>
              <a:gd name="adj" fmla="val 700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4672691" y="2628900"/>
            <a:ext cx="1051560" cy="105156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memory_w.png"/>
          <p:cNvPicPr>
            <a:picLocks noChangeAspect="1"/>
          </p:cNvPicPr>
          <p:nvPr/>
        </p:nvPicPr>
        <p:blipFill>
          <a:blip r:embed="rId5"/>
          <a:stretch>
            <a:fillRect/>
          </a:stretch>
        </p:blipFill>
        <p:spPr>
          <a:xfrm>
            <a:off x="14925065" y="2881274"/>
            <a:ext cx="546811" cy="546811"/>
          </a:xfrm>
          <a:prstGeom prst="rect">
            <a:avLst/>
          </a:prstGeom>
        </p:spPr>
      </p:pic>
      <p:sp>
        <p:nvSpPr>
          <p:cNvPr id="26" name="TextBox 25"/>
          <p:cNvSpPr txBox="1"/>
          <p:nvPr/>
        </p:nvSpPr>
        <p:spPr>
          <a:xfrm>
            <a:off x="13645134" y="3931920"/>
            <a:ext cx="3106674" cy="548640"/>
          </a:xfrm>
          <a:prstGeom prst="rect">
            <a:avLst/>
          </a:prstGeom>
          <a:noFill/>
        </p:spPr>
        <p:txBody>
          <a:bodyPr wrap="square" lIns="45720" tIns="27432" rIns="45720" bIns="27432" anchor="t">
            <a:spAutoFit/>
          </a:bodyPr>
          <a:lstStyle/>
          <a:p>
            <a:pPr algn="ctr"/>
            <a:r>
              <a:rPr sz="2000">
                <a:solidFill>
                  <a:srgbClr val="262626"/>
                </a:solidFill>
                <a:latin typeface="+mj-lt"/>
              </a:rPr>
              <a:t>Memory</a:t>
            </a:r>
          </a:p>
        </p:txBody>
      </p:sp>
      <p:sp>
        <p:nvSpPr>
          <p:cNvPr id="27" name="TextBox 26"/>
          <p:cNvSpPr txBox="1"/>
          <p:nvPr/>
        </p:nvSpPr>
        <p:spPr>
          <a:xfrm>
            <a:off x="13690854" y="4617720"/>
            <a:ext cx="3015234" cy="2103120"/>
          </a:xfrm>
          <a:prstGeom prst="rect">
            <a:avLst/>
          </a:prstGeom>
          <a:noFill/>
        </p:spPr>
        <p:txBody>
          <a:bodyPr wrap="square" lIns="45720" tIns="27432" rIns="45720" bIns="27432" anchor="t">
            <a:spAutoFit/>
          </a:bodyPr>
          <a:lstStyle/>
          <a:p>
            <a:pPr algn="l"/>
            <a:r>
              <a:rPr sz="1500">
                <a:solidFill>
                  <a:srgbClr val="262626"/>
                </a:solidFill>
              </a:rPr>
              <a:t>What happened so far in this task: “this patient already declined twice this month.”</a:t>
            </a:r>
          </a:p>
        </p:txBody>
      </p:sp>
      <p:sp>
        <p:nvSpPr>
          <p:cNvPr id="28" name="TextBox 27"/>
          <p:cNvSpPr txBox="1"/>
          <p:nvPr/>
        </p:nvSpPr>
        <p:spPr>
          <a:xfrm>
            <a:off x="13690854" y="6903720"/>
            <a:ext cx="3015234" cy="914400"/>
          </a:xfrm>
          <a:prstGeom prst="rect">
            <a:avLst/>
          </a:prstGeom>
          <a:noFill/>
        </p:spPr>
        <p:txBody>
          <a:bodyPr wrap="square" lIns="45720" tIns="27432" rIns="45720" bIns="27432" anchor="t">
            <a:spAutoFit/>
          </a:bodyPr>
          <a:lstStyle/>
          <a:p>
            <a:pPr algn="l"/>
            <a:r>
              <a:rPr sz="1400">
                <a:solidFill>
                  <a:srgbClr val="0766D1"/>
                </a:solidFill>
              </a:rPr>
              <a:t>Keeps the conversation coherent.</a:t>
            </a:r>
          </a:p>
        </p:txBody>
      </p:sp>
      <p:sp>
        <p:nvSpPr>
          <p:cNvPr id="29" name="Rounded Rectangle 28"/>
          <p:cNvSpPr/>
          <p:nvPr/>
        </p:nvSpPr>
        <p:spPr>
          <a:xfrm>
            <a:off x="1252728" y="8366760"/>
            <a:ext cx="15773400" cy="960120"/>
          </a:xfrm>
          <a:prstGeom prst="roundRect">
            <a:avLst>
              <a:gd name="adj" fmla="val 20952"/>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ightbulb_n.png"/>
          <p:cNvPicPr>
            <a:picLocks noChangeAspect="1"/>
          </p:cNvPicPr>
          <p:nvPr/>
        </p:nvPicPr>
        <p:blipFill>
          <a:blip r:embed="rId6"/>
          <a:stretch>
            <a:fillRect/>
          </a:stretch>
        </p:blipFill>
        <p:spPr>
          <a:xfrm>
            <a:off x="1572768" y="8549640"/>
            <a:ext cx="594360" cy="594360"/>
          </a:xfrm>
          <a:prstGeom prst="rect">
            <a:avLst/>
          </a:prstGeom>
        </p:spPr>
      </p:pic>
      <p:sp>
        <p:nvSpPr>
          <p:cNvPr id="31" name="TextBox 30"/>
          <p:cNvSpPr txBox="1"/>
          <p:nvPr/>
        </p:nvSpPr>
        <p:spPr>
          <a:xfrm>
            <a:off x="2441448" y="8476488"/>
            <a:ext cx="14310359" cy="740664"/>
          </a:xfrm>
          <a:prstGeom prst="rect">
            <a:avLst/>
          </a:prstGeom>
          <a:noFill/>
        </p:spPr>
        <p:txBody>
          <a:bodyPr wrap="square" lIns="45720" tIns="27432" rIns="45720" bIns="27432" anchor="ctr">
            <a:spAutoFit/>
          </a:bodyPr>
          <a:lstStyle/>
          <a:p>
            <a:pPr algn="l"/>
            <a:r>
              <a:rPr sz="1800">
                <a:solidFill>
                  <a:srgbClr val="032954"/>
                </a:solidFill>
              </a:rPr>
              <a:t>Rule of thumb: if the answer is not in one of these four places, the agent will </a:t>
            </a:r>
            <a:r>
              <a:rPr sz="1800">
                <a:solidFill>
                  <a:srgbClr val="032954"/>
                </a:solidFill>
                <a:latin typeface="+mj-lt"/>
              </a:rPr>
              <a:t>guess</a:t>
            </a:r>
            <a:r>
              <a:rPr sz="1800">
                <a:solidFill>
                  <a:srgbClr val="032954"/>
                </a:solidFill>
              </a:rPr>
              <a:t>. Good agent design removes the need to guess.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4 · Tools</a:t>
            </a:r>
          </a:p>
        </p:txBody>
      </p:sp>
      <p:sp>
        <p:nvSpPr>
          <p:cNvPr id="3" name="Text Placeholder 2"/>
          <p:cNvSpPr>
            <a:spLocks noGrp="1"/>
          </p:cNvSpPr>
          <p:nvPr>
            <p:ph type="body" idx="10" sz="quarter"/>
          </p:nvPr>
        </p:nvSpPr>
        <p:spPr/>
        <p:txBody>
          <a:bodyPr/>
          <a:lstStyle/>
          <a:p>
            <a:r>
              <a:rPr sz="3000"/>
              <a:t>What the agent can pick up to get the job done</a:t>
            </a:r>
          </a:p>
        </p:txBody>
      </p:sp>
      <p:sp>
        <p:nvSpPr>
          <p:cNvPr id="5" name="Rounded Rectangle 4"/>
          <p:cNvSpPr/>
          <p:nvPr/>
        </p:nvSpPr>
        <p:spPr>
          <a:xfrm>
            <a:off x="1252728" y="3154680"/>
            <a:ext cx="2898648" cy="3886200"/>
          </a:xfrm>
          <a:prstGeom prst="roundRect">
            <a:avLst>
              <a:gd name="adj" fmla="val 883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221992" y="2674620"/>
            <a:ext cx="960120" cy="96012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tabase_w.png"/>
          <p:cNvPicPr>
            <a:picLocks noChangeAspect="1"/>
          </p:cNvPicPr>
          <p:nvPr/>
        </p:nvPicPr>
        <p:blipFill>
          <a:blip r:embed="rId2"/>
          <a:stretch>
            <a:fillRect/>
          </a:stretch>
        </p:blipFill>
        <p:spPr>
          <a:xfrm>
            <a:off x="2452420" y="2905048"/>
            <a:ext cx="499262" cy="499262"/>
          </a:xfrm>
          <a:prstGeom prst="rect">
            <a:avLst/>
          </a:prstGeom>
        </p:spPr>
      </p:pic>
      <p:sp>
        <p:nvSpPr>
          <p:cNvPr id="8" name="TextBox 7"/>
          <p:cNvSpPr txBox="1"/>
          <p:nvPr/>
        </p:nvSpPr>
        <p:spPr>
          <a:xfrm>
            <a:off x="1435608" y="3886200"/>
            <a:ext cx="2532888" cy="868680"/>
          </a:xfrm>
          <a:prstGeom prst="rect">
            <a:avLst/>
          </a:prstGeom>
          <a:noFill/>
        </p:spPr>
        <p:txBody>
          <a:bodyPr wrap="square" lIns="45720" tIns="27432" rIns="45720" bIns="27432" anchor="t">
            <a:spAutoFit/>
          </a:bodyPr>
          <a:lstStyle/>
          <a:p>
            <a:pPr algn="ctr"/>
            <a:r>
              <a:rPr sz="1800">
                <a:solidFill>
                  <a:srgbClr val="262626"/>
                </a:solidFill>
                <a:latin typeface="+mj-lt"/>
              </a:rPr>
              <a:t>Data queries</a:t>
            </a:r>
          </a:p>
        </p:txBody>
      </p:sp>
      <p:sp>
        <p:nvSpPr>
          <p:cNvPr id="9" name="TextBox 8"/>
          <p:cNvSpPr txBox="1"/>
          <p:nvPr/>
        </p:nvSpPr>
        <p:spPr>
          <a:xfrm>
            <a:off x="1527048" y="4800600"/>
            <a:ext cx="2350008" cy="2103120"/>
          </a:xfrm>
          <a:prstGeom prst="rect">
            <a:avLst/>
          </a:prstGeom>
          <a:noFill/>
        </p:spPr>
        <p:txBody>
          <a:bodyPr wrap="square" lIns="45720" tIns="27432" rIns="45720" bIns="27432" anchor="t">
            <a:spAutoFit/>
          </a:bodyPr>
          <a:lstStyle/>
          <a:p>
            <a:pPr algn="ctr"/>
            <a:r>
              <a:rPr sz="1400">
                <a:solidFill>
                  <a:srgbClr val="262626"/>
                </a:solidFill>
              </a:rPr>
              <a:t>Read appointments, contact details, waiting list</a:t>
            </a:r>
          </a:p>
        </p:txBody>
      </p:sp>
      <p:sp>
        <p:nvSpPr>
          <p:cNvPr id="10" name="Rounded Rectangle 9"/>
          <p:cNvSpPr/>
          <p:nvPr/>
        </p:nvSpPr>
        <p:spPr>
          <a:xfrm>
            <a:off x="4471416" y="3154680"/>
            <a:ext cx="2898648" cy="3886200"/>
          </a:xfrm>
          <a:prstGeom prst="roundRect">
            <a:avLst>
              <a:gd name="adj" fmla="val 883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40680" y="2674620"/>
            <a:ext cx="960120" cy="96012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odel_w.png"/>
          <p:cNvPicPr>
            <a:picLocks noChangeAspect="1"/>
          </p:cNvPicPr>
          <p:nvPr/>
        </p:nvPicPr>
        <p:blipFill>
          <a:blip r:embed="rId3"/>
          <a:stretch>
            <a:fillRect/>
          </a:stretch>
        </p:blipFill>
        <p:spPr>
          <a:xfrm>
            <a:off x="5671108" y="2905048"/>
            <a:ext cx="499262" cy="499262"/>
          </a:xfrm>
          <a:prstGeom prst="rect">
            <a:avLst/>
          </a:prstGeom>
        </p:spPr>
      </p:pic>
      <p:sp>
        <p:nvSpPr>
          <p:cNvPr id="13" name="TextBox 12"/>
          <p:cNvSpPr txBox="1"/>
          <p:nvPr/>
        </p:nvSpPr>
        <p:spPr>
          <a:xfrm>
            <a:off x="4654296" y="3886200"/>
            <a:ext cx="2532888" cy="868680"/>
          </a:xfrm>
          <a:prstGeom prst="rect">
            <a:avLst/>
          </a:prstGeom>
          <a:noFill/>
        </p:spPr>
        <p:txBody>
          <a:bodyPr wrap="square" lIns="45720" tIns="27432" rIns="45720" bIns="27432" anchor="t">
            <a:spAutoFit/>
          </a:bodyPr>
          <a:lstStyle/>
          <a:p>
            <a:pPr algn="ctr"/>
            <a:r>
              <a:rPr sz="1800">
                <a:solidFill>
                  <a:srgbClr val="262626"/>
                </a:solidFill>
                <a:latin typeface="+mj-lt"/>
              </a:rPr>
              <a:t>AI / ML models</a:t>
            </a:r>
          </a:p>
        </p:txBody>
      </p:sp>
      <p:sp>
        <p:nvSpPr>
          <p:cNvPr id="14" name="TextBox 13"/>
          <p:cNvSpPr txBox="1"/>
          <p:nvPr/>
        </p:nvSpPr>
        <p:spPr>
          <a:xfrm>
            <a:off x="4745736" y="4800600"/>
            <a:ext cx="2350008" cy="2103120"/>
          </a:xfrm>
          <a:prstGeom prst="rect">
            <a:avLst/>
          </a:prstGeom>
          <a:noFill/>
        </p:spPr>
        <p:txBody>
          <a:bodyPr wrap="square" lIns="45720" tIns="27432" rIns="45720" bIns="27432" anchor="t">
            <a:spAutoFit/>
          </a:bodyPr>
          <a:lstStyle/>
          <a:p>
            <a:pPr algn="ctr"/>
            <a:r>
              <a:rPr sz="1400">
                <a:solidFill>
                  <a:srgbClr val="262626"/>
                </a:solidFill>
              </a:rPr>
              <a:t>No-show risk score, readmission risk, forecasts</a:t>
            </a:r>
          </a:p>
        </p:txBody>
      </p:sp>
      <p:sp>
        <p:nvSpPr>
          <p:cNvPr id="15" name="Rounded Rectangle 14"/>
          <p:cNvSpPr/>
          <p:nvPr/>
        </p:nvSpPr>
        <p:spPr>
          <a:xfrm>
            <a:off x="7690104" y="3154680"/>
            <a:ext cx="2898648" cy="3886200"/>
          </a:xfrm>
          <a:prstGeom prst="roundRect">
            <a:avLst>
              <a:gd name="adj" fmla="val 883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59368" y="2674620"/>
            <a:ext cx="960120" cy="96012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ules_w.png"/>
          <p:cNvPicPr>
            <a:picLocks noChangeAspect="1"/>
          </p:cNvPicPr>
          <p:nvPr/>
        </p:nvPicPr>
        <p:blipFill>
          <a:blip r:embed="rId4"/>
          <a:stretch>
            <a:fillRect/>
          </a:stretch>
        </p:blipFill>
        <p:spPr>
          <a:xfrm>
            <a:off x="8889796" y="2905048"/>
            <a:ext cx="499262" cy="499262"/>
          </a:xfrm>
          <a:prstGeom prst="rect">
            <a:avLst/>
          </a:prstGeom>
        </p:spPr>
      </p:pic>
      <p:sp>
        <p:nvSpPr>
          <p:cNvPr id="18" name="TextBox 17"/>
          <p:cNvSpPr txBox="1"/>
          <p:nvPr/>
        </p:nvSpPr>
        <p:spPr>
          <a:xfrm>
            <a:off x="7872983" y="3886200"/>
            <a:ext cx="2532888" cy="868680"/>
          </a:xfrm>
          <a:prstGeom prst="rect">
            <a:avLst/>
          </a:prstGeom>
          <a:noFill/>
        </p:spPr>
        <p:txBody>
          <a:bodyPr wrap="square" lIns="45720" tIns="27432" rIns="45720" bIns="27432" anchor="t">
            <a:spAutoFit/>
          </a:bodyPr>
          <a:lstStyle/>
          <a:p>
            <a:pPr algn="ctr"/>
            <a:r>
              <a:rPr sz="1800">
                <a:solidFill>
                  <a:srgbClr val="262626"/>
                </a:solidFill>
                <a:latin typeface="+mj-lt"/>
              </a:rPr>
              <a:t>Business rules</a:t>
            </a:r>
          </a:p>
        </p:txBody>
      </p:sp>
      <p:sp>
        <p:nvSpPr>
          <p:cNvPr id="19" name="TextBox 18"/>
          <p:cNvSpPr txBox="1"/>
          <p:nvPr/>
        </p:nvSpPr>
        <p:spPr>
          <a:xfrm>
            <a:off x="7964424" y="4800600"/>
            <a:ext cx="2350008" cy="2103120"/>
          </a:xfrm>
          <a:prstGeom prst="rect">
            <a:avLst/>
          </a:prstGeom>
          <a:noFill/>
        </p:spPr>
        <p:txBody>
          <a:bodyPr wrap="square" lIns="45720" tIns="27432" rIns="45720" bIns="27432" anchor="t">
            <a:spAutoFit/>
          </a:bodyPr>
          <a:lstStyle/>
          <a:p>
            <a:pPr algn="ctr"/>
            <a:r>
              <a:rPr sz="1400">
                <a:solidFill>
                  <a:srgbClr val="262626"/>
                </a:solidFill>
              </a:rPr>
              <a:t>Which appointment types may be moved, and how far</a:t>
            </a:r>
          </a:p>
        </p:txBody>
      </p:sp>
      <p:sp>
        <p:nvSpPr>
          <p:cNvPr id="20" name="Rounded Rectangle 19"/>
          <p:cNvSpPr/>
          <p:nvPr/>
        </p:nvSpPr>
        <p:spPr>
          <a:xfrm>
            <a:off x="10908792" y="3154680"/>
            <a:ext cx="2898648" cy="3886200"/>
          </a:xfrm>
          <a:prstGeom prst="roundRect">
            <a:avLst>
              <a:gd name="adj" fmla="val 883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878056" y="2674620"/>
            <a:ext cx="960120" cy="96012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pi_w.png"/>
          <p:cNvPicPr>
            <a:picLocks noChangeAspect="1"/>
          </p:cNvPicPr>
          <p:nvPr/>
        </p:nvPicPr>
        <p:blipFill>
          <a:blip r:embed="rId5"/>
          <a:stretch>
            <a:fillRect/>
          </a:stretch>
        </p:blipFill>
        <p:spPr>
          <a:xfrm>
            <a:off x="12108484" y="2905048"/>
            <a:ext cx="499262" cy="499262"/>
          </a:xfrm>
          <a:prstGeom prst="rect">
            <a:avLst/>
          </a:prstGeom>
        </p:spPr>
      </p:pic>
      <p:sp>
        <p:nvSpPr>
          <p:cNvPr id="23" name="TextBox 22"/>
          <p:cNvSpPr txBox="1"/>
          <p:nvPr/>
        </p:nvSpPr>
        <p:spPr>
          <a:xfrm>
            <a:off x="11091672" y="3886200"/>
            <a:ext cx="2532888" cy="868680"/>
          </a:xfrm>
          <a:prstGeom prst="rect">
            <a:avLst/>
          </a:prstGeom>
          <a:noFill/>
        </p:spPr>
        <p:txBody>
          <a:bodyPr wrap="square" lIns="45720" tIns="27432" rIns="45720" bIns="27432" anchor="t">
            <a:spAutoFit/>
          </a:bodyPr>
          <a:lstStyle/>
          <a:p>
            <a:pPr algn="ctr"/>
            <a:r>
              <a:rPr sz="1800">
                <a:solidFill>
                  <a:srgbClr val="262626"/>
                </a:solidFill>
                <a:latin typeface="+mj-lt"/>
              </a:rPr>
              <a:t>Applications &amp; channels</a:t>
            </a:r>
          </a:p>
        </p:txBody>
      </p:sp>
      <p:sp>
        <p:nvSpPr>
          <p:cNvPr id="24" name="TextBox 23"/>
          <p:cNvSpPr txBox="1"/>
          <p:nvPr/>
        </p:nvSpPr>
        <p:spPr>
          <a:xfrm>
            <a:off x="11183112" y="4800600"/>
            <a:ext cx="2350008" cy="2103120"/>
          </a:xfrm>
          <a:prstGeom prst="rect">
            <a:avLst/>
          </a:prstGeom>
          <a:noFill/>
        </p:spPr>
        <p:txBody>
          <a:bodyPr wrap="square" lIns="45720" tIns="27432" rIns="45720" bIns="27432" anchor="t">
            <a:spAutoFit/>
          </a:bodyPr>
          <a:lstStyle/>
          <a:p>
            <a:pPr algn="ctr"/>
            <a:r>
              <a:rPr sz="1400">
                <a:solidFill>
                  <a:srgbClr val="262626"/>
                </a:solidFill>
              </a:rPr>
              <a:t>WhatsApp / SMS, e-mail, booking system, ticket queue</a:t>
            </a:r>
          </a:p>
        </p:txBody>
      </p:sp>
      <p:sp>
        <p:nvSpPr>
          <p:cNvPr id="25" name="Rounded Rectangle 24"/>
          <p:cNvSpPr/>
          <p:nvPr/>
        </p:nvSpPr>
        <p:spPr>
          <a:xfrm>
            <a:off x="14127480" y="3154680"/>
            <a:ext cx="2898648" cy="3886200"/>
          </a:xfrm>
          <a:prstGeom prst="roundRect">
            <a:avLst>
              <a:gd name="adj" fmla="val 883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096744" y="2674620"/>
            <a:ext cx="960120" cy="96012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agents_w.png"/>
          <p:cNvPicPr>
            <a:picLocks noChangeAspect="1"/>
          </p:cNvPicPr>
          <p:nvPr/>
        </p:nvPicPr>
        <p:blipFill>
          <a:blip r:embed="rId6"/>
          <a:stretch>
            <a:fillRect/>
          </a:stretch>
        </p:blipFill>
        <p:spPr>
          <a:xfrm>
            <a:off x="15327172" y="2905048"/>
            <a:ext cx="499262" cy="499262"/>
          </a:xfrm>
          <a:prstGeom prst="rect">
            <a:avLst/>
          </a:prstGeom>
        </p:spPr>
      </p:pic>
      <p:sp>
        <p:nvSpPr>
          <p:cNvPr id="28" name="TextBox 27"/>
          <p:cNvSpPr txBox="1"/>
          <p:nvPr/>
        </p:nvSpPr>
        <p:spPr>
          <a:xfrm>
            <a:off x="14310359" y="3886200"/>
            <a:ext cx="2532888" cy="868680"/>
          </a:xfrm>
          <a:prstGeom prst="rect">
            <a:avLst/>
          </a:prstGeom>
          <a:noFill/>
        </p:spPr>
        <p:txBody>
          <a:bodyPr wrap="square" lIns="45720" tIns="27432" rIns="45720" bIns="27432" anchor="t">
            <a:spAutoFit/>
          </a:bodyPr>
          <a:lstStyle/>
          <a:p>
            <a:pPr algn="ctr"/>
            <a:r>
              <a:rPr sz="1800">
                <a:solidFill>
                  <a:srgbClr val="262626"/>
                </a:solidFill>
                <a:latin typeface="+mj-lt"/>
              </a:rPr>
              <a:t>Other agents</a:t>
            </a:r>
          </a:p>
        </p:txBody>
      </p:sp>
      <p:sp>
        <p:nvSpPr>
          <p:cNvPr id="29" name="TextBox 28"/>
          <p:cNvSpPr txBox="1"/>
          <p:nvPr/>
        </p:nvSpPr>
        <p:spPr>
          <a:xfrm>
            <a:off x="14401800" y="4800600"/>
            <a:ext cx="2350008" cy="2103120"/>
          </a:xfrm>
          <a:prstGeom prst="rect">
            <a:avLst/>
          </a:prstGeom>
          <a:noFill/>
        </p:spPr>
        <p:txBody>
          <a:bodyPr wrap="square" lIns="45720" tIns="27432" rIns="45720" bIns="27432" anchor="t">
            <a:spAutoFit/>
          </a:bodyPr>
          <a:lstStyle/>
          <a:p>
            <a:pPr algn="ctr"/>
            <a:r>
              <a:rPr sz="1400">
                <a:solidFill>
                  <a:srgbClr val="262626"/>
                </a:solidFill>
              </a:rPr>
              <a:t>A waiting-list agent, a translation agent</a:t>
            </a:r>
          </a:p>
        </p:txBody>
      </p:sp>
      <p:sp>
        <p:nvSpPr>
          <p:cNvPr id="30" name="Rounded Rectangle 29"/>
          <p:cNvSpPr/>
          <p:nvPr/>
        </p:nvSpPr>
        <p:spPr>
          <a:xfrm>
            <a:off x="1252728" y="7452360"/>
            <a:ext cx="15773400" cy="1874519"/>
          </a:xfrm>
          <a:prstGeom prst="roundRect">
            <a:avLst>
              <a:gd name="adj" fmla="val 13658"/>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key_n.png"/>
          <p:cNvPicPr>
            <a:picLocks noChangeAspect="1"/>
          </p:cNvPicPr>
          <p:nvPr/>
        </p:nvPicPr>
        <p:blipFill>
          <a:blip r:embed="rId7"/>
          <a:stretch>
            <a:fillRect/>
          </a:stretch>
        </p:blipFill>
        <p:spPr>
          <a:xfrm>
            <a:off x="1664208" y="7909560"/>
            <a:ext cx="914400" cy="914400"/>
          </a:xfrm>
          <a:prstGeom prst="rect">
            <a:avLst/>
          </a:prstGeom>
        </p:spPr>
      </p:pic>
      <p:sp>
        <p:nvSpPr>
          <p:cNvPr id="32" name="TextBox 31"/>
          <p:cNvSpPr txBox="1"/>
          <p:nvPr/>
        </p:nvSpPr>
        <p:spPr>
          <a:xfrm>
            <a:off x="2944368" y="7635240"/>
            <a:ext cx="13761720" cy="1554480"/>
          </a:xfrm>
          <a:prstGeom prst="rect">
            <a:avLst/>
          </a:prstGeom>
          <a:noFill/>
        </p:spPr>
        <p:txBody>
          <a:bodyPr wrap="square" lIns="45720" tIns="27432" rIns="45720" bIns="27432" anchor="ctr">
            <a:spAutoFit/>
          </a:bodyPr>
          <a:lstStyle/>
          <a:p>
            <a:pPr algn="l"/>
            <a:r>
              <a:rPr sz="1800">
                <a:solidFill>
                  <a:srgbClr val="032954"/>
                </a:solidFill>
              </a:rPr>
              <a:t>The model never runs a tool itself. It </a:t>
            </a:r>
            <a:r>
              <a:rPr sz="1800">
                <a:solidFill>
                  <a:srgbClr val="032954"/>
                </a:solidFill>
                <a:latin typeface="+mj-lt"/>
              </a:rPr>
              <a:t>asks</a:t>
            </a:r>
            <a:r>
              <a:rPr sz="1800">
                <a:solidFill>
                  <a:srgbClr val="032954"/>
                </a:solidFill>
              </a:rPr>
              <a:t>; the agent runtime </a:t>
            </a:r>
            <a:r>
              <a:rPr sz="1800">
                <a:solidFill>
                  <a:srgbClr val="032954"/>
                </a:solidFill>
                <a:latin typeface="+mj-lt"/>
              </a:rPr>
              <a:t>executes</a:t>
            </a:r>
            <a:r>
              <a:rPr sz="1800">
                <a:solidFill>
                  <a:srgbClr val="032954"/>
                </a:solidFill>
              </a:rPr>
              <a:t>, with the permissions we granted.</a:t>
            </a:r>
          </a:p>
          <a:p>
            <a:pPr algn="l">
              <a:spcBef>
                <a:spcPts val="600"/>
              </a:spcBef>
            </a:pPr>
            <a:r>
              <a:rPr sz="1400">
                <a:solidFill>
                  <a:srgbClr val="7E889A"/>
                </a:solidFill>
              </a:rPr>
              <a:t>Tools are described to the model in plain language (“check free slots for a clinic and date”). Standards such as MCP make tools plug-and-play; you will connect one yourself in Session 5 this afternoon.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5 · Actions</a:t>
            </a:r>
          </a:p>
        </p:txBody>
      </p:sp>
      <p:sp>
        <p:nvSpPr>
          <p:cNvPr id="3" name="Text Placeholder 2"/>
          <p:cNvSpPr>
            <a:spLocks noGrp="1"/>
          </p:cNvSpPr>
          <p:nvPr>
            <p:ph type="body" idx="10" sz="quarter"/>
          </p:nvPr>
        </p:nvSpPr>
        <p:spPr/>
        <p:txBody>
          <a:bodyPr/>
          <a:lstStyle/>
          <a:p>
            <a:r>
              <a:rPr sz="3000"/>
              <a:t>Not all actions are equal: reading is cheap, writing is a commitment</a:t>
            </a:r>
          </a:p>
        </p:txBody>
      </p:sp>
      <p:sp>
        <p:nvSpPr>
          <p:cNvPr id="5" name="Right Arrow 4"/>
          <p:cNvSpPr/>
          <p:nvPr/>
        </p:nvSpPr>
        <p:spPr>
          <a:xfrm>
            <a:off x="1252728" y="2743200"/>
            <a:ext cx="15773400" cy="566928"/>
          </a:xfrm>
          <a:prstGeom prst="rightArrow">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18488" y="2743200"/>
            <a:ext cx="14676120" cy="566928"/>
          </a:xfrm>
          <a:prstGeom prst="rect">
            <a:avLst/>
          </a:prstGeom>
          <a:noFill/>
        </p:spPr>
        <p:txBody>
          <a:bodyPr wrap="square" lIns="45720" tIns="27432" rIns="45720" bIns="27432" anchor="ctr">
            <a:spAutoFit/>
          </a:bodyPr>
          <a:lstStyle/>
          <a:p>
            <a:pPr algn="l"/>
            <a:r>
              <a:rPr sz="1600">
                <a:solidFill>
                  <a:srgbClr val="032954"/>
                </a:solidFill>
                <a:latin typeface="+mj-lt"/>
              </a:rPr>
              <a:t>Increasing impact  →  stronger controls</a:t>
            </a:r>
          </a:p>
        </p:txBody>
      </p:sp>
      <p:sp>
        <p:nvSpPr>
          <p:cNvPr id="7" name="Rounded Rectangle 6"/>
          <p:cNvSpPr/>
          <p:nvPr/>
        </p:nvSpPr>
        <p:spPr>
          <a:xfrm>
            <a:off x="1252728" y="3657600"/>
            <a:ext cx="3669030" cy="457200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27048" y="3977639"/>
            <a:ext cx="3120390" cy="685800"/>
          </a:xfrm>
          <a:prstGeom prst="roundRect">
            <a:avLst>
              <a:gd name="adj" fmla="val 50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600">
                <a:solidFill>
                  <a:srgbClr val="032954"/>
                </a:solidFill>
                <a:latin typeface="+mj-lt"/>
              </a:rPr>
              <a:t>READ</a:t>
            </a:r>
          </a:p>
        </p:txBody>
      </p:sp>
      <p:sp>
        <p:nvSpPr>
          <p:cNvPr id="9" name="TextBox 8"/>
          <p:cNvSpPr txBox="1"/>
          <p:nvPr/>
        </p:nvSpPr>
        <p:spPr>
          <a:xfrm>
            <a:off x="1572768" y="4892040"/>
            <a:ext cx="3028950" cy="1463040"/>
          </a:xfrm>
          <a:prstGeom prst="rect">
            <a:avLst/>
          </a:prstGeom>
          <a:noFill/>
        </p:spPr>
        <p:txBody>
          <a:bodyPr wrap="square" lIns="45720" tIns="27432" rIns="45720" bIns="27432" anchor="t">
            <a:spAutoFit/>
          </a:bodyPr>
          <a:lstStyle/>
          <a:p>
            <a:pPr algn="l"/>
            <a:r>
              <a:rPr sz="1700">
                <a:solidFill>
                  <a:srgbClr val="262626"/>
                </a:solidFill>
                <a:latin typeface="+mj-lt"/>
              </a:rPr>
              <a:t>Look up tomorrow's appointments</a:t>
            </a:r>
          </a:p>
        </p:txBody>
      </p:sp>
      <p:sp>
        <p:nvSpPr>
          <p:cNvPr id="10" name="TextBox 9"/>
          <p:cNvSpPr txBox="1"/>
          <p:nvPr/>
        </p:nvSpPr>
        <p:spPr>
          <a:xfrm>
            <a:off x="1572768" y="6263640"/>
            <a:ext cx="3028950" cy="1188720"/>
          </a:xfrm>
          <a:prstGeom prst="rect">
            <a:avLst/>
          </a:prstGeom>
          <a:noFill/>
        </p:spPr>
        <p:txBody>
          <a:bodyPr wrap="square" lIns="45720" tIns="27432" rIns="45720" bIns="27432" anchor="t">
            <a:spAutoFit/>
          </a:bodyPr>
          <a:lstStyle/>
          <a:p>
            <a:pPr algn="l"/>
            <a:r>
              <a:rPr sz="1500">
                <a:solidFill>
                  <a:srgbClr val="262626"/>
                </a:solidFill>
              </a:rPr>
              <a:t>No side effects. The world is unchanged.</a:t>
            </a:r>
          </a:p>
        </p:txBody>
      </p:sp>
      <p:sp>
        <p:nvSpPr>
          <p:cNvPr id="11" name="TextBox 10"/>
          <p:cNvSpPr txBox="1"/>
          <p:nvPr/>
        </p:nvSpPr>
        <p:spPr>
          <a:xfrm>
            <a:off x="1572768" y="7452360"/>
            <a:ext cx="3028950" cy="548640"/>
          </a:xfrm>
          <a:prstGeom prst="rect">
            <a:avLst/>
          </a:prstGeom>
          <a:noFill/>
        </p:spPr>
        <p:txBody>
          <a:bodyPr wrap="square" lIns="45720" tIns="27432" rIns="45720" bIns="27432" anchor="t">
            <a:spAutoFit/>
          </a:bodyPr>
          <a:lstStyle/>
          <a:p>
            <a:pPr algn="l"/>
            <a:r>
              <a:rPr sz="1400">
                <a:solidFill>
                  <a:srgbClr val="0766D1"/>
                </a:solidFill>
                <a:latin typeface="+mj-lt"/>
              </a:rPr>
              <a:t>Free to run</a:t>
            </a:r>
          </a:p>
        </p:txBody>
      </p:sp>
      <p:sp>
        <p:nvSpPr>
          <p:cNvPr id="12" name="Rounded Rectangle 11"/>
          <p:cNvSpPr/>
          <p:nvPr/>
        </p:nvSpPr>
        <p:spPr>
          <a:xfrm>
            <a:off x="5287518" y="3657600"/>
            <a:ext cx="3669030" cy="457200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561838" y="3977639"/>
            <a:ext cx="3120390" cy="685800"/>
          </a:xfrm>
          <a:prstGeom prst="roundRect">
            <a:avLst>
              <a:gd name="adj" fmla="val 50000"/>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600">
                <a:solidFill>
                  <a:srgbClr val="FFFFFF"/>
                </a:solidFill>
                <a:latin typeface="+mj-lt"/>
              </a:rPr>
              <a:t>SUGGEST</a:t>
            </a:r>
          </a:p>
        </p:txBody>
      </p:sp>
      <p:sp>
        <p:nvSpPr>
          <p:cNvPr id="14" name="TextBox 13"/>
          <p:cNvSpPr txBox="1"/>
          <p:nvPr/>
        </p:nvSpPr>
        <p:spPr>
          <a:xfrm>
            <a:off x="5607558" y="4892040"/>
            <a:ext cx="3028950" cy="1463040"/>
          </a:xfrm>
          <a:prstGeom prst="rect">
            <a:avLst/>
          </a:prstGeom>
          <a:noFill/>
        </p:spPr>
        <p:txBody>
          <a:bodyPr wrap="square" lIns="45720" tIns="27432" rIns="45720" bIns="27432" anchor="t">
            <a:spAutoFit/>
          </a:bodyPr>
          <a:lstStyle/>
          <a:p>
            <a:pPr algn="l"/>
            <a:r>
              <a:rPr sz="1700">
                <a:solidFill>
                  <a:srgbClr val="262626"/>
                </a:solidFill>
                <a:latin typeface="+mj-lt"/>
              </a:rPr>
              <a:t>Draft a reminder message for a person to send</a:t>
            </a:r>
          </a:p>
        </p:txBody>
      </p:sp>
      <p:sp>
        <p:nvSpPr>
          <p:cNvPr id="15" name="TextBox 14"/>
          <p:cNvSpPr txBox="1"/>
          <p:nvPr/>
        </p:nvSpPr>
        <p:spPr>
          <a:xfrm>
            <a:off x="5607558" y="6263640"/>
            <a:ext cx="3028950" cy="1188720"/>
          </a:xfrm>
          <a:prstGeom prst="rect">
            <a:avLst/>
          </a:prstGeom>
          <a:noFill/>
        </p:spPr>
        <p:txBody>
          <a:bodyPr wrap="square" lIns="45720" tIns="27432" rIns="45720" bIns="27432" anchor="t">
            <a:spAutoFit/>
          </a:bodyPr>
          <a:lstStyle/>
          <a:p>
            <a:pPr algn="l"/>
            <a:r>
              <a:rPr sz="1500">
                <a:solidFill>
                  <a:srgbClr val="262626"/>
                </a:solidFill>
              </a:rPr>
              <a:t>Nothing happens until a human acts.</a:t>
            </a:r>
          </a:p>
        </p:txBody>
      </p:sp>
      <p:sp>
        <p:nvSpPr>
          <p:cNvPr id="16" name="TextBox 15"/>
          <p:cNvSpPr txBox="1"/>
          <p:nvPr/>
        </p:nvSpPr>
        <p:spPr>
          <a:xfrm>
            <a:off x="5607558" y="7452360"/>
            <a:ext cx="3028950" cy="548640"/>
          </a:xfrm>
          <a:prstGeom prst="rect">
            <a:avLst/>
          </a:prstGeom>
          <a:noFill/>
        </p:spPr>
        <p:txBody>
          <a:bodyPr wrap="square" lIns="45720" tIns="27432" rIns="45720" bIns="27432" anchor="t">
            <a:spAutoFit/>
          </a:bodyPr>
          <a:lstStyle/>
          <a:p>
            <a:pPr algn="l"/>
            <a:r>
              <a:rPr sz="1400">
                <a:solidFill>
                  <a:srgbClr val="0766D1"/>
                </a:solidFill>
                <a:latin typeface="+mj-lt"/>
              </a:rPr>
              <a:t>Human sends</a:t>
            </a:r>
          </a:p>
        </p:txBody>
      </p:sp>
      <p:sp>
        <p:nvSpPr>
          <p:cNvPr id="17" name="Rounded Rectangle 16"/>
          <p:cNvSpPr/>
          <p:nvPr/>
        </p:nvSpPr>
        <p:spPr>
          <a:xfrm>
            <a:off x="9322308" y="3657600"/>
            <a:ext cx="3669030" cy="457200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596628" y="3977639"/>
            <a:ext cx="3120390" cy="685800"/>
          </a:xfrm>
          <a:prstGeom prst="roundRect">
            <a:avLst>
              <a:gd name="adj" fmla="val 50000"/>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600">
                <a:solidFill>
                  <a:srgbClr val="FFFFFF"/>
                </a:solidFill>
                <a:latin typeface="+mj-lt"/>
              </a:rPr>
              <a:t>ACT · reversible</a:t>
            </a:r>
          </a:p>
        </p:txBody>
      </p:sp>
      <p:sp>
        <p:nvSpPr>
          <p:cNvPr id="19" name="TextBox 18"/>
          <p:cNvSpPr txBox="1"/>
          <p:nvPr/>
        </p:nvSpPr>
        <p:spPr>
          <a:xfrm>
            <a:off x="9642348" y="4892040"/>
            <a:ext cx="3028950" cy="1463040"/>
          </a:xfrm>
          <a:prstGeom prst="rect">
            <a:avLst/>
          </a:prstGeom>
          <a:noFill/>
        </p:spPr>
        <p:txBody>
          <a:bodyPr wrap="square" lIns="45720" tIns="27432" rIns="45720" bIns="27432" anchor="t">
            <a:spAutoFit/>
          </a:bodyPr>
          <a:lstStyle/>
          <a:p>
            <a:pPr algn="l"/>
            <a:r>
              <a:rPr sz="1700">
                <a:solidFill>
                  <a:srgbClr val="262626"/>
                </a:solidFill>
                <a:latin typeface="+mj-lt"/>
              </a:rPr>
              <a:t>Send a reminder, book a slot</a:t>
            </a:r>
          </a:p>
        </p:txBody>
      </p:sp>
      <p:sp>
        <p:nvSpPr>
          <p:cNvPr id="20" name="TextBox 19"/>
          <p:cNvSpPr txBox="1"/>
          <p:nvPr/>
        </p:nvSpPr>
        <p:spPr>
          <a:xfrm>
            <a:off x="9642348" y="6263640"/>
            <a:ext cx="3028950" cy="1188720"/>
          </a:xfrm>
          <a:prstGeom prst="rect">
            <a:avLst/>
          </a:prstGeom>
          <a:noFill/>
        </p:spPr>
        <p:txBody>
          <a:bodyPr wrap="square" lIns="45720" tIns="27432" rIns="45720" bIns="27432" anchor="t">
            <a:spAutoFit/>
          </a:bodyPr>
          <a:lstStyle/>
          <a:p>
            <a:pPr algn="l"/>
            <a:r>
              <a:rPr sz="1500">
                <a:solidFill>
                  <a:srgbClr val="262626"/>
                </a:solidFill>
              </a:rPr>
              <a:t>Can be undone. A mistake costs a little time.</a:t>
            </a:r>
          </a:p>
        </p:txBody>
      </p:sp>
      <p:sp>
        <p:nvSpPr>
          <p:cNvPr id="21" name="TextBox 20"/>
          <p:cNvSpPr txBox="1"/>
          <p:nvPr/>
        </p:nvSpPr>
        <p:spPr>
          <a:xfrm>
            <a:off x="9642348" y="7452360"/>
            <a:ext cx="3028950" cy="548640"/>
          </a:xfrm>
          <a:prstGeom prst="rect">
            <a:avLst/>
          </a:prstGeom>
          <a:noFill/>
        </p:spPr>
        <p:txBody>
          <a:bodyPr wrap="square" lIns="45720" tIns="27432" rIns="45720" bIns="27432" anchor="t">
            <a:spAutoFit/>
          </a:bodyPr>
          <a:lstStyle/>
          <a:p>
            <a:pPr algn="l"/>
            <a:r>
              <a:rPr sz="1400">
                <a:solidFill>
                  <a:srgbClr val="0766D1"/>
                </a:solidFill>
                <a:latin typeface="+mj-lt"/>
              </a:rPr>
              <a:t>Log it, monitor it</a:t>
            </a:r>
          </a:p>
        </p:txBody>
      </p:sp>
      <p:sp>
        <p:nvSpPr>
          <p:cNvPr id="22" name="Rounded Rectangle 21"/>
          <p:cNvSpPr/>
          <p:nvPr/>
        </p:nvSpPr>
        <p:spPr>
          <a:xfrm>
            <a:off x="13357098" y="3657600"/>
            <a:ext cx="3669030" cy="457200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3631418" y="3977639"/>
            <a:ext cx="3120390" cy="685800"/>
          </a:xfrm>
          <a:prstGeom prst="roundRect">
            <a:avLst>
              <a:gd name="adj" fmla="val 50000"/>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600">
                <a:solidFill>
                  <a:srgbClr val="FFFFFF"/>
                </a:solidFill>
                <a:latin typeface="+mj-lt"/>
              </a:rPr>
              <a:t>ACT · irreversible</a:t>
            </a:r>
          </a:p>
        </p:txBody>
      </p:sp>
      <p:sp>
        <p:nvSpPr>
          <p:cNvPr id="24" name="TextBox 23"/>
          <p:cNvSpPr txBox="1"/>
          <p:nvPr/>
        </p:nvSpPr>
        <p:spPr>
          <a:xfrm>
            <a:off x="13677138" y="4892040"/>
            <a:ext cx="3028950" cy="1463040"/>
          </a:xfrm>
          <a:prstGeom prst="rect">
            <a:avLst/>
          </a:prstGeom>
          <a:noFill/>
        </p:spPr>
        <p:txBody>
          <a:bodyPr wrap="square" lIns="45720" tIns="27432" rIns="45720" bIns="27432" anchor="t">
            <a:spAutoFit/>
          </a:bodyPr>
          <a:lstStyle/>
          <a:p>
            <a:pPr algn="l"/>
            <a:r>
              <a:rPr sz="1700">
                <a:solidFill>
                  <a:srgbClr val="262626"/>
                </a:solidFill>
                <a:latin typeface="+mj-lt"/>
              </a:rPr>
              <a:t>Cancel an appointment, send a clinical instruction</a:t>
            </a:r>
          </a:p>
        </p:txBody>
      </p:sp>
      <p:sp>
        <p:nvSpPr>
          <p:cNvPr id="25" name="TextBox 24"/>
          <p:cNvSpPr txBox="1"/>
          <p:nvPr/>
        </p:nvSpPr>
        <p:spPr>
          <a:xfrm>
            <a:off x="13677138" y="6263640"/>
            <a:ext cx="3028950" cy="1188720"/>
          </a:xfrm>
          <a:prstGeom prst="rect">
            <a:avLst/>
          </a:prstGeom>
          <a:noFill/>
        </p:spPr>
        <p:txBody>
          <a:bodyPr wrap="square" lIns="45720" tIns="27432" rIns="45720" bIns="27432" anchor="t">
            <a:spAutoFit/>
          </a:bodyPr>
          <a:lstStyle/>
          <a:p>
            <a:pPr algn="l"/>
            <a:r>
              <a:rPr sz="1500">
                <a:solidFill>
                  <a:srgbClr val="262626"/>
                </a:solidFill>
              </a:rPr>
              <a:t>Cannot be undone. A mistake costs trust, or worse.</a:t>
            </a:r>
          </a:p>
        </p:txBody>
      </p:sp>
      <p:sp>
        <p:nvSpPr>
          <p:cNvPr id="26" name="TextBox 25"/>
          <p:cNvSpPr txBox="1"/>
          <p:nvPr/>
        </p:nvSpPr>
        <p:spPr>
          <a:xfrm>
            <a:off x="13677138" y="7452360"/>
            <a:ext cx="3028950" cy="548640"/>
          </a:xfrm>
          <a:prstGeom prst="rect">
            <a:avLst/>
          </a:prstGeom>
          <a:noFill/>
        </p:spPr>
        <p:txBody>
          <a:bodyPr wrap="square" lIns="45720" tIns="27432" rIns="45720" bIns="27432" anchor="t">
            <a:spAutoFit/>
          </a:bodyPr>
          <a:lstStyle/>
          <a:p>
            <a:pPr algn="l"/>
            <a:r>
              <a:rPr sz="1400">
                <a:solidFill>
                  <a:srgbClr val="0766D1"/>
                </a:solidFill>
                <a:latin typeface="+mj-lt"/>
              </a:rPr>
              <a:t>Approval or human only</a:t>
            </a:r>
          </a:p>
        </p:txBody>
      </p:sp>
      <p:sp>
        <p:nvSpPr>
          <p:cNvPr id="27" name="Rounded Rectangle 26"/>
          <p:cNvSpPr/>
          <p:nvPr/>
        </p:nvSpPr>
        <p:spPr>
          <a:xfrm>
            <a:off x="1252728" y="8503920"/>
            <a:ext cx="15773400" cy="822960"/>
          </a:xfrm>
          <a:prstGeom prst="roundRect">
            <a:avLst>
              <a:gd name="adj" fmla="val 24444"/>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liders_n.png"/>
          <p:cNvPicPr>
            <a:picLocks noChangeAspect="1"/>
          </p:cNvPicPr>
          <p:nvPr/>
        </p:nvPicPr>
        <p:blipFill>
          <a:blip r:embed="rId2"/>
          <a:stretch>
            <a:fillRect/>
          </a:stretch>
        </p:blipFill>
        <p:spPr>
          <a:xfrm>
            <a:off x="1572768" y="8686800"/>
            <a:ext cx="457200" cy="457200"/>
          </a:xfrm>
          <a:prstGeom prst="rect">
            <a:avLst/>
          </a:prstGeom>
        </p:spPr>
      </p:pic>
      <p:sp>
        <p:nvSpPr>
          <p:cNvPr id="29" name="TextBox 28"/>
          <p:cNvSpPr txBox="1"/>
          <p:nvPr/>
        </p:nvSpPr>
        <p:spPr>
          <a:xfrm>
            <a:off x="2304288" y="8613648"/>
            <a:ext cx="14447520" cy="603504"/>
          </a:xfrm>
          <a:prstGeom prst="rect">
            <a:avLst/>
          </a:prstGeom>
          <a:noFill/>
        </p:spPr>
        <p:txBody>
          <a:bodyPr wrap="square" lIns="45720" tIns="27432" rIns="45720" bIns="27432" anchor="ctr">
            <a:spAutoFit/>
          </a:bodyPr>
          <a:lstStyle/>
          <a:p>
            <a:pPr algn="l"/>
            <a:r>
              <a:rPr sz="1600">
                <a:solidFill>
                  <a:srgbClr val="032954"/>
                </a:solidFill>
              </a:rPr>
              <a:t>We will use this ladder in section 4 to decide how much autonomy each action gets.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6 · Human oversight</a:t>
            </a:r>
          </a:p>
        </p:txBody>
      </p:sp>
      <p:sp>
        <p:nvSpPr>
          <p:cNvPr id="3" name="Text Placeholder 2"/>
          <p:cNvSpPr>
            <a:spLocks noGrp="1"/>
          </p:cNvSpPr>
          <p:nvPr>
            <p:ph type="body" idx="10" sz="quarter"/>
          </p:nvPr>
        </p:nvSpPr>
        <p:spPr/>
        <p:txBody>
          <a:bodyPr/>
          <a:lstStyle/>
          <a:p>
            <a:r>
              <a:rPr sz="3000"/>
              <a:t>People stay in charge at three moments</a:t>
            </a:r>
          </a:p>
        </p:txBody>
      </p:sp>
      <p:sp>
        <p:nvSpPr>
          <p:cNvPr id="5" name="Rounded Rectangle 4"/>
          <p:cNvSpPr/>
          <p:nvPr/>
        </p:nvSpPr>
        <p:spPr>
          <a:xfrm>
            <a:off x="1252728" y="3154680"/>
            <a:ext cx="4983480" cy="5074920"/>
          </a:xfrm>
          <a:prstGeom prst="roundRect">
            <a:avLst>
              <a:gd name="adj" fmla="val 513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218688" y="2628900"/>
            <a:ext cx="1051560" cy="105156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ipboard_w.png"/>
          <p:cNvPicPr>
            <a:picLocks noChangeAspect="1"/>
          </p:cNvPicPr>
          <p:nvPr/>
        </p:nvPicPr>
        <p:blipFill>
          <a:blip r:embed="rId2"/>
          <a:stretch>
            <a:fillRect/>
          </a:stretch>
        </p:blipFill>
        <p:spPr>
          <a:xfrm>
            <a:off x="3471062" y="2881274"/>
            <a:ext cx="546811" cy="546811"/>
          </a:xfrm>
          <a:prstGeom prst="rect">
            <a:avLst/>
          </a:prstGeom>
        </p:spPr>
      </p:pic>
      <p:sp>
        <p:nvSpPr>
          <p:cNvPr id="8" name="TextBox 7"/>
          <p:cNvSpPr txBox="1"/>
          <p:nvPr/>
        </p:nvSpPr>
        <p:spPr>
          <a:xfrm>
            <a:off x="1527048" y="3886200"/>
            <a:ext cx="4434840" cy="502920"/>
          </a:xfrm>
          <a:prstGeom prst="rect">
            <a:avLst/>
          </a:prstGeom>
          <a:noFill/>
        </p:spPr>
        <p:txBody>
          <a:bodyPr wrap="square" lIns="45720" tIns="27432" rIns="45720" bIns="27432" anchor="t">
            <a:spAutoFit/>
          </a:bodyPr>
          <a:lstStyle/>
          <a:p>
            <a:pPr algn="ctr"/>
            <a:r>
              <a:rPr sz="2400">
                <a:solidFill>
                  <a:srgbClr val="262626"/>
                </a:solidFill>
                <a:latin typeface="+mj-lt"/>
              </a:rPr>
              <a:t>Before</a:t>
            </a:r>
          </a:p>
        </p:txBody>
      </p:sp>
      <p:sp>
        <p:nvSpPr>
          <p:cNvPr id="9" name="TextBox 8"/>
          <p:cNvSpPr txBox="1"/>
          <p:nvPr/>
        </p:nvSpPr>
        <p:spPr>
          <a:xfrm>
            <a:off x="1527048" y="4389120"/>
            <a:ext cx="4434840" cy="411480"/>
          </a:xfrm>
          <a:prstGeom prst="rect">
            <a:avLst/>
          </a:prstGeom>
          <a:noFill/>
        </p:spPr>
        <p:txBody>
          <a:bodyPr wrap="square" lIns="45720" tIns="27432" rIns="45720" bIns="27432" anchor="t">
            <a:spAutoFit/>
          </a:bodyPr>
          <a:lstStyle/>
          <a:p>
            <a:pPr algn="ctr"/>
            <a:r>
              <a:rPr sz="1500">
                <a:solidFill>
                  <a:srgbClr val="7E889A"/>
                </a:solidFill>
              </a:rPr>
              <a:t>Design time</a:t>
            </a:r>
          </a:p>
        </p:txBody>
      </p:sp>
      <p:sp>
        <p:nvSpPr>
          <p:cNvPr id="10" name="TextBox 9"/>
          <p:cNvSpPr txBox="1"/>
          <p:nvPr/>
        </p:nvSpPr>
        <p:spPr>
          <a:xfrm>
            <a:off x="1709928" y="4983480"/>
            <a:ext cx="4160520" cy="3108960"/>
          </a:xfrm>
          <a:prstGeom prst="rect">
            <a:avLst/>
          </a:prstGeom>
          <a:noFill/>
        </p:spPr>
        <p:txBody>
          <a:bodyPr wrap="square" lIns="45720" tIns="27432" rIns="45720" bIns="27432" anchor="t">
            <a:spAutoFit/>
          </a:bodyPr>
          <a:lstStyle/>
          <a:p>
            <a:pPr algn="l" marL="237744" indent="-237744">
              <a:spcAft>
                <a:spcPts val="700"/>
              </a:spcAft>
              <a:buClr>
                <a:srgbClr val="0766D1"/>
              </a:buClr>
              <a:buFont typeface="Arial"/>
              <a:buChar char="•"/>
            </a:pPr>
            <a:r>
              <a:rPr sz="1600">
                <a:solidFill>
                  <a:srgbClr val="262626"/>
                </a:solidFill>
              </a:rPr>
              <a:t>Write the goal and the must-never rules</a:t>
            </a:r>
          </a:p>
          <a:p>
            <a:pPr algn="l" marL="237744" indent="-237744">
              <a:spcAft>
                <a:spcPts val="700"/>
              </a:spcAft>
              <a:buClr>
                <a:srgbClr val="0766D1"/>
              </a:buClr>
              <a:buFont typeface="Arial"/>
              <a:buChar char="•"/>
            </a:pPr>
            <a:r>
              <a:rPr sz="1600">
                <a:solidFill>
                  <a:srgbClr val="262626"/>
                </a:solidFill>
              </a:rPr>
              <a:t>Choose the tools and the permissions</a:t>
            </a:r>
          </a:p>
          <a:p>
            <a:pPr algn="l" marL="237744" indent="-237744">
              <a:spcAft>
                <a:spcPts val="700"/>
              </a:spcAft>
              <a:buClr>
                <a:srgbClr val="0766D1"/>
              </a:buClr>
              <a:buFont typeface="Arial"/>
              <a:buChar char="•"/>
            </a:pPr>
            <a:r>
              <a:rPr sz="1600">
                <a:solidFill>
                  <a:srgbClr val="262626"/>
                </a:solidFill>
              </a:rPr>
              <a:t>Set the limits and the escalation routes</a:t>
            </a:r>
          </a:p>
          <a:p>
            <a:pPr algn="l" marL="237744" indent="-237744">
              <a:spcAft>
                <a:spcPts val="700"/>
              </a:spcAft>
              <a:buClr>
                <a:srgbClr val="0766D1"/>
              </a:buClr>
              <a:buFont typeface="Arial"/>
              <a:buChar char="•"/>
            </a:pPr>
            <a:r>
              <a:rPr sz="1600">
                <a:solidFill>
                  <a:srgbClr val="262626"/>
                </a:solidFill>
              </a:rPr>
              <a:t>Test in shadow mode</a:t>
            </a:r>
          </a:p>
        </p:txBody>
      </p:sp>
      <p:sp>
        <p:nvSpPr>
          <p:cNvPr id="11" name="Rounded Rectangle 10"/>
          <p:cNvSpPr/>
          <p:nvPr/>
        </p:nvSpPr>
        <p:spPr>
          <a:xfrm>
            <a:off x="6647688" y="3154680"/>
            <a:ext cx="4983480" cy="5074920"/>
          </a:xfrm>
          <a:prstGeom prst="roundRect">
            <a:avLst>
              <a:gd name="adj" fmla="val 513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13648" y="2628900"/>
            <a:ext cx="1051560" cy="105156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oversight_w.png"/>
          <p:cNvPicPr>
            <a:picLocks noChangeAspect="1"/>
          </p:cNvPicPr>
          <p:nvPr/>
        </p:nvPicPr>
        <p:blipFill>
          <a:blip r:embed="rId3"/>
          <a:stretch>
            <a:fillRect/>
          </a:stretch>
        </p:blipFill>
        <p:spPr>
          <a:xfrm>
            <a:off x="8866022" y="2881274"/>
            <a:ext cx="546811" cy="546811"/>
          </a:xfrm>
          <a:prstGeom prst="rect">
            <a:avLst/>
          </a:prstGeom>
        </p:spPr>
      </p:pic>
      <p:sp>
        <p:nvSpPr>
          <p:cNvPr id="14" name="TextBox 13"/>
          <p:cNvSpPr txBox="1"/>
          <p:nvPr/>
        </p:nvSpPr>
        <p:spPr>
          <a:xfrm>
            <a:off x="6922008" y="3886200"/>
            <a:ext cx="4434840" cy="502920"/>
          </a:xfrm>
          <a:prstGeom prst="rect">
            <a:avLst/>
          </a:prstGeom>
          <a:noFill/>
        </p:spPr>
        <p:txBody>
          <a:bodyPr wrap="square" lIns="45720" tIns="27432" rIns="45720" bIns="27432" anchor="t">
            <a:spAutoFit/>
          </a:bodyPr>
          <a:lstStyle/>
          <a:p>
            <a:pPr algn="ctr"/>
            <a:r>
              <a:rPr sz="2400">
                <a:solidFill>
                  <a:srgbClr val="262626"/>
                </a:solidFill>
                <a:latin typeface="+mj-lt"/>
              </a:rPr>
              <a:t>During</a:t>
            </a:r>
          </a:p>
        </p:txBody>
      </p:sp>
      <p:sp>
        <p:nvSpPr>
          <p:cNvPr id="15" name="TextBox 14"/>
          <p:cNvSpPr txBox="1"/>
          <p:nvPr/>
        </p:nvSpPr>
        <p:spPr>
          <a:xfrm>
            <a:off x="6922008" y="4389120"/>
            <a:ext cx="4434840" cy="411480"/>
          </a:xfrm>
          <a:prstGeom prst="rect">
            <a:avLst/>
          </a:prstGeom>
          <a:noFill/>
        </p:spPr>
        <p:txBody>
          <a:bodyPr wrap="square" lIns="45720" tIns="27432" rIns="45720" bIns="27432" anchor="t">
            <a:spAutoFit/>
          </a:bodyPr>
          <a:lstStyle/>
          <a:p>
            <a:pPr algn="ctr"/>
            <a:r>
              <a:rPr sz="1500">
                <a:solidFill>
                  <a:srgbClr val="7E889A"/>
                </a:solidFill>
              </a:rPr>
              <a:t>Run time</a:t>
            </a:r>
          </a:p>
        </p:txBody>
      </p:sp>
      <p:sp>
        <p:nvSpPr>
          <p:cNvPr id="16" name="TextBox 15"/>
          <p:cNvSpPr txBox="1"/>
          <p:nvPr/>
        </p:nvSpPr>
        <p:spPr>
          <a:xfrm>
            <a:off x="7104888" y="4983480"/>
            <a:ext cx="4160520" cy="3108960"/>
          </a:xfrm>
          <a:prstGeom prst="rect">
            <a:avLst/>
          </a:prstGeom>
          <a:noFill/>
        </p:spPr>
        <p:txBody>
          <a:bodyPr wrap="square" lIns="45720" tIns="27432" rIns="45720" bIns="27432" anchor="t">
            <a:spAutoFit/>
          </a:bodyPr>
          <a:lstStyle/>
          <a:p>
            <a:pPr algn="l" marL="237744" indent="-237744">
              <a:spcAft>
                <a:spcPts val="700"/>
              </a:spcAft>
              <a:buClr>
                <a:srgbClr val="0766D1"/>
              </a:buClr>
              <a:buFont typeface="Arial"/>
              <a:buChar char="•"/>
            </a:pPr>
            <a:r>
              <a:rPr sz="1600">
                <a:solidFill>
                  <a:srgbClr val="262626"/>
                </a:solidFill>
              </a:rPr>
              <a:t>Approve sensitive actions</a:t>
            </a:r>
          </a:p>
          <a:p>
            <a:pPr algn="l" marL="237744" indent="-237744">
              <a:spcAft>
                <a:spcPts val="700"/>
              </a:spcAft>
              <a:buClr>
                <a:srgbClr val="0766D1"/>
              </a:buClr>
              <a:buFont typeface="Arial"/>
              <a:buChar char="•"/>
            </a:pPr>
            <a:r>
              <a:rPr sz="1600">
                <a:solidFill>
                  <a:srgbClr val="262626"/>
                </a:solidFill>
              </a:rPr>
              <a:t>Answer escalations</a:t>
            </a:r>
          </a:p>
          <a:p>
            <a:pPr algn="l" marL="237744" indent="-237744">
              <a:spcAft>
                <a:spcPts val="700"/>
              </a:spcAft>
              <a:buClr>
                <a:srgbClr val="0766D1"/>
              </a:buClr>
              <a:buFont typeface="Arial"/>
              <a:buChar char="•"/>
            </a:pPr>
            <a:r>
              <a:rPr sz="1600">
                <a:solidFill>
                  <a:srgbClr val="262626"/>
                </a:solidFill>
              </a:rPr>
              <a:t>Take over a case at any time</a:t>
            </a:r>
          </a:p>
          <a:p>
            <a:pPr algn="l" marL="237744" indent="-237744">
              <a:spcAft>
                <a:spcPts val="700"/>
              </a:spcAft>
              <a:buClr>
                <a:srgbClr val="0766D1"/>
              </a:buClr>
              <a:buFont typeface="Arial"/>
              <a:buChar char="•"/>
            </a:pPr>
            <a:r>
              <a:rPr sz="1600">
                <a:solidFill>
                  <a:srgbClr val="262626"/>
                </a:solidFill>
              </a:rPr>
              <a:t>Pause the agent with one switch</a:t>
            </a:r>
          </a:p>
        </p:txBody>
      </p:sp>
      <p:sp>
        <p:nvSpPr>
          <p:cNvPr id="17" name="Rounded Rectangle 16"/>
          <p:cNvSpPr/>
          <p:nvPr/>
        </p:nvSpPr>
        <p:spPr>
          <a:xfrm>
            <a:off x="12042648" y="3154680"/>
            <a:ext cx="4983480" cy="5074920"/>
          </a:xfrm>
          <a:prstGeom prst="roundRect">
            <a:avLst>
              <a:gd name="adj" fmla="val 513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008608" y="2628900"/>
            <a:ext cx="1051560" cy="1051560"/>
          </a:xfrm>
          <a:prstGeom prst="ellipse">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og_w.png"/>
          <p:cNvPicPr>
            <a:picLocks noChangeAspect="1"/>
          </p:cNvPicPr>
          <p:nvPr/>
        </p:nvPicPr>
        <p:blipFill>
          <a:blip r:embed="rId4"/>
          <a:stretch>
            <a:fillRect/>
          </a:stretch>
        </p:blipFill>
        <p:spPr>
          <a:xfrm>
            <a:off x="14260982" y="2881274"/>
            <a:ext cx="546811" cy="546811"/>
          </a:xfrm>
          <a:prstGeom prst="rect">
            <a:avLst/>
          </a:prstGeom>
        </p:spPr>
      </p:pic>
      <p:sp>
        <p:nvSpPr>
          <p:cNvPr id="20" name="TextBox 19"/>
          <p:cNvSpPr txBox="1"/>
          <p:nvPr/>
        </p:nvSpPr>
        <p:spPr>
          <a:xfrm>
            <a:off x="12316968" y="3886200"/>
            <a:ext cx="4434840" cy="502920"/>
          </a:xfrm>
          <a:prstGeom prst="rect">
            <a:avLst/>
          </a:prstGeom>
          <a:noFill/>
        </p:spPr>
        <p:txBody>
          <a:bodyPr wrap="square" lIns="45720" tIns="27432" rIns="45720" bIns="27432" anchor="t">
            <a:spAutoFit/>
          </a:bodyPr>
          <a:lstStyle/>
          <a:p>
            <a:pPr algn="ctr"/>
            <a:r>
              <a:rPr sz="2400">
                <a:solidFill>
                  <a:srgbClr val="262626"/>
                </a:solidFill>
                <a:latin typeface="+mj-lt"/>
              </a:rPr>
              <a:t>After</a:t>
            </a:r>
          </a:p>
        </p:txBody>
      </p:sp>
      <p:sp>
        <p:nvSpPr>
          <p:cNvPr id="21" name="TextBox 20"/>
          <p:cNvSpPr txBox="1"/>
          <p:nvPr/>
        </p:nvSpPr>
        <p:spPr>
          <a:xfrm>
            <a:off x="12316968" y="4389120"/>
            <a:ext cx="4434840" cy="411480"/>
          </a:xfrm>
          <a:prstGeom prst="rect">
            <a:avLst/>
          </a:prstGeom>
          <a:noFill/>
        </p:spPr>
        <p:txBody>
          <a:bodyPr wrap="square" lIns="45720" tIns="27432" rIns="45720" bIns="27432" anchor="t">
            <a:spAutoFit/>
          </a:bodyPr>
          <a:lstStyle/>
          <a:p>
            <a:pPr algn="ctr"/>
            <a:r>
              <a:rPr sz="1500">
                <a:solidFill>
                  <a:srgbClr val="7E889A"/>
                </a:solidFill>
              </a:rPr>
              <a:t>Review</a:t>
            </a:r>
          </a:p>
        </p:txBody>
      </p:sp>
      <p:sp>
        <p:nvSpPr>
          <p:cNvPr id="22" name="TextBox 21"/>
          <p:cNvSpPr txBox="1"/>
          <p:nvPr/>
        </p:nvSpPr>
        <p:spPr>
          <a:xfrm>
            <a:off x="12499848" y="4983480"/>
            <a:ext cx="4160520" cy="3108960"/>
          </a:xfrm>
          <a:prstGeom prst="rect">
            <a:avLst/>
          </a:prstGeom>
          <a:noFill/>
        </p:spPr>
        <p:txBody>
          <a:bodyPr wrap="square" lIns="45720" tIns="27432" rIns="45720" bIns="27432" anchor="t">
            <a:spAutoFit/>
          </a:bodyPr>
          <a:lstStyle/>
          <a:p>
            <a:pPr algn="l" marL="237744" indent="-237744">
              <a:spcAft>
                <a:spcPts val="700"/>
              </a:spcAft>
              <a:buClr>
                <a:srgbClr val="0766D1"/>
              </a:buClr>
              <a:buFont typeface="Arial"/>
              <a:buChar char="•"/>
            </a:pPr>
            <a:r>
              <a:rPr sz="1600">
                <a:solidFill>
                  <a:srgbClr val="262626"/>
                </a:solidFill>
              </a:rPr>
              <a:t>Read the logs: what it did and why</a:t>
            </a:r>
          </a:p>
          <a:p>
            <a:pPr algn="l" marL="237744" indent="-237744">
              <a:spcAft>
                <a:spcPts val="700"/>
              </a:spcAft>
              <a:buClr>
                <a:srgbClr val="0766D1"/>
              </a:buClr>
              <a:buFont typeface="Arial"/>
              <a:buChar char="•"/>
            </a:pPr>
            <a:r>
              <a:rPr sz="1600">
                <a:solidFill>
                  <a:srgbClr val="262626"/>
                </a:solidFill>
              </a:rPr>
              <a:t>Audit outcomes and exceptions</a:t>
            </a:r>
          </a:p>
          <a:p>
            <a:pPr algn="l" marL="237744" indent="-237744">
              <a:spcAft>
                <a:spcPts val="700"/>
              </a:spcAft>
              <a:buClr>
                <a:srgbClr val="0766D1"/>
              </a:buClr>
              <a:buFont typeface="Arial"/>
              <a:buChar char="•"/>
            </a:pPr>
            <a:r>
              <a:rPr sz="1600">
                <a:solidFill>
                  <a:srgbClr val="262626"/>
                </a:solidFill>
              </a:rPr>
              <a:t>Tune goal, rules and tools</a:t>
            </a:r>
          </a:p>
          <a:p>
            <a:pPr algn="l" marL="237744" indent="-237744">
              <a:spcAft>
                <a:spcPts val="700"/>
              </a:spcAft>
              <a:buClr>
                <a:srgbClr val="0766D1"/>
              </a:buClr>
              <a:buFont typeface="Arial"/>
              <a:buChar char="•"/>
            </a:pPr>
            <a:r>
              <a:rPr sz="1600">
                <a:solidFill>
                  <a:srgbClr val="262626"/>
                </a:solidFill>
              </a:rPr>
              <a:t>Decide whether to grant more autonomy</a:t>
            </a:r>
          </a:p>
        </p:txBody>
      </p:sp>
      <p:sp>
        <p:nvSpPr>
          <p:cNvPr id="23" name="Rounded Rectangle 22"/>
          <p:cNvSpPr/>
          <p:nvPr/>
        </p:nvSpPr>
        <p:spPr>
          <a:xfrm>
            <a:off x="1252728" y="8503920"/>
            <a:ext cx="15773400" cy="868680"/>
          </a:xfrm>
          <a:prstGeom prst="roundRect">
            <a:avLst>
              <a:gd name="adj" fmla="val 23157"/>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rophy_n.png"/>
          <p:cNvPicPr>
            <a:picLocks noChangeAspect="1"/>
          </p:cNvPicPr>
          <p:nvPr/>
        </p:nvPicPr>
        <p:blipFill>
          <a:blip r:embed="rId5"/>
          <a:stretch>
            <a:fillRect/>
          </a:stretch>
        </p:blipFill>
        <p:spPr>
          <a:xfrm>
            <a:off x="1572768" y="8686800"/>
            <a:ext cx="502919" cy="502919"/>
          </a:xfrm>
          <a:prstGeom prst="rect">
            <a:avLst/>
          </a:prstGeom>
        </p:spPr>
      </p:pic>
      <p:sp>
        <p:nvSpPr>
          <p:cNvPr id="25" name="TextBox 24"/>
          <p:cNvSpPr txBox="1"/>
          <p:nvPr/>
        </p:nvSpPr>
        <p:spPr>
          <a:xfrm>
            <a:off x="2350008" y="8613648"/>
            <a:ext cx="14401800" cy="649224"/>
          </a:xfrm>
          <a:prstGeom prst="rect">
            <a:avLst/>
          </a:prstGeom>
          <a:noFill/>
        </p:spPr>
        <p:txBody>
          <a:bodyPr wrap="square" lIns="45720" tIns="27432" rIns="45720" bIns="27432" anchor="ctr">
            <a:spAutoFit/>
          </a:bodyPr>
          <a:lstStyle/>
          <a:p>
            <a:pPr algn="l"/>
            <a:r>
              <a:rPr sz="1700">
                <a:solidFill>
                  <a:srgbClr val="032954"/>
                </a:solidFill>
              </a:rPr>
              <a:t>Oversight is not a brake on the agent. It is what earns the agent more autonomy later.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The No-Show Agent on one page</a:t>
            </a:r>
          </a:p>
        </p:txBody>
      </p:sp>
      <p:sp>
        <p:nvSpPr>
          <p:cNvPr id="3" name="Text Placeholder 2"/>
          <p:cNvSpPr>
            <a:spLocks noGrp="1"/>
          </p:cNvSpPr>
          <p:nvPr>
            <p:ph type="body" idx="10" sz="quarter"/>
          </p:nvPr>
        </p:nvSpPr>
        <p:spPr/>
        <p:txBody>
          <a:bodyPr/>
          <a:lstStyle/>
          <a:p>
            <a:r>
              <a:rPr sz="3000"/>
              <a:t>The same six blocks, filled in. You will reuse this canvas in the use-case exercise.</a:t>
            </a:r>
          </a:p>
        </p:txBody>
      </p:sp>
      <p:sp>
        <p:nvSpPr>
          <p:cNvPr id="5" name="Rounded Rectangle 4"/>
          <p:cNvSpPr/>
          <p:nvPr/>
        </p:nvSpPr>
        <p:spPr>
          <a:xfrm>
            <a:off x="1252728" y="2697480"/>
            <a:ext cx="501396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17904" y="2935224"/>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oal_w.png"/>
          <p:cNvPicPr>
            <a:picLocks noChangeAspect="1"/>
          </p:cNvPicPr>
          <p:nvPr/>
        </p:nvPicPr>
        <p:blipFill>
          <a:blip r:embed="rId2"/>
          <a:stretch>
            <a:fillRect/>
          </a:stretch>
        </p:blipFill>
        <p:spPr>
          <a:xfrm>
            <a:off x="1666036" y="3083356"/>
            <a:ext cx="362102" cy="362102"/>
          </a:xfrm>
          <a:prstGeom prst="rect">
            <a:avLst/>
          </a:prstGeom>
        </p:spPr>
      </p:pic>
      <p:sp>
        <p:nvSpPr>
          <p:cNvPr id="8" name="TextBox 7"/>
          <p:cNvSpPr txBox="1"/>
          <p:nvPr/>
        </p:nvSpPr>
        <p:spPr>
          <a:xfrm>
            <a:off x="2350008" y="3017520"/>
            <a:ext cx="3688080" cy="502920"/>
          </a:xfrm>
          <a:prstGeom prst="rect">
            <a:avLst/>
          </a:prstGeom>
          <a:noFill/>
        </p:spPr>
        <p:txBody>
          <a:bodyPr wrap="square" lIns="45720" tIns="27432" rIns="45720" bIns="27432" anchor="t">
            <a:spAutoFit/>
          </a:bodyPr>
          <a:lstStyle/>
          <a:p>
            <a:pPr algn="l"/>
            <a:r>
              <a:rPr sz="2000">
                <a:solidFill>
                  <a:srgbClr val="262626"/>
                </a:solidFill>
                <a:latin typeface="+mj-lt"/>
              </a:rPr>
              <a:t>1  Goal</a:t>
            </a:r>
          </a:p>
        </p:txBody>
      </p:sp>
      <p:sp>
        <p:nvSpPr>
          <p:cNvPr id="9" name="TextBox 8"/>
          <p:cNvSpPr txBox="1"/>
          <p:nvPr/>
        </p:nvSpPr>
        <p:spPr>
          <a:xfrm>
            <a:off x="1618488" y="3794760"/>
            <a:ext cx="4282440" cy="1965960"/>
          </a:xfrm>
          <a:prstGeom prst="rect">
            <a:avLst/>
          </a:prstGeom>
          <a:noFill/>
        </p:spPr>
        <p:txBody>
          <a:bodyPr wrap="square" lIns="45720" tIns="27432" rIns="45720" bIns="27432" anchor="t">
            <a:spAutoFit/>
          </a:bodyPr>
          <a:lstStyle/>
          <a:p>
            <a:pPr algn="l">
              <a:lnSpc>
                <a:spcPct val="105000"/>
              </a:lnSpc>
            </a:pPr>
            <a:r>
              <a:rPr sz="1500">
                <a:solidFill>
                  <a:srgbClr val="262626"/>
                </a:solidFill>
              </a:rPr>
              <a:t>Reduce missed outpatient appointments by confirming or rescheduling high-risk patients the day before, and refilling freed slots. Never cancel without consent. Never give medical advice.</a:t>
            </a:r>
          </a:p>
        </p:txBody>
      </p:sp>
      <p:sp>
        <p:nvSpPr>
          <p:cNvPr id="10" name="Rounded Rectangle 9"/>
          <p:cNvSpPr/>
          <p:nvPr/>
        </p:nvSpPr>
        <p:spPr>
          <a:xfrm>
            <a:off x="6632448" y="2697480"/>
            <a:ext cx="501396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897624" y="2935224"/>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lanning_w.png"/>
          <p:cNvPicPr>
            <a:picLocks noChangeAspect="1"/>
          </p:cNvPicPr>
          <p:nvPr/>
        </p:nvPicPr>
        <p:blipFill>
          <a:blip r:embed="rId3"/>
          <a:stretch>
            <a:fillRect/>
          </a:stretch>
        </p:blipFill>
        <p:spPr>
          <a:xfrm>
            <a:off x="7045756" y="3083356"/>
            <a:ext cx="362102" cy="362102"/>
          </a:xfrm>
          <a:prstGeom prst="rect">
            <a:avLst/>
          </a:prstGeom>
        </p:spPr>
      </p:pic>
      <p:sp>
        <p:nvSpPr>
          <p:cNvPr id="13" name="TextBox 12"/>
          <p:cNvSpPr txBox="1"/>
          <p:nvPr/>
        </p:nvSpPr>
        <p:spPr>
          <a:xfrm>
            <a:off x="7729728" y="3017520"/>
            <a:ext cx="3688080" cy="502920"/>
          </a:xfrm>
          <a:prstGeom prst="rect">
            <a:avLst/>
          </a:prstGeom>
          <a:noFill/>
        </p:spPr>
        <p:txBody>
          <a:bodyPr wrap="square" lIns="45720" tIns="27432" rIns="45720" bIns="27432" anchor="t">
            <a:spAutoFit/>
          </a:bodyPr>
          <a:lstStyle/>
          <a:p>
            <a:pPr algn="l"/>
            <a:r>
              <a:rPr sz="2000">
                <a:solidFill>
                  <a:srgbClr val="262626"/>
                </a:solidFill>
                <a:latin typeface="+mj-lt"/>
              </a:rPr>
              <a:t>2  Planning</a:t>
            </a:r>
          </a:p>
        </p:txBody>
      </p:sp>
      <p:sp>
        <p:nvSpPr>
          <p:cNvPr id="14" name="TextBox 13"/>
          <p:cNvSpPr txBox="1"/>
          <p:nvPr/>
        </p:nvSpPr>
        <p:spPr>
          <a:xfrm>
            <a:off x="6998208" y="3794760"/>
            <a:ext cx="4282440" cy="1965960"/>
          </a:xfrm>
          <a:prstGeom prst="rect">
            <a:avLst/>
          </a:prstGeom>
          <a:noFill/>
        </p:spPr>
        <p:txBody>
          <a:bodyPr wrap="square" lIns="45720" tIns="27432" rIns="45720" bIns="27432" anchor="t">
            <a:spAutoFit/>
          </a:bodyPr>
          <a:lstStyle/>
          <a:p>
            <a:pPr algn="l">
              <a:lnSpc>
                <a:spcPct val="105000"/>
              </a:lnSpc>
            </a:pPr>
            <a:r>
              <a:rPr sz="1500">
                <a:solidFill>
                  <a:srgbClr val="262626"/>
                </a:solidFill>
              </a:rPr>
              <a:t>Daily: list → risk score → contact → reschedule if needed → refill slot. Re-plan on no reply; escalate after two failed attempts.</a:t>
            </a:r>
          </a:p>
        </p:txBody>
      </p:sp>
      <p:sp>
        <p:nvSpPr>
          <p:cNvPr id="15" name="Rounded Rectangle 14"/>
          <p:cNvSpPr/>
          <p:nvPr/>
        </p:nvSpPr>
        <p:spPr>
          <a:xfrm>
            <a:off x="12012168" y="2697480"/>
            <a:ext cx="501396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2277344" y="2935224"/>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knowledge_w.png"/>
          <p:cNvPicPr>
            <a:picLocks noChangeAspect="1"/>
          </p:cNvPicPr>
          <p:nvPr/>
        </p:nvPicPr>
        <p:blipFill>
          <a:blip r:embed="rId4"/>
          <a:stretch>
            <a:fillRect/>
          </a:stretch>
        </p:blipFill>
        <p:spPr>
          <a:xfrm>
            <a:off x="12425476" y="3083356"/>
            <a:ext cx="362102" cy="362102"/>
          </a:xfrm>
          <a:prstGeom prst="rect">
            <a:avLst/>
          </a:prstGeom>
        </p:spPr>
      </p:pic>
      <p:sp>
        <p:nvSpPr>
          <p:cNvPr id="18" name="TextBox 17"/>
          <p:cNvSpPr txBox="1"/>
          <p:nvPr/>
        </p:nvSpPr>
        <p:spPr>
          <a:xfrm>
            <a:off x="13109448" y="3017520"/>
            <a:ext cx="3688080" cy="502920"/>
          </a:xfrm>
          <a:prstGeom prst="rect">
            <a:avLst/>
          </a:prstGeom>
          <a:noFill/>
        </p:spPr>
        <p:txBody>
          <a:bodyPr wrap="square" lIns="45720" tIns="27432" rIns="45720" bIns="27432" anchor="t">
            <a:spAutoFit/>
          </a:bodyPr>
          <a:lstStyle/>
          <a:p>
            <a:pPr algn="l"/>
            <a:r>
              <a:rPr sz="2000">
                <a:solidFill>
                  <a:srgbClr val="262626"/>
                </a:solidFill>
                <a:latin typeface="+mj-lt"/>
              </a:rPr>
              <a:t>3  Knowledge</a:t>
            </a:r>
          </a:p>
        </p:txBody>
      </p:sp>
      <p:sp>
        <p:nvSpPr>
          <p:cNvPr id="19" name="TextBox 18"/>
          <p:cNvSpPr txBox="1"/>
          <p:nvPr/>
        </p:nvSpPr>
        <p:spPr>
          <a:xfrm>
            <a:off x="12377928" y="3794760"/>
            <a:ext cx="4282440" cy="1965960"/>
          </a:xfrm>
          <a:prstGeom prst="rect">
            <a:avLst/>
          </a:prstGeom>
          <a:noFill/>
        </p:spPr>
        <p:txBody>
          <a:bodyPr wrap="square" lIns="45720" tIns="27432" rIns="45720" bIns="27432" anchor="t">
            <a:spAutoFit/>
          </a:bodyPr>
          <a:lstStyle/>
          <a:p>
            <a:pPr algn="l">
              <a:lnSpc>
                <a:spcPct val="105000"/>
              </a:lnSpc>
            </a:pPr>
            <a:r>
              <a:rPr sz="1500">
                <a:solidFill>
                  <a:srgbClr val="262626"/>
                </a:solidFill>
              </a:rPr>
              <a:t>Scheduling policy and message templates (documents); appointment list, contact preferences, waiting list (live data); attempt history (memory).</a:t>
            </a:r>
          </a:p>
        </p:txBody>
      </p:sp>
      <p:sp>
        <p:nvSpPr>
          <p:cNvPr id="20" name="Rounded Rectangle 19"/>
          <p:cNvSpPr/>
          <p:nvPr/>
        </p:nvSpPr>
        <p:spPr>
          <a:xfrm>
            <a:off x="1252728" y="6309360"/>
            <a:ext cx="501396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517904" y="6547104"/>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ools_w.png"/>
          <p:cNvPicPr>
            <a:picLocks noChangeAspect="1"/>
          </p:cNvPicPr>
          <p:nvPr/>
        </p:nvPicPr>
        <p:blipFill>
          <a:blip r:embed="rId5"/>
          <a:stretch>
            <a:fillRect/>
          </a:stretch>
        </p:blipFill>
        <p:spPr>
          <a:xfrm>
            <a:off x="1666036" y="6695236"/>
            <a:ext cx="362102" cy="362102"/>
          </a:xfrm>
          <a:prstGeom prst="rect">
            <a:avLst/>
          </a:prstGeom>
        </p:spPr>
      </p:pic>
      <p:sp>
        <p:nvSpPr>
          <p:cNvPr id="23" name="TextBox 22"/>
          <p:cNvSpPr txBox="1"/>
          <p:nvPr/>
        </p:nvSpPr>
        <p:spPr>
          <a:xfrm>
            <a:off x="2350008" y="6629400"/>
            <a:ext cx="3688080" cy="502920"/>
          </a:xfrm>
          <a:prstGeom prst="rect">
            <a:avLst/>
          </a:prstGeom>
          <a:noFill/>
        </p:spPr>
        <p:txBody>
          <a:bodyPr wrap="square" lIns="45720" tIns="27432" rIns="45720" bIns="27432" anchor="t">
            <a:spAutoFit/>
          </a:bodyPr>
          <a:lstStyle/>
          <a:p>
            <a:pPr algn="l"/>
            <a:r>
              <a:rPr sz="2000">
                <a:solidFill>
                  <a:srgbClr val="262626"/>
                </a:solidFill>
                <a:latin typeface="+mj-lt"/>
              </a:rPr>
              <a:t>4  Tools</a:t>
            </a:r>
          </a:p>
        </p:txBody>
      </p:sp>
      <p:sp>
        <p:nvSpPr>
          <p:cNvPr id="24" name="TextBox 23"/>
          <p:cNvSpPr txBox="1"/>
          <p:nvPr/>
        </p:nvSpPr>
        <p:spPr>
          <a:xfrm>
            <a:off x="1618488" y="7406640"/>
            <a:ext cx="4282440" cy="1965960"/>
          </a:xfrm>
          <a:prstGeom prst="rect">
            <a:avLst/>
          </a:prstGeom>
          <a:noFill/>
        </p:spPr>
        <p:txBody>
          <a:bodyPr wrap="square" lIns="45720" tIns="27432" rIns="45720" bIns="27432" anchor="t">
            <a:spAutoFit/>
          </a:bodyPr>
          <a:lstStyle/>
          <a:p>
            <a:pPr algn="l">
              <a:lnSpc>
                <a:spcPct val="105000"/>
              </a:lnSpc>
            </a:pPr>
            <a:r>
              <a:rPr sz="1500">
                <a:solidFill>
                  <a:srgbClr val="262626"/>
                </a:solidFill>
              </a:rPr>
              <a:t>Scheduling system (read / write bookings), no-show risk model, WhatsApp &amp; SMS gateway, clinic rule set, coordinator task queue.</a:t>
            </a:r>
          </a:p>
        </p:txBody>
      </p:sp>
      <p:sp>
        <p:nvSpPr>
          <p:cNvPr id="25" name="Rounded Rectangle 24"/>
          <p:cNvSpPr/>
          <p:nvPr/>
        </p:nvSpPr>
        <p:spPr>
          <a:xfrm>
            <a:off x="6632448" y="6309360"/>
            <a:ext cx="501396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97624" y="6547104"/>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actions_w.png"/>
          <p:cNvPicPr>
            <a:picLocks noChangeAspect="1"/>
          </p:cNvPicPr>
          <p:nvPr/>
        </p:nvPicPr>
        <p:blipFill>
          <a:blip r:embed="rId6"/>
          <a:stretch>
            <a:fillRect/>
          </a:stretch>
        </p:blipFill>
        <p:spPr>
          <a:xfrm>
            <a:off x="7045756" y="6695236"/>
            <a:ext cx="362102" cy="362102"/>
          </a:xfrm>
          <a:prstGeom prst="rect">
            <a:avLst/>
          </a:prstGeom>
        </p:spPr>
      </p:pic>
      <p:sp>
        <p:nvSpPr>
          <p:cNvPr id="28" name="TextBox 27"/>
          <p:cNvSpPr txBox="1"/>
          <p:nvPr/>
        </p:nvSpPr>
        <p:spPr>
          <a:xfrm>
            <a:off x="7729728" y="6629400"/>
            <a:ext cx="3688080" cy="502920"/>
          </a:xfrm>
          <a:prstGeom prst="rect">
            <a:avLst/>
          </a:prstGeom>
          <a:noFill/>
        </p:spPr>
        <p:txBody>
          <a:bodyPr wrap="square" lIns="45720" tIns="27432" rIns="45720" bIns="27432" anchor="t">
            <a:spAutoFit/>
          </a:bodyPr>
          <a:lstStyle/>
          <a:p>
            <a:pPr algn="l"/>
            <a:r>
              <a:rPr sz="2000">
                <a:solidFill>
                  <a:srgbClr val="262626"/>
                </a:solidFill>
                <a:latin typeface="+mj-lt"/>
              </a:rPr>
              <a:t>5  Actions</a:t>
            </a:r>
          </a:p>
        </p:txBody>
      </p:sp>
      <p:sp>
        <p:nvSpPr>
          <p:cNvPr id="29" name="TextBox 28"/>
          <p:cNvSpPr txBox="1"/>
          <p:nvPr/>
        </p:nvSpPr>
        <p:spPr>
          <a:xfrm>
            <a:off x="6998208" y="7406640"/>
            <a:ext cx="4282440" cy="1965960"/>
          </a:xfrm>
          <a:prstGeom prst="rect">
            <a:avLst/>
          </a:prstGeom>
          <a:noFill/>
        </p:spPr>
        <p:txBody>
          <a:bodyPr wrap="square" lIns="45720" tIns="27432" rIns="45720" bIns="27432" anchor="t">
            <a:spAutoFit/>
          </a:bodyPr>
          <a:lstStyle/>
          <a:p>
            <a:pPr algn="l">
              <a:lnSpc>
                <a:spcPct val="105000"/>
              </a:lnSpc>
            </a:pPr>
            <a:r>
              <a:rPr sz="1500">
                <a:solidFill>
                  <a:srgbClr val="262626"/>
                </a:solidFill>
              </a:rPr>
              <a:t>Send approved reminders; propose and book alternative slots with patient consent; offer freed slots to the waiting list; create hand-over tasks.</a:t>
            </a:r>
          </a:p>
        </p:txBody>
      </p:sp>
      <p:sp>
        <p:nvSpPr>
          <p:cNvPr id="30" name="Rounded Rectangle 29"/>
          <p:cNvSpPr/>
          <p:nvPr/>
        </p:nvSpPr>
        <p:spPr>
          <a:xfrm>
            <a:off x="12012168" y="6309360"/>
            <a:ext cx="501396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2277344" y="6547104"/>
            <a:ext cx="658368" cy="65836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versight_w.png"/>
          <p:cNvPicPr>
            <a:picLocks noChangeAspect="1"/>
          </p:cNvPicPr>
          <p:nvPr/>
        </p:nvPicPr>
        <p:blipFill>
          <a:blip r:embed="rId7"/>
          <a:stretch>
            <a:fillRect/>
          </a:stretch>
        </p:blipFill>
        <p:spPr>
          <a:xfrm>
            <a:off x="12425476" y="6695236"/>
            <a:ext cx="362102" cy="362102"/>
          </a:xfrm>
          <a:prstGeom prst="rect">
            <a:avLst/>
          </a:prstGeom>
        </p:spPr>
      </p:pic>
      <p:sp>
        <p:nvSpPr>
          <p:cNvPr id="33" name="TextBox 32"/>
          <p:cNvSpPr txBox="1"/>
          <p:nvPr/>
        </p:nvSpPr>
        <p:spPr>
          <a:xfrm>
            <a:off x="13109448" y="6629400"/>
            <a:ext cx="3688080" cy="502920"/>
          </a:xfrm>
          <a:prstGeom prst="rect">
            <a:avLst/>
          </a:prstGeom>
          <a:noFill/>
        </p:spPr>
        <p:txBody>
          <a:bodyPr wrap="square" lIns="45720" tIns="27432" rIns="45720" bIns="27432" anchor="t">
            <a:spAutoFit/>
          </a:bodyPr>
          <a:lstStyle/>
          <a:p>
            <a:pPr algn="l"/>
            <a:r>
              <a:rPr sz="2000">
                <a:solidFill>
                  <a:srgbClr val="262626"/>
                </a:solidFill>
                <a:latin typeface="+mj-lt"/>
              </a:rPr>
              <a:t>6  Human oversight</a:t>
            </a:r>
          </a:p>
        </p:txBody>
      </p:sp>
      <p:sp>
        <p:nvSpPr>
          <p:cNvPr id="34" name="TextBox 33"/>
          <p:cNvSpPr txBox="1"/>
          <p:nvPr/>
        </p:nvSpPr>
        <p:spPr>
          <a:xfrm>
            <a:off x="12377928" y="7406640"/>
            <a:ext cx="4282440" cy="1965960"/>
          </a:xfrm>
          <a:prstGeom prst="rect">
            <a:avLst/>
          </a:prstGeom>
          <a:noFill/>
        </p:spPr>
        <p:txBody>
          <a:bodyPr wrap="square" lIns="45720" tIns="27432" rIns="45720" bIns="27432" anchor="t">
            <a:spAutoFit/>
          </a:bodyPr>
          <a:lstStyle/>
          <a:p>
            <a:pPr algn="l">
              <a:lnSpc>
                <a:spcPct val="105000"/>
              </a:lnSpc>
            </a:pPr>
            <a:r>
              <a:rPr sz="1500">
                <a:solidFill>
                  <a:srgbClr val="262626"/>
                </a:solidFill>
              </a:rPr>
              <a:t>Coordinator approves moves of specialist appointments and handles escalations; weekly review of logs, exceptions and no-show rate.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a:t>How an agent decides and executes</a:t>
            </a:r>
          </a:p>
        </p:txBody>
      </p:sp>
      <p:sp>
        <p:nvSpPr>
          <p:cNvPr id="3" name="Text Placeholder 2"/>
          <p:cNvSpPr>
            <a:spLocks noGrp="1"/>
          </p:cNvSpPr>
          <p:nvPr>
            <p:ph type="body" idx="10" sz="quarter"/>
          </p:nvPr>
        </p:nvSpPr>
        <p:spPr/>
        <p:txBody>
          <a:bodyPr/>
          <a:lstStyle/>
          <a:p>
            <a:r>
              <a:rPr sz="3600"/>
              <a:t>The loop that makes it an agent</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op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4800"/>
              <a:t>The agent loop: think, act, observe, repeat</a:t>
            </a:r>
          </a:p>
        </p:txBody>
      </p:sp>
      <p:sp>
        <p:nvSpPr>
          <p:cNvPr id="3" name="Text Placeholder 2"/>
          <p:cNvSpPr>
            <a:spLocks noGrp="1"/>
          </p:cNvSpPr>
          <p:nvPr>
            <p:ph type="body" idx="10" sz="quarter"/>
          </p:nvPr>
        </p:nvSpPr>
        <p:spPr/>
        <p:txBody>
          <a:bodyPr/>
          <a:lstStyle/>
          <a:p>
            <a:r>
              <a:rPr sz="3000"/>
              <a:t>A chatbot answers once. An agent keeps going until the goal is met or a boundary is hit.</a:t>
            </a:r>
          </a:p>
        </p:txBody>
      </p:sp>
      <p:sp>
        <p:nvSpPr>
          <p:cNvPr id="5" name="Donut 4"/>
          <p:cNvSpPr/>
          <p:nvPr/>
        </p:nvSpPr>
        <p:spPr>
          <a:xfrm>
            <a:off x="2907792" y="3639312"/>
            <a:ext cx="5065776" cy="5065776"/>
          </a:xfrm>
          <a:prstGeom prst="donut">
            <a:avLst>
              <a:gd name="adj" fmla="val 15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709160" y="3291840"/>
            <a:ext cx="1463040" cy="14630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300">
                <a:solidFill>
                  <a:srgbClr val="FFFFFF"/>
                </a:solidFill>
                <a:latin typeface="+mj-lt"/>
              </a:rPr>
              <a:t>PERCEIVE</a:t>
            </a:r>
          </a:p>
        </p:txBody>
      </p:sp>
      <p:sp>
        <p:nvSpPr>
          <p:cNvPr id="7" name="Oval 6"/>
          <p:cNvSpPr/>
          <p:nvPr/>
        </p:nvSpPr>
        <p:spPr>
          <a:xfrm>
            <a:off x="6858000" y="5440680"/>
            <a:ext cx="1463040" cy="14630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300">
                <a:solidFill>
                  <a:srgbClr val="FFFFFF"/>
                </a:solidFill>
                <a:latin typeface="+mj-lt"/>
              </a:rPr>
              <a:t>REASON &amp; PLAN</a:t>
            </a:r>
          </a:p>
        </p:txBody>
      </p:sp>
      <p:sp>
        <p:nvSpPr>
          <p:cNvPr id="8" name="Oval 7"/>
          <p:cNvSpPr/>
          <p:nvPr/>
        </p:nvSpPr>
        <p:spPr>
          <a:xfrm>
            <a:off x="4709160" y="7589519"/>
            <a:ext cx="1463040" cy="14630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300">
                <a:solidFill>
                  <a:srgbClr val="FFFFFF"/>
                </a:solidFill>
                <a:latin typeface="+mj-lt"/>
              </a:rPr>
              <a:t>ACT</a:t>
            </a:r>
          </a:p>
        </p:txBody>
      </p:sp>
      <p:sp>
        <p:nvSpPr>
          <p:cNvPr id="9" name="Oval 8"/>
          <p:cNvSpPr/>
          <p:nvPr/>
        </p:nvSpPr>
        <p:spPr>
          <a:xfrm>
            <a:off x="2560320" y="5440680"/>
            <a:ext cx="1463040" cy="14630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300">
                <a:solidFill>
                  <a:srgbClr val="FFFFFF"/>
                </a:solidFill>
                <a:latin typeface="+mj-lt"/>
              </a:rPr>
              <a:t>OBSERVE</a:t>
            </a:r>
          </a:p>
        </p:txBody>
      </p:sp>
      <p:sp>
        <p:nvSpPr>
          <p:cNvPr id="10" name="Chevron 9"/>
          <p:cNvSpPr/>
          <p:nvPr/>
        </p:nvSpPr>
        <p:spPr>
          <a:xfrm rot="2700000">
            <a:off x="6685819" y="4414996"/>
            <a:ext cx="548640" cy="47548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rot="8100000">
            <a:off x="6685819" y="7453915"/>
            <a:ext cx="548640" cy="47548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hevron 11"/>
          <p:cNvSpPr/>
          <p:nvPr/>
        </p:nvSpPr>
        <p:spPr>
          <a:xfrm rot="13500000">
            <a:off x="3646900" y="7453915"/>
            <a:ext cx="548640" cy="47548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evron 12"/>
          <p:cNvSpPr/>
          <p:nvPr/>
        </p:nvSpPr>
        <p:spPr>
          <a:xfrm rot="18900000">
            <a:off x="3646900" y="4414996"/>
            <a:ext cx="548640" cy="47548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5394960"/>
            <a:ext cx="2468880" cy="1554480"/>
          </a:xfrm>
          <a:prstGeom prst="rect">
            <a:avLst/>
          </a:prstGeom>
          <a:noFill/>
        </p:spPr>
        <p:txBody>
          <a:bodyPr wrap="square" lIns="45720" tIns="27432" rIns="45720" bIns="27432" anchor="ctr">
            <a:spAutoFit/>
          </a:bodyPr>
          <a:lstStyle/>
          <a:p>
            <a:pPr algn="ctr"/>
            <a:r>
              <a:rPr sz="1400">
                <a:solidFill>
                  <a:srgbClr val="032954"/>
                </a:solidFill>
                <a:latin typeface="+mj-lt"/>
              </a:rPr>
              <a:t>Repeat until the goal is met,</a:t>
            </a:r>
          </a:p>
          <a:p>
            <a:pPr algn="ctr"/>
            <a:r>
              <a:rPr sz="1400">
                <a:solidFill>
                  <a:srgbClr val="0766D1"/>
                </a:solidFill>
                <a:latin typeface="+mj-lt"/>
              </a:rPr>
              <a:t>or a boundary is hit</a:t>
            </a:r>
          </a:p>
        </p:txBody>
      </p:sp>
      <p:sp>
        <p:nvSpPr>
          <p:cNvPr id="15" name="TextBox 14"/>
          <p:cNvSpPr txBox="1"/>
          <p:nvPr/>
        </p:nvSpPr>
        <p:spPr>
          <a:xfrm>
            <a:off x="3977639" y="9144000"/>
            <a:ext cx="2926080" cy="457200"/>
          </a:xfrm>
          <a:prstGeom prst="rect">
            <a:avLst/>
          </a:prstGeom>
          <a:noFill/>
        </p:spPr>
        <p:txBody>
          <a:bodyPr wrap="square" lIns="45720" tIns="27432" rIns="45720" bIns="27432" anchor="t">
            <a:spAutoFit/>
          </a:bodyPr>
          <a:lstStyle/>
          <a:p>
            <a:pPr algn="l"/>
          </a:p>
        </p:txBody>
      </p:sp>
      <p:sp>
        <p:nvSpPr>
          <p:cNvPr id="16" name="Rounded Rectangle 15"/>
          <p:cNvSpPr/>
          <p:nvPr/>
        </p:nvSpPr>
        <p:spPr>
          <a:xfrm>
            <a:off x="9144000" y="2743200"/>
            <a:ext cx="7882128" cy="4892040"/>
          </a:xfrm>
          <a:prstGeom prst="roundRect">
            <a:avLst>
              <a:gd name="adj" fmla="val 523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3017520"/>
            <a:ext cx="7059168" cy="457200"/>
          </a:xfrm>
          <a:prstGeom prst="rect">
            <a:avLst/>
          </a:prstGeom>
          <a:noFill/>
        </p:spPr>
        <p:txBody>
          <a:bodyPr wrap="square" lIns="45720" tIns="27432" rIns="45720" bIns="27432" anchor="t">
            <a:spAutoFit/>
          </a:bodyPr>
          <a:lstStyle/>
          <a:p>
            <a:pPr algn="l"/>
            <a:r>
              <a:rPr sz="2000">
                <a:solidFill>
                  <a:srgbClr val="0766D1"/>
                </a:solidFill>
                <a:latin typeface="+mj-lt"/>
              </a:rPr>
              <a:t>Each turn of the loop</a:t>
            </a:r>
          </a:p>
        </p:txBody>
      </p:sp>
      <p:sp>
        <p:nvSpPr>
          <p:cNvPr id="18" name="Oval 17"/>
          <p:cNvSpPr/>
          <p:nvPr/>
        </p:nvSpPr>
        <p:spPr>
          <a:xfrm>
            <a:off x="9555480" y="3611880"/>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eye_w.png"/>
          <p:cNvPicPr>
            <a:picLocks noChangeAspect="1"/>
          </p:cNvPicPr>
          <p:nvPr/>
        </p:nvPicPr>
        <p:blipFill>
          <a:blip r:embed="rId2"/>
          <a:stretch>
            <a:fillRect/>
          </a:stretch>
        </p:blipFill>
        <p:spPr>
          <a:xfrm>
            <a:off x="9674809" y="3731209"/>
            <a:ext cx="291693" cy="291693"/>
          </a:xfrm>
          <a:prstGeom prst="rect">
            <a:avLst/>
          </a:prstGeom>
        </p:spPr>
      </p:pic>
      <p:sp>
        <p:nvSpPr>
          <p:cNvPr id="20" name="TextBox 19"/>
          <p:cNvSpPr txBox="1"/>
          <p:nvPr/>
        </p:nvSpPr>
        <p:spPr>
          <a:xfrm>
            <a:off x="10287000" y="3557016"/>
            <a:ext cx="6327648" cy="384048"/>
          </a:xfrm>
          <a:prstGeom prst="rect">
            <a:avLst/>
          </a:prstGeom>
          <a:noFill/>
        </p:spPr>
        <p:txBody>
          <a:bodyPr wrap="square" lIns="45720" tIns="27432" rIns="45720" bIns="27432" anchor="t">
            <a:spAutoFit/>
          </a:bodyPr>
          <a:lstStyle/>
          <a:p>
            <a:pPr algn="l"/>
            <a:r>
              <a:rPr sz="1600">
                <a:solidFill>
                  <a:srgbClr val="262626"/>
                </a:solidFill>
                <a:latin typeface="+mj-lt"/>
              </a:rPr>
              <a:t>Perceive</a:t>
            </a:r>
          </a:p>
        </p:txBody>
      </p:sp>
      <p:sp>
        <p:nvSpPr>
          <p:cNvPr id="21" name="TextBox 20"/>
          <p:cNvSpPr txBox="1"/>
          <p:nvPr/>
        </p:nvSpPr>
        <p:spPr>
          <a:xfrm>
            <a:off x="10287000" y="3922776"/>
            <a:ext cx="6327648" cy="603503"/>
          </a:xfrm>
          <a:prstGeom prst="rect">
            <a:avLst/>
          </a:prstGeom>
          <a:noFill/>
        </p:spPr>
        <p:txBody>
          <a:bodyPr wrap="square" lIns="45720" tIns="27432" rIns="45720" bIns="27432" anchor="t">
            <a:spAutoFit/>
          </a:bodyPr>
          <a:lstStyle/>
          <a:p>
            <a:pPr algn="l"/>
            <a:r>
              <a:rPr sz="1400">
                <a:solidFill>
                  <a:srgbClr val="262626"/>
                </a:solidFill>
              </a:rPr>
              <a:t>Read the situation: new appointment list, a patient reply, a tool result.</a:t>
            </a:r>
          </a:p>
        </p:txBody>
      </p:sp>
      <p:sp>
        <p:nvSpPr>
          <p:cNvPr id="22" name="Oval 21"/>
          <p:cNvSpPr/>
          <p:nvPr/>
        </p:nvSpPr>
        <p:spPr>
          <a:xfrm>
            <a:off x="9555480" y="4599432"/>
            <a:ext cx="530352" cy="53035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brain_w.png"/>
          <p:cNvPicPr>
            <a:picLocks noChangeAspect="1"/>
          </p:cNvPicPr>
          <p:nvPr/>
        </p:nvPicPr>
        <p:blipFill>
          <a:blip r:embed="rId3"/>
          <a:stretch>
            <a:fillRect/>
          </a:stretch>
        </p:blipFill>
        <p:spPr>
          <a:xfrm>
            <a:off x="9674809" y="4718761"/>
            <a:ext cx="291693" cy="291693"/>
          </a:xfrm>
          <a:prstGeom prst="rect">
            <a:avLst/>
          </a:prstGeom>
        </p:spPr>
      </p:pic>
      <p:sp>
        <p:nvSpPr>
          <p:cNvPr id="24" name="TextBox 23"/>
          <p:cNvSpPr txBox="1"/>
          <p:nvPr/>
        </p:nvSpPr>
        <p:spPr>
          <a:xfrm>
            <a:off x="10287000" y="4544568"/>
            <a:ext cx="6327648" cy="384048"/>
          </a:xfrm>
          <a:prstGeom prst="rect">
            <a:avLst/>
          </a:prstGeom>
          <a:noFill/>
        </p:spPr>
        <p:txBody>
          <a:bodyPr wrap="square" lIns="45720" tIns="27432" rIns="45720" bIns="27432" anchor="t">
            <a:spAutoFit/>
          </a:bodyPr>
          <a:lstStyle/>
          <a:p>
            <a:pPr algn="l"/>
            <a:r>
              <a:rPr sz="1600">
                <a:solidFill>
                  <a:srgbClr val="262626"/>
                </a:solidFill>
                <a:latin typeface="+mj-lt"/>
              </a:rPr>
              <a:t>Reason &amp; plan</a:t>
            </a:r>
          </a:p>
        </p:txBody>
      </p:sp>
      <p:sp>
        <p:nvSpPr>
          <p:cNvPr id="25" name="TextBox 24"/>
          <p:cNvSpPr txBox="1"/>
          <p:nvPr/>
        </p:nvSpPr>
        <p:spPr>
          <a:xfrm>
            <a:off x="10287000" y="4910328"/>
            <a:ext cx="6327648" cy="603503"/>
          </a:xfrm>
          <a:prstGeom prst="rect">
            <a:avLst/>
          </a:prstGeom>
          <a:noFill/>
        </p:spPr>
        <p:txBody>
          <a:bodyPr wrap="square" lIns="45720" tIns="27432" rIns="45720" bIns="27432" anchor="t">
            <a:spAutoFit/>
          </a:bodyPr>
          <a:lstStyle/>
          <a:p>
            <a:pPr algn="l"/>
            <a:r>
              <a:rPr sz="1400">
                <a:solidFill>
                  <a:srgbClr val="262626"/>
                </a:solidFill>
              </a:rPr>
              <a:t>The model weighs goal, rules, knowledge and tools, and proposes the next step.</a:t>
            </a:r>
          </a:p>
        </p:txBody>
      </p:sp>
      <p:sp>
        <p:nvSpPr>
          <p:cNvPr id="26" name="Oval 25"/>
          <p:cNvSpPr/>
          <p:nvPr/>
        </p:nvSpPr>
        <p:spPr>
          <a:xfrm>
            <a:off x="9555480" y="5586984"/>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play_w.png"/>
          <p:cNvPicPr>
            <a:picLocks noChangeAspect="1"/>
          </p:cNvPicPr>
          <p:nvPr/>
        </p:nvPicPr>
        <p:blipFill>
          <a:blip r:embed="rId4"/>
          <a:stretch>
            <a:fillRect/>
          </a:stretch>
        </p:blipFill>
        <p:spPr>
          <a:xfrm>
            <a:off x="9674809" y="5706313"/>
            <a:ext cx="291693" cy="291693"/>
          </a:xfrm>
          <a:prstGeom prst="rect">
            <a:avLst/>
          </a:prstGeom>
        </p:spPr>
      </p:pic>
      <p:sp>
        <p:nvSpPr>
          <p:cNvPr id="28" name="TextBox 27"/>
          <p:cNvSpPr txBox="1"/>
          <p:nvPr/>
        </p:nvSpPr>
        <p:spPr>
          <a:xfrm>
            <a:off x="10287000" y="5532120"/>
            <a:ext cx="6327648" cy="384048"/>
          </a:xfrm>
          <a:prstGeom prst="rect">
            <a:avLst/>
          </a:prstGeom>
          <a:noFill/>
        </p:spPr>
        <p:txBody>
          <a:bodyPr wrap="square" lIns="45720" tIns="27432" rIns="45720" bIns="27432" anchor="t">
            <a:spAutoFit/>
          </a:bodyPr>
          <a:lstStyle/>
          <a:p>
            <a:pPr algn="l"/>
            <a:r>
              <a:rPr sz="1600">
                <a:solidFill>
                  <a:srgbClr val="262626"/>
                </a:solidFill>
                <a:latin typeface="+mj-lt"/>
              </a:rPr>
              <a:t>Act</a:t>
            </a:r>
          </a:p>
        </p:txBody>
      </p:sp>
      <p:sp>
        <p:nvSpPr>
          <p:cNvPr id="29" name="TextBox 28"/>
          <p:cNvSpPr txBox="1"/>
          <p:nvPr/>
        </p:nvSpPr>
        <p:spPr>
          <a:xfrm>
            <a:off x="10287000" y="5897880"/>
            <a:ext cx="6327648" cy="603503"/>
          </a:xfrm>
          <a:prstGeom prst="rect">
            <a:avLst/>
          </a:prstGeom>
          <a:noFill/>
        </p:spPr>
        <p:txBody>
          <a:bodyPr wrap="square" lIns="45720" tIns="27432" rIns="45720" bIns="27432" anchor="t">
            <a:spAutoFit/>
          </a:bodyPr>
          <a:lstStyle/>
          <a:p>
            <a:pPr algn="l"/>
            <a:r>
              <a:rPr sz="1400">
                <a:solidFill>
                  <a:srgbClr val="262626"/>
                </a:solidFill>
              </a:rPr>
              <a:t>The runtime executes the step: a query, a message, a booking.</a:t>
            </a:r>
          </a:p>
        </p:txBody>
      </p:sp>
      <p:sp>
        <p:nvSpPr>
          <p:cNvPr id="30" name="Oval 29"/>
          <p:cNvSpPr/>
          <p:nvPr/>
        </p:nvSpPr>
        <p:spPr>
          <a:xfrm>
            <a:off x="9555480" y="6574536"/>
            <a:ext cx="530352" cy="53035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earch_w.png"/>
          <p:cNvPicPr>
            <a:picLocks noChangeAspect="1"/>
          </p:cNvPicPr>
          <p:nvPr/>
        </p:nvPicPr>
        <p:blipFill>
          <a:blip r:embed="rId5"/>
          <a:stretch>
            <a:fillRect/>
          </a:stretch>
        </p:blipFill>
        <p:spPr>
          <a:xfrm>
            <a:off x="9674809" y="6693865"/>
            <a:ext cx="291693" cy="291693"/>
          </a:xfrm>
          <a:prstGeom prst="rect">
            <a:avLst/>
          </a:prstGeom>
        </p:spPr>
      </p:pic>
      <p:sp>
        <p:nvSpPr>
          <p:cNvPr id="32" name="TextBox 31"/>
          <p:cNvSpPr txBox="1"/>
          <p:nvPr/>
        </p:nvSpPr>
        <p:spPr>
          <a:xfrm>
            <a:off x="10287000" y="6519672"/>
            <a:ext cx="6327648" cy="384048"/>
          </a:xfrm>
          <a:prstGeom prst="rect">
            <a:avLst/>
          </a:prstGeom>
          <a:noFill/>
        </p:spPr>
        <p:txBody>
          <a:bodyPr wrap="square" lIns="45720" tIns="27432" rIns="45720" bIns="27432" anchor="t">
            <a:spAutoFit/>
          </a:bodyPr>
          <a:lstStyle/>
          <a:p>
            <a:pPr algn="l"/>
            <a:r>
              <a:rPr sz="1600">
                <a:solidFill>
                  <a:srgbClr val="262626"/>
                </a:solidFill>
                <a:latin typeface="+mj-lt"/>
              </a:rPr>
              <a:t>Observe</a:t>
            </a:r>
          </a:p>
        </p:txBody>
      </p:sp>
      <p:sp>
        <p:nvSpPr>
          <p:cNvPr id="33" name="TextBox 32"/>
          <p:cNvSpPr txBox="1"/>
          <p:nvPr/>
        </p:nvSpPr>
        <p:spPr>
          <a:xfrm>
            <a:off x="10287000" y="6885432"/>
            <a:ext cx="6327648" cy="603503"/>
          </a:xfrm>
          <a:prstGeom prst="rect">
            <a:avLst/>
          </a:prstGeom>
          <a:noFill/>
        </p:spPr>
        <p:txBody>
          <a:bodyPr wrap="square" lIns="45720" tIns="27432" rIns="45720" bIns="27432" anchor="t">
            <a:spAutoFit/>
          </a:bodyPr>
          <a:lstStyle/>
          <a:p>
            <a:pPr algn="l"/>
            <a:r>
              <a:rPr sz="1400">
                <a:solidFill>
                  <a:srgbClr val="262626"/>
                </a:solidFill>
              </a:rPr>
              <a:t>The result comes back and becomes the next thing to perceive.</a:t>
            </a:r>
          </a:p>
        </p:txBody>
      </p:sp>
      <p:sp>
        <p:nvSpPr>
          <p:cNvPr id="34" name="Rounded Rectangle 33"/>
          <p:cNvSpPr/>
          <p:nvPr/>
        </p:nvSpPr>
        <p:spPr>
          <a:xfrm>
            <a:off x="9144000" y="7909560"/>
            <a:ext cx="7882128" cy="1417320"/>
          </a:xfrm>
          <a:prstGeom prst="roundRect">
            <a:avLst>
              <a:gd name="adj" fmla="val 14193"/>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shield_n.png"/>
          <p:cNvPicPr>
            <a:picLocks noChangeAspect="1"/>
          </p:cNvPicPr>
          <p:nvPr/>
        </p:nvPicPr>
        <p:blipFill>
          <a:blip r:embed="rId6"/>
          <a:stretch>
            <a:fillRect/>
          </a:stretch>
        </p:blipFill>
        <p:spPr>
          <a:xfrm>
            <a:off x="9464040" y="8298180"/>
            <a:ext cx="640080" cy="640080"/>
          </a:xfrm>
          <a:prstGeom prst="rect">
            <a:avLst/>
          </a:prstGeom>
        </p:spPr>
      </p:pic>
      <p:sp>
        <p:nvSpPr>
          <p:cNvPr id="36" name="TextBox 35"/>
          <p:cNvSpPr txBox="1"/>
          <p:nvPr/>
        </p:nvSpPr>
        <p:spPr>
          <a:xfrm>
            <a:off x="10378440" y="8019288"/>
            <a:ext cx="6373368" cy="1197864"/>
          </a:xfrm>
          <a:prstGeom prst="rect">
            <a:avLst/>
          </a:prstGeom>
          <a:noFill/>
        </p:spPr>
        <p:txBody>
          <a:bodyPr wrap="square" lIns="45720" tIns="27432" rIns="45720" bIns="27432" anchor="ctr">
            <a:spAutoFit/>
          </a:bodyPr>
          <a:lstStyle/>
          <a:p>
            <a:pPr algn="l"/>
            <a:r>
              <a:rPr sz="1600">
                <a:solidFill>
                  <a:srgbClr val="032954"/>
                </a:solidFill>
                <a:latin typeface="+mj-lt"/>
              </a:rPr>
              <a:t>Guardrail inside the loop</a:t>
            </a:r>
          </a:p>
          <a:p>
            <a:pPr algn="l"/>
            <a:r>
              <a:rPr sz="1400">
                <a:solidFill>
                  <a:srgbClr val="032954"/>
                </a:solidFill>
              </a:rPr>
              <a:t>Before any action runs, it is checked against the boundaries (section 5). The model proposes; the rules dispose.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The loop in practice</a:t>
            </a:r>
          </a:p>
        </p:txBody>
      </p:sp>
      <p:sp>
        <p:nvSpPr>
          <p:cNvPr id="3" name="Text Placeholder 2"/>
          <p:cNvSpPr>
            <a:spLocks noGrp="1"/>
          </p:cNvSpPr>
          <p:nvPr>
            <p:ph type="body" idx="10" sz="quarter"/>
          </p:nvPr>
        </p:nvSpPr>
        <p:spPr/>
        <p:txBody>
          <a:bodyPr/>
          <a:lstStyle/>
          <a:p>
            <a:r>
              <a:rPr sz="3000"/>
              <a:t>One patient, one afternoon: watch the No-Show Agent work through a single case</a:t>
            </a:r>
          </a:p>
        </p:txBody>
      </p:sp>
      <p:sp>
        <p:nvSpPr>
          <p:cNvPr id="5" name="Rounded Rectangle 4"/>
          <p:cNvSpPr/>
          <p:nvPr/>
        </p:nvSpPr>
        <p:spPr>
          <a:xfrm>
            <a:off x="1252728" y="2606040"/>
            <a:ext cx="15773400" cy="6812280"/>
          </a:xfrm>
          <a:prstGeom prst="roundRect">
            <a:avLst>
              <a:gd name="adj" fmla="val 4697"/>
            </a:avLst>
          </a:prstGeom>
          <a:solidFill>
            <a:srgbClr val="E4E7E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09928" y="333756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29968" y="306324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1 · Perceive</a:t>
            </a:r>
          </a:p>
        </p:txBody>
      </p:sp>
      <p:sp>
        <p:nvSpPr>
          <p:cNvPr id="8" name="TextBox 7"/>
          <p:cNvSpPr txBox="1"/>
          <p:nvPr/>
        </p:nvSpPr>
        <p:spPr>
          <a:xfrm>
            <a:off x="2029968" y="3794760"/>
            <a:ext cx="3977639" cy="1920240"/>
          </a:xfrm>
          <a:prstGeom prst="rect">
            <a:avLst/>
          </a:prstGeom>
          <a:noFill/>
        </p:spPr>
        <p:txBody>
          <a:bodyPr wrap="square" lIns="45720" tIns="27432" rIns="45720" bIns="27432" anchor="ctr">
            <a:spAutoFit/>
          </a:bodyPr>
          <a:lstStyle/>
          <a:p>
            <a:pPr algn="ctr"/>
            <a:r>
              <a:rPr sz="1400">
                <a:solidFill>
                  <a:srgbClr val="262626"/>
                </a:solidFill>
              </a:rPr>
              <a:t>Tomorrow's cardiology list arrives: 42 appointments. The risk model flags Mr A: two no-shows this year, a long commute.</a:t>
            </a:r>
          </a:p>
        </p:txBody>
      </p:sp>
      <p:sp>
        <p:nvSpPr>
          <p:cNvPr id="9" name="Right Arrow 8"/>
          <p:cNvSpPr/>
          <p:nvPr/>
        </p:nvSpPr>
        <p:spPr>
          <a:xfrm>
            <a:off x="6437376" y="439369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940296" y="333756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0336" y="306324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2 · Reason &amp; plan</a:t>
            </a:r>
          </a:p>
        </p:txBody>
      </p:sp>
      <p:sp>
        <p:nvSpPr>
          <p:cNvPr id="12" name="TextBox 11"/>
          <p:cNvSpPr txBox="1"/>
          <p:nvPr/>
        </p:nvSpPr>
        <p:spPr>
          <a:xfrm>
            <a:off x="7260336" y="3794760"/>
            <a:ext cx="3977639" cy="1920240"/>
          </a:xfrm>
          <a:prstGeom prst="rect">
            <a:avLst/>
          </a:prstGeom>
          <a:noFill/>
        </p:spPr>
        <p:txBody>
          <a:bodyPr wrap="square" lIns="45720" tIns="27432" rIns="45720" bIns="27432" anchor="ctr">
            <a:spAutoFit/>
          </a:bodyPr>
          <a:lstStyle/>
          <a:p>
            <a:pPr algn="ctr"/>
            <a:r>
              <a:rPr sz="1400">
                <a:solidFill>
                  <a:srgbClr val="262626"/>
                </a:solidFill>
              </a:rPr>
              <a:t>Goal says: contact high-risk patients. Policy allows an approved reminder template. Plan: send it, with a reschedule option.</a:t>
            </a:r>
          </a:p>
        </p:txBody>
      </p:sp>
      <p:sp>
        <p:nvSpPr>
          <p:cNvPr id="13" name="Right Arrow 12"/>
          <p:cNvSpPr/>
          <p:nvPr/>
        </p:nvSpPr>
        <p:spPr>
          <a:xfrm>
            <a:off x="11667744" y="439369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2170663" y="333756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490703" y="306324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3 · Act</a:t>
            </a:r>
          </a:p>
        </p:txBody>
      </p:sp>
      <p:sp>
        <p:nvSpPr>
          <p:cNvPr id="16" name="TextBox 15"/>
          <p:cNvSpPr txBox="1"/>
          <p:nvPr/>
        </p:nvSpPr>
        <p:spPr>
          <a:xfrm>
            <a:off x="12490703" y="3794760"/>
            <a:ext cx="3977639" cy="1920240"/>
          </a:xfrm>
          <a:prstGeom prst="rect">
            <a:avLst/>
          </a:prstGeom>
          <a:noFill/>
        </p:spPr>
        <p:txBody>
          <a:bodyPr wrap="square" lIns="45720" tIns="27432" rIns="45720" bIns="27432" anchor="ctr">
            <a:spAutoFit/>
          </a:bodyPr>
          <a:lstStyle/>
          <a:p>
            <a:pPr algn="ctr"/>
            <a:r>
              <a:rPr sz="1400">
                <a:solidFill>
                  <a:srgbClr val="262626"/>
                </a:solidFill>
              </a:rPr>
              <a:t>WhatsApp message sent through the approved template, in the patient's preferred language.</a:t>
            </a:r>
          </a:p>
        </p:txBody>
      </p:sp>
      <p:sp>
        <p:nvSpPr>
          <p:cNvPr id="17" name="Rounded Rectangle 16"/>
          <p:cNvSpPr/>
          <p:nvPr/>
        </p:nvSpPr>
        <p:spPr>
          <a:xfrm>
            <a:off x="1709928" y="67208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029968" y="644652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4 · Observe</a:t>
            </a:r>
          </a:p>
        </p:txBody>
      </p:sp>
      <p:sp>
        <p:nvSpPr>
          <p:cNvPr id="19" name="TextBox 18"/>
          <p:cNvSpPr txBox="1"/>
          <p:nvPr/>
        </p:nvSpPr>
        <p:spPr>
          <a:xfrm>
            <a:off x="2029968" y="7178040"/>
            <a:ext cx="3977639" cy="1920240"/>
          </a:xfrm>
          <a:prstGeom prst="rect">
            <a:avLst/>
          </a:prstGeom>
          <a:noFill/>
        </p:spPr>
        <p:txBody>
          <a:bodyPr wrap="square" lIns="45720" tIns="27432" rIns="45720" bIns="27432" anchor="ctr">
            <a:spAutoFit/>
          </a:bodyPr>
          <a:lstStyle/>
          <a:p>
            <a:pPr algn="ctr"/>
            <a:r>
              <a:rPr sz="1400">
                <a:solidFill>
                  <a:srgbClr val="262626"/>
                </a:solidFill>
              </a:rPr>
              <a:t>Reply: “I can't make it, I have no transport that day.”</a:t>
            </a:r>
          </a:p>
        </p:txBody>
      </p:sp>
      <p:sp>
        <p:nvSpPr>
          <p:cNvPr id="20" name="Right Arrow 19"/>
          <p:cNvSpPr/>
          <p:nvPr/>
        </p:nvSpPr>
        <p:spPr>
          <a:xfrm>
            <a:off x="6437376" y="7776971"/>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940296" y="67208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60336" y="644652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5 · Reason &amp; plan</a:t>
            </a:r>
          </a:p>
        </p:txBody>
      </p:sp>
      <p:sp>
        <p:nvSpPr>
          <p:cNvPr id="23" name="TextBox 22"/>
          <p:cNvSpPr txBox="1"/>
          <p:nvPr/>
        </p:nvSpPr>
        <p:spPr>
          <a:xfrm>
            <a:off x="7260336" y="7178040"/>
            <a:ext cx="3977639" cy="1920240"/>
          </a:xfrm>
          <a:prstGeom prst="rect">
            <a:avLst/>
          </a:prstGeom>
          <a:noFill/>
        </p:spPr>
        <p:txBody>
          <a:bodyPr wrap="square" lIns="45720" tIns="27432" rIns="45720" bIns="27432" anchor="ctr">
            <a:spAutoFit/>
          </a:bodyPr>
          <a:lstStyle/>
          <a:p>
            <a:pPr algn="ctr"/>
            <a:r>
              <a:rPr sz="1400">
                <a:solidFill>
                  <a:srgbClr val="262626"/>
                </a:solidFill>
              </a:rPr>
              <a:t>Routine follow-up: policy allows moving it within 14 days. Two free slots next week. Propose both; do not cancel.</a:t>
            </a:r>
          </a:p>
        </p:txBody>
      </p:sp>
      <p:sp>
        <p:nvSpPr>
          <p:cNvPr id="24" name="Right Arrow 23"/>
          <p:cNvSpPr/>
          <p:nvPr/>
        </p:nvSpPr>
        <p:spPr>
          <a:xfrm>
            <a:off x="11667744" y="7776971"/>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2170663" y="67208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2490703" y="644652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6 · Act → done</a:t>
            </a:r>
          </a:p>
        </p:txBody>
      </p:sp>
      <p:sp>
        <p:nvSpPr>
          <p:cNvPr id="27" name="TextBox 26"/>
          <p:cNvSpPr txBox="1"/>
          <p:nvPr/>
        </p:nvSpPr>
        <p:spPr>
          <a:xfrm>
            <a:off x="12490703" y="7178040"/>
            <a:ext cx="3977639" cy="1920240"/>
          </a:xfrm>
          <a:prstGeom prst="rect">
            <a:avLst/>
          </a:prstGeom>
          <a:noFill/>
        </p:spPr>
        <p:txBody>
          <a:bodyPr wrap="square" lIns="45720" tIns="27432" rIns="45720" bIns="27432" anchor="ctr">
            <a:spAutoFit/>
          </a:bodyPr>
          <a:lstStyle/>
          <a:p>
            <a:pPr algn="ctr"/>
            <a:r>
              <a:rPr sz="1400">
                <a:solidFill>
                  <a:srgbClr val="262626"/>
                </a:solidFill>
              </a:rPr>
              <a:t>Patient picks Tuesday. Slot rebooked, confirmation sent, freed slot offered to the first waiting-list patient. Everything logged.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Inside one reasoning step</a:t>
            </a:r>
          </a:p>
        </p:txBody>
      </p:sp>
      <p:sp>
        <p:nvSpPr>
          <p:cNvPr id="3" name="Text Placeholder 2"/>
          <p:cNvSpPr>
            <a:spLocks noGrp="1"/>
          </p:cNvSpPr>
          <p:nvPr>
            <p:ph type="body" idx="10" sz="quarter"/>
          </p:nvPr>
        </p:nvSpPr>
        <p:spPr/>
        <p:txBody>
          <a:bodyPr/>
          <a:lstStyle/>
          <a:p>
            <a:r>
              <a:rPr sz="3000"/>
              <a:t>What the model is given, and what it gives back</a:t>
            </a:r>
          </a:p>
        </p:txBody>
      </p:sp>
      <p:sp>
        <p:nvSpPr>
          <p:cNvPr id="5" name="Rounded Rectangle 4"/>
          <p:cNvSpPr/>
          <p:nvPr/>
        </p:nvSpPr>
        <p:spPr>
          <a:xfrm>
            <a:off x="1252728" y="2743200"/>
            <a:ext cx="5486400" cy="5257800"/>
          </a:xfrm>
          <a:prstGeom prst="roundRect">
            <a:avLst>
              <a:gd name="adj" fmla="val 4869"/>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18488" y="3017520"/>
            <a:ext cx="4754880" cy="457200"/>
          </a:xfrm>
          <a:prstGeom prst="rect">
            <a:avLst/>
          </a:prstGeom>
          <a:noFill/>
        </p:spPr>
        <p:txBody>
          <a:bodyPr wrap="square" lIns="45720" tIns="27432" rIns="45720" bIns="27432" anchor="t">
            <a:spAutoFit/>
          </a:bodyPr>
          <a:lstStyle/>
          <a:p>
            <a:pPr algn="l"/>
            <a:r>
              <a:rPr sz="2000">
                <a:solidFill>
                  <a:srgbClr val="0766D1"/>
                </a:solidFill>
                <a:latin typeface="+mj-lt"/>
              </a:rPr>
              <a:t>What goes in</a:t>
            </a:r>
          </a:p>
        </p:txBody>
      </p:sp>
      <p:sp>
        <p:nvSpPr>
          <p:cNvPr id="7" name="Oval 6"/>
          <p:cNvSpPr/>
          <p:nvPr/>
        </p:nvSpPr>
        <p:spPr>
          <a:xfrm>
            <a:off x="1618488" y="3611880"/>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oal_w.png"/>
          <p:cNvPicPr>
            <a:picLocks noChangeAspect="1"/>
          </p:cNvPicPr>
          <p:nvPr/>
        </p:nvPicPr>
        <p:blipFill>
          <a:blip r:embed="rId2"/>
          <a:stretch>
            <a:fillRect/>
          </a:stretch>
        </p:blipFill>
        <p:spPr>
          <a:xfrm>
            <a:off x="1737817" y="3731209"/>
            <a:ext cx="291693" cy="291693"/>
          </a:xfrm>
          <a:prstGeom prst="rect">
            <a:avLst/>
          </a:prstGeom>
        </p:spPr>
      </p:pic>
      <p:sp>
        <p:nvSpPr>
          <p:cNvPr id="9" name="TextBox 8"/>
          <p:cNvSpPr txBox="1"/>
          <p:nvPr/>
        </p:nvSpPr>
        <p:spPr>
          <a:xfrm>
            <a:off x="2350008" y="355701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Goal &amp; instructions</a:t>
            </a:r>
          </a:p>
        </p:txBody>
      </p:sp>
      <p:sp>
        <p:nvSpPr>
          <p:cNvPr id="10" name="TextBox 9"/>
          <p:cNvSpPr txBox="1"/>
          <p:nvPr/>
        </p:nvSpPr>
        <p:spPr>
          <a:xfrm>
            <a:off x="2350008" y="3922776"/>
            <a:ext cx="4023360" cy="649224"/>
          </a:xfrm>
          <a:prstGeom prst="rect">
            <a:avLst/>
          </a:prstGeom>
          <a:noFill/>
        </p:spPr>
        <p:txBody>
          <a:bodyPr wrap="square" lIns="45720" tIns="27432" rIns="45720" bIns="27432" anchor="t">
            <a:spAutoFit/>
          </a:bodyPr>
          <a:lstStyle/>
          <a:p>
            <a:pPr algn="l"/>
            <a:r>
              <a:rPr sz="1400">
                <a:solidFill>
                  <a:srgbClr val="262626"/>
                </a:solidFill>
              </a:rPr>
              <a:t>The job description (the system prompt)</a:t>
            </a:r>
          </a:p>
        </p:txBody>
      </p:sp>
      <p:sp>
        <p:nvSpPr>
          <p:cNvPr id="11" name="Oval 10"/>
          <p:cNvSpPr/>
          <p:nvPr/>
        </p:nvSpPr>
        <p:spPr>
          <a:xfrm>
            <a:off x="1618488" y="4663440"/>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les_w.png"/>
          <p:cNvPicPr>
            <a:picLocks noChangeAspect="1"/>
          </p:cNvPicPr>
          <p:nvPr/>
        </p:nvPicPr>
        <p:blipFill>
          <a:blip r:embed="rId3"/>
          <a:stretch>
            <a:fillRect/>
          </a:stretch>
        </p:blipFill>
        <p:spPr>
          <a:xfrm>
            <a:off x="1737817" y="4782769"/>
            <a:ext cx="291693" cy="291693"/>
          </a:xfrm>
          <a:prstGeom prst="rect">
            <a:avLst/>
          </a:prstGeom>
        </p:spPr>
      </p:pic>
      <p:sp>
        <p:nvSpPr>
          <p:cNvPr id="13" name="TextBox 12"/>
          <p:cNvSpPr txBox="1"/>
          <p:nvPr/>
        </p:nvSpPr>
        <p:spPr>
          <a:xfrm>
            <a:off x="2350008" y="460857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The situation</a:t>
            </a:r>
          </a:p>
        </p:txBody>
      </p:sp>
      <p:sp>
        <p:nvSpPr>
          <p:cNvPr id="14" name="TextBox 13"/>
          <p:cNvSpPr txBox="1"/>
          <p:nvPr/>
        </p:nvSpPr>
        <p:spPr>
          <a:xfrm>
            <a:off x="2350008" y="4974336"/>
            <a:ext cx="4023360" cy="649224"/>
          </a:xfrm>
          <a:prstGeom prst="rect">
            <a:avLst/>
          </a:prstGeom>
          <a:noFill/>
        </p:spPr>
        <p:txBody>
          <a:bodyPr wrap="square" lIns="45720" tIns="27432" rIns="45720" bIns="27432" anchor="t">
            <a:spAutoFit/>
          </a:bodyPr>
          <a:lstStyle/>
          <a:p>
            <a:pPr algn="l"/>
            <a:r>
              <a:rPr sz="1400">
                <a:solidFill>
                  <a:srgbClr val="262626"/>
                </a:solidFill>
              </a:rPr>
              <a:t>This case, the conversation so far, tool results</a:t>
            </a:r>
          </a:p>
        </p:txBody>
      </p:sp>
      <p:sp>
        <p:nvSpPr>
          <p:cNvPr id="15" name="Oval 14"/>
          <p:cNvSpPr/>
          <p:nvPr/>
        </p:nvSpPr>
        <p:spPr>
          <a:xfrm>
            <a:off x="1618488" y="5715000"/>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ools_w.png"/>
          <p:cNvPicPr>
            <a:picLocks noChangeAspect="1"/>
          </p:cNvPicPr>
          <p:nvPr/>
        </p:nvPicPr>
        <p:blipFill>
          <a:blip r:embed="rId4"/>
          <a:stretch>
            <a:fillRect/>
          </a:stretch>
        </p:blipFill>
        <p:spPr>
          <a:xfrm>
            <a:off x="1737817" y="5834329"/>
            <a:ext cx="291693" cy="291693"/>
          </a:xfrm>
          <a:prstGeom prst="rect">
            <a:avLst/>
          </a:prstGeom>
        </p:spPr>
      </p:pic>
      <p:sp>
        <p:nvSpPr>
          <p:cNvPr id="17" name="TextBox 16"/>
          <p:cNvSpPr txBox="1"/>
          <p:nvPr/>
        </p:nvSpPr>
        <p:spPr>
          <a:xfrm>
            <a:off x="2350008" y="566013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Available tools</a:t>
            </a:r>
          </a:p>
        </p:txBody>
      </p:sp>
      <p:sp>
        <p:nvSpPr>
          <p:cNvPr id="18" name="TextBox 17"/>
          <p:cNvSpPr txBox="1"/>
          <p:nvPr/>
        </p:nvSpPr>
        <p:spPr>
          <a:xfrm>
            <a:off x="2350008" y="6025896"/>
            <a:ext cx="4023360" cy="649224"/>
          </a:xfrm>
          <a:prstGeom prst="rect">
            <a:avLst/>
          </a:prstGeom>
          <a:noFill/>
        </p:spPr>
        <p:txBody>
          <a:bodyPr wrap="square" lIns="45720" tIns="27432" rIns="45720" bIns="27432" anchor="t">
            <a:spAutoFit/>
          </a:bodyPr>
          <a:lstStyle/>
          <a:p>
            <a:pPr algn="l"/>
            <a:r>
              <a:rPr sz="1400">
                <a:solidFill>
                  <a:srgbClr val="262626"/>
                </a:solidFill>
              </a:rPr>
              <a:t>Each with a plain-language description</a:t>
            </a:r>
          </a:p>
        </p:txBody>
      </p:sp>
      <p:sp>
        <p:nvSpPr>
          <p:cNvPr id="19" name="Oval 18"/>
          <p:cNvSpPr/>
          <p:nvPr/>
        </p:nvSpPr>
        <p:spPr>
          <a:xfrm>
            <a:off x="1618488" y="6766560"/>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fence_w.png"/>
          <p:cNvPicPr>
            <a:picLocks noChangeAspect="1"/>
          </p:cNvPicPr>
          <p:nvPr/>
        </p:nvPicPr>
        <p:blipFill>
          <a:blip r:embed="rId5"/>
          <a:stretch>
            <a:fillRect/>
          </a:stretch>
        </p:blipFill>
        <p:spPr>
          <a:xfrm>
            <a:off x="1737817" y="6885889"/>
            <a:ext cx="291693" cy="291693"/>
          </a:xfrm>
          <a:prstGeom prst="rect">
            <a:avLst/>
          </a:prstGeom>
        </p:spPr>
      </p:pic>
      <p:sp>
        <p:nvSpPr>
          <p:cNvPr id="21" name="TextBox 20"/>
          <p:cNvSpPr txBox="1"/>
          <p:nvPr/>
        </p:nvSpPr>
        <p:spPr>
          <a:xfrm>
            <a:off x="2350008" y="671169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Rules &amp; limits</a:t>
            </a:r>
          </a:p>
        </p:txBody>
      </p:sp>
      <p:sp>
        <p:nvSpPr>
          <p:cNvPr id="22" name="TextBox 21"/>
          <p:cNvSpPr txBox="1"/>
          <p:nvPr/>
        </p:nvSpPr>
        <p:spPr>
          <a:xfrm>
            <a:off x="2350008" y="7077456"/>
            <a:ext cx="4023360" cy="649224"/>
          </a:xfrm>
          <a:prstGeom prst="rect">
            <a:avLst/>
          </a:prstGeom>
          <a:noFill/>
        </p:spPr>
        <p:txBody>
          <a:bodyPr wrap="square" lIns="45720" tIns="27432" rIns="45720" bIns="27432" anchor="t">
            <a:spAutoFit/>
          </a:bodyPr>
          <a:lstStyle/>
          <a:p>
            <a:pPr algn="l"/>
            <a:r>
              <a:rPr sz="1400">
                <a:solidFill>
                  <a:srgbClr val="262626"/>
                </a:solidFill>
              </a:rPr>
              <a:t>What it may and may not do</a:t>
            </a:r>
          </a:p>
        </p:txBody>
      </p:sp>
      <p:cxnSp>
        <p:nvCxnSpPr>
          <p:cNvPr id="23" name="Connector 22"/>
          <p:cNvCxnSpPr/>
          <p:nvPr/>
        </p:nvCxnSpPr>
        <p:spPr>
          <a:xfrm>
            <a:off x="6830568" y="5394960"/>
            <a:ext cx="941832" cy="0"/>
          </a:xfrm>
          <a:prstGeom prst="line">
            <a:avLst/>
          </a:prstGeom>
          <a:ln w="2857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863840" y="4114800"/>
            <a:ext cx="2560320" cy="256032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023860" y="4274820"/>
            <a:ext cx="2240280" cy="2240280"/>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rain_w.png"/>
          <p:cNvPicPr>
            <a:picLocks noChangeAspect="1"/>
          </p:cNvPicPr>
          <p:nvPr/>
        </p:nvPicPr>
        <p:blipFill>
          <a:blip r:embed="rId6"/>
          <a:stretch>
            <a:fillRect/>
          </a:stretch>
        </p:blipFill>
        <p:spPr>
          <a:xfrm>
            <a:off x="8732520" y="4526280"/>
            <a:ext cx="822960" cy="822960"/>
          </a:xfrm>
          <a:prstGeom prst="rect">
            <a:avLst/>
          </a:prstGeom>
        </p:spPr>
      </p:pic>
      <p:sp>
        <p:nvSpPr>
          <p:cNvPr id="27" name="TextBox 26"/>
          <p:cNvSpPr txBox="1"/>
          <p:nvPr/>
        </p:nvSpPr>
        <p:spPr>
          <a:xfrm>
            <a:off x="8046720" y="5349240"/>
            <a:ext cx="2194560" cy="1005840"/>
          </a:xfrm>
          <a:prstGeom prst="rect">
            <a:avLst/>
          </a:prstGeom>
          <a:noFill/>
        </p:spPr>
        <p:txBody>
          <a:bodyPr wrap="square" lIns="45720" tIns="27432" rIns="45720" bIns="27432" anchor="t">
            <a:spAutoFit/>
          </a:bodyPr>
          <a:lstStyle/>
          <a:p>
            <a:pPr algn="ctr"/>
            <a:r>
              <a:rPr sz="1500">
                <a:solidFill>
                  <a:srgbClr val="FFFFFF"/>
                </a:solidFill>
                <a:latin typeface="+mj-lt"/>
              </a:rPr>
              <a:t>Reasoning engine</a:t>
            </a:r>
          </a:p>
          <a:p>
            <a:pPr algn="ctr"/>
            <a:r>
              <a:rPr sz="1200">
                <a:solidFill>
                  <a:srgbClr val="FFFFFF"/>
                </a:solidFill>
                <a:latin typeface="+mj-lt"/>
              </a:rPr>
              <a:t>(the language model)</a:t>
            </a:r>
          </a:p>
        </p:txBody>
      </p:sp>
      <p:cxnSp>
        <p:nvCxnSpPr>
          <p:cNvPr id="28" name="Connector 27"/>
          <p:cNvCxnSpPr/>
          <p:nvPr/>
        </p:nvCxnSpPr>
        <p:spPr>
          <a:xfrm>
            <a:off x="10515600" y="5394960"/>
            <a:ext cx="932688" cy="0"/>
          </a:xfrm>
          <a:prstGeom prst="line">
            <a:avLst/>
          </a:prstGeom>
          <a:ln w="2857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1539728" y="2743200"/>
            <a:ext cx="5486400" cy="5257800"/>
          </a:xfrm>
          <a:prstGeom prst="roundRect">
            <a:avLst>
              <a:gd name="adj" fmla="val 4869"/>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905488" y="3017520"/>
            <a:ext cx="4754880" cy="457200"/>
          </a:xfrm>
          <a:prstGeom prst="rect">
            <a:avLst/>
          </a:prstGeom>
          <a:noFill/>
        </p:spPr>
        <p:txBody>
          <a:bodyPr wrap="square" lIns="45720" tIns="27432" rIns="45720" bIns="27432" anchor="t">
            <a:spAutoFit/>
          </a:bodyPr>
          <a:lstStyle/>
          <a:p>
            <a:pPr algn="l"/>
            <a:r>
              <a:rPr sz="2000">
                <a:solidFill>
                  <a:srgbClr val="0766D1"/>
                </a:solidFill>
                <a:latin typeface="+mj-lt"/>
              </a:rPr>
              <a:t>What comes out: one of three</a:t>
            </a:r>
          </a:p>
        </p:txBody>
      </p:sp>
      <p:sp>
        <p:nvSpPr>
          <p:cNvPr id="31" name="Oval 30"/>
          <p:cNvSpPr/>
          <p:nvPr/>
        </p:nvSpPr>
        <p:spPr>
          <a:xfrm>
            <a:off x="11905488" y="3611880"/>
            <a:ext cx="530352" cy="53035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tools_w.png"/>
          <p:cNvPicPr>
            <a:picLocks noChangeAspect="1"/>
          </p:cNvPicPr>
          <p:nvPr/>
        </p:nvPicPr>
        <p:blipFill>
          <a:blip r:embed="rId4"/>
          <a:stretch>
            <a:fillRect/>
          </a:stretch>
        </p:blipFill>
        <p:spPr>
          <a:xfrm>
            <a:off x="12024817" y="3731209"/>
            <a:ext cx="291693" cy="291693"/>
          </a:xfrm>
          <a:prstGeom prst="rect">
            <a:avLst/>
          </a:prstGeom>
        </p:spPr>
      </p:pic>
      <p:sp>
        <p:nvSpPr>
          <p:cNvPr id="33" name="TextBox 32"/>
          <p:cNvSpPr txBox="1"/>
          <p:nvPr/>
        </p:nvSpPr>
        <p:spPr>
          <a:xfrm>
            <a:off x="12637008" y="355701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A tool request</a:t>
            </a:r>
          </a:p>
        </p:txBody>
      </p:sp>
      <p:sp>
        <p:nvSpPr>
          <p:cNvPr id="34" name="TextBox 33"/>
          <p:cNvSpPr txBox="1"/>
          <p:nvPr/>
        </p:nvSpPr>
        <p:spPr>
          <a:xfrm>
            <a:off x="12637008" y="3922776"/>
            <a:ext cx="4023360" cy="877824"/>
          </a:xfrm>
          <a:prstGeom prst="rect">
            <a:avLst/>
          </a:prstGeom>
          <a:noFill/>
        </p:spPr>
        <p:txBody>
          <a:bodyPr wrap="square" lIns="45720" tIns="27432" rIns="45720" bIns="27432" anchor="t">
            <a:spAutoFit/>
          </a:bodyPr>
          <a:lstStyle/>
          <a:p>
            <a:pPr algn="l"/>
            <a:r>
              <a:rPr sz="1400">
                <a:solidFill>
                  <a:srgbClr val="262626"/>
                </a:solidFill>
              </a:rPr>
              <a:t>“Check free cardiology slots next week”</a:t>
            </a:r>
          </a:p>
        </p:txBody>
      </p:sp>
      <p:sp>
        <p:nvSpPr>
          <p:cNvPr id="35" name="Oval 34"/>
          <p:cNvSpPr/>
          <p:nvPr/>
        </p:nvSpPr>
        <p:spPr>
          <a:xfrm>
            <a:off x="11905488" y="4937760"/>
            <a:ext cx="530352" cy="53035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message_w.png"/>
          <p:cNvPicPr>
            <a:picLocks noChangeAspect="1"/>
          </p:cNvPicPr>
          <p:nvPr/>
        </p:nvPicPr>
        <p:blipFill>
          <a:blip r:embed="rId7"/>
          <a:stretch>
            <a:fillRect/>
          </a:stretch>
        </p:blipFill>
        <p:spPr>
          <a:xfrm>
            <a:off x="12024817" y="5057089"/>
            <a:ext cx="291693" cy="291693"/>
          </a:xfrm>
          <a:prstGeom prst="rect">
            <a:avLst/>
          </a:prstGeom>
        </p:spPr>
      </p:pic>
      <p:sp>
        <p:nvSpPr>
          <p:cNvPr id="37" name="TextBox 36"/>
          <p:cNvSpPr txBox="1"/>
          <p:nvPr/>
        </p:nvSpPr>
        <p:spPr>
          <a:xfrm>
            <a:off x="12637008" y="488289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A message</a:t>
            </a:r>
          </a:p>
        </p:txBody>
      </p:sp>
      <p:sp>
        <p:nvSpPr>
          <p:cNvPr id="38" name="TextBox 37"/>
          <p:cNvSpPr txBox="1"/>
          <p:nvPr/>
        </p:nvSpPr>
        <p:spPr>
          <a:xfrm>
            <a:off x="12637008" y="5248656"/>
            <a:ext cx="4023360" cy="877824"/>
          </a:xfrm>
          <a:prstGeom prst="rect">
            <a:avLst/>
          </a:prstGeom>
          <a:noFill/>
        </p:spPr>
        <p:txBody>
          <a:bodyPr wrap="square" lIns="45720" tIns="27432" rIns="45720" bIns="27432" anchor="t">
            <a:spAutoFit/>
          </a:bodyPr>
          <a:lstStyle/>
          <a:p>
            <a:pPr algn="l"/>
            <a:r>
              <a:rPr sz="1400">
                <a:solidFill>
                  <a:srgbClr val="262626"/>
                </a:solidFill>
              </a:rPr>
              <a:t>To the patient, or to a colleague</a:t>
            </a:r>
          </a:p>
        </p:txBody>
      </p:sp>
      <p:sp>
        <p:nvSpPr>
          <p:cNvPr id="39" name="Oval 38"/>
          <p:cNvSpPr/>
          <p:nvPr/>
        </p:nvSpPr>
        <p:spPr>
          <a:xfrm>
            <a:off x="11905488" y="6263640"/>
            <a:ext cx="530352" cy="53035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hand_w.png"/>
          <p:cNvPicPr>
            <a:picLocks noChangeAspect="1"/>
          </p:cNvPicPr>
          <p:nvPr/>
        </p:nvPicPr>
        <p:blipFill>
          <a:blip r:embed="rId8"/>
          <a:stretch>
            <a:fillRect/>
          </a:stretch>
        </p:blipFill>
        <p:spPr>
          <a:xfrm>
            <a:off x="12024817" y="6382969"/>
            <a:ext cx="291693" cy="291693"/>
          </a:xfrm>
          <a:prstGeom prst="rect">
            <a:avLst/>
          </a:prstGeom>
        </p:spPr>
      </p:pic>
      <p:sp>
        <p:nvSpPr>
          <p:cNvPr id="41" name="TextBox 40"/>
          <p:cNvSpPr txBox="1"/>
          <p:nvPr/>
        </p:nvSpPr>
        <p:spPr>
          <a:xfrm>
            <a:off x="12637008" y="620877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A hand-over</a:t>
            </a:r>
          </a:p>
        </p:txBody>
      </p:sp>
      <p:sp>
        <p:nvSpPr>
          <p:cNvPr id="42" name="TextBox 41"/>
          <p:cNvSpPr txBox="1"/>
          <p:nvPr/>
        </p:nvSpPr>
        <p:spPr>
          <a:xfrm>
            <a:off x="12637008" y="6574536"/>
            <a:ext cx="4023360" cy="877824"/>
          </a:xfrm>
          <a:prstGeom prst="rect">
            <a:avLst/>
          </a:prstGeom>
          <a:noFill/>
        </p:spPr>
        <p:txBody>
          <a:bodyPr wrap="square" lIns="45720" tIns="27432" rIns="45720" bIns="27432" anchor="t">
            <a:spAutoFit/>
          </a:bodyPr>
          <a:lstStyle/>
          <a:p>
            <a:pPr algn="l"/>
            <a:r>
              <a:rPr sz="1400">
                <a:solidFill>
                  <a:srgbClr val="262626"/>
                </a:solidFill>
              </a:rPr>
              <a:t>“This needs a person”, with the reason</a:t>
            </a:r>
          </a:p>
        </p:txBody>
      </p:sp>
      <p:sp>
        <p:nvSpPr>
          <p:cNvPr id="43" name="Rounded Rectangle 42"/>
          <p:cNvSpPr/>
          <p:nvPr/>
        </p:nvSpPr>
        <p:spPr>
          <a:xfrm>
            <a:off x="1252728" y="8366760"/>
            <a:ext cx="15773400" cy="960120"/>
          </a:xfrm>
          <a:prstGeom prst="roundRect">
            <a:avLst>
              <a:gd name="adj" fmla="val 20952"/>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users_n.png"/>
          <p:cNvPicPr>
            <a:picLocks noChangeAspect="1"/>
          </p:cNvPicPr>
          <p:nvPr/>
        </p:nvPicPr>
        <p:blipFill>
          <a:blip r:embed="rId9"/>
          <a:stretch>
            <a:fillRect/>
          </a:stretch>
        </p:blipFill>
        <p:spPr>
          <a:xfrm>
            <a:off x="1572768" y="8549640"/>
            <a:ext cx="594360" cy="594360"/>
          </a:xfrm>
          <a:prstGeom prst="rect">
            <a:avLst/>
          </a:prstGeom>
        </p:spPr>
      </p:pic>
      <p:sp>
        <p:nvSpPr>
          <p:cNvPr id="45" name="TextBox 44"/>
          <p:cNvSpPr txBox="1"/>
          <p:nvPr/>
        </p:nvSpPr>
        <p:spPr>
          <a:xfrm>
            <a:off x="2441448" y="8476488"/>
            <a:ext cx="14310359" cy="740664"/>
          </a:xfrm>
          <a:prstGeom prst="rect">
            <a:avLst/>
          </a:prstGeom>
          <a:noFill/>
        </p:spPr>
        <p:txBody>
          <a:bodyPr wrap="square" lIns="45720" tIns="27432" rIns="45720" bIns="27432" anchor="ctr">
            <a:spAutoFit/>
          </a:bodyPr>
          <a:lstStyle/>
          <a:p>
            <a:pPr algn="l"/>
            <a:r>
              <a:rPr sz="1600">
                <a:solidFill>
                  <a:srgbClr val="032954"/>
                </a:solidFill>
              </a:rPr>
              <a:t>Analogy: a capable new colleague with a job description, the policy binder, a phone list, and a supervisor they can call. The runtime, not the colleague, makes the calls.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When does the loop stop?</a:t>
            </a:r>
          </a:p>
        </p:txBody>
      </p:sp>
      <p:sp>
        <p:nvSpPr>
          <p:cNvPr id="3" name="Text Placeholder 2"/>
          <p:cNvSpPr>
            <a:spLocks noGrp="1"/>
          </p:cNvSpPr>
          <p:nvPr>
            <p:ph type="body" idx="10" sz="quarter"/>
          </p:nvPr>
        </p:nvSpPr>
        <p:spPr/>
        <p:txBody>
          <a:bodyPr/>
          <a:lstStyle/>
          <a:p>
            <a:r>
              <a:rPr sz="3000"/>
              <a:t>Agents do not run forever. We design the exits.</a:t>
            </a:r>
          </a:p>
        </p:txBody>
      </p:sp>
      <p:sp>
        <p:nvSpPr>
          <p:cNvPr id="5" name="Rounded Rectangle 4"/>
          <p:cNvSpPr/>
          <p:nvPr/>
        </p:nvSpPr>
        <p:spPr>
          <a:xfrm>
            <a:off x="125272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584323" y="2651760"/>
            <a:ext cx="1005840" cy="1005840"/>
          </a:xfrm>
          <a:prstGeom prst="ellipse">
            <a:avLst/>
          </a:prstGeom>
          <a:solidFill>
            <a:srgbClr val="009242"/>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w.png"/>
          <p:cNvPicPr>
            <a:picLocks noChangeAspect="1"/>
          </p:cNvPicPr>
          <p:nvPr/>
        </p:nvPicPr>
        <p:blipFill>
          <a:blip r:embed="rId2"/>
          <a:stretch>
            <a:fillRect/>
          </a:stretch>
        </p:blipFill>
        <p:spPr>
          <a:xfrm>
            <a:off x="2825724" y="2893161"/>
            <a:ext cx="523036" cy="523036"/>
          </a:xfrm>
          <a:prstGeom prst="rect">
            <a:avLst/>
          </a:prstGeom>
        </p:spPr>
      </p:pic>
      <p:sp>
        <p:nvSpPr>
          <p:cNvPr id="8" name="TextBox 7"/>
          <p:cNvSpPr txBox="1"/>
          <p:nvPr/>
        </p:nvSpPr>
        <p:spPr>
          <a:xfrm>
            <a:off x="1527048" y="3886200"/>
            <a:ext cx="3120390" cy="548640"/>
          </a:xfrm>
          <a:prstGeom prst="rect">
            <a:avLst/>
          </a:prstGeom>
          <a:noFill/>
        </p:spPr>
        <p:txBody>
          <a:bodyPr wrap="square" lIns="45720" tIns="27432" rIns="45720" bIns="27432" anchor="t">
            <a:spAutoFit/>
          </a:bodyPr>
          <a:lstStyle/>
          <a:p>
            <a:pPr algn="ctr"/>
            <a:r>
              <a:rPr sz="2000">
                <a:solidFill>
                  <a:srgbClr val="262626"/>
                </a:solidFill>
                <a:latin typeface="+mj-lt"/>
              </a:rPr>
              <a:t>Goal achieved</a:t>
            </a:r>
          </a:p>
        </p:txBody>
      </p:sp>
      <p:sp>
        <p:nvSpPr>
          <p:cNvPr id="9" name="TextBox 8"/>
          <p:cNvSpPr txBox="1"/>
          <p:nvPr/>
        </p:nvSpPr>
        <p:spPr>
          <a:xfrm>
            <a:off x="1572768" y="4572000"/>
            <a:ext cx="3028950" cy="1920240"/>
          </a:xfrm>
          <a:prstGeom prst="rect">
            <a:avLst/>
          </a:prstGeom>
          <a:noFill/>
        </p:spPr>
        <p:txBody>
          <a:bodyPr wrap="square" lIns="45720" tIns="27432" rIns="45720" bIns="27432" anchor="t">
            <a:spAutoFit/>
          </a:bodyPr>
          <a:lstStyle/>
          <a:p>
            <a:pPr algn="l"/>
            <a:r>
              <a:rPr sz="1500">
                <a:solidFill>
                  <a:srgbClr val="262626"/>
                </a:solidFill>
              </a:rPr>
              <a:t>Appointment confirmed or rebooked; freed slot refilled.</a:t>
            </a:r>
          </a:p>
        </p:txBody>
      </p:sp>
      <p:sp>
        <p:nvSpPr>
          <p:cNvPr id="10" name="Rounded Rectangle 9"/>
          <p:cNvSpPr/>
          <p:nvPr/>
        </p:nvSpPr>
        <p:spPr>
          <a:xfrm>
            <a:off x="1572768" y="6446520"/>
            <a:ext cx="3028950" cy="1234440"/>
          </a:xfrm>
          <a:prstGeom prst="roundRect">
            <a:avLst>
              <a:gd name="adj" fmla="val 11111"/>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09928" y="6492240"/>
            <a:ext cx="2754630" cy="1143000"/>
          </a:xfrm>
          <a:prstGeom prst="rect">
            <a:avLst/>
          </a:prstGeom>
          <a:noFill/>
        </p:spPr>
        <p:txBody>
          <a:bodyPr wrap="square" lIns="45720" tIns="27432" rIns="45720" bIns="27432" anchor="ctr">
            <a:spAutoFit/>
          </a:bodyPr>
          <a:lstStyle/>
          <a:p>
            <a:pPr algn="l"/>
            <a:r>
              <a:rPr sz="1400">
                <a:solidFill>
                  <a:srgbClr val="0766D1"/>
                </a:solidFill>
                <a:latin typeface="+mj-lt"/>
              </a:rPr>
              <a:t>Then: </a:t>
            </a:r>
          </a:p>
          <a:p>
            <a:pPr algn="l"/>
            <a:r>
              <a:rPr sz="1400">
                <a:solidFill>
                  <a:srgbClr val="032954"/>
                </a:solidFill>
              </a:rPr>
              <a:t>Log the outcome, close the case.</a:t>
            </a:r>
          </a:p>
        </p:txBody>
      </p:sp>
      <p:sp>
        <p:nvSpPr>
          <p:cNvPr id="12" name="Rounded Rectangle 11"/>
          <p:cNvSpPr/>
          <p:nvPr/>
        </p:nvSpPr>
        <p:spPr>
          <a:xfrm>
            <a:off x="528751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19113" y="2651760"/>
            <a:ext cx="1005840" cy="10058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hand_w.png"/>
          <p:cNvPicPr>
            <a:picLocks noChangeAspect="1"/>
          </p:cNvPicPr>
          <p:nvPr/>
        </p:nvPicPr>
        <p:blipFill>
          <a:blip r:embed="rId3"/>
          <a:stretch>
            <a:fillRect/>
          </a:stretch>
        </p:blipFill>
        <p:spPr>
          <a:xfrm>
            <a:off x="6860514" y="2893161"/>
            <a:ext cx="523036" cy="523036"/>
          </a:xfrm>
          <a:prstGeom prst="rect">
            <a:avLst/>
          </a:prstGeom>
        </p:spPr>
      </p:pic>
      <p:sp>
        <p:nvSpPr>
          <p:cNvPr id="15" name="TextBox 14"/>
          <p:cNvSpPr txBox="1"/>
          <p:nvPr/>
        </p:nvSpPr>
        <p:spPr>
          <a:xfrm>
            <a:off x="5561838" y="3886200"/>
            <a:ext cx="3120390" cy="548640"/>
          </a:xfrm>
          <a:prstGeom prst="rect">
            <a:avLst/>
          </a:prstGeom>
          <a:noFill/>
        </p:spPr>
        <p:txBody>
          <a:bodyPr wrap="square" lIns="45720" tIns="27432" rIns="45720" bIns="27432" anchor="t">
            <a:spAutoFit/>
          </a:bodyPr>
          <a:lstStyle/>
          <a:p>
            <a:pPr algn="ctr"/>
            <a:r>
              <a:rPr sz="2000">
                <a:solidFill>
                  <a:srgbClr val="262626"/>
                </a:solidFill>
                <a:latin typeface="+mj-lt"/>
              </a:rPr>
              <a:t>Hand-over</a:t>
            </a:r>
          </a:p>
        </p:txBody>
      </p:sp>
      <p:sp>
        <p:nvSpPr>
          <p:cNvPr id="16" name="TextBox 15"/>
          <p:cNvSpPr txBox="1"/>
          <p:nvPr/>
        </p:nvSpPr>
        <p:spPr>
          <a:xfrm>
            <a:off x="5607558" y="4572000"/>
            <a:ext cx="3028950" cy="1920240"/>
          </a:xfrm>
          <a:prstGeom prst="rect">
            <a:avLst/>
          </a:prstGeom>
          <a:noFill/>
        </p:spPr>
        <p:txBody>
          <a:bodyPr wrap="square" lIns="45720" tIns="27432" rIns="45720" bIns="27432" anchor="t">
            <a:spAutoFit/>
          </a:bodyPr>
          <a:lstStyle/>
          <a:p>
            <a:pPr algn="l"/>
            <a:r>
              <a:rPr sz="1500">
                <a:solidFill>
                  <a:srgbClr val="262626"/>
                </a:solidFill>
              </a:rPr>
              <a:t>An escalation trigger fired: low confidence, out of scope, sensitive case.</a:t>
            </a:r>
          </a:p>
        </p:txBody>
      </p:sp>
      <p:sp>
        <p:nvSpPr>
          <p:cNvPr id="17" name="Rounded Rectangle 16"/>
          <p:cNvSpPr/>
          <p:nvPr/>
        </p:nvSpPr>
        <p:spPr>
          <a:xfrm>
            <a:off x="5607558" y="6446520"/>
            <a:ext cx="3028950" cy="1234440"/>
          </a:xfrm>
          <a:prstGeom prst="roundRect">
            <a:avLst>
              <a:gd name="adj" fmla="val 11111"/>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44718" y="6492240"/>
            <a:ext cx="2754630" cy="1143000"/>
          </a:xfrm>
          <a:prstGeom prst="rect">
            <a:avLst/>
          </a:prstGeom>
          <a:noFill/>
        </p:spPr>
        <p:txBody>
          <a:bodyPr wrap="square" lIns="45720" tIns="27432" rIns="45720" bIns="27432" anchor="ctr">
            <a:spAutoFit/>
          </a:bodyPr>
          <a:lstStyle/>
          <a:p>
            <a:pPr algn="l"/>
            <a:r>
              <a:rPr sz="1400">
                <a:solidFill>
                  <a:srgbClr val="0766D1"/>
                </a:solidFill>
                <a:latin typeface="+mj-lt"/>
              </a:rPr>
              <a:t>Then: </a:t>
            </a:r>
          </a:p>
          <a:p>
            <a:pPr algn="l"/>
            <a:r>
              <a:rPr sz="1400">
                <a:solidFill>
                  <a:srgbClr val="032954"/>
                </a:solidFill>
              </a:rPr>
              <a:t>Task to a named person, with full context.</a:t>
            </a:r>
          </a:p>
        </p:txBody>
      </p:sp>
      <p:sp>
        <p:nvSpPr>
          <p:cNvPr id="19" name="Rounded Rectangle 18"/>
          <p:cNvSpPr/>
          <p:nvPr/>
        </p:nvSpPr>
        <p:spPr>
          <a:xfrm>
            <a:off x="932230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653903" y="2651760"/>
            <a:ext cx="1005840" cy="10058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lock_w.png"/>
          <p:cNvPicPr>
            <a:picLocks noChangeAspect="1"/>
          </p:cNvPicPr>
          <p:nvPr/>
        </p:nvPicPr>
        <p:blipFill>
          <a:blip r:embed="rId4"/>
          <a:stretch>
            <a:fillRect/>
          </a:stretch>
        </p:blipFill>
        <p:spPr>
          <a:xfrm>
            <a:off x="10895304" y="2893161"/>
            <a:ext cx="523036" cy="523036"/>
          </a:xfrm>
          <a:prstGeom prst="rect">
            <a:avLst/>
          </a:prstGeom>
        </p:spPr>
      </p:pic>
      <p:sp>
        <p:nvSpPr>
          <p:cNvPr id="22" name="TextBox 21"/>
          <p:cNvSpPr txBox="1"/>
          <p:nvPr/>
        </p:nvSpPr>
        <p:spPr>
          <a:xfrm>
            <a:off x="9596628" y="3886200"/>
            <a:ext cx="3120390" cy="548640"/>
          </a:xfrm>
          <a:prstGeom prst="rect">
            <a:avLst/>
          </a:prstGeom>
          <a:noFill/>
        </p:spPr>
        <p:txBody>
          <a:bodyPr wrap="square" lIns="45720" tIns="27432" rIns="45720" bIns="27432" anchor="t">
            <a:spAutoFit/>
          </a:bodyPr>
          <a:lstStyle/>
          <a:p>
            <a:pPr algn="ctr"/>
            <a:r>
              <a:rPr sz="2000">
                <a:solidFill>
                  <a:srgbClr val="262626"/>
                </a:solidFill>
                <a:latin typeface="+mj-lt"/>
              </a:rPr>
              <a:t>Limit reached</a:t>
            </a:r>
          </a:p>
        </p:txBody>
      </p:sp>
      <p:sp>
        <p:nvSpPr>
          <p:cNvPr id="23" name="TextBox 22"/>
          <p:cNvSpPr txBox="1"/>
          <p:nvPr/>
        </p:nvSpPr>
        <p:spPr>
          <a:xfrm>
            <a:off x="9642348" y="4572000"/>
            <a:ext cx="3028950" cy="1920240"/>
          </a:xfrm>
          <a:prstGeom prst="rect">
            <a:avLst/>
          </a:prstGeom>
          <a:noFill/>
        </p:spPr>
        <p:txBody>
          <a:bodyPr wrap="square" lIns="45720" tIns="27432" rIns="45720" bIns="27432" anchor="t">
            <a:spAutoFit/>
          </a:bodyPr>
          <a:lstStyle/>
          <a:p>
            <a:pPr algn="l"/>
            <a:r>
              <a:rPr sz="1500">
                <a:solidFill>
                  <a:srgbClr val="262626"/>
                </a:solidFill>
              </a:rPr>
              <a:t>Two contact attempts made, or the 20:00 messaging cut-off passed.</a:t>
            </a:r>
          </a:p>
        </p:txBody>
      </p:sp>
      <p:sp>
        <p:nvSpPr>
          <p:cNvPr id="24" name="Rounded Rectangle 23"/>
          <p:cNvSpPr/>
          <p:nvPr/>
        </p:nvSpPr>
        <p:spPr>
          <a:xfrm>
            <a:off x="9642348" y="6446520"/>
            <a:ext cx="3028950" cy="1234440"/>
          </a:xfrm>
          <a:prstGeom prst="roundRect">
            <a:avLst>
              <a:gd name="adj" fmla="val 11111"/>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79508" y="6492240"/>
            <a:ext cx="2754630" cy="1143000"/>
          </a:xfrm>
          <a:prstGeom prst="rect">
            <a:avLst/>
          </a:prstGeom>
          <a:noFill/>
        </p:spPr>
        <p:txBody>
          <a:bodyPr wrap="square" lIns="45720" tIns="27432" rIns="45720" bIns="27432" anchor="ctr">
            <a:spAutoFit/>
          </a:bodyPr>
          <a:lstStyle/>
          <a:p>
            <a:pPr algn="l"/>
            <a:r>
              <a:rPr sz="1400">
                <a:solidFill>
                  <a:srgbClr val="0766D1"/>
                </a:solidFill>
                <a:latin typeface="+mj-lt"/>
              </a:rPr>
              <a:t>Then: </a:t>
            </a:r>
          </a:p>
          <a:p>
            <a:pPr algn="l"/>
            <a:r>
              <a:rPr sz="1400">
                <a:solidFill>
                  <a:srgbClr val="032954"/>
                </a:solidFill>
              </a:rPr>
              <a:t>Stop, report, retry tomorrow if allowed.</a:t>
            </a:r>
          </a:p>
        </p:txBody>
      </p:sp>
      <p:sp>
        <p:nvSpPr>
          <p:cNvPr id="26" name="Rounded Rectangle 25"/>
          <p:cNvSpPr/>
          <p:nvPr/>
        </p:nvSpPr>
        <p:spPr>
          <a:xfrm>
            <a:off x="1335709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4688693" y="2651760"/>
            <a:ext cx="1005840" cy="1005840"/>
          </a:xfrm>
          <a:prstGeom prst="ellipse">
            <a:avLst/>
          </a:prstGeom>
          <a:solidFill>
            <a:srgbClr val="7E889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top_w.png"/>
          <p:cNvPicPr>
            <a:picLocks noChangeAspect="1"/>
          </p:cNvPicPr>
          <p:nvPr/>
        </p:nvPicPr>
        <p:blipFill>
          <a:blip r:embed="rId5"/>
          <a:stretch>
            <a:fillRect/>
          </a:stretch>
        </p:blipFill>
        <p:spPr>
          <a:xfrm>
            <a:off x="14930094" y="2893161"/>
            <a:ext cx="523036" cy="523036"/>
          </a:xfrm>
          <a:prstGeom prst="rect">
            <a:avLst/>
          </a:prstGeom>
        </p:spPr>
      </p:pic>
      <p:sp>
        <p:nvSpPr>
          <p:cNvPr id="29" name="TextBox 28"/>
          <p:cNvSpPr txBox="1"/>
          <p:nvPr/>
        </p:nvSpPr>
        <p:spPr>
          <a:xfrm>
            <a:off x="13631418" y="3886200"/>
            <a:ext cx="3120390" cy="548640"/>
          </a:xfrm>
          <a:prstGeom prst="rect">
            <a:avLst/>
          </a:prstGeom>
          <a:noFill/>
        </p:spPr>
        <p:txBody>
          <a:bodyPr wrap="square" lIns="45720" tIns="27432" rIns="45720" bIns="27432" anchor="t">
            <a:spAutoFit/>
          </a:bodyPr>
          <a:lstStyle/>
          <a:p>
            <a:pPr algn="ctr"/>
            <a:r>
              <a:rPr sz="2000">
                <a:solidFill>
                  <a:srgbClr val="262626"/>
                </a:solidFill>
                <a:latin typeface="+mj-lt"/>
              </a:rPr>
              <a:t>Blocked</a:t>
            </a:r>
          </a:p>
        </p:txBody>
      </p:sp>
      <p:sp>
        <p:nvSpPr>
          <p:cNvPr id="30" name="TextBox 29"/>
          <p:cNvSpPr txBox="1"/>
          <p:nvPr/>
        </p:nvSpPr>
        <p:spPr>
          <a:xfrm>
            <a:off x="13677138" y="4572000"/>
            <a:ext cx="3028950" cy="1920240"/>
          </a:xfrm>
          <a:prstGeom prst="rect">
            <a:avLst/>
          </a:prstGeom>
          <a:noFill/>
        </p:spPr>
        <p:txBody>
          <a:bodyPr wrap="square" lIns="45720" tIns="27432" rIns="45720" bIns="27432" anchor="t">
            <a:spAutoFit/>
          </a:bodyPr>
          <a:lstStyle/>
          <a:p>
            <a:pPr algn="l"/>
            <a:r>
              <a:rPr sz="1500">
                <a:solidFill>
                  <a:srgbClr val="262626"/>
                </a:solidFill>
              </a:rPr>
              <a:t>A tool is down, or two rules conflict and the agent cannot proceed.</a:t>
            </a:r>
          </a:p>
        </p:txBody>
      </p:sp>
      <p:sp>
        <p:nvSpPr>
          <p:cNvPr id="31" name="Rounded Rectangle 30"/>
          <p:cNvSpPr/>
          <p:nvPr/>
        </p:nvSpPr>
        <p:spPr>
          <a:xfrm>
            <a:off x="13677138" y="6446520"/>
            <a:ext cx="3028950" cy="1234440"/>
          </a:xfrm>
          <a:prstGeom prst="roundRect">
            <a:avLst>
              <a:gd name="adj" fmla="val 11111"/>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14298" y="6492240"/>
            <a:ext cx="2754630" cy="1143000"/>
          </a:xfrm>
          <a:prstGeom prst="rect">
            <a:avLst/>
          </a:prstGeom>
          <a:noFill/>
        </p:spPr>
        <p:txBody>
          <a:bodyPr wrap="square" lIns="45720" tIns="27432" rIns="45720" bIns="27432" anchor="ctr">
            <a:spAutoFit/>
          </a:bodyPr>
          <a:lstStyle/>
          <a:p>
            <a:pPr algn="l"/>
            <a:r>
              <a:rPr sz="1400">
                <a:solidFill>
                  <a:srgbClr val="0766D1"/>
                </a:solidFill>
                <a:latin typeface="+mj-lt"/>
              </a:rPr>
              <a:t>Then: </a:t>
            </a:r>
          </a:p>
          <a:p>
            <a:pPr algn="l"/>
            <a:r>
              <a:rPr sz="1400">
                <a:solidFill>
                  <a:srgbClr val="032954"/>
                </a:solidFill>
              </a:rPr>
              <a:t>Stop safely, alert the owner.</a:t>
            </a:r>
          </a:p>
        </p:txBody>
      </p:sp>
      <p:sp>
        <p:nvSpPr>
          <p:cNvPr id="33" name="Rounded Rectangle 32"/>
          <p:cNvSpPr/>
          <p:nvPr/>
        </p:nvSpPr>
        <p:spPr>
          <a:xfrm>
            <a:off x="1252728" y="8366760"/>
            <a:ext cx="15773400" cy="960120"/>
          </a:xfrm>
          <a:prstGeom prst="roundRect">
            <a:avLst>
              <a:gd name="adj" fmla="val 20952"/>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log_n.png"/>
          <p:cNvPicPr>
            <a:picLocks noChangeAspect="1"/>
          </p:cNvPicPr>
          <p:nvPr/>
        </p:nvPicPr>
        <p:blipFill>
          <a:blip r:embed="rId6"/>
          <a:stretch>
            <a:fillRect/>
          </a:stretch>
        </p:blipFill>
        <p:spPr>
          <a:xfrm>
            <a:off x="1572768" y="8549640"/>
            <a:ext cx="594360" cy="594360"/>
          </a:xfrm>
          <a:prstGeom prst="rect">
            <a:avLst/>
          </a:prstGeom>
        </p:spPr>
      </p:pic>
      <p:sp>
        <p:nvSpPr>
          <p:cNvPr id="35" name="TextBox 34"/>
          <p:cNvSpPr txBox="1"/>
          <p:nvPr/>
        </p:nvSpPr>
        <p:spPr>
          <a:xfrm>
            <a:off x="2441448" y="8476488"/>
            <a:ext cx="14310359" cy="740664"/>
          </a:xfrm>
          <a:prstGeom prst="rect">
            <a:avLst/>
          </a:prstGeom>
          <a:noFill/>
        </p:spPr>
        <p:txBody>
          <a:bodyPr wrap="square" lIns="45720" tIns="27432" rIns="45720" bIns="27432" anchor="ctr">
            <a:spAutoFit/>
          </a:bodyPr>
          <a:lstStyle/>
          <a:p>
            <a:pPr algn="l"/>
            <a:r>
              <a:rPr sz="1700">
                <a:solidFill>
                  <a:srgbClr val="032954"/>
                </a:solidFill>
              </a:rPr>
              <a:t>Every exit is logged and visible. Silence is never an acceptable outcome for an agent.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000"/>
              <a:t>Connecting to the enterprise</a:t>
            </a:r>
          </a:p>
        </p:txBody>
      </p:sp>
      <p:sp>
        <p:nvSpPr>
          <p:cNvPr id="3" name="Text Placeholder 2"/>
          <p:cNvSpPr>
            <a:spLocks noGrp="1"/>
          </p:cNvSpPr>
          <p:nvPr>
            <p:ph type="body" idx="10" sz="quarter"/>
          </p:nvPr>
        </p:nvSpPr>
        <p:spPr/>
        <p:txBody>
          <a:bodyPr/>
          <a:lstStyle/>
          <a:p>
            <a:r>
              <a:rPr sz="3600"/>
              <a:t>Systems, data and tools, behind a governed front door</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twork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200"/>
              <a:t>Reaching enterprise systems, data and tools</a:t>
            </a:r>
          </a:p>
        </p:txBody>
      </p:sp>
      <p:sp>
        <p:nvSpPr>
          <p:cNvPr id="3" name="Text Placeholder 2"/>
          <p:cNvSpPr>
            <a:spLocks noGrp="1"/>
          </p:cNvSpPr>
          <p:nvPr>
            <p:ph type="body" idx="10" sz="quarter"/>
          </p:nvPr>
        </p:nvSpPr>
        <p:spPr/>
        <p:txBody>
          <a:bodyPr/>
          <a:lstStyle/>
          <a:p>
            <a:r>
              <a:rPr sz="3000"/>
              <a:t>Everything passes through a governed tool layer, never a direct line into the database</a:t>
            </a:r>
          </a:p>
        </p:txBody>
      </p:sp>
      <p:sp>
        <p:nvSpPr>
          <p:cNvPr id="5" name="Oval 4"/>
          <p:cNvSpPr/>
          <p:nvPr/>
        </p:nvSpPr>
        <p:spPr>
          <a:xfrm>
            <a:off x="1325880" y="5074920"/>
            <a:ext cx="1371600" cy="1371600"/>
          </a:xfrm>
          <a:prstGeom prst="ellipse">
            <a:avLst/>
          </a:prstGeom>
          <a:solidFill>
            <a:srgbClr val="7E889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ock_w.png"/>
          <p:cNvPicPr>
            <a:picLocks noChangeAspect="1"/>
          </p:cNvPicPr>
          <p:nvPr/>
        </p:nvPicPr>
        <p:blipFill>
          <a:blip r:embed="rId2"/>
          <a:stretch>
            <a:fillRect/>
          </a:stretch>
        </p:blipFill>
        <p:spPr>
          <a:xfrm>
            <a:off x="1655064" y="5404104"/>
            <a:ext cx="713232" cy="713232"/>
          </a:xfrm>
          <a:prstGeom prst="rect">
            <a:avLst/>
          </a:prstGeom>
        </p:spPr>
      </p:pic>
      <p:sp>
        <p:nvSpPr>
          <p:cNvPr id="7" name="TextBox 6"/>
          <p:cNvSpPr txBox="1"/>
          <p:nvPr/>
        </p:nvSpPr>
        <p:spPr>
          <a:xfrm>
            <a:off x="1005840" y="6583680"/>
            <a:ext cx="2011680" cy="822960"/>
          </a:xfrm>
          <a:prstGeom prst="rect">
            <a:avLst/>
          </a:prstGeom>
          <a:noFill/>
        </p:spPr>
        <p:txBody>
          <a:bodyPr wrap="square" lIns="45720" tIns="27432" rIns="45720" bIns="27432" anchor="t">
            <a:spAutoFit/>
          </a:bodyPr>
          <a:lstStyle/>
          <a:p>
            <a:pPr algn="ctr"/>
            <a:r>
              <a:rPr sz="1400">
                <a:solidFill>
                  <a:srgbClr val="262626"/>
                </a:solidFill>
                <a:latin typeface="+mj-lt"/>
              </a:rPr>
              <a:t>07:00 daily run</a:t>
            </a:r>
          </a:p>
          <a:p>
            <a:pPr algn="ctr"/>
            <a:r>
              <a:rPr sz="1200">
                <a:solidFill>
                  <a:srgbClr val="262626"/>
                </a:solidFill>
                <a:latin typeface="+mj-lt"/>
              </a:rPr>
              <a:t>or a patient reply</a:t>
            </a:r>
          </a:p>
        </p:txBody>
      </p:sp>
      <p:cxnSp>
        <p:nvCxnSpPr>
          <p:cNvPr id="8" name="Connector 7"/>
          <p:cNvCxnSpPr/>
          <p:nvPr/>
        </p:nvCxnSpPr>
        <p:spPr>
          <a:xfrm>
            <a:off x="2788920" y="5760720"/>
            <a:ext cx="731520" cy="0"/>
          </a:xfrm>
          <a:prstGeom prst="line">
            <a:avLst/>
          </a:prstGeom>
          <a:ln w="25400">
            <a:solidFill>
              <a:srgbClr val="7E88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0" y="3200400"/>
            <a:ext cx="4480560" cy="5394960"/>
          </a:xfrm>
          <a:prstGeom prst="roundRect">
            <a:avLst>
              <a:gd name="adj" fmla="val 571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72100" y="2674620"/>
            <a:ext cx="1051560" cy="105156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gents_w.png"/>
          <p:cNvPicPr>
            <a:picLocks noChangeAspect="1"/>
          </p:cNvPicPr>
          <p:nvPr/>
        </p:nvPicPr>
        <p:blipFill>
          <a:blip r:embed="rId3"/>
          <a:stretch>
            <a:fillRect/>
          </a:stretch>
        </p:blipFill>
        <p:spPr>
          <a:xfrm>
            <a:off x="5624474" y="2926994"/>
            <a:ext cx="546811" cy="546811"/>
          </a:xfrm>
          <a:prstGeom prst="rect">
            <a:avLst/>
          </a:prstGeom>
        </p:spPr>
      </p:pic>
      <p:sp>
        <p:nvSpPr>
          <p:cNvPr id="12" name="TextBox 11"/>
          <p:cNvSpPr txBox="1"/>
          <p:nvPr/>
        </p:nvSpPr>
        <p:spPr>
          <a:xfrm>
            <a:off x="3931920" y="3931920"/>
            <a:ext cx="3931920" cy="548640"/>
          </a:xfrm>
          <a:prstGeom prst="rect">
            <a:avLst/>
          </a:prstGeom>
          <a:noFill/>
        </p:spPr>
        <p:txBody>
          <a:bodyPr wrap="square" lIns="45720" tIns="27432" rIns="45720" bIns="27432" anchor="t">
            <a:spAutoFit/>
          </a:bodyPr>
          <a:lstStyle/>
          <a:p>
            <a:pPr algn="ctr"/>
            <a:r>
              <a:rPr sz="2200">
                <a:solidFill>
                  <a:srgbClr val="262626"/>
                </a:solidFill>
                <a:latin typeface="+mj-lt"/>
              </a:rPr>
              <a:t>AI agent</a:t>
            </a:r>
          </a:p>
        </p:txBody>
      </p:sp>
      <p:sp>
        <p:nvSpPr>
          <p:cNvPr id="13" name="Oval 12"/>
          <p:cNvSpPr/>
          <p:nvPr/>
        </p:nvSpPr>
        <p:spPr>
          <a:xfrm>
            <a:off x="4069080" y="470916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oal_w.png"/>
          <p:cNvPicPr>
            <a:picLocks noChangeAspect="1"/>
          </p:cNvPicPr>
          <p:nvPr/>
        </p:nvPicPr>
        <p:blipFill>
          <a:blip r:embed="rId4"/>
          <a:stretch>
            <a:fillRect/>
          </a:stretch>
        </p:blipFill>
        <p:spPr>
          <a:xfrm>
            <a:off x="4192524" y="4832604"/>
            <a:ext cx="301752" cy="301752"/>
          </a:xfrm>
          <a:prstGeom prst="rect">
            <a:avLst/>
          </a:prstGeom>
        </p:spPr>
      </p:pic>
      <p:sp>
        <p:nvSpPr>
          <p:cNvPr id="15" name="TextBox 14"/>
          <p:cNvSpPr txBox="1"/>
          <p:nvPr/>
        </p:nvSpPr>
        <p:spPr>
          <a:xfrm>
            <a:off x="4800600" y="4754880"/>
            <a:ext cx="3108960" cy="457200"/>
          </a:xfrm>
          <a:prstGeom prst="rect">
            <a:avLst/>
          </a:prstGeom>
          <a:noFill/>
        </p:spPr>
        <p:txBody>
          <a:bodyPr wrap="square" lIns="45720" tIns="27432" rIns="45720" bIns="27432" anchor="t">
            <a:spAutoFit/>
          </a:bodyPr>
          <a:lstStyle/>
          <a:p>
            <a:pPr algn="l"/>
            <a:r>
              <a:rPr sz="1600">
                <a:solidFill>
                  <a:srgbClr val="262626"/>
                </a:solidFill>
                <a:latin typeface="+mj-lt"/>
              </a:rPr>
              <a:t>Goal &amp; rules</a:t>
            </a:r>
          </a:p>
        </p:txBody>
      </p:sp>
      <p:sp>
        <p:nvSpPr>
          <p:cNvPr id="16" name="Oval 15"/>
          <p:cNvSpPr/>
          <p:nvPr/>
        </p:nvSpPr>
        <p:spPr>
          <a:xfrm>
            <a:off x="4069080" y="5605272"/>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lanning_w.png"/>
          <p:cNvPicPr>
            <a:picLocks noChangeAspect="1"/>
          </p:cNvPicPr>
          <p:nvPr/>
        </p:nvPicPr>
        <p:blipFill>
          <a:blip r:embed="rId5"/>
          <a:stretch>
            <a:fillRect/>
          </a:stretch>
        </p:blipFill>
        <p:spPr>
          <a:xfrm>
            <a:off x="4192524" y="5728716"/>
            <a:ext cx="301752" cy="301752"/>
          </a:xfrm>
          <a:prstGeom prst="rect">
            <a:avLst/>
          </a:prstGeom>
        </p:spPr>
      </p:pic>
      <p:sp>
        <p:nvSpPr>
          <p:cNvPr id="18" name="TextBox 17"/>
          <p:cNvSpPr txBox="1"/>
          <p:nvPr/>
        </p:nvSpPr>
        <p:spPr>
          <a:xfrm>
            <a:off x="4800600" y="5650992"/>
            <a:ext cx="3108960" cy="457200"/>
          </a:xfrm>
          <a:prstGeom prst="rect">
            <a:avLst/>
          </a:prstGeom>
          <a:noFill/>
        </p:spPr>
        <p:txBody>
          <a:bodyPr wrap="square" lIns="45720" tIns="27432" rIns="45720" bIns="27432" anchor="t">
            <a:spAutoFit/>
          </a:bodyPr>
          <a:lstStyle/>
          <a:p>
            <a:pPr algn="l"/>
            <a:r>
              <a:rPr sz="1600">
                <a:solidFill>
                  <a:srgbClr val="262626"/>
                </a:solidFill>
                <a:latin typeface="+mj-lt"/>
              </a:rPr>
              <a:t>Plan</a:t>
            </a:r>
          </a:p>
        </p:txBody>
      </p:sp>
      <p:sp>
        <p:nvSpPr>
          <p:cNvPr id="19" name="Oval 18"/>
          <p:cNvSpPr/>
          <p:nvPr/>
        </p:nvSpPr>
        <p:spPr>
          <a:xfrm>
            <a:off x="4069080" y="6501384"/>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emory_w.png"/>
          <p:cNvPicPr>
            <a:picLocks noChangeAspect="1"/>
          </p:cNvPicPr>
          <p:nvPr/>
        </p:nvPicPr>
        <p:blipFill>
          <a:blip r:embed="rId6"/>
          <a:stretch>
            <a:fillRect/>
          </a:stretch>
        </p:blipFill>
        <p:spPr>
          <a:xfrm>
            <a:off x="4192524" y="6624828"/>
            <a:ext cx="301752" cy="301752"/>
          </a:xfrm>
          <a:prstGeom prst="rect">
            <a:avLst/>
          </a:prstGeom>
        </p:spPr>
      </p:pic>
      <p:sp>
        <p:nvSpPr>
          <p:cNvPr id="21" name="TextBox 20"/>
          <p:cNvSpPr txBox="1"/>
          <p:nvPr/>
        </p:nvSpPr>
        <p:spPr>
          <a:xfrm>
            <a:off x="4800600" y="6547104"/>
            <a:ext cx="3108960" cy="457200"/>
          </a:xfrm>
          <a:prstGeom prst="rect">
            <a:avLst/>
          </a:prstGeom>
          <a:noFill/>
        </p:spPr>
        <p:txBody>
          <a:bodyPr wrap="square" lIns="45720" tIns="27432" rIns="45720" bIns="27432" anchor="t">
            <a:spAutoFit/>
          </a:bodyPr>
          <a:lstStyle/>
          <a:p>
            <a:pPr algn="l"/>
            <a:r>
              <a:rPr sz="1600">
                <a:solidFill>
                  <a:srgbClr val="262626"/>
                </a:solidFill>
                <a:latin typeface="+mj-lt"/>
              </a:rPr>
              <a:t>Memory</a:t>
            </a:r>
          </a:p>
        </p:txBody>
      </p:sp>
      <p:sp>
        <p:nvSpPr>
          <p:cNvPr id="22" name="Oval 21"/>
          <p:cNvSpPr/>
          <p:nvPr/>
        </p:nvSpPr>
        <p:spPr>
          <a:xfrm>
            <a:off x="4069080" y="7397496"/>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brain_w.png"/>
          <p:cNvPicPr>
            <a:picLocks noChangeAspect="1"/>
          </p:cNvPicPr>
          <p:nvPr/>
        </p:nvPicPr>
        <p:blipFill>
          <a:blip r:embed="rId7"/>
          <a:stretch>
            <a:fillRect/>
          </a:stretch>
        </p:blipFill>
        <p:spPr>
          <a:xfrm>
            <a:off x="4192524" y="7520940"/>
            <a:ext cx="301752" cy="301752"/>
          </a:xfrm>
          <a:prstGeom prst="rect">
            <a:avLst/>
          </a:prstGeom>
        </p:spPr>
      </p:pic>
      <p:sp>
        <p:nvSpPr>
          <p:cNvPr id="24" name="TextBox 23"/>
          <p:cNvSpPr txBox="1"/>
          <p:nvPr/>
        </p:nvSpPr>
        <p:spPr>
          <a:xfrm>
            <a:off x="4800600" y="7443216"/>
            <a:ext cx="3108960" cy="457200"/>
          </a:xfrm>
          <a:prstGeom prst="rect">
            <a:avLst/>
          </a:prstGeom>
          <a:noFill/>
        </p:spPr>
        <p:txBody>
          <a:bodyPr wrap="square" lIns="45720" tIns="27432" rIns="45720" bIns="27432" anchor="t">
            <a:spAutoFit/>
          </a:bodyPr>
          <a:lstStyle/>
          <a:p>
            <a:pPr algn="l"/>
            <a:r>
              <a:rPr sz="1600">
                <a:solidFill>
                  <a:srgbClr val="262626"/>
                </a:solidFill>
                <a:latin typeface="+mj-lt"/>
              </a:rPr>
              <a:t>Reasoning engine</a:t>
            </a:r>
          </a:p>
        </p:txBody>
      </p:sp>
      <p:sp>
        <p:nvSpPr>
          <p:cNvPr id="25" name="Rounded Rectangle 24"/>
          <p:cNvSpPr/>
          <p:nvPr/>
        </p:nvSpPr>
        <p:spPr>
          <a:xfrm>
            <a:off x="8778240" y="2697480"/>
            <a:ext cx="2194560" cy="6675120"/>
          </a:xfrm>
          <a:prstGeom prst="roundRect">
            <a:avLst>
              <a:gd name="adj" fmla="val 125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rot="16200000">
            <a:off x="6720840" y="5212079"/>
            <a:ext cx="6309359" cy="1645920"/>
          </a:xfrm>
          <a:prstGeom prst="rect">
            <a:avLst/>
          </a:prstGeom>
          <a:noFill/>
        </p:spPr>
        <p:txBody>
          <a:bodyPr wrap="square" lIns="45720" tIns="27432" rIns="45720" bIns="27432" anchor="ctr">
            <a:spAutoFit/>
          </a:bodyPr>
          <a:lstStyle/>
          <a:p>
            <a:pPr algn="ctr"/>
            <a:r>
              <a:rPr sz="1800">
                <a:solidFill>
                  <a:srgbClr val="FFFFFF"/>
                </a:solidFill>
                <a:latin typeface="+mj-lt"/>
              </a:rPr>
              <a:t>GOVERNED TOOL LAYER</a:t>
            </a:r>
          </a:p>
          <a:p>
            <a:pPr algn="ctr"/>
            <a:r>
              <a:rPr sz="1300">
                <a:solidFill>
                  <a:srgbClr val="FFFFFF"/>
                </a:solidFill>
              </a:rPr>
              <a:t>identity  ·  permissions  ·  audit log  ·  MCP</a:t>
            </a:r>
          </a:p>
        </p:txBody>
      </p:sp>
      <p:cxnSp>
        <p:nvCxnSpPr>
          <p:cNvPr id="27" name="Connector 26"/>
          <p:cNvCxnSpPr/>
          <p:nvPr/>
        </p:nvCxnSpPr>
        <p:spPr>
          <a:xfrm>
            <a:off x="8229600" y="5760720"/>
            <a:ext cx="457200" cy="0"/>
          </a:xfrm>
          <a:prstGeom prst="line">
            <a:avLst/>
          </a:prstGeom>
          <a:ln w="28575">
            <a:solidFill>
              <a:srgbClr val="0766D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1795760" y="2697480"/>
            <a:ext cx="5230368" cy="1115568"/>
          </a:xfrm>
          <a:prstGeom prst="roundRect">
            <a:avLst>
              <a:gd name="adj" fmla="val 2295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2106656" y="2926080"/>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database_w.png"/>
          <p:cNvPicPr>
            <a:picLocks noChangeAspect="1"/>
          </p:cNvPicPr>
          <p:nvPr/>
        </p:nvPicPr>
        <p:blipFill>
          <a:blip r:embed="rId8"/>
          <a:stretch>
            <a:fillRect/>
          </a:stretch>
        </p:blipFill>
        <p:spPr>
          <a:xfrm>
            <a:off x="12254788" y="3074212"/>
            <a:ext cx="362102" cy="362102"/>
          </a:xfrm>
          <a:prstGeom prst="rect">
            <a:avLst/>
          </a:prstGeom>
        </p:spPr>
      </p:pic>
      <p:sp>
        <p:nvSpPr>
          <p:cNvPr id="31" name="TextBox 30"/>
          <p:cNvSpPr txBox="1"/>
          <p:nvPr/>
        </p:nvSpPr>
        <p:spPr>
          <a:xfrm>
            <a:off x="12938760" y="2807208"/>
            <a:ext cx="3904488" cy="411480"/>
          </a:xfrm>
          <a:prstGeom prst="rect">
            <a:avLst/>
          </a:prstGeom>
          <a:noFill/>
        </p:spPr>
        <p:txBody>
          <a:bodyPr wrap="square" lIns="45720" tIns="27432" rIns="45720" bIns="27432" anchor="t">
            <a:spAutoFit/>
          </a:bodyPr>
          <a:lstStyle/>
          <a:p>
            <a:pPr algn="l"/>
            <a:r>
              <a:rPr sz="1600">
                <a:solidFill>
                  <a:srgbClr val="262626"/>
                </a:solidFill>
                <a:latin typeface="+mj-lt"/>
              </a:rPr>
              <a:t>Enterprise data</a:t>
            </a:r>
          </a:p>
        </p:txBody>
      </p:sp>
      <p:sp>
        <p:nvSpPr>
          <p:cNvPr id="32" name="TextBox 31"/>
          <p:cNvSpPr txBox="1"/>
          <p:nvPr/>
        </p:nvSpPr>
        <p:spPr>
          <a:xfrm>
            <a:off x="12938760" y="3200400"/>
            <a:ext cx="3904488" cy="548640"/>
          </a:xfrm>
          <a:prstGeom prst="rect">
            <a:avLst/>
          </a:prstGeom>
          <a:noFill/>
        </p:spPr>
        <p:txBody>
          <a:bodyPr wrap="square" lIns="45720" tIns="27432" rIns="45720" bIns="27432" anchor="t">
            <a:spAutoFit/>
          </a:bodyPr>
          <a:lstStyle/>
          <a:p>
            <a:pPr algn="l"/>
            <a:r>
              <a:rPr sz="1200">
                <a:solidFill>
                  <a:srgbClr val="7E889A"/>
                </a:solidFill>
              </a:rPr>
              <a:t>Scheduling system, patient contact details, waiting list</a:t>
            </a:r>
          </a:p>
        </p:txBody>
      </p:sp>
      <p:cxnSp>
        <p:nvCxnSpPr>
          <p:cNvPr id="33" name="Connector 32"/>
          <p:cNvCxnSpPr/>
          <p:nvPr/>
        </p:nvCxnSpPr>
        <p:spPr>
          <a:xfrm>
            <a:off x="11018520" y="3255264"/>
            <a:ext cx="70408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1795760" y="4087368"/>
            <a:ext cx="5230368" cy="1115568"/>
          </a:xfrm>
          <a:prstGeom prst="roundRect">
            <a:avLst>
              <a:gd name="adj" fmla="val 2295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2106656" y="4315968"/>
            <a:ext cx="658368" cy="658368"/>
          </a:xfrm>
          <a:prstGeom prst="ellipse">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files_w.png"/>
          <p:cNvPicPr>
            <a:picLocks noChangeAspect="1"/>
          </p:cNvPicPr>
          <p:nvPr/>
        </p:nvPicPr>
        <p:blipFill>
          <a:blip r:embed="rId9"/>
          <a:stretch>
            <a:fillRect/>
          </a:stretch>
        </p:blipFill>
        <p:spPr>
          <a:xfrm>
            <a:off x="12254788" y="4464100"/>
            <a:ext cx="362102" cy="362102"/>
          </a:xfrm>
          <a:prstGeom prst="rect">
            <a:avLst/>
          </a:prstGeom>
        </p:spPr>
      </p:pic>
      <p:sp>
        <p:nvSpPr>
          <p:cNvPr id="37" name="TextBox 36"/>
          <p:cNvSpPr txBox="1"/>
          <p:nvPr/>
        </p:nvSpPr>
        <p:spPr>
          <a:xfrm>
            <a:off x="12938760" y="4197096"/>
            <a:ext cx="3904488" cy="411480"/>
          </a:xfrm>
          <a:prstGeom prst="rect">
            <a:avLst/>
          </a:prstGeom>
          <a:noFill/>
        </p:spPr>
        <p:txBody>
          <a:bodyPr wrap="square" lIns="45720" tIns="27432" rIns="45720" bIns="27432" anchor="t">
            <a:spAutoFit/>
          </a:bodyPr>
          <a:lstStyle/>
          <a:p>
            <a:pPr algn="l"/>
            <a:r>
              <a:rPr sz="1600">
                <a:solidFill>
                  <a:srgbClr val="262626"/>
                </a:solidFill>
                <a:latin typeface="+mj-lt"/>
              </a:rPr>
              <a:t>Documents &amp; policies</a:t>
            </a:r>
          </a:p>
        </p:txBody>
      </p:sp>
      <p:sp>
        <p:nvSpPr>
          <p:cNvPr id="38" name="TextBox 37"/>
          <p:cNvSpPr txBox="1"/>
          <p:nvPr/>
        </p:nvSpPr>
        <p:spPr>
          <a:xfrm>
            <a:off x="12938760" y="4590288"/>
            <a:ext cx="3904488" cy="548640"/>
          </a:xfrm>
          <a:prstGeom prst="rect">
            <a:avLst/>
          </a:prstGeom>
          <a:noFill/>
        </p:spPr>
        <p:txBody>
          <a:bodyPr wrap="square" lIns="45720" tIns="27432" rIns="45720" bIns="27432" anchor="t">
            <a:spAutoFit/>
          </a:bodyPr>
          <a:lstStyle/>
          <a:p>
            <a:pPr algn="l"/>
            <a:r>
              <a:rPr sz="1200">
                <a:solidFill>
                  <a:srgbClr val="7E889A"/>
                </a:solidFill>
              </a:rPr>
              <a:t>Scheduling policy, message templates (retrieval / RAG)</a:t>
            </a:r>
          </a:p>
        </p:txBody>
      </p:sp>
      <p:cxnSp>
        <p:nvCxnSpPr>
          <p:cNvPr id="39" name="Connector 38"/>
          <p:cNvCxnSpPr/>
          <p:nvPr/>
        </p:nvCxnSpPr>
        <p:spPr>
          <a:xfrm>
            <a:off x="11018520" y="4645152"/>
            <a:ext cx="70408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1795760" y="5477256"/>
            <a:ext cx="5230368" cy="1115568"/>
          </a:xfrm>
          <a:prstGeom prst="roundRect">
            <a:avLst>
              <a:gd name="adj" fmla="val 2295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2106656" y="5705856"/>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model_w.png"/>
          <p:cNvPicPr>
            <a:picLocks noChangeAspect="1"/>
          </p:cNvPicPr>
          <p:nvPr/>
        </p:nvPicPr>
        <p:blipFill>
          <a:blip r:embed="rId10"/>
          <a:stretch>
            <a:fillRect/>
          </a:stretch>
        </p:blipFill>
        <p:spPr>
          <a:xfrm>
            <a:off x="12254788" y="5853988"/>
            <a:ext cx="362102" cy="362102"/>
          </a:xfrm>
          <a:prstGeom prst="rect">
            <a:avLst/>
          </a:prstGeom>
        </p:spPr>
      </p:pic>
      <p:sp>
        <p:nvSpPr>
          <p:cNvPr id="43" name="TextBox 42"/>
          <p:cNvSpPr txBox="1"/>
          <p:nvPr/>
        </p:nvSpPr>
        <p:spPr>
          <a:xfrm>
            <a:off x="12938760" y="5586984"/>
            <a:ext cx="3904488" cy="411480"/>
          </a:xfrm>
          <a:prstGeom prst="rect">
            <a:avLst/>
          </a:prstGeom>
          <a:noFill/>
        </p:spPr>
        <p:txBody>
          <a:bodyPr wrap="square" lIns="45720" tIns="27432" rIns="45720" bIns="27432" anchor="t">
            <a:spAutoFit/>
          </a:bodyPr>
          <a:lstStyle/>
          <a:p>
            <a:pPr algn="l"/>
            <a:r>
              <a:rPr sz="1600">
                <a:solidFill>
                  <a:srgbClr val="262626"/>
                </a:solidFill>
                <a:latin typeface="+mj-lt"/>
              </a:rPr>
              <a:t>Models &amp; rules</a:t>
            </a:r>
          </a:p>
        </p:txBody>
      </p:sp>
      <p:sp>
        <p:nvSpPr>
          <p:cNvPr id="44" name="TextBox 43"/>
          <p:cNvSpPr txBox="1"/>
          <p:nvPr/>
        </p:nvSpPr>
        <p:spPr>
          <a:xfrm>
            <a:off x="12938760" y="5980176"/>
            <a:ext cx="3904488" cy="548640"/>
          </a:xfrm>
          <a:prstGeom prst="rect">
            <a:avLst/>
          </a:prstGeom>
          <a:noFill/>
        </p:spPr>
        <p:txBody>
          <a:bodyPr wrap="square" lIns="45720" tIns="27432" rIns="45720" bIns="27432" anchor="t">
            <a:spAutoFit/>
          </a:bodyPr>
          <a:lstStyle/>
          <a:p>
            <a:pPr algn="l"/>
            <a:r>
              <a:rPr sz="1200">
                <a:solidFill>
                  <a:srgbClr val="7E889A"/>
                </a:solidFill>
              </a:rPr>
              <a:t>No-show risk model, decision rules (SAS Viya)</a:t>
            </a:r>
          </a:p>
        </p:txBody>
      </p:sp>
      <p:cxnSp>
        <p:nvCxnSpPr>
          <p:cNvPr id="45" name="Connector 44"/>
          <p:cNvCxnSpPr/>
          <p:nvPr/>
        </p:nvCxnSpPr>
        <p:spPr>
          <a:xfrm>
            <a:off x="11018520" y="6035040"/>
            <a:ext cx="70408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11795760" y="6867144"/>
            <a:ext cx="5230368" cy="1115568"/>
          </a:xfrm>
          <a:prstGeom prst="roundRect">
            <a:avLst>
              <a:gd name="adj" fmla="val 2295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2106656" y="7095744"/>
            <a:ext cx="658368" cy="658368"/>
          </a:xfrm>
          <a:prstGeom prst="ellipse">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message_w.png"/>
          <p:cNvPicPr>
            <a:picLocks noChangeAspect="1"/>
          </p:cNvPicPr>
          <p:nvPr/>
        </p:nvPicPr>
        <p:blipFill>
          <a:blip r:embed="rId11"/>
          <a:stretch>
            <a:fillRect/>
          </a:stretch>
        </p:blipFill>
        <p:spPr>
          <a:xfrm>
            <a:off x="12254788" y="7243876"/>
            <a:ext cx="362102" cy="362102"/>
          </a:xfrm>
          <a:prstGeom prst="rect">
            <a:avLst/>
          </a:prstGeom>
        </p:spPr>
      </p:pic>
      <p:sp>
        <p:nvSpPr>
          <p:cNvPr id="49" name="TextBox 48"/>
          <p:cNvSpPr txBox="1"/>
          <p:nvPr/>
        </p:nvSpPr>
        <p:spPr>
          <a:xfrm>
            <a:off x="12938760" y="6976872"/>
            <a:ext cx="3904488" cy="411480"/>
          </a:xfrm>
          <a:prstGeom prst="rect">
            <a:avLst/>
          </a:prstGeom>
          <a:noFill/>
        </p:spPr>
        <p:txBody>
          <a:bodyPr wrap="square" lIns="45720" tIns="27432" rIns="45720" bIns="27432" anchor="t">
            <a:spAutoFit/>
          </a:bodyPr>
          <a:lstStyle/>
          <a:p>
            <a:pPr algn="l"/>
            <a:r>
              <a:rPr sz="1600">
                <a:solidFill>
                  <a:srgbClr val="262626"/>
                </a:solidFill>
                <a:latin typeface="+mj-lt"/>
              </a:rPr>
              <a:t>Applications &amp; channels</a:t>
            </a:r>
          </a:p>
        </p:txBody>
      </p:sp>
      <p:sp>
        <p:nvSpPr>
          <p:cNvPr id="50" name="TextBox 49"/>
          <p:cNvSpPr txBox="1"/>
          <p:nvPr/>
        </p:nvSpPr>
        <p:spPr>
          <a:xfrm>
            <a:off x="12938760" y="7370064"/>
            <a:ext cx="3904488" cy="548640"/>
          </a:xfrm>
          <a:prstGeom prst="rect">
            <a:avLst/>
          </a:prstGeom>
          <a:noFill/>
        </p:spPr>
        <p:txBody>
          <a:bodyPr wrap="square" lIns="45720" tIns="27432" rIns="45720" bIns="27432" anchor="t">
            <a:spAutoFit/>
          </a:bodyPr>
          <a:lstStyle/>
          <a:p>
            <a:pPr algn="l"/>
            <a:r>
              <a:rPr sz="1200">
                <a:solidFill>
                  <a:srgbClr val="7E889A"/>
                </a:solidFill>
              </a:rPr>
              <a:t>WhatsApp / SMS gateway, e-mail, coordinator task queue</a:t>
            </a:r>
          </a:p>
        </p:txBody>
      </p:sp>
      <p:cxnSp>
        <p:nvCxnSpPr>
          <p:cNvPr id="51" name="Connector 50"/>
          <p:cNvCxnSpPr/>
          <p:nvPr/>
        </p:nvCxnSpPr>
        <p:spPr>
          <a:xfrm>
            <a:off x="11018520" y="7424928"/>
            <a:ext cx="70408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11795760" y="8257032"/>
            <a:ext cx="5230368" cy="1115568"/>
          </a:xfrm>
          <a:prstGeom prst="roundRect">
            <a:avLst>
              <a:gd name="adj" fmla="val 2295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2106656" y="8485632"/>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agents_w.png"/>
          <p:cNvPicPr>
            <a:picLocks noChangeAspect="1"/>
          </p:cNvPicPr>
          <p:nvPr/>
        </p:nvPicPr>
        <p:blipFill>
          <a:blip r:embed="rId3"/>
          <a:stretch>
            <a:fillRect/>
          </a:stretch>
        </p:blipFill>
        <p:spPr>
          <a:xfrm>
            <a:off x="12254788" y="8633764"/>
            <a:ext cx="362102" cy="362102"/>
          </a:xfrm>
          <a:prstGeom prst="rect">
            <a:avLst/>
          </a:prstGeom>
        </p:spPr>
      </p:pic>
      <p:sp>
        <p:nvSpPr>
          <p:cNvPr id="55" name="TextBox 54"/>
          <p:cNvSpPr txBox="1"/>
          <p:nvPr/>
        </p:nvSpPr>
        <p:spPr>
          <a:xfrm>
            <a:off x="12938760" y="8366760"/>
            <a:ext cx="3904488" cy="411480"/>
          </a:xfrm>
          <a:prstGeom prst="rect">
            <a:avLst/>
          </a:prstGeom>
          <a:noFill/>
        </p:spPr>
        <p:txBody>
          <a:bodyPr wrap="square" lIns="45720" tIns="27432" rIns="45720" bIns="27432" anchor="t">
            <a:spAutoFit/>
          </a:bodyPr>
          <a:lstStyle/>
          <a:p>
            <a:pPr algn="l"/>
            <a:r>
              <a:rPr sz="1600">
                <a:solidFill>
                  <a:srgbClr val="262626"/>
                </a:solidFill>
                <a:latin typeface="+mj-lt"/>
              </a:rPr>
              <a:t>Other agents</a:t>
            </a:r>
          </a:p>
        </p:txBody>
      </p:sp>
      <p:sp>
        <p:nvSpPr>
          <p:cNvPr id="56" name="TextBox 55"/>
          <p:cNvSpPr txBox="1"/>
          <p:nvPr/>
        </p:nvSpPr>
        <p:spPr>
          <a:xfrm>
            <a:off x="12938760" y="8759952"/>
            <a:ext cx="3904488" cy="548640"/>
          </a:xfrm>
          <a:prstGeom prst="rect">
            <a:avLst/>
          </a:prstGeom>
          <a:noFill/>
        </p:spPr>
        <p:txBody>
          <a:bodyPr wrap="square" lIns="45720" tIns="27432" rIns="45720" bIns="27432" anchor="t">
            <a:spAutoFit/>
          </a:bodyPr>
          <a:lstStyle/>
          <a:p>
            <a:pPr algn="l"/>
            <a:r>
              <a:rPr sz="1200">
                <a:solidFill>
                  <a:srgbClr val="7E889A"/>
                </a:solidFill>
              </a:rPr>
              <a:t>Waiting-list agent, translation agent</a:t>
            </a:r>
          </a:p>
        </p:txBody>
      </p:sp>
      <p:cxnSp>
        <p:nvCxnSpPr>
          <p:cNvPr id="57" name="Connector 56"/>
          <p:cNvCxnSpPr/>
          <p:nvPr/>
        </p:nvCxnSpPr>
        <p:spPr>
          <a:xfrm>
            <a:off x="11018520" y="8814816"/>
            <a:ext cx="70408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What good integration looks like</a:t>
            </a:r>
          </a:p>
        </p:txBody>
      </p:sp>
      <p:sp>
        <p:nvSpPr>
          <p:cNvPr id="3" name="Text Placeholder 2"/>
          <p:cNvSpPr>
            <a:spLocks noGrp="1"/>
          </p:cNvSpPr>
          <p:nvPr>
            <p:ph type="body" idx="10" sz="quarter"/>
          </p:nvPr>
        </p:nvSpPr>
        <p:spPr/>
        <p:txBody>
          <a:bodyPr/>
          <a:lstStyle/>
          <a:p>
            <a:r>
              <a:rPr sz="3000"/>
              <a:t>Four habits that keep agents safe to connect</a:t>
            </a:r>
          </a:p>
        </p:txBody>
      </p:sp>
      <p:sp>
        <p:nvSpPr>
          <p:cNvPr id="5" name="Rounded Rectangle 4"/>
          <p:cNvSpPr/>
          <p:nvPr/>
        </p:nvSpPr>
        <p:spPr>
          <a:xfrm>
            <a:off x="125272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584323" y="2651760"/>
            <a:ext cx="1005840" cy="10058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ey_w.png"/>
          <p:cNvPicPr>
            <a:picLocks noChangeAspect="1"/>
          </p:cNvPicPr>
          <p:nvPr/>
        </p:nvPicPr>
        <p:blipFill>
          <a:blip r:embed="rId2"/>
          <a:stretch>
            <a:fillRect/>
          </a:stretch>
        </p:blipFill>
        <p:spPr>
          <a:xfrm>
            <a:off x="2825724" y="2893161"/>
            <a:ext cx="523036" cy="523036"/>
          </a:xfrm>
          <a:prstGeom prst="rect">
            <a:avLst/>
          </a:prstGeom>
        </p:spPr>
      </p:pic>
      <p:sp>
        <p:nvSpPr>
          <p:cNvPr id="8" name="TextBox 7"/>
          <p:cNvSpPr txBox="1"/>
          <p:nvPr/>
        </p:nvSpPr>
        <p:spPr>
          <a:xfrm>
            <a:off x="1527048" y="3886200"/>
            <a:ext cx="3120390" cy="1005840"/>
          </a:xfrm>
          <a:prstGeom prst="rect">
            <a:avLst/>
          </a:prstGeom>
          <a:noFill/>
        </p:spPr>
        <p:txBody>
          <a:bodyPr wrap="square" lIns="45720" tIns="27432" rIns="45720" bIns="27432" anchor="t">
            <a:spAutoFit/>
          </a:bodyPr>
          <a:lstStyle/>
          <a:p>
            <a:pPr algn="ctr"/>
            <a:r>
              <a:rPr sz="1800">
                <a:solidFill>
                  <a:srgbClr val="262626"/>
                </a:solidFill>
                <a:latin typeface="+mj-lt"/>
              </a:rPr>
              <a:t>Its own identity, least privilege</a:t>
            </a:r>
          </a:p>
        </p:txBody>
      </p:sp>
      <p:sp>
        <p:nvSpPr>
          <p:cNvPr id="9" name="TextBox 8"/>
          <p:cNvSpPr txBox="1"/>
          <p:nvPr/>
        </p:nvSpPr>
        <p:spPr>
          <a:xfrm>
            <a:off x="1572768" y="4983480"/>
            <a:ext cx="3028950" cy="2926080"/>
          </a:xfrm>
          <a:prstGeom prst="rect">
            <a:avLst/>
          </a:prstGeom>
          <a:noFill/>
        </p:spPr>
        <p:txBody>
          <a:bodyPr wrap="square" lIns="45720" tIns="27432" rIns="45720" bIns="27432" anchor="t">
            <a:spAutoFit/>
          </a:bodyPr>
          <a:lstStyle/>
          <a:p>
            <a:pPr algn="l"/>
            <a:r>
              <a:rPr sz="1400">
                <a:solidFill>
                  <a:srgbClr val="262626"/>
                </a:solidFill>
              </a:rPr>
              <a:t>The agent logs in as itself with only the access it needs. The No-Show Agent can read appointments and write bookings; it cannot open clinical notes.</a:t>
            </a:r>
          </a:p>
        </p:txBody>
      </p:sp>
      <p:sp>
        <p:nvSpPr>
          <p:cNvPr id="10" name="Rounded Rectangle 9"/>
          <p:cNvSpPr/>
          <p:nvPr/>
        </p:nvSpPr>
        <p:spPr>
          <a:xfrm>
            <a:off x="528751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19113" y="2651760"/>
            <a:ext cx="1005840" cy="10058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ield_w.png"/>
          <p:cNvPicPr>
            <a:picLocks noChangeAspect="1"/>
          </p:cNvPicPr>
          <p:nvPr/>
        </p:nvPicPr>
        <p:blipFill>
          <a:blip r:embed="rId3"/>
          <a:stretch>
            <a:fillRect/>
          </a:stretch>
        </p:blipFill>
        <p:spPr>
          <a:xfrm>
            <a:off x="6860514" y="2893161"/>
            <a:ext cx="523036" cy="523036"/>
          </a:xfrm>
          <a:prstGeom prst="rect">
            <a:avLst/>
          </a:prstGeom>
        </p:spPr>
      </p:pic>
      <p:sp>
        <p:nvSpPr>
          <p:cNvPr id="13" name="TextBox 12"/>
          <p:cNvSpPr txBox="1"/>
          <p:nvPr/>
        </p:nvSpPr>
        <p:spPr>
          <a:xfrm>
            <a:off x="5561838" y="3886200"/>
            <a:ext cx="3120390" cy="1005840"/>
          </a:xfrm>
          <a:prstGeom prst="rect">
            <a:avLst/>
          </a:prstGeom>
          <a:noFill/>
        </p:spPr>
        <p:txBody>
          <a:bodyPr wrap="square" lIns="45720" tIns="27432" rIns="45720" bIns="27432" anchor="t">
            <a:spAutoFit/>
          </a:bodyPr>
          <a:lstStyle/>
          <a:p>
            <a:pPr algn="ctr"/>
            <a:r>
              <a:rPr sz="1800">
                <a:solidFill>
                  <a:srgbClr val="262626"/>
                </a:solidFill>
                <a:latin typeface="+mj-lt"/>
              </a:rPr>
              <a:t>Validated tools, not open access</a:t>
            </a:r>
          </a:p>
        </p:txBody>
      </p:sp>
      <p:sp>
        <p:nvSpPr>
          <p:cNvPr id="14" name="TextBox 13"/>
          <p:cNvSpPr txBox="1"/>
          <p:nvPr/>
        </p:nvSpPr>
        <p:spPr>
          <a:xfrm>
            <a:off x="5607558" y="4983480"/>
            <a:ext cx="3028950" cy="2926080"/>
          </a:xfrm>
          <a:prstGeom prst="rect">
            <a:avLst/>
          </a:prstGeom>
          <a:noFill/>
        </p:spPr>
        <p:txBody>
          <a:bodyPr wrap="square" lIns="45720" tIns="27432" rIns="45720" bIns="27432" anchor="t">
            <a:spAutoFit/>
          </a:bodyPr>
          <a:lstStyle/>
          <a:p>
            <a:pPr algn="l"/>
            <a:r>
              <a:rPr sz="1400">
                <a:solidFill>
                  <a:srgbClr val="262626"/>
                </a:solidFill>
              </a:rPr>
              <a:t>Each tool is a tested, versioned capability with a clear description. No free-form access to systems.</a:t>
            </a:r>
          </a:p>
        </p:txBody>
      </p:sp>
      <p:sp>
        <p:nvSpPr>
          <p:cNvPr id="15" name="Rounded Rectangle 14"/>
          <p:cNvSpPr/>
          <p:nvPr/>
        </p:nvSpPr>
        <p:spPr>
          <a:xfrm>
            <a:off x="932230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653903" y="2651760"/>
            <a:ext cx="1005840" cy="10058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atabase_w.png"/>
          <p:cNvPicPr>
            <a:picLocks noChangeAspect="1"/>
          </p:cNvPicPr>
          <p:nvPr/>
        </p:nvPicPr>
        <p:blipFill>
          <a:blip r:embed="rId4"/>
          <a:stretch>
            <a:fillRect/>
          </a:stretch>
        </p:blipFill>
        <p:spPr>
          <a:xfrm>
            <a:off x="10895304" y="2893161"/>
            <a:ext cx="523036" cy="523036"/>
          </a:xfrm>
          <a:prstGeom prst="rect">
            <a:avLst/>
          </a:prstGeom>
        </p:spPr>
      </p:pic>
      <p:sp>
        <p:nvSpPr>
          <p:cNvPr id="18" name="TextBox 17"/>
          <p:cNvSpPr txBox="1"/>
          <p:nvPr/>
        </p:nvSpPr>
        <p:spPr>
          <a:xfrm>
            <a:off x="9596628" y="3886200"/>
            <a:ext cx="3120390" cy="1005840"/>
          </a:xfrm>
          <a:prstGeom prst="rect">
            <a:avLst/>
          </a:prstGeom>
          <a:noFill/>
        </p:spPr>
        <p:txBody>
          <a:bodyPr wrap="square" lIns="45720" tIns="27432" rIns="45720" bIns="27432" anchor="t">
            <a:spAutoFit/>
          </a:bodyPr>
          <a:lstStyle/>
          <a:p>
            <a:pPr algn="ctr"/>
            <a:r>
              <a:rPr sz="1800">
                <a:solidFill>
                  <a:srgbClr val="262626"/>
                </a:solidFill>
                <a:latin typeface="+mj-lt"/>
              </a:rPr>
              <a:t>Data stays where it is</a:t>
            </a:r>
          </a:p>
        </p:txBody>
      </p:sp>
      <p:sp>
        <p:nvSpPr>
          <p:cNvPr id="19" name="TextBox 18"/>
          <p:cNvSpPr txBox="1"/>
          <p:nvPr/>
        </p:nvSpPr>
        <p:spPr>
          <a:xfrm>
            <a:off x="9642348" y="4983480"/>
            <a:ext cx="3028950" cy="2926080"/>
          </a:xfrm>
          <a:prstGeom prst="rect">
            <a:avLst/>
          </a:prstGeom>
          <a:noFill/>
        </p:spPr>
        <p:txBody>
          <a:bodyPr wrap="square" lIns="45720" tIns="27432" rIns="45720" bIns="27432" anchor="t">
            <a:spAutoFit/>
          </a:bodyPr>
          <a:lstStyle/>
          <a:p>
            <a:pPr algn="l"/>
            <a:r>
              <a:rPr sz="1400">
                <a:solidFill>
                  <a:srgbClr val="262626"/>
                </a:solidFill>
              </a:rPr>
              <a:t>The agent asks the system a question at run time. It never receives a copy of the database.</a:t>
            </a:r>
          </a:p>
        </p:txBody>
      </p:sp>
      <p:sp>
        <p:nvSpPr>
          <p:cNvPr id="20" name="Rounded Rectangle 19"/>
          <p:cNvSpPr/>
          <p:nvPr/>
        </p:nvSpPr>
        <p:spPr>
          <a:xfrm>
            <a:off x="1335709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4688693" y="2651760"/>
            <a:ext cx="1005840" cy="10058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og_w.png"/>
          <p:cNvPicPr>
            <a:picLocks noChangeAspect="1"/>
          </p:cNvPicPr>
          <p:nvPr/>
        </p:nvPicPr>
        <p:blipFill>
          <a:blip r:embed="rId5"/>
          <a:stretch>
            <a:fillRect/>
          </a:stretch>
        </p:blipFill>
        <p:spPr>
          <a:xfrm>
            <a:off x="14930094" y="2893161"/>
            <a:ext cx="523036" cy="523036"/>
          </a:xfrm>
          <a:prstGeom prst="rect">
            <a:avLst/>
          </a:prstGeom>
        </p:spPr>
      </p:pic>
      <p:sp>
        <p:nvSpPr>
          <p:cNvPr id="23" name="TextBox 22"/>
          <p:cNvSpPr txBox="1"/>
          <p:nvPr/>
        </p:nvSpPr>
        <p:spPr>
          <a:xfrm>
            <a:off x="13631418" y="3886200"/>
            <a:ext cx="3120390" cy="1005840"/>
          </a:xfrm>
          <a:prstGeom prst="rect">
            <a:avLst/>
          </a:prstGeom>
          <a:noFill/>
        </p:spPr>
        <p:txBody>
          <a:bodyPr wrap="square" lIns="45720" tIns="27432" rIns="45720" bIns="27432" anchor="t">
            <a:spAutoFit/>
          </a:bodyPr>
          <a:lstStyle/>
          <a:p>
            <a:pPr algn="ctr"/>
            <a:r>
              <a:rPr sz="1800">
                <a:solidFill>
                  <a:srgbClr val="262626"/>
                </a:solidFill>
                <a:latin typeface="+mj-lt"/>
              </a:rPr>
              <a:t>Everything is logged</a:t>
            </a:r>
          </a:p>
        </p:txBody>
      </p:sp>
      <p:sp>
        <p:nvSpPr>
          <p:cNvPr id="24" name="TextBox 23"/>
          <p:cNvSpPr txBox="1"/>
          <p:nvPr/>
        </p:nvSpPr>
        <p:spPr>
          <a:xfrm>
            <a:off x="13677138" y="4983480"/>
            <a:ext cx="3028950" cy="2926080"/>
          </a:xfrm>
          <a:prstGeom prst="rect">
            <a:avLst/>
          </a:prstGeom>
          <a:noFill/>
        </p:spPr>
        <p:txBody>
          <a:bodyPr wrap="square" lIns="45720" tIns="27432" rIns="45720" bIns="27432" anchor="t">
            <a:spAutoFit/>
          </a:bodyPr>
          <a:lstStyle/>
          <a:p>
            <a:pPr algn="l"/>
            <a:r>
              <a:rPr sz="1400">
                <a:solidFill>
                  <a:srgbClr val="262626"/>
                </a:solidFill>
              </a:rPr>
              <a:t>Every tool call and every message: who, what, why, when. Logs feed the review and the audit.</a:t>
            </a:r>
          </a:p>
        </p:txBody>
      </p:sp>
      <p:sp>
        <p:nvSpPr>
          <p:cNvPr id="25" name="Rounded Rectangle 24"/>
          <p:cNvSpPr/>
          <p:nvPr/>
        </p:nvSpPr>
        <p:spPr>
          <a:xfrm>
            <a:off x="1252728" y="8366760"/>
            <a:ext cx="15773400" cy="960120"/>
          </a:xfrm>
          <a:prstGeom prst="roundRect">
            <a:avLst>
              <a:gd name="adj" fmla="val 20952"/>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ock_n.png"/>
          <p:cNvPicPr>
            <a:picLocks noChangeAspect="1"/>
          </p:cNvPicPr>
          <p:nvPr/>
        </p:nvPicPr>
        <p:blipFill>
          <a:blip r:embed="rId6"/>
          <a:stretch>
            <a:fillRect/>
          </a:stretch>
        </p:blipFill>
        <p:spPr>
          <a:xfrm>
            <a:off x="1572768" y="8549640"/>
            <a:ext cx="594360" cy="594360"/>
          </a:xfrm>
          <a:prstGeom prst="rect">
            <a:avLst/>
          </a:prstGeom>
        </p:spPr>
      </p:pic>
      <p:sp>
        <p:nvSpPr>
          <p:cNvPr id="27" name="TextBox 26"/>
          <p:cNvSpPr txBox="1"/>
          <p:nvPr/>
        </p:nvSpPr>
        <p:spPr>
          <a:xfrm>
            <a:off x="2441448" y="8476488"/>
            <a:ext cx="14310359" cy="740664"/>
          </a:xfrm>
          <a:prstGeom prst="rect">
            <a:avLst/>
          </a:prstGeom>
          <a:noFill/>
        </p:spPr>
        <p:txBody>
          <a:bodyPr wrap="square" lIns="45720" tIns="27432" rIns="45720" bIns="27432" anchor="ctr">
            <a:spAutoFit/>
          </a:bodyPr>
          <a:lstStyle/>
          <a:p>
            <a:pPr algn="l"/>
            <a:r>
              <a:rPr sz="1600">
                <a:solidFill>
                  <a:srgbClr val="032954"/>
                </a:solidFill>
              </a:rPr>
              <a:t>Session 4 this afternoon goes deeper: agent identity, access management and the risks of autonomous agents.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a:t>Human-in-the-loop vs autonomous</a:t>
            </a:r>
          </a:p>
        </p:txBody>
      </p:sp>
      <p:sp>
        <p:nvSpPr>
          <p:cNvPr id="3" name="Text Placeholder 2"/>
          <p:cNvSpPr>
            <a:spLocks noGrp="1"/>
          </p:cNvSpPr>
          <p:nvPr>
            <p:ph type="body" idx="10" sz="quarter"/>
          </p:nvPr>
        </p:nvSpPr>
        <p:spPr/>
        <p:txBody>
          <a:bodyPr/>
          <a:lstStyle/>
          <a:p>
            <a:r>
              <a:rPr sz="3600"/>
              <a:t>Same agent, different levels of trust</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versight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The autonomy spectrum</a:t>
            </a:r>
          </a:p>
        </p:txBody>
      </p:sp>
      <p:sp>
        <p:nvSpPr>
          <p:cNvPr id="3" name="Text Placeholder 2"/>
          <p:cNvSpPr>
            <a:spLocks noGrp="1"/>
          </p:cNvSpPr>
          <p:nvPr>
            <p:ph type="body" idx="10" sz="quarter"/>
          </p:nvPr>
        </p:nvSpPr>
        <p:spPr/>
        <p:txBody>
          <a:bodyPr/>
          <a:lstStyle/>
          <a:p>
            <a:r>
              <a:rPr sz="3000"/>
              <a:t>Four ways to run the same agent, from assistant to autonomous</a:t>
            </a:r>
          </a:p>
        </p:txBody>
      </p:sp>
      <p:sp>
        <p:nvSpPr>
          <p:cNvPr id="5" name="Right Arrow 4"/>
          <p:cNvSpPr/>
          <p:nvPr/>
        </p:nvSpPr>
        <p:spPr>
          <a:xfrm>
            <a:off x="1252728" y="2697480"/>
            <a:ext cx="15773400" cy="548640"/>
          </a:xfrm>
          <a:prstGeom prst="rightArrow">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18488" y="2697480"/>
            <a:ext cx="14676120" cy="548640"/>
          </a:xfrm>
          <a:prstGeom prst="rect">
            <a:avLst/>
          </a:prstGeom>
          <a:noFill/>
        </p:spPr>
        <p:txBody>
          <a:bodyPr wrap="square" lIns="45720" tIns="27432" rIns="45720" bIns="27432" anchor="ctr">
            <a:spAutoFit/>
          </a:bodyPr>
          <a:lstStyle/>
          <a:p>
            <a:pPr algn="l"/>
            <a:r>
              <a:rPr sz="1600">
                <a:solidFill>
                  <a:srgbClr val="032954"/>
                </a:solidFill>
                <a:latin typeface="+mj-lt"/>
              </a:rPr>
              <a:t>More autonomy  →  more speed, more trust required</a:t>
            </a:r>
          </a:p>
        </p:txBody>
      </p:sp>
      <p:sp>
        <p:nvSpPr>
          <p:cNvPr id="7" name="Rounded Rectangle 6"/>
          <p:cNvSpPr/>
          <p:nvPr/>
        </p:nvSpPr>
        <p:spPr>
          <a:xfrm>
            <a:off x="1252728" y="3566160"/>
            <a:ext cx="3703320" cy="5760720"/>
          </a:xfrm>
          <a:prstGeom prst="roundRect">
            <a:avLst>
              <a:gd name="adj" fmla="val 691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27048" y="3840480"/>
            <a:ext cx="3154679" cy="658368"/>
          </a:xfrm>
          <a:prstGeom prst="roundRect">
            <a:avLst>
              <a:gd name="adj" fmla="val 50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700">
                <a:solidFill>
                  <a:srgbClr val="032954"/>
                </a:solidFill>
                <a:latin typeface="+mj-lt"/>
              </a:rPr>
              <a:t>1 · Assist</a:t>
            </a:r>
          </a:p>
        </p:txBody>
      </p:sp>
      <p:sp>
        <p:nvSpPr>
          <p:cNvPr id="9" name="TextBox 8"/>
          <p:cNvSpPr txBox="1"/>
          <p:nvPr/>
        </p:nvSpPr>
        <p:spPr>
          <a:xfrm>
            <a:off x="1527048" y="4553712"/>
            <a:ext cx="3154679" cy="365760"/>
          </a:xfrm>
          <a:prstGeom prst="rect">
            <a:avLst/>
          </a:prstGeom>
          <a:noFill/>
        </p:spPr>
        <p:txBody>
          <a:bodyPr wrap="square" lIns="45720" tIns="27432" rIns="45720" bIns="27432" anchor="t">
            <a:spAutoFit/>
          </a:bodyPr>
          <a:lstStyle/>
          <a:p>
            <a:pPr algn="ctr"/>
            <a:r>
              <a:rPr sz="1300">
                <a:solidFill>
                  <a:srgbClr val="7E889A"/>
                </a:solidFill>
              </a:rPr>
              <a:t>Human in the loop</a:t>
            </a:r>
          </a:p>
        </p:txBody>
      </p:sp>
      <p:pic>
        <p:nvPicPr>
          <p:cNvPr id="10" name="Picture 9" descr="robot_b.png"/>
          <p:cNvPicPr>
            <a:picLocks noChangeAspect="1"/>
          </p:cNvPicPr>
          <p:nvPr/>
        </p:nvPicPr>
        <p:blipFill>
          <a:blip r:embed="rId2"/>
          <a:stretch>
            <a:fillRect/>
          </a:stretch>
        </p:blipFill>
        <p:spPr>
          <a:xfrm>
            <a:off x="1572768" y="5047488"/>
            <a:ext cx="310896" cy="310896"/>
          </a:xfrm>
          <a:prstGeom prst="rect">
            <a:avLst/>
          </a:prstGeom>
        </p:spPr>
      </p:pic>
      <p:sp>
        <p:nvSpPr>
          <p:cNvPr id="11" name="TextBox 10"/>
          <p:cNvSpPr txBox="1"/>
          <p:nvPr/>
        </p:nvSpPr>
        <p:spPr>
          <a:xfrm>
            <a:off x="1984248" y="49834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Agent</a:t>
            </a:r>
          </a:p>
        </p:txBody>
      </p:sp>
      <p:sp>
        <p:nvSpPr>
          <p:cNvPr id="12" name="TextBox 11"/>
          <p:cNvSpPr txBox="1"/>
          <p:nvPr/>
        </p:nvSpPr>
        <p:spPr>
          <a:xfrm>
            <a:off x="1572768" y="5376672"/>
            <a:ext cx="3063239" cy="1005840"/>
          </a:xfrm>
          <a:prstGeom prst="rect">
            <a:avLst/>
          </a:prstGeom>
          <a:noFill/>
        </p:spPr>
        <p:txBody>
          <a:bodyPr wrap="square" lIns="45720" tIns="27432" rIns="45720" bIns="27432" anchor="t">
            <a:spAutoFit/>
          </a:bodyPr>
          <a:lstStyle/>
          <a:p>
            <a:pPr algn="l"/>
            <a:r>
              <a:rPr sz="1300">
                <a:solidFill>
                  <a:srgbClr val="262626"/>
                </a:solidFill>
              </a:rPr>
              <a:t>Recommends. Prepares a list of at-risk patients and a draft message for each.</a:t>
            </a:r>
          </a:p>
        </p:txBody>
      </p:sp>
      <p:pic>
        <p:nvPicPr>
          <p:cNvPr id="13" name="Picture 12" descr="user_b.png"/>
          <p:cNvPicPr>
            <a:picLocks noChangeAspect="1"/>
          </p:cNvPicPr>
          <p:nvPr/>
        </p:nvPicPr>
        <p:blipFill>
          <a:blip r:embed="rId3"/>
          <a:stretch>
            <a:fillRect/>
          </a:stretch>
        </p:blipFill>
        <p:spPr>
          <a:xfrm>
            <a:off x="1572768" y="6419088"/>
            <a:ext cx="310896" cy="310896"/>
          </a:xfrm>
          <a:prstGeom prst="rect">
            <a:avLst/>
          </a:prstGeom>
        </p:spPr>
      </p:pic>
      <p:sp>
        <p:nvSpPr>
          <p:cNvPr id="14" name="TextBox 13"/>
          <p:cNvSpPr txBox="1"/>
          <p:nvPr/>
        </p:nvSpPr>
        <p:spPr>
          <a:xfrm>
            <a:off x="1984248" y="63550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Human</a:t>
            </a:r>
          </a:p>
        </p:txBody>
      </p:sp>
      <p:sp>
        <p:nvSpPr>
          <p:cNvPr id="15" name="TextBox 14"/>
          <p:cNvSpPr txBox="1"/>
          <p:nvPr/>
        </p:nvSpPr>
        <p:spPr>
          <a:xfrm>
            <a:off x="1572768" y="6748272"/>
            <a:ext cx="3063239" cy="1005840"/>
          </a:xfrm>
          <a:prstGeom prst="rect">
            <a:avLst/>
          </a:prstGeom>
          <a:noFill/>
        </p:spPr>
        <p:txBody>
          <a:bodyPr wrap="square" lIns="45720" tIns="27432" rIns="45720" bIns="27432" anchor="t">
            <a:spAutoFit/>
          </a:bodyPr>
          <a:lstStyle/>
          <a:p>
            <a:pPr algn="l"/>
            <a:r>
              <a:rPr sz="1300">
                <a:solidFill>
                  <a:srgbClr val="262626"/>
                </a:solidFill>
              </a:rPr>
              <a:t>Reviews, edits, sends. Owns every action.</a:t>
            </a:r>
          </a:p>
        </p:txBody>
      </p:sp>
      <p:pic>
        <p:nvPicPr>
          <p:cNvPr id="16" name="Picture 15" descr="check_b.png"/>
          <p:cNvPicPr>
            <a:picLocks noChangeAspect="1"/>
          </p:cNvPicPr>
          <p:nvPr/>
        </p:nvPicPr>
        <p:blipFill>
          <a:blip r:embed="rId4"/>
          <a:stretch>
            <a:fillRect/>
          </a:stretch>
        </p:blipFill>
        <p:spPr>
          <a:xfrm>
            <a:off x="1572768" y="7790688"/>
            <a:ext cx="310896" cy="310896"/>
          </a:xfrm>
          <a:prstGeom prst="rect">
            <a:avLst/>
          </a:prstGeom>
        </p:spPr>
      </p:pic>
      <p:sp>
        <p:nvSpPr>
          <p:cNvPr id="17" name="TextBox 16"/>
          <p:cNvSpPr txBox="1"/>
          <p:nvPr/>
        </p:nvSpPr>
        <p:spPr>
          <a:xfrm>
            <a:off x="1984248" y="7726679"/>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Fits when</a:t>
            </a:r>
          </a:p>
        </p:txBody>
      </p:sp>
      <p:sp>
        <p:nvSpPr>
          <p:cNvPr id="18" name="TextBox 17"/>
          <p:cNvSpPr txBox="1"/>
          <p:nvPr/>
        </p:nvSpPr>
        <p:spPr>
          <a:xfrm>
            <a:off x="1572768" y="8119872"/>
            <a:ext cx="3063239" cy="1005840"/>
          </a:xfrm>
          <a:prstGeom prst="rect">
            <a:avLst/>
          </a:prstGeom>
          <a:noFill/>
        </p:spPr>
        <p:txBody>
          <a:bodyPr wrap="square" lIns="45720" tIns="27432" rIns="45720" bIns="27432" anchor="t">
            <a:spAutoFit/>
          </a:bodyPr>
          <a:lstStyle/>
          <a:p>
            <a:pPr algn="l"/>
            <a:r>
              <a:rPr sz="1300">
                <a:solidFill>
                  <a:srgbClr val="262626"/>
                </a:solidFill>
              </a:rPr>
              <a:t>New use cases, sensitive processes, first weeks of a pilot.</a:t>
            </a:r>
          </a:p>
        </p:txBody>
      </p:sp>
      <p:sp>
        <p:nvSpPr>
          <p:cNvPr id="19" name="Rounded Rectangle 18"/>
          <p:cNvSpPr/>
          <p:nvPr/>
        </p:nvSpPr>
        <p:spPr>
          <a:xfrm>
            <a:off x="5276088" y="3566160"/>
            <a:ext cx="3703320" cy="5760720"/>
          </a:xfrm>
          <a:prstGeom prst="roundRect">
            <a:avLst>
              <a:gd name="adj" fmla="val 691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550407" y="3840480"/>
            <a:ext cx="3154679" cy="658368"/>
          </a:xfrm>
          <a:prstGeom prst="roundRect">
            <a:avLst>
              <a:gd name="adj" fmla="val 50000"/>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700">
                <a:solidFill>
                  <a:srgbClr val="FFFFFF"/>
                </a:solidFill>
                <a:latin typeface="+mj-lt"/>
              </a:rPr>
              <a:t>2 · Approve</a:t>
            </a:r>
          </a:p>
        </p:txBody>
      </p:sp>
      <p:sp>
        <p:nvSpPr>
          <p:cNvPr id="21" name="TextBox 20"/>
          <p:cNvSpPr txBox="1"/>
          <p:nvPr/>
        </p:nvSpPr>
        <p:spPr>
          <a:xfrm>
            <a:off x="5550407" y="4553712"/>
            <a:ext cx="3154679" cy="365760"/>
          </a:xfrm>
          <a:prstGeom prst="rect">
            <a:avLst/>
          </a:prstGeom>
          <a:noFill/>
        </p:spPr>
        <p:txBody>
          <a:bodyPr wrap="square" lIns="45720" tIns="27432" rIns="45720" bIns="27432" anchor="t">
            <a:spAutoFit/>
          </a:bodyPr>
          <a:lstStyle/>
          <a:p>
            <a:pPr algn="ctr"/>
            <a:r>
              <a:rPr sz="1300">
                <a:solidFill>
                  <a:srgbClr val="7E889A"/>
                </a:solidFill>
              </a:rPr>
              <a:t>Human in the loop</a:t>
            </a:r>
          </a:p>
        </p:txBody>
      </p:sp>
      <p:pic>
        <p:nvPicPr>
          <p:cNvPr id="22" name="Picture 21" descr="robot_b.png"/>
          <p:cNvPicPr>
            <a:picLocks noChangeAspect="1"/>
          </p:cNvPicPr>
          <p:nvPr/>
        </p:nvPicPr>
        <p:blipFill>
          <a:blip r:embed="rId2"/>
          <a:stretch>
            <a:fillRect/>
          </a:stretch>
        </p:blipFill>
        <p:spPr>
          <a:xfrm>
            <a:off x="5596127" y="5047488"/>
            <a:ext cx="310896" cy="310896"/>
          </a:xfrm>
          <a:prstGeom prst="rect">
            <a:avLst/>
          </a:prstGeom>
        </p:spPr>
      </p:pic>
      <p:sp>
        <p:nvSpPr>
          <p:cNvPr id="23" name="TextBox 22"/>
          <p:cNvSpPr txBox="1"/>
          <p:nvPr/>
        </p:nvSpPr>
        <p:spPr>
          <a:xfrm>
            <a:off x="6007607" y="49834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Agent</a:t>
            </a:r>
          </a:p>
        </p:txBody>
      </p:sp>
      <p:sp>
        <p:nvSpPr>
          <p:cNvPr id="24" name="TextBox 23"/>
          <p:cNvSpPr txBox="1"/>
          <p:nvPr/>
        </p:nvSpPr>
        <p:spPr>
          <a:xfrm>
            <a:off x="5596127" y="5376672"/>
            <a:ext cx="3063239" cy="1005840"/>
          </a:xfrm>
          <a:prstGeom prst="rect">
            <a:avLst/>
          </a:prstGeom>
          <a:noFill/>
        </p:spPr>
        <p:txBody>
          <a:bodyPr wrap="square" lIns="45720" tIns="27432" rIns="45720" bIns="27432" anchor="t">
            <a:spAutoFit/>
          </a:bodyPr>
          <a:lstStyle/>
          <a:p>
            <a:pPr algn="l"/>
            <a:r>
              <a:rPr sz="1300">
                <a:solidFill>
                  <a:srgbClr val="262626"/>
                </a:solidFill>
              </a:rPr>
              <a:t>Proposes each action and waits. “Send this reminder to Mr A?”</a:t>
            </a:r>
          </a:p>
        </p:txBody>
      </p:sp>
      <p:pic>
        <p:nvPicPr>
          <p:cNvPr id="25" name="Picture 24" descr="user_b.png"/>
          <p:cNvPicPr>
            <a:picLocks noChangeAspect="1"/>
          </p:cNvPicPr>
          <p:nvPr/>
        </p:nvPicPr>
        <p:blipFill>
          <a:blip r:embed="rId3"/>
          <a:stretch>
            <a:fillRect/>
          </a:stretch>
        </p:blipFill>
        <p:spPr>
          <a:xfrm>
            <a:off x="5596127" y="6419088"/>
            <a:ext cx="310896" cy="310896"/>
          </a:xfrm>
          <a:prstGeom prst="rect">
            <a:avLst/>
          </a:prstGeom>
        </p:spPr>
      </p:pic>
      <p:sp>
        <p:nvSpPr>
          <p:cNvPr id="26" name="TextBox 25"/>
          <p:cNvSpPr txBox="1"/>
          <p:nvPr/>
        </p:nvSpPr>
        <p:spPr>
          <a:xfrm>
            <a:off x="6007607" y="63550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Human</a:t>
            </a:r>
          </a:p>
        </p:txBody>
      </p:sp>
      <p:sp>
        <p:nvSpPr>
          <p:cNvPr id="27" name="TextBox 26"/>
          <p:cNvSpPr txBox="1"/>
          <p:nvPr/>
        </p:nvSpPr>
        <p:spPr>
          <a:xfrm>
            <a:off x="5596127" y="6748272"/>
            <a:ext cx="3063239" cy="1005840"/>
          </a:xfrm>
          <a:prstGeom prst="rect">
            <a:avLst/>
          </a:prstGeom>
          <a:noFill/>
        </p:spPr>
        <p:txBody>
          <a:bodyPr wrap="square" lIns="45720" tIns="27432" rIns="45720" bIns="27432" anchor="t">
            <a:spAutoFit/>
          </a:bodyPr>
          <a:lstStyle/>
          <a:p>
            <a:pPr algn="l"/>
            <a:r>
              <a:rPr sz="1300">
                <a:solidFill>
                  <a:srgbClr val="262626"/>
                </a:solidFill>
              </a:rPr>
              <a:t>Approves or rejects each action from a queue.</a:t>
            </a:r>
          </a:p>
        </p:txBody>
      </p:sp>
      <p:pic>
        <p:nvPicPr>
          <p:cNvPr id="28" name="Picture 27" descr="check_b.png"/>
          <p:cNvPicPr>
            <a:picLocks noChangeAspect="1"/>
          </p:cNvPicPr>
          <p:nvPr/>
        </p:nvPicPr>
        <p:blipFill>
          <a:blip r:embed="rId4"/>
          <a:stretch>
            <a:fillRect/>
          </a:stretch>
        </p:blipFill>
        <p:spPr>
          <a:xfrm>
            <a:off x="5596127" y="7790688"/>
            <a:ext cx="310896" cy="310896"/>
          </a:xfrm>
          <a:prstGeom prst="rect">
            <a:avLst/>
          </a:prstGeom>
        </p:spPr>
      </p:pic>
      <p:sp>
        <p:nvSpPr>
          <p:cNvPr id="29" name="TextBox 28"/>
          <p:cNvSpPr txBox="1"/>
          <p:nvPr/>
        </p:nvSpPr>
        <p:spPr>
          <a:xfrm>
            <a:off x="6007607" y="7726679"/>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Fits when</a:t>
            </a:r>
          </a:p>
        </p:txBody>
      </p:sp>
      <p:sp>
        <p:nvSpPr>
          <p:cNvPr id="30" name="TextBox 29"/>
          <p:cNvSpPr txBox="1"/>
          <p:nvPr/>
        </p:nvSpPr>
        <p:spPr>
          <a:xfrm>
            <a:off x="5596127" y="8119872"/>
            <a:ext cx="3063239" cy="1005840"/>
          </a:xfrm>
          <a:prstGeom prst="rect">
            <a:avLst/>
          </a:prstGeom>
          <a:noFill/>
        </p:spPr>
        <p:txBody>
          <a:bodyPr wrap="square" lIns="45720" tIns="27432" rIns="45720" bIns="27432" anchor="t">
            <a:spAutoFit/>
          </a:bodyPr>
          <a:lstStyle/>
          <a:p>
            <a:pPr algn="l"/>
            <a:r>
              <a:rPr sz="1300">
                <a:solidFill>
                  <a:srgbClr val="262626"/>
                </a:solidFill>
              </a:rPr>
              <a:t>Reversible actions with real impact; building trust.</a:t>
            </a:r>
          </a:p>
        </p:txBody>
      </p:sp>
      <p:sp>
        <p:nvSpPr>
          <p:cNvPr id="31" name="Rounded Rectangle 30"/>
          <p:cNvSpPr/>
          <p:nvPr/>
        </p:nvSpPr>
        <p:spPr>
          <a:xfrm>
            <a:off x="9299447" y="3566160"/>
            <a:ext cx="3703320" cy="5760720"/>
          </a:xfrm>
          <a:prstGeom prst="roundRect">
            <a:avLst>
              <a:gd name="adj" fmla="val 691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73767" y="3840480"/>
            <a:ext cx="3154679" cy="658368"/>
          </a:xfrm>
          <a:prstGeom prst="roundRect">
            <a:avLst>
              <a:gd name="adj" fmla="val 50000"/>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700">
                <a:solidFill>
                  <a:srgbClr val="FFFFFF"/>
                </a:solidFill>
                <a:latin typeface="+mj-lt"/>
              </a:rPr>
              <a:t>3 · Supervise</a:t>
            </a:r>
          </a:p>
        </p:txBody>
      </p:sp>
      <p:sp>
        <p:nvSpPr>
          <p:cNvPr id="33" name="TextBox 32"/>
          <p:cNvSpPr txBox="1"/>
          <p:nvPr/>
        </p:nvSpPr>
        <p:spPr>
          <a:xfrm>
            <a:off x="9573767" y="4553712"/>
            <a:ext cx="3154679" cy="365760"/>
          </a:xfrm>
          <a:prstGeom prst="rect">
            <a:avLst/>
          </a:prstGeom>
          <a:noFill/>
        </p:spPr>
        <p:txBody>
          <a:bodyPr wrap="square" lIns="45720" tIns="27432" rIns="45720" bIns="27432" anchor="t">
            <a:spAutoFit/>
          </a:bodyPr>
          <a:lstStyle/>
          <a:p>
            <a:pPr algn="ctr"/>
            <a:r>
              <a:rPr sz="1300">
                <a:solidFill>
                  <a:srgbClr val="7E889A"/>
                </a:solidFill>
              </a:rPr>
              <a:t>Human on the loop</a:t>
            </a:r>
          </a:p>
        </p:txBody>
      </p:sp>
      <p:pic>
        <p:nvPicPr>
          <p:cNvPr id="34" name="Picture 33" descr="robot_b.png"/>
          <p:cNvPicPr>
            <a:picLocks noChangeAspect="1"/>
          </p:cNvPicPr>
          <p:nvPr/>
        </p:nvPicPr>
        <p:blipFill>
          <a:blip r:embed="rId2"/>
          <a:stretch>
            <a:fillRect/>
          </a:stretch>
        </p:blipFill>
        <p:spPr>
          <a:xfrm>
            <a:off x="9619487" y="5047488"/>
            <a:ext cx="310896" cy="310896"/>
          </a:xfrm>
          <a:prstGeom prst="rect">
            <a:avLst/>
          </a:prstGeom>
        </p:spPr>
      </p:pic>
      <p:sp>
        <p:nvSpPr>
          <p:cNvPr id="35" name="TextBox 34"/>
          <p:cNvSpPr txBox="1"/>
          <p:nvPr/>
        </p:nvSpPr>
        <p:spPr>
          <a:xfrm>
            <a:off x="10030967" y="49834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Agent</a:t>
            </a:r>
          </a:p>
        </p:txBody>
      </p:sp>
      <p:sp>
        <p:nvSpPr>
          <p:cNvPr id="36" name="TextBox 35"/>
          <p:cNvSpPr txBox="1"/>
          <p:nvPr/>
        </p:nvSpPr>
        <p:spPr>
          <a:xfrm>
            <a:off x="9619487" y="5376672"/>
            <a:ext cx="3063239" cy="1005840"/>
          </a:xfrm>
          <a:prstGeom prst="rect">
            <a:avLst/>
          </a:prstGeom>
          <a:noFill/>
        </p:spPr>
        <p:txBody>
          <a:bodyPr wrap="square" lIns="45720" tIns="27432" rIns="45720" bIns="27432" anchor="t">
            <a:spAutoFit/>
          </a:bodyPr>
          <a:lstStyle/>
          <a:p>
            <a:pPr algn="l"/>
            <a:r>
              <a:rPr sz="1300">
                <a:solidFill>
                  <a:srgbClr val="262626"/>
                </a:solidFill>
              </a:rPr>
              <a:t>Acts on its own inside the rules. Flags exceptions.</a:t>
            </a:r>
          </a:p>
        </p:txBody>
      </p:sp>
      <p:pic>
        <p:nvPicPr>
          <p:cNvPr id="37" name="Picture 36" descr="user_b.png"/>
          <p:cNvPicPr>
            <a:picLocks noChangeAspect="1"/>
          </p:cNvPicPr>
          <p:nvPr/>
        </p:nvPicPr>
        <p:blipFill>
          <a:blip r:embed="rId3"/>
          <a:stretch>
            <a:fillRect/>
          </a:stretch>
        </p:blipFill>
        <p:spPr>
          <a:xfrm>
            <a:off x="9619487" y="6419088"/>
            <a:ext cx="310896" cy="310896"/>
          </a:xfrm>
          <a:prstGeom prst="rect">
            <a:avLst/>
          </a:prstGeom>
        </p:spPr>
      </p:pic>
      <p:sp>
        <p:nvSpPr>
          <p:cNvPr id="38" name="TextBox 37"/>
          <p:cNvSpPr txBox="1"/>
          <p:nvPr/>
        </p:nvSpPr>
        <p:spPr>
          <a:xfrm>
            <a:off x="10030967" y="63550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Human</a:t>
            </a:r>
          </a:p>
        </p:txBody>
      </p:sp>
      <p:sp>
        <p:nvSpPr>
          <p:cNvPr id="39" name="TextBox 38"/>
          <p:cNvSpPr txBox="1"/>
          <p:nvPr/>
        </p:nvSpPr>
        <p:spPr>
          <a:xfrm>
            <a:off x="9619487" y="6748272"/>
            <a:ext cx="3063239" cy="1005840"/>
          </a:xfrm>
          <a:prstGeom prst="rect">
            <a:avLst/>
          </a:prstGeom>
          <a:noFill/>
        </p:spPr>
        <p:txBody>
          <a:bodyPr wrap="square" lIns="45720" tIns="27432" rIns="45720" bIns="27432" anchor="t">
            <a:spAutoFit/>
          </a:bodyPr>
          <a:lstStyle/>
          <a:p>
            <a:pPr algn="l"/>
            <a:r>
              <a:rPr sz="1300">
                <a:solidFill>
                  <a:srgbClr val="262626"/>
                </a:solidFill>
              </a:rPr>
              <a:t>Handles exceptions, reads a daily summary, can pause.</a:t>
            </a:r>
          </a:p>
        </p:txBody>
      </p:sp>
      <p:pic>
        <p:nvPicPr>
          <p:cNvPr id="40" name="Picture 39" descr="check_b.png"/>
          <p:cNvPicPr>
            <a:picLocks noChangeAspect="1"/>
          </p:cNvPicPr>
          <p:nvPr/>
        </p:nvPicPr>
        <p:blipFill>
          <a:blip r:embed="rId4"/>
          <a:stretch>
            <a:fillRect/>
          </a:stretch>
        </p:blipFill>
        <p:spPr>
          <a:xfrm>
            <a:off x="9619487" y="7790688"/>
            <a:ext cx="310896" cy="310896"/>
          </a:xfrm>
          <a:prstGeom prst="rect">
            <a:avLst/>
          </a:prstGeom>
        </p:spPr>
      </p:pic>
      <p:sp>
        <p:nvSpPr>
          <p:cNvPr id="41" name="TextBox 40"/>
          <p:cNvSpPr txBox="1"/>
          <p:nvPr/>
        </p:nvSpPr>
        <p:spPr>
          <a:xfrm>
            <a:off x="10030967" y="7726679"/>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Fits when</a:t>
            </a:r>
          </a:p>
        </p:txBody>
      </p:sp>
      <p:sp>
        <p:nvSpPr>
          <p:cNvPr id="42" name="TextBox 41"/>
          <p:cNvSpPr txBox="1"/>
          <p:nvPr/>
        </p:nvSpPr>
        <p:spPr>
          <a:xfrm>
            <a:off x="9619487" y="8119872"/>
            <a:ext cx="3063239" cy="1005840"/>
          </a:xfrm>
          <a:prstGeom prst="rect">
            <a:avLst/>
          </a:prstGeom>
          <a:noFill/>
        </p:spPr>
        <p:txBody>
          <a:bodyPr wrap="square" lIns="45720" tIns="27432" rIns="45720" bIns="27432" anchor="t">
            <a:spAutoFit/>
          </a:bodyPr>
          <a:lstStyle/>
          <a:p>
            <a:pPr algn="l"/>
            <a:r>
              <a:rPr sz="1300">
                <a:solidFill>
                  <a:srgbClr val="262626"/>
                </a:solidFill>
              </a:rPr>
              <a:t>Proven, reversible actions at volume: reminders, rebooking.</a:t>
            </a:r>
          </a:p>
        </p:txBody>
      </p:sp>
      <p:sp>
        <p:nvSpPr>
          <p:cNvPr id="43" name="Rounded Rectangle 42"/>
          <p:cNvSpPr/>
          <p:nvPr/>
        </p:nvSpPr>
        <p:spPr>
          <a:xfrm>
            <a:off x="13322808" y="3566160"/>
            <a:ext cx="3703320" cy="5760720"/>
          </a:xfrm>
          <a:prstGeom prst="roundRect">
            <a:avLst>
              <a:gd name="adj" fmla="val 691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3597128" y="3840480"/>
            <a:ext cx="3154679" cy="658368"/>
          </a:xfrm>
          <a:prstGeom prst="roundRect">
            <a:avLst>
              <a:gd name="adj" fmla="val 50000"/>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700">
                <a:solidFill>
                  <a:srgbClr val="FFFFFF"/>
                </a:solidFill>
                <a:latin typeface="+mj-lt"/>
              </a:rPr>
              <a:t>4 · Autonomous</a:t>
            </a:r>
          </a:p>
        </p:txBody>
      </p:sp>
      <p:sp>
        <p:nvSpPr>
          <p:cNvPr id="45" name="TextBox 44"/>
          <p:cNvSpPr txBox="1"/>
          <p:nvPr/>
        </p:nvSpPr>
        <p:spPr>
          <a:xfrm>
            <a:off x="13597128" y="4553712"/>
            <a:ext cx="3154679" cy="365760"/>
          </a:xfrm>
          <a:prstGeom prst="rect">
            <a:avLst/>
          </a:prstGeom>
          <a:noFill/>
        </p:spPr>
        <p:txBody>
          <a:bodyPr wrap="square" lIns="45720" tIns="27432" rIns="45720" bIns="27432" anchor="t">
            <a:spAutoFit/>
          </a:bodyPr>
          <a:lstStyle/>
          <a:p>
            <a:pPr algn="ctr"/>
            <a:r>
              <a:rPr sz="1300">
                <a:solidFill>
                  <a:srgbClr val="7E889A"/>
                </a:solidFill>
              </a:rPr>
              <a:t>Human over the loop</a:t>
            </a:r>
          </a:p>
        </p:txBody>
      </p:sp>
      <p:pic>
        <p:nvPicPr>
          <p:cNvPr id="46" name="Picture 45" descr="robot_b.png"/>
          <p:cNvPicPr>
            <a:picLocks noChangeAspect="1"/>
          </p:cNvPicPr>
          <p:nvPr/>
        </p:nvPicPr>
        <p:blipFill>
          <a:blip r:embed="rId2"/>
          <a:stretch>
            <a:fillRect/>
          </a:stretch>
        </p:blipFill>
        <p:spPr>
          <a:xfrm>
            <a:off x="13642848" y="5047488"/>
            <a:ext cx="310896" cy="310896"/>
          </a:xfrm>
          <a:prstGeom prst="rect">
            <a:avLst/>
          </a:prstGeom>
        </p:spPr>
      </p:pic>
      <p:sp>
        <p:nvSpPr>
          <p:cNvPr id="47" name="TextBox 46"/>
          <p:cNvSpPr txBox="1"/>
          <p:nvPr/>
        </p:nvSpPr>
        <p:spPr>
          <a:xfrm>
            <a:off x="14054328" y="49834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Agent</a:t>
            </a:r>
          </a:p>
        </p:txBody>
      </p:sp>
      <p:sp>
        <p:nvSpPr>
          <p:cNvPr id="48" name="TextBox 47"/>
          <p:cNvSpPr txBox="1"/>
          <p:nvPr/>
        </p:nvSpPr>
        <p:spPr>
          <a:xfrm>
            <a:off x="13642848" y="5376672"/>
            <a:ext cx="3063239" cy="1005840"/>
          </a:xfrm>
          <a:prstGeom prst="rect">
            <a:avLst/>
          </a:prstGeom>
          <a:noFill/>
        </p:spPr>
        <p:txBody>
          <a:bodyPr wrap="square" lIns="45720" tIns="27432" rIns="45720" bIns="27432" anchor="t">
            <a:spAutoFit/>
          </a:bodyPr>
          <a:lstStyle/>
          <a:p>
            <a:pPr algn="l"/>
            <a:r>
              <a:rPr sz="1300">
                <a:solidFill>
                  <a:srgbClr val="262626"/>
                </a:solidFill>
              </a:rPr>
              <a:t>Acts end-to-end within hard boundaries.</a:t>
            </a:r>
          </a:p>
        </p:txBody>
      </p:sp>
      <p:pic>
        <p:nvPicPr>
          <p:cNvPr id="49" name="Picture 48" descr="user_b.png"/>
          <p:cNvPicPr>
            <a:picLocks noChangeAspect="1"/>
          </p:cNvPicPr>
          <p:nvPr/>
        </p:nvPicPr>
        <p:blipFill>
          <a:blip r:embed="rId3"/>
          <a:stretch>
            <a:fillRect/>
          </a:stretch>
        </p:blipFill>
        <p:spPr>
          <a:xfrm>
            <a:off x="13642848" y="6419088"/>
            <a:ext cx="310896" cy="310896"/>
          </a:xfrm>
          <a:prstGeom prst="rect">
            <a:avLst/>
          </a:prstGeom>
        </p:spPr>
      </p:pic>
      <p:sp>
        <p:nvSpPr>
          <p:cNvPr id="50" name="TextBox 49"/>
          <p:cNvSpPr txBox="1"/>
          <p:nvPr/>
        </p:nvSpPr>
        <p:spPr>
          <a:xfrm>
            <a:off x="14054328" y="63550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Human</a:t>
            </a:r>
          </a:p>
        </p:txBody>
      </p:sp>
      <p:sp>
        <p:nvSpPr>
          <p:cNvPr id="51" name="TextBox 50"/>
          <p:cNvSpPr txBox="1"/>
          <p:nvPr/>
        </p:nvSpPr>
        <p:spPr>
          <a:xfrm>
            <a:off x="13642848" y="6748272"/>
            <a:ext cx="3063239" cy="1005840"/>
          </a:xfrm>
          <a:prstGeom prst="rect">
            <a:avLst/>
          </a:prstGeom>
          <a:noFill/>
        </p:spPr>
        <p:txBody>
          <a:bodyPr wrap="square" lIns="45720" tIns="27432" rIns="45720" bIns="27432" anchor="t">
            <a:spAutoFit/>
          </a:bodyPr>
          <a:lstStyle/>
          <a:p>
            <a:pPr algn="l"/>
            <a:r>
              <a:rPr sz="1300">
                <a:solidFill>
                  <a:srgbClr val="262626"/>
                </a:solidFill>
              </a:rPr>
              <a:t>Audits samples and outcomes; sets and reviews the boundaries.</a:t>
            </a:r>
          </a:p>
        </p:txBody>
      </p:sp>
      <p:pic>
        <p:nvPicPr>
          <p:cNvPr id="52" name="Picture 51" descr="check_b.png"/>
          <p:cNvPicPr>
            <a:picLocks noChangeAspect="1"/>
          </p:cNvPicPr>
          <p:nvPr/>
        </p:nvPicPr>
        <p:blipFill>
          <a:blip r:embed="rId4"/>
          <a:stretch>
            <a:fillRect/>
          </a:stretch>
        </p:blipFill>
        <p:spPr>
          <a:xfrm>
            <a:off x="13642848" y="7790688"/>
            <a:ext cx="310896" cy="310896"/>
          </a:xfrm>
          <a:prstGeom prst="rect">
            <a:avLst/>
          </a:prstGeom>
        </p:spPr>
      </p:pic>
      <p:sp>
        <p:nvSpPr>
          <p:cNvPr id="53" name="TextBox 52"/>
          <p:cNvSpPr txBox="1"/>
          <p:nvPr/>
        </p:nvSpPr>
        <p:spPr>
          <a:xfrm>
            <a:off x="14054328" y="7726679"/>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Fits when</a:t>
            </a:r>
          </a:p>
        </p:txBody>
      </p:sp>
      <p:sp>
        <p:nvSpPr>
          <p:cNvPr id="54" name="TextBox 53"/>
          <p:cNvSpPr txBox="1"/>
          <p:nvPr/>
        </p:nvSpPr>
        <p:spPr>
          <a:xfrm>
            <a:off x="13642848" y="8119872"/>
            <a:ext cx="3063239" cy="1005840"/>
          </a:xfrm>
          <a:prstGeom prst="rect">
            <a:avLst/>
          </a:prstGeom>
          <a:noFill/>
        </p:spPr>
        <p:txBody>
          <a:bodyPr wrap="square" lIns="45720" tIns="27432" rIns="45720" bIns="27432" anchor="t">
            <a:spAutoFit/>
          </a:bodyPr>
          <a:lstStyle/>
          <a:p>
            <a:pPr algn="l"/>
            <a:r>
              <a:rPr sz="1300">
                <a:solidFill>
                  <a:srgbClr val="262626"/>
                </a:solidFill>
              </a:rPr>
              <a:t>Low-risk, high-volume, well-measured actions only.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Choosing the level for each action</a:t>
            </a:r>
          </a:p>
        </p:txBody>
      </p:sp>
      <p:sp>
        <p:nvSpPr>
          <p:cNvPr id="3" name="Text Placeholder 2"/>
          <p:cNvSpPr>
            <a:spLocks noGrp="1"/>
          </p:cNvSpPr>
          <p:nvPr>
            <p:ph type="body" idx="10" sz="quarter"/>
          </p:nvPr>
        </p:nvSpPr>
        <p:spPr/>
        <p:txBody>
          <a:bodyPr/>
          <a:lstStyle/>
          <a:p>
            <a:r>
              <a:rPr sz="3000"/>
              <a:t>Two questions: how bad is a wrong action, and can it be undone?</a:t>
            </a:r>
          </a:p>
        </p:txBody>
      </p:sp>
      <p:sp>
        <p:nvSpPr>
          <p:cNvPr id="5" name="Rounded Rectangle 4"/>
          <p:cNvSpPr/>
          <p:nvPr/>
        </p:nvSpPr>
        <p:spPr>
          <a:xfrm>
            <a:off x="2377440" y="2880360"/>
            <a:ext cx="4114800" cy="2743200"/>
          </a:xfrm>
          <a:prstGeom prst="roundRect">
            <a:avLst>
              <a:gd name="adj" fmla="val 9333"/>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51760" y="3108960"/>
            <a:ext cx="3566160" cy="411480"/>
          </a:xfrm>
          <a:prstGeom prst="rect">
            <a:avLst/>
          </a:prstGeom>
          <a:noFill/>
        </p:spPr>
        <p:txBody>
          <a:bodyPr wrap="square" lIns="45720" tIns="27432" rIns="45720" bIns="27432" anchor="t">
            <a:spAutoFit/>
          </a:bodyPr>
          <a:lstStyle/>
          <a:p>
            <a:pPr algn="l"/>
            <a:r>
              <a:rPr sz="1300">
                <a:solidFill>
                  <a:srgbClr val="FFFFFF"/>
                </a:solidFill>
              </a:rPr>
              <a:t>High impact · easy to undo</a:t>
            </a:r>
          </a:p>
        </p:txBody>
      </p:sp>
      <p:sp>
        <p:nvSpPr>
          <p:cNvPr id="7" name="TextBox 6"/>
          <p:cNvSpPr txBox="1"/>
          <p:nvPr/>
        </p:nvSpPr>
        <p:spPr>
          <a:xfrm>
            <a:off x="2651760" y="3520439"/>
            <a:ext cx="3566160" cy="548640"/>
          </a:xfrm>
          <a:prstGeom prst="rect">
            <a:avLst/>
          </a:prstGeom>
          <a:noFill/>
        </p:spPr>
        <p:txBody>
          <a:bodyPr wrap="square" lIns="45720" tIns="27432" rIns="45720" bIns="27432" anchor="t">
            <a:spAutoFit/>
          </a:bodyPr>
          <a:lstStyle/>
          <a:p>
            <a:pPr algn="l"/>
            <a:r>
              <a:rPr sz="2200">
                <a:solidFill>
                  <a:srgbClr val="FFFFFF"/>
                </a:solidFill>
                <a:latin typeface="+mj-lt"/>
              </a:rPr>
              <a:t>2 · Approve</a:t>
            </a:r>
          </a:p>
        </p:txBody>
      </p:sp>
      <p:sp>
        <p:nvSpPr>
          <p:cNvPr id="8" name="TextBox 7"/>
          <p:cNvSpPr txBox="1"/>
          <p:nvPr/>
        </p:nvSpPr>
        <p:spPr>
          <a:xfrm>
            <a:off x="2651760" y="4160520"/>
            <a:ext cx="3566160" cy="1280160"/>
          </a:xfrm>
          <a:prstGeom prst="rect">
            <a:avLst/>
          </a:prstGeom>
          <a:noFill/>
        </p:spPr>
        <p:txBody>
          <a:bodyPr wrap="square" lIns="45720" tIns="27432" rIns="45720" bIns="27432" anchor="t">
            <a:spAutoFit/>
          </a:bodyPr>
          <a:lstStyle/>
          <a:p>
            <a:pPr algn="l"/>
            <a:r>
              <a:rPr sz="1400">
                <a:solidFill>
                  <a:srgbClr val="FFFFFF"/>
                </a:solidFill>
              </a:rPr>
              <a:t>Move a specialist appointment; contact a patient flagged as vulnerable</a:t>
            </a:r>
          </a:p>
        </p:txBody>
      </p:sp>
      <p:sp>
        <p:nvSpPr>
          <p:cNvPr id="9" name="Rounded Rectangle 8"/>
          <p:cNvSpPr/>
          <p:nvPr/>
        </p:nvSpPr>
        <p:spPr>
          <a:xfrm>
            <a:off x="6766560" y="2880360"/>
            <a:ext cx="4114800" cy="2743200"/>
          </a:xfrm>
          <a:prstGeom prst="roundRect">
            <a:avLst>
              <a:gd name="adj" fmla="val 9333"/>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0" y="3108960"/>
            <a:ext cx="3566160" cy="411480"/>
          </a:xfrm>
          <a:prstGeom prst="rect">
            <a:avLst/>
          </a:prstGeom>
          <a:noFill/>
        </p:spPr>
        <p:txBody>
          <a:bodyPr wrap="square" lIns="45720" tIns="27432" rIns="45720" bIns="27432" anchor="t">
            <a:spAutoFit/>
          </a:bodyPr>
          <a:lstStyle/>
          <a:p>
            <a:pPr algn="l"/>
            <a:r>
              <a:rPr sz="1300">
                <a:solidFill>
                  <a:srgbClr val="FFFFFF"/>
                </a:solidFill>
              </a:rPr>
              <a:t>High impact · hard to undo</a:t>
            </a:r>
          </a:p>
        </p:txBody>
      </p:sp>
      <p:sp>
        <p:nvSpPr>
          <p:cNvPr id="11" name="TextBox 10"/>
          <p:cNvSpPr txBox="1"/>
          <p:nvPr/>
        </p:nvSpPr>
        <p:spPr>
          <a:xfrm>
            <a:off x="7040880" y="3520439"/>
            <a:ext cx="3566160" cy="548640"/>
          </a:xfrm>
          <a:prstGeom prst="rect">
            <a:avLst/>
          </a:prstGeom>
          <a:noFill/>
        </p:spPr>
        <p:txBody>
          <a:bodyPr wrap="square" lIns="45720" tIns="27432" rIns="45720" bIns="27432" anchor="t">
            <a:spAutoFit/>
          </a:bodyPr>
          <a:lstStyle/>
          <a:p>
            <a:pPr algn="l"/>
            <a:r>
              <a:rPr sz="2200">
                <a:solidFill>
                  <a:srgbClr val="FFFFFF"/>
                </a:solidFill>
                <a:latin typeface="+mj-lt"/>
              </a:rPr>
              <a:t>Human decides</a:t>
            </a:r>
          </a:p>
        </p:txBody>
      </p:sp>
      <p:sp>
        <p:nvSpPr>
          <p:cNvPr id="12" name="TextBox 11"/>
          <p:cNvSpPr txBox="1"/>
          <p:nvPr/>
        </p:nvSpPr>
        <p:spPr>
          <a:xfrm>
            <a:off x="7040880" y="4160520"/>
            <a:ext cx="3566160" cy="1280160"/>
          </a:xfrm>
          <a:prstGeom prst="rect">
            <a:avLst/>
          </a:prstGeom>
          <a:noFill/>
        </p:spPr>
        <p:txBody>
          <a:bodyPr wrap="square" lIns="45720" tIns="27432" rIns="45720" bIns="27432" anchor="t">
            <a:spAutoFit/>
          </a:bodyPr>
          <a:lstStyle/>
          <a:p>
            <a:pPr algn="l"/>
            <a:r>
              <a:rPr sz="1400">
                <a:solidFill>
                  <a:srgbClr val="FFFFFF"/>
                </a:solidFill>
              </a:rPr>
              <a:t>Cancel an oncology appointment; anything clinical; anything a patient could read as advice</a:t>
            </a:r>
          </a:p>
        </p:txBody>
      </p:sp>
      <p:sp>
        <p:nvSpPr>
          <p:cNvPr id="13" name="Rounded Rectangle 12"/>
          <p:cNvSpPr/>
          <p:nvPr/>
        </p:nvSpPr>
        <p:spPr>
          <a:xfrm>
            <a:off x="2377440" y="5897879"/>
            <a:ext cx="4114800" cy="2743200"/>
          </a:xfrm>
          <a:prstGeom prst="roundRect">
            <a:avLst>
              <a:gd name="adj" fmla="val 9333"/>
            </a:avLst>
          </a:prstGeom>
          <a:solidFill>
            <a:srgbClr val="C4DEFD"/>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51760" y="6126479"/>
            <a:ext cx="3566160" cy="411480"/>
          </a:xfrm>
          <a:prstGeom prst="rect">
            <a:avLst/>
          </a:prstGeom>
          <a:noFill/>
        </p:spPr>
        <p:txBody>
          <a:bodyPr wrap="square" lIns="45720" tIns="27432" rIns="45720" bIns="27432" anchor="t">
            <a:spAutoFit/>
          </a:bodyPr>
          <a:lstStyle/>
          <a:p>
            <a:pPr algn="l"/>
            <a:r>
              <a:rPr sz="1300">
                <a:solidFill>
                  <a:srgbClr val="032954"/>
                </a:solidFill>
              </a:rPr>
              <a:t>Low impact · easy to undo</a:t>
            </a:r>
          </a:p>
        </p:txBody>
      </p:sp>
      <p:sp>
        <p:nvSpPr>
          <p:cNvPr id="15" name="TextBox 14"/>
          <p:cNvSpPr txBox="1"/>
          <p:nvPr/>
        </p:nvSpPr>
        <p:spPr>
          <a:xfrm>
            <a:off x="2651760" y="6537959"/>
            <a:ext cx="3566160" cy="548640"/>
          </a:xfrm>
          <a:prstGeom prst="rect">
            <a:avLst/>
          </a:prstGeom>
          <a:noFill/>
        </p:spPr>
        <p:txBody>
          <a:bodyPr wrap="square" lIns="45720" tIns="27432" rIns="45720" bIns="27432" anchor="t">
            <a:spAutoFit/>
          </a:bodyPr>
          <a:lstStyle/>
          <a:p>
            <a:pPr algn="l"/>
            <a:r>
              <a:rPr sz="2200">
                <a:solidFill>
                  <a:srgbClr val="032954"/>
                </a:solidFill>
                <a:latin typeface="+mj-lt"/>
              </a:rPr>
              <a:t>4 · Autonomous</a:t>
            </a:r>
          </a:p>
        </p:txBody>
      </p:sp>
      <p:sp>
        <p:nvSpPr>
          <p:cNvPr id="16" name="TextBox 15"/>
          <p:cNvSpPr txBox="1"/>
          <p:nvPr/>
        </p:nvSpPr>
        <p:spPr>
          <a:xfrm>
            <a:off x="2651760" y="7178040"/>
            <a:ext cx="3566160" cy="1280160"/>
          </a:xfrm>
          <a:prstGeom prst="rect">
            <a:avLst/>
          </a:prstGeom>
          <a:noFill/>
        </p:spPr>
        <p:txBody>
          <a:bodyPr wrap="square" lIns="45720" tIns="27432" rIns="45720" bIns="27432" anchor="t">
            <a:spAutoFit/>
          </a:bodyPr>
          <a:lstStyle/>
          <a:p>
            <a:pPr algn="l"/>
            <a:r>
              <a:rPr sz="1400">
                <a:solidFill>
                  <a:srgbClr val="032954"/>
                </a:solidFill>
              </a:rPr>
              <a:t>Send an approved reminder; rebook a routine follow-up with consent</a:t>
            </a:r>
          </a:p>
        </p:txBody>
      </p:sp>
      <p:sp>
        <p:nvSpPr>
          <p:cNvPr id="17" name="Rounded Rectangle 16"/>
          <p:cNvSpPr/>
          <p:nvPr/>
        </p:nvSpPr>
        <p:spPr>
          <a:xfrm>
            <a:off x="6766560" y="5897879"/>
            <a:ext cx="4114800" cy="2743200"/>
          </a:xfrm>
          <a:prstGeom prst="roundRect">
            <a:avLst>
              <a:gd name="adj" fmla="val 9333"/>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6126479"/>
            <a:ext cx="3566160" cy="411480"/>
          </a:xfrm>
          <a:prstGeom prst="rect">
            <a:avLst/>
          </a:prstGeom>
          <a:noFill/>
        </p:spPr>
        <p:txBody>
          <a:bodyPr wrap="square" lIns="45720" tIns="27432" rIns="45720" bIns="27432" anchor="t">
            <a:spAutoFit/>
          </a:bodyPr>
          <a:lstStyle/>
          <a:p>
            <a:pPr algn="l"/>
            <a:r>
              <a:rPr sz="1300">
                <a:solidFill>
                  <a:srgbClr val="FFFFFF"/>
                </a:solidFill>
              </a:rPr>
              <a:t>Low impact · hard to undo</a:t>
            </a:r>
          </a:p>
        </p:txBody>
      </p:sp>
      <p:sp>
        <p:nvSpPr>
          <p:cNvPr id="19" name="TextBox 18"/>
          <p:cNvSpPr txBox="1"/>
          <p:nvPr/>
        </p:nvSpPr>
        <p:spPr>
          <a:xfrm>
            <a:off x="7040880" y="6537959"/>
            <a:ext cx="3566160" cy="548640"/>
          </a:xfrm>
          <a:prstGeom prst="rect">
            <a:avLst/>
          </a:prstGeom>
          <a:noFill/>
        </p:spPr>
        <p:txBody>
          <a:bodyPr wrap="square" lIns="45720" tIns="27432" rIns="45720" bIns="27432" anchor="t">
            <a:spAutoFit/>
          </a:bodyPr>
          <a:lstStyle/>
          <a:p>
            <a:pPr algn="l"/>
            <a:r>
              <a:rPr sz="2200">
                <a:solidFill>
                  <a:srgbClr val="FFFFFF"/>
                </a:solidFill>
                <a:latin typeface="+mj-lt"/>
              </a:rPr>
              <a:t>3 · Supervise</a:t>
            </a:r>
          </a:p>
        </p:txBody>
      </p:sp>
      <p:sp>
        <p:nvSpPr>
          <p:cNvPr id="20" name="TextBox 19"/>
          <p:cNvSpPr txBox="1"/>
          <p:nvPr/>
        </p:nvSpPr>
        <p:spPr>
          <a:xfrm>
            <a:off x="7040880" y="7178040"/>
            <a:ext cx="3566160" cy="1280160"/>
          </a:xfrm>
          <a:prstGeom prst="rect">
            <a:avLst/>
          </a:prstGeom>
          <a:noFill/>
        </p:spPr>
        <p:txBody>
          <a:bodyPr wrap="square" lIns="45720" tIns="27432" rIns="45720" bIns="27432" anchor="t">
            <a:spAutoFit/>
          </a:bodyPr>
          <a:lstStyle/>
          <a:p>
            <a:pPr algn="l"/>
            <a:r>
              <a:rPr sz="1400">
                <a:solidFill>
                  <a:srgbClr val="FFFFFF"/>
                </a:solidFill>
              </a:rPr>
              <a:t>Offer a freed slot to the waiting list; send a confirmation</a:t>
            </a:r>
          </a:p>
        </p:txBody>
      </p:sp>
      <p:sp>
        <p:nvSpPr>
          <p:cNvPr id="21" name="TextBox 20"/>
          <p:cNvSpPr txBox="1"/>
          <p:nvPr/>
        </p:nvSpPr>
        <p:spPr>
          <a:xfrm rot="16200000">
            <a:off x="-685799" y="5257800"/>
            <a:ext cx="5760720" cy="1005840"/>
          </a:xfrm>
          <a:prstGeom prst="rect">
            <a:avLst/>
          </a:prstGeom>
          <a:noFill/>
        </p:spPr>
        <p:txBody>
          <a:bodyPr wrap="square" lIns="45720" tIns="27432" rIns="45720" bIns="27432" anchor="ctr">
            <a:spAutoFit/>
          </a:bodyPr>
          <a:lstStyle/>
          <a:p>
            <a:pPr algn="ctr"/>
            <a:r>
              <a:rPr sz="1400">
                <a:solidFill>
                  <a:srgbClr val="7E889A"/>
                </a:solidFill>
                <a:latin typeface="+mj-lt"/>
              </a:rPr>
              <a:t>Impact of a wrong action  →  higher</a:t>
            </a:r>
          </a:p>
        </p:txBody>
      </p:sp>
      <p:sp>
        <p:nvSpPr>
          <p:cNvPr id="22" name="TextBox 21"/>
          <p:cNvSpPr txBox="1"/>
          <p:nvPr/>
        </p:nvSpPr>
        <p:spPr>
          <a:xfrm>
            <a:off x="2377440" y="8732519"/>
            <a:ext cx="8503920" cy="457200"/>
          </a:xfrm>
          <a:prstGeom prst="rect">
            <a:avLst/>
          </a:prstGeom>
          <a:noFill/>
        </p:spPr>
        <p:txBody>
          <a:bodyPr wrap="square" lIns="45720" tIns="27432" rIns="45720" bIns="27432" anchor="t">
            <a:spAutoFit/>
          </a:bodyPr>
          <a:lstStyle/>
          <a:p>
            <a:pPr algn="ctr"/>
            <a:r>
              <a:rPr sz="1400">
                <a:solidFill>
                  <a:srgbClr val="7E889A"/>
                </a:solidFill>
                <a:latin typeface="+mj-lt"/>
              </a:rPr>
              <a:t>Harder to undo  →</a:t>
            </a:r>
          </a:p>
        </p:txBody>
      </p:sp>
      <p:sp>
        <p:nvSpPr>
          <p:cNvPr id="23" name="Rounded Rectangle 22"/>
          <p:cNvSpPr/>
          <p:nvPr/>
        </p:nvSpPr>
        <p:spPr>
          <a:xfrm>
            <a:off x="11612880" y="2880360"/>
            <a:ext cx="5413248" cy="5760720"/>
          </a:xfrm>
          <a:prstGeom prst="roundRect">
            <a:avLst>
              <a:gd name="adj" fmla="val 4729"/>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3816584" y="2377439"/>
            <a:ext cx="1005840" cy="10058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gauge_w.png"/>
          <p:cNvPicPr>
            <a:picLocks noChangeAspect="1"/>
          </p:cNvPicPr>
          <p:nvPr/>
        </p:nvPicPr>
        <p:blipFill>
          <a:blip r:embed="rId2"/>
          <a:stretch>
            <a:fillRect/>
          </a:stretch>
        </p:blipFill>
        <p:spPr>
          <a:xfrm>
            <a:off x="14057985" y="2618841"/>
            <a:ext cx="523036" cy="523036"/>
          </a:xfrm>
          <a:prstGeom prst="rect">
            <a:avLst/>
          </a:prstGeom>
        </p:spPr>
      </p:pic>
      <p:sp>
        <p:nvSpPr>
          <p:cNvPr id="26" name="TextBox 25"/>
          <p:cNvSpPr txBox="1"/>
          <p:nvPr/>
        </p:nvSpPr>
        <p:spPr>
          <a:xfrm>
            <a:off x="11887200" y="3611880"/>
            <a:ext cx="4864608" cy="548640"/>
          </a:xfrm>
          <a:prstGeom prst="rect">
            <a:avLst/>
          </a:prstGeom>
          <a:noFill/>
        </p:spPr>
        <p:txBody>
          <a:bodyPr wrap="square" lIns="45720" tIns="27432" rIns="45720" bIns="27432" anchor="t">
            <a:spAutoFit/>
          </a:bodyPr>
          <a:lstStyle/>
          <a:p>
            <a:pPr algn="ctr"/>
            <a:r>
              <a:rPr sz="2000">
                <a:solidFill>
                  <a:srgbClr val="262626"/>
                </a:solidFill>
                <a:latin typeface="+mj-lt"/>
              </a:rPr>
              <a:t>Plus one run-time factor</a:t>
            </a:r>
          </a:p>
        </p:txBody>
      </p:sp>
      <p:sp>
        <p:nvSpPr>
          <p:cNvPr id="27" name="TextBox 26"/>
          <p:cNvSpPr txBox="1"/>
          <p:nvPr/>
        </p:nvSpPr>
        <p:spPr>
          <a:xfrm>
            <a:off x="11978640" y="4297680"/>
            <a:ext cx="4681728" cy="4206240"/>
          </a:xfrm>
          <a:prstGeom prst="rect">
            <a:avLst/>
          </a:prstGeom>
          <a:noFill/>
        </p:spPr>
        <p:txBody>
          <a:bodyPr wrap="square" lIns="45720" tIns="27432" rIns="45720" bIns="27432" anchor="t">
            <a:spAutoFit/>
          </a:bodyPr>
          <a:lstStyle/>
          <a:p>
            <a:pPr algn="l"/>
            <a:r>
              <a:rPr sz="1500">
                <a:solidFill>
                  <a:srgbClr val="262626"/>
                </a:solidFill>
                <a:latin typeface="+mj-lt"/>
              </a:rPr>
              <a:t>Confidence.</a:t>
            </a:r>
            <a:r>
              <a:rPr sz="1500">
                <a:solidFill>
                  <a:srgbClr val="262626"/>
                </a:solidFill>
              </a:rPr>
              <a:t> When the agent is unsure (an unclear reply, a borderline risk score, a rule that almost applies), it steps down one level automatically and asks.</a:t>
            </a:r>
          </a:p>
          <a:p>
            <a:pPr algn="l">
              <a:spcBef>
                <a:spcPts val="1000"/>
              </a:spcBef>
            </a:pPr>
            <a:r>
              <a:rPr sz="1500">
                <a:solidFill>
                  <a:srgbClr val="0766D1"/>
                </a:solidFill>
                <a:latin typeface="+mj-lt"/>
              </a:rPr>
              <a:t>The level is a ceiling, not a target.</a:t>
            </a:r>
          </a:p>
          <a:p>
            <a:pPr algn="l">
              <a:spcBef>
                <a:spcPts val="1000"/>
              </a:spcBef>
            </a:pPr>
            <a:r>
              <a:rPr sz="1500">
                <a:solidFill>
                  <a:srgbClr val="262626"/>
                </a:solidFill>
              </a:rPr>
              <a:t>Decide the level per action, write it down, and review it in the weekly log review.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Autonomy is earned, not granted</a:t>
            </a:r>
          </a:p>
        </p:txBody>
      </p:sp>
      <p:sp>
        <p:nvSpPr>
          <p:cNvPr id="3" name="Text Placeholder 2"/>
          <p:cNvSpPr>
            <a:spLocks noGrp="1"/>
          </p:cNvSpPr>
          <p:nvPr>
            <p:ph type="body" idx="10" sz="quarter"/>
          </p:nvPr>
        </p:nvSpPr>
        <p:spPr/>
        <p:txBody>
          <a:bodyPr/>
          <a:lstStyle/>
          <a:p>
            <a:r>
              <a:rPr sz="3000"/>
              <a:t>Run the same agent in stricter modes first, and loosen it as the evidence comes in</a:t>
            </a:r>
          </a:p>
        </p:txBody>
      </p:sp>
      <p:sp>
        <p:nvSpPr>
          <p:cNvPr id="5" name="Rounded Rectangle 4"/>
          <p:cNvSpPr/>
          <p:nvPr/>
        </p:nvSpPr>
        <p:spPr>
          <a:xfrm>
            <a:off x="1252728" y="6309360"/>
            <a:ext cx="3771900" cy="1965960"/>
          </a:xfrm>
          <a:prstGeom prst="roundRect">
            <a:avLst>
              <a:gd name="adj" fmla="val 9302"/>
            </a:avLst>
          </a:prstGeom>
          <a:solidFill>
            <a:srgbClr val="C4DEFD"/>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27048" y="6492240"/>
            <a:ext cx="3223260" cy="502920"/>
          </a:xfrm>
          <a:prstGeom prst="rect">
            <a:avLst/>
          </a:prstGeom>
          <a:noFill/>
        </p:spPr>
        <p:txBody>
          <a:bodyPr wrap="square" lIns="45720" tIns="27432" rIns="45720" bIns="27432" anchor="t">
            <a:spAutoFit/>
          </a:bodyPr>
          <a:lstStyle/>
          <a:p>
            <a:pPr algn="l"/>
            <a:r>
              <a:rPr sz="2200">
                <a:solidFill>
                  <a:srgbClr val="032954"/>
                </a:solidFill>
                <a:latin typeface="+mj-lt"/>
              </a:rPr>
              <a:t>Shadow</a:t>
            </a:r>
          </a:p>
        </p:txBody>
      </p:sp>
      <p:sp>
        <p:nvSpPr>
          <p:cNvPr id="7" name="TextBox 6"/>
          <p:cNvSpPr txBox="1"/>
          <p:nvPr/>
        </p:nvSpPr>
        <p:spPr>
          <a:xfrm>
            <a:off x="1527048" y="7040880"/>
            <a:ext cx="3223260" cy="1143000"/>
          </a:xfrm>
          <a:prstGeom prst="rect">
            <a:avLst/>
          </a:prstGeom>
          <a:noFill/>
        </p:spPr>
        <p:txBody>
          <a:bodyPr wrap="square" lIns="45720" tIns="27432" rIns="45720" bIns="27432" anchor="t">
            <a:spAutoFit/>
          </a:bodyPr>
          <a:lstStyle/>
          <a:p>
            <a:pPr algn="l"/>
            <a:r>
              <a:rPr sz="1400">
                <a:solidFill>
                  <a:srgbClr val="032954"/>
                </a:solidFill>
              </a:rPr>
              <a:t>Agent proposes; nobody acts on it. Measure how often it was right.</a:t>
            </a:r>
          </a:p>
        </p:txBody>
      </p:sp>
      <p:sp>
        <p:nvSpPr>
          <p:cNvPr id="8" name="TextBox 7"/>
          <p:cNvSpPr txBox="1"/>
          <p:nvPr/>
        </p:nvSpPr>
        <p:spPr>
          <a:xfrm>
            <a:off x="1344168" y="5074920"/>
            <a:ext cx="3589020" cy="1143000"/>
          </a:xfrm>
          <a:prstGeom prst="rect">
            <a:avLst/>
          </a:prstGeom>
          <a:noFill/>
        </p:spPr>
        <p:txBody>
          <a:bodyPr wrap="square" lIns="45720" tIns="27432" rIns="45720" bIns="27432" anchor="b">
            <a:spAutoFit/>
          </a:bodyPr>
          <a:lstStyle/>
          <a:p>
            <a:pPr algn="l"/>
            <a:r>
              <a:rPr sz="1300">
                <a:solidFill>
                  <a:srgbClr val="0766D1"/>
                </a:solidFill>
                <a:latin typeface="+mj-lt"/>
              </a:rPr>
              <a:t>Move up when</a:t>
            </a:r>
          </a:p>
          <a:p>
            <a:pPr algn="l"/>
            <a:r>
              <a:rPr sz="1300">
                <a:solidFill>
                  <a:srgbClr val="262626"/>
                </a:solidFill>
              </a:rPr>
              <a:t>Accuracy on real cases for 2–4 weeks</a:t>
            </a:r>
          </a:p>
        </p:txBody>
      </p:sp>
      <p:sp>
        <p:nvSpPr>
          <p:cNvPr id="9" name="Chevron 8"/>
          <p:cNvSpPr/>
          <p:nvPr/>
        </p:nvSpPr>
        <p:spPr>
          <a:xfrm rot="18900000">
            <a:off x="4914900" y="5440680"/>
            <a:ext cx="457200" cy="38404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53228" y="5394960"/>
            <a:ext cx="3771900" cy="2880360"/>
          </a:xfrm>
          <a:prstGeom prst="roundRect">
            <a:avLst>
              <a:gd name="adj" fmla="val 6349"/>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27548" y="5577840"/>
            <a:ext cx="3223260" cy="502920"/>
          </a:xfrm>
          <a:prstGeom prst="rect">
            <a:avLst/>
          </a:prstGeom>
          <a:noFill/>
        </p:spPr>
        <p:txBody>
          <a:bodyPr wrap="square" lIns="45720" tIns="27432" rIns="45720" bIns="27432" anchor="t">
            <a:spAutoFit/>
          </a:bodyPr>
          <a:lstStyle/>
          <a:p>
            <a:pPr algn="l"/>
            <a:r>
              <a:rPr sz="2200">
                <a:solidFill>
                  <a:srgbClr val="FFFFFF"/>
                </a:solidFill>
                <a:latin typeface="+mj-lt"/>
              </a:rPr>
              <a:t>Approve</a:t>
            </a:r>
          </a:p>
        </p:txBody>
      </p:sp>
      <p:sp>
        <p:nvSpPr>
          <p:cNvPr id="12" name="TextBox 11"/>
          <p:cNvSpPr txBox="1"/>
          <p:nvPr/>
        </p:nvSpPr>
        <p:spPr>
          <a:xfrm>
            <a:off x="5527548" y="6126480"/>
            <a:ext cx="3223260" cy="2057400"/>
          </a:xfrm>
          <a:prstGeom prst="rect">
            <a:avLst/>
          </a:prstGeom>
          <a:noFill/>
        </p:spPr>
        <p:txBody>
          <a:bodyPr wrap="square" lIns="45720" tIns="27432" rIns="45720" bIns="27432" anchor="t">
            <a:spAutoFit/>
          </a:bodyPr>
          <a:lstStyle/>
          <a:p>
            <a:pPr algn="l"/>
            <a:r>
              <a:rPr sz="1400">
                <a:solidFill>
                  <a:srgbClr val="FFFFFF"/>
                </a:solidFill>
              </a:rPr>
              <a:t>Every action goes through a person.</a:t>
            </a:r>
          </a:p>
        </p:txBody>
      </p:sp>
      <p:sp>
        <p:nvSpPr>
          <p:cNvPr id="13" name="TextBox 12"/>
          <p:cNvSpPr txBox="1"/>
          <p:nvPr/>
        </p:nvSpPr>
        <p:spPr>
          <a:xfrm>
            <a:off x="5344668" y="4160520"/>
            <a:ext cx="3589020" cy="1143000"/>
          </a:xfrm>
          <a:prstGeom prst="rect">
            <a:avLst/>
          </a:prstGeom>
          <a:noFill/>
        </p:spPr>
        <p:txBody>
          <a:bodyPr wrap="square" lIns="45720" tIns="27432" rIns="45720" bIns="27432" anchor="b">
            <a:spAutoFit/>
          </a:bodyPr>
          <a:lstStyle/>
          <a:p>
            <a:pPr algn="l"/>
            <a:r>
              <a:rPr sz="1300">
                <a:solidFill>
                  <a:srgbClr val="0766D1"/>
                </a:solidFill>
                <a:latin typeface="+mj-lt"/>
              </a:rPr>
              <a:t>Move up when</a:t>
            </a:r>
          </a:p>
          <a:p>
            <a:pPr algn="l"/>
            <a:r>
              <a:rPr sz="1300">
                <a:solidFill>
                  <a:srgbClr val="262626"/>
                </a:solidFill>
              </a:rPr>
              <a:t>Approval rate above target, no rule breaches</a:t>
            </a:r>
          </a:p>
        </p:txBody>
      </p:sp>
      <p:sp>
        <p:nvSpPr>
          <p:cNvPr id="14" name="Chevron 13"/>
          <p:cNvSpPr/>
          <p:nvPr/>
        </p:nvSpPr>
        <p:spPr>
          <a:xfrm rot="18900000">
            <a:off x="8915400" y="4526280"/>
            <a:ext cx="457200" cy="38404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253728" y="4480560"/>
            <a:ext cx="3771900" cy="3794760"/>
          </a:xfrm>
          <a:prstGeom prst="roundRect">
            <a:avLst>
              <a:gd name="adj" fmla="val 4848"/>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28048" y="4663440"/>
            <a:ext cx="3223260" cy="502920"/>
          </a:xfrm>
          <a:prstGeom prst="rect">
            <a:avLst/>
          </a:prstGeom>
          <a:noFill/>
        </p:spPr>
        <p:txBody>
          <a:bodyPr wrap="square" lIns="45720" tIns="27432" rIns="45720" bIns="27432" anchor="t">
            <a:spAutoFit/>
          </a:bodyPr>
          <a:lstStyle/>
          <a:p>
            <a:pPr algn="l"/>
            <a:r>
              <a:rPr sz="2200">
                <a:solidFill>
                  <a:srgbClr val="FFFFFF"/>
                </a:solidFill>
                <a:latin typeface="+mj-lt"/>
              </a:rPr>
              <a:t>Supervise</a:t>
            </a:r>
          </a:p>
        </p:txBody>
      </p:sp>
      <p:sp>
        <p:nvSpPr>
          <p:cNvPr id="17" name="TextBox 16"/>
          <p:cNvSpPr txBox="1"/>
          <p:nvPr/>
        </p:nvSpPr>
        <p:spPr>
          <a:xfrm>
            <a:off x="9528048" y="5212080"/>
            <a:ext cx="3223260" cy="2971800"/>
          </a:xfrm>
          <a:prstGeom prst="rect">
            <a:avLst/>
          </a:prstGeom>
          <a:noFill/>
        </p:spPr>
        <p:txBody>
          <a:bodyPr wrap="square" lIns="45720" tIns="27432" rIns="45720" bIns="27432" anchor="t">
            <a:spAutoFit/>
          </a:bodyPr>
          <a:lstStyle/>
          <a:p>
            <a:pPr algn="l"/>
            <a:r>
              <a:rPr sz="1400">
                <a:solidFill>
                  <a:srgbClr val="FFFFFF"/>
                </a:solidFill>
              </a:rPr>
              <a:t>Agent acts; people handle exceptions.</a:t>
            </a:r>
          </a:p>
        </p:txBody>
      </p:sp>
      <p:sp>
        <p:nvSpPr>
          <p:cNvPr id="18" name="TextBox 17"/>
          <p:cNvSpPr txBox="1"/>
          <p:nvPr/>
        </p:nvSpPr>
        <p:spPr>
          <a:xfrm>
            <a:off x="9345168" y="3246120"/>
            <a:ext cx="3589020" cy="1143000"/>
          </a:xfrm>
          <a:prstGeom prst="rect">
            <a:avLst/>
          </a:prstGeom>
          <a:noFill/>
        </p:spPr>
        <p:txBody>
          <a:bodyPr wrap="square" lIns="45720" tIns="27432" rIns="45720" bIns="27432" anchor="b">
            <a:spAutoFit/>
          </a:bodyPr>
          <a:lstStyle/>
          <a:p>
            <a:pPr algn="l"/>
            <a:r>
              <a:rPr sz="1300">
                <a:solidFill>
                  <a:srgbClr val="0766D1"/>
                </a:solidFill>
                <a:latin typeface="+mj-lt"/>
              </a:rPr>
              <a:t>Move up when</a:t>
            </a:r>
          </a:p>
          <a:p>
            <a:pPr algn="l"/>
            <a:r>
              <a:rPr sz="1300">
                <a:solidFill>
                  <a:srgbClr val="262626"/>
                </a:solidFill>
              </a:rPr>
              <a:t>Exception rate falling, outcomes stable</a:t>
            </a:r>
          </a:p>
        </p:txBody>
      </p:sp>
      <p:sp>
        <p:nvSpPr>
          <p:cNvPr id="19" name="Chevron 18"/>
          <p:cNvSpPr/>
          <p:nvPr/>
        </p:nvSpPr>
        <p:spPr>
          <a:xfrm rot="18900000">
            <a:off x="12915900" y="3611880"/>
            <a:ext cx="457200" cy="38404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254228" y="3566160"/>
            <a:ext cx="3771900" cy="4709160"/>
          </a:xfrm>
          <a:prstGeom prst="roundRect">
            <a:avLst>
              <a:gd name="adj" fmla="val 4848"/>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528548" y="3749040"/>
            <a:ext cx="3223260" cy="502920"/>
          </a:xfrm>
          <a:prstGeom prst="rect">
            <a:avLst/>
          </a:prstGeom>
          <a:noFill/>
        </p:spPr>
        <p:txBody>
          <a:bodyPr wrap="square" lIns="45720" tIns="27432" rIns="45720" bIns="27432" anchor="t">
            <a:spAutoFit/>
          </a:bodyPr>
          <a:lstStyle/>
          <a:p>
            <a:pPr algn="l"/>
            <a:r>
              <a:rPr sz="2200">
                <a:solidFill>
                  <a:srgbClr val="FFFFFF"/>
                </a:solidFill>
                <a:latin typeface="+mj-lt"/>
              </a:rPr>
              <a:t>Autonomous</a:t>
            </a:r>
          </a:p>
        </p:txBody>
      </p:sp>
      <p:sp>
        <p:nvSpPr>
          <p:cNvPr id="22" name="TextBox 21"/>
          <p:cNvSpPr txBox="1"/>
          <p:nvPr/>
        </p:nvSpPr>
        <p:spPr>
          <a:xfrm>
            <a:off x="13528548" y="4297680"/>
            <a:ext cx="3223260" cy="3886200"/>
          </a:xfrm>
          <a:prstGeom prst="rect">
            <a:avLst/>
          </a:prstGeom>
          <a:noFill/>
        </p:spPr>
        <p:txBody>
          <a:bodyPr wrap="square" lIns="45720" tIns="27432" rIns="45720" bIns="27432" anchor="t">
            <a:spAutoFit/>
          </a:bodyPr>
          <a:lstStyle/>
          <a:p>
            <a:pPr algn="l"/>
            <a:r>
              <a:rPr sz="1400">
                <a:solidFill>
                  <a:srgbClr val="FFFFFF"/>
                </a:solidFill>
              </a:rPr>
              <a:t>Agent acts within hard boundaries; people audit.</a:t>
            </a:r>
          </a:p>
        </p:txBody>
      </p:sp>
      <p:sp>
        <p:nvSpPr>
          <p:cNvPr id="23" name="TextBox 22"/>
          <p:cNvSpPr txBox="1"/>
          <p:nvPr/>
        </p:nvSpPr>
        <p:spPr>
          <a:xfrm>
            <a:off x="13345668" y="2331720"/>
            <a:ext cx="3589020" cy="1143000"/>
          </a:xfrm>
          <a:prstGeom prst="rect">
            <a:avLst/>
          </a:prstGeom>
          <a:noFill/>
        </p:spPr>
        <p:txBody>
          <a:bodyPr wrap="square" lIns="45720" tIns="27432" rIns="45720" bIns="27432" anchor="b">
            <a:spAutoFit/>
          </a:bodyPr>
          <a:lstStyle/>
          <a:p>
            <a:pPr algn="l"/>
            <a:r>
              <a:rPr sz="1300">
                <a:solidFill>
                  <a:srgbClr val="0766D1"/>
                </a:solidFill>
                <a:latin typeface="+mj-lt"/>
              </a:rPr>
              <a:t>Stay only while</a:t>
            </a:r>
          </a:p>
          <a:p>
            <a:pPr algn="l"/>
            <a:r>
              <a:rPr sz="1300">
                <a:solidFill>
                  <a:srgbClr val="262626"/>
                </a:solidFill>
              </a:rPr>
              <a:t>Ongoing audits, unchanged boundaries</a:t>
            </a:r>
          </a:p>
        </p:txBody>
      </p:sp>
      <p:sp>
        <p:nvSpPr>
          <p:cNvPr id="24" name="TextBox 23"/>
          <p:cNvSpPr txBox="1"/>
          <p:nvPr/>
        </p:nvSpPr>
        <p:spPr>
          <a:xfrm>
            <a:off x="1252728" y="2697480"/>
            <a:ext cx="7863840" cy="2011680"/>
          </a:xfrm>
          <a:prstGeom prst="rect">
            <a:avLst/>
          </a:prstGeom>
          <a:noFill/>
        </p:spPr>
        <p:txBody>
          <a:bodyPr wrap="square" lIns="45720" tIns="27432" rIns="45720" bIns="27432" anchor="t">
            <a:spAutoFit/>
          </a:bodyPr>
          <a:lstStyle/>
          <a:p>
            <a:pPr algn="l"/>
            <a:r>
              <a:rPr sz="1800">
                <a:solidFill>
                  <a:srgbClr val="262626"/>
                </a:solidFill>
              </a:rPr>
              <a:t>The No-Show Agent goes live in </a:t>
            </a:r>
            <a:r>
              <a:rPr sz="1800">
                <a:solidFill>
                  <a:srgbClr val="262626"/>
                </a:solidFill>
                <a:latin typeface="+mj-lt"/>
              </a:rPr>
              <a:t>Shadow</a:t>
            </a:r>
            <a:r>
              <a:rPr sz="1800">
                <a:solidFill>
                  <a:srgbClr val="262626"/>
                </a:solidFill>
              </a:rPr>
              <a:t> mode.</a:t>
            </a:r>
          </a:p>
          <a:p>
            <a:pPr algn="l">
              <a:spcBef>
                <a:spcPts val="600"/>
              </a:spcBef>
            </a:pPr>
            <a:r>
              <a:rPr sz="1500">
                <a:solidFill>
                  <a:srgbClr val="7E889A"/>
                </a:solidFill>
              </a:rPr>
              <a:t>Each step to the right is unlocked by evidence from the previous one, not by a calendar. Different clinics can run the same agent at different steps.</a:t>
            </a:r>
          </a:p>
        </p:txBody>
      </p:sp>
      <p:sp>
        <p:nvSpPr>
          <p:cNvPr id="25" name="Rounded Rectangle 24"/>
          <p:cNvSpPr/>
          <p:nvPr/>
        </p:nvSpPr>
        <p:spPr>
          <a:xfrm>
            <a:off x="1252728" y="8595360"/>
            <a:ext cx="15773400" cy="777240"/>
          </a:xfrm>
          <a:prstGeom prst="roundRect">
            <a:avLst>
              <a:gd name="adj" fmla="val 25882"/>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liders_n.png"/>
          <p:cNvPicPr>
            <a:picLocks noChangeAspect="1"/>
          </p:cNvPicPr>
          <p:nvPr/>
        </p:nvPicPr>
        <p:blipFill>
          <a:blip r:embed="rId2"/>
          <a:stretch>
            <a:fillRect/>
          </a:stretch>
        </p:blipFill>
        <p:spPr>
          <a:xfrm>
            <a:off x="1572768" y="8778240"/>
            <a:ext cx="411479" cy="411479"/>
          </a:xfrm>
          <a:prstGeom prst="rect">
            <a:avLst/>
          </a:prstGeom>
        </p:spPr>
      </p:pic>
      <p:sp>
        <p:nvSpPr>
          <p:cNvPr id="27" name="TextBox 26"/>
          <p:cNvSpPr txBox="1"/>
          <p:nvPr/>
        </p:nvSpPr>
        <p:spPr>
          <a:xfrm>
            <a:off x="2258568" y="8705088"/>
            <a:ext cx="14493239" cy="557784"/>
          </a:xfrm>
          <a:prstGeom prst="rect">
            <a:avLst/>
          </a:prstGeom>
          <a:noFill/>
        </p:spPr>
        <p:txBody>
          <a:bodyPr wrap="square" lIns="45720" tIns="27432" rIns="45720" bIns="27432" anchor="ctr">
            <a:spAutoFit/>
          </a:bodyPr>
          <a:lstStyle/>
          <a:p>
            <a:pPr algn="l"/>
            <a:r>
              <a:rPr sz="1600">
                <a:solidFill>
                  <a:srgbClr val="032954"/>
                </a:solidFill>
              </a:rPr>
              <a:t>You can always step down a level. That is a switch, not a project.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000"/>
              <a:t>Boundaries and escalation</a:t>
            </a:r>
          </a:p>
        </p:txBody>
      </p:sp>
      <p:sp>
        <p:nvSpPr>
          <p:cNvPr id="3" name="Text Placeholder 2"/>
          <p:cNvSpPr>
            <a:spLocks noGrp="1"/>
          </p:cNvSpPr>
          <p:nvPr>
            <p:ph type="body" idx="10" sz="quarter"/>
          </p:nvPr>
        </p:nvSpPr>
        <p:spPr/>
        <p:txBody>
          <a:bodyPr/>
          <a:lstStyle/>
          <a:p>
            <a:r>
              <a:rPr sz="3600"/>
              <a:t>Designing the fence, and the door out</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ence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Boundaries: the agent's job description</a:t>
            </a:r>
          </a:p>
        </p:txBody>
      </p:sp>
      <p:sp>
        <p:nvSpPr>
          <p:cNvPr id="3" name="Text Placeholder 2"/>
          <p:cNvSpPr>
            <a:spLocks noGrp="1"/>
          </p:cNvSpPr>
          <p:nvPr>
            <p:ph type="body" idx="10" sz="quarter"/>
          </p:nvPr>
        </p:nvSpPr>
        <p:spPr/>
        <p:txBody>
          <a:bodyPr/>
          <a:lstStyle/>
          <a:p>
            <a:r>
              <a:rPr sz="3000"/>
              <a:t>Four kinds of limits, written down before the agent goes live</a:t>
            </a:r>
          </a:p>
        </p:txBody>
      </p:sp>
      <p:sp>
        <p:nvSpPr>
          <p:cNvPr id="5" name="Rounded Rectangle 4"/>
          <p:cNvSpPr/>
          <p:nvPr/>
        </p:nvSpPr>
        <p:spPr>
          <a:xfrm>
            <a:off x="1252728" y="315468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584323" y="2651760"/>
            <a:ext cx="1005840" cy="10058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yers_w.png"/>
          <p:cNvPicPr>
            <a:picLocks noChangeAspect="1"/>
          </p:cNvPicPr>
          <p:nvPr/>
        </p:nvPicPr>
        <p:blipFill>
          <a:blip r:embed="rId2"/>
          <a:stretch>
            <a:fillRect/>
          </a:stretch>
        </p:blipFill>
        <p:spPr>
          <a:xfrm>
            <a:off x="2825724" y="2893161"/>
            <a:ext cx="523036" cy="523036"/>
          </a:xfrm>
          <a:prstGeom prst="rect">
            <a:avLst/>
          </a:prstGeom>
        </p:spPr>
      </p:pic>
      <p:sp>
        <p:nvSpPr>
          <p:cNvPr id="8" name="TextBox 7"/>
          <p:cNvSpPr txBox="1"/>
          <p:nvPr/>
        </p:nvSpPr>
        <p:spPr>
          <a:xfrm>
            <a:off x="1527048" y="3886200"/>
            <a:ext cx="3120390" cy="548640"/>
          </a:xfrm>
          <a:prstGeom prst="rect">
            <a:avLst/>
          </a:prstGeom>
          <a:noFill/>
        </p:spPr>
        <p:txBody>
          <a:bodyPr wrap="square" lIns="45720" tIns="27432" rIns="45720" bIns="27432" anchor="t">
            <a:spAutoFit/>
          </a:bodyPr>
          <a:lstStyle/>
          <a:p>
            <a:pPr algn="ctr"/>
            <a:r>
              <a:rPr sz="2200">
                <a:solidFill>
                  <a:srgbClr val="262626"/>
                </a:solidFill>
                <a:latin typeface="+mj-lt"/>
              </a:rPr>
              <a:t>Scope</a:t>
            </a:r>
          </a:p>
        </p:txBody>
      </p:sp>
      <p:sp>
        <p:nvSpPr>
          <p:cNvPr id="9" name="TextBox 8"/>
          <p:cNvSpPr txBox="1"/>
          <p:nvPr/>
        </p:nvSpPr>
        <p:spPr>
          <a:xfrm>
            <a:off x="1527048" y="4434840"/>
            <a:ext cx="3120390" cy="731520"/>
          </a:xfrm>
          <a:prstGeom prst="rect">
            <a:avLst/>
          </a:prstGeom>
          <a:noFill/>
        </p:spPr>
        <p:txBody>
          <a:bodyPr wrap="square" lIns="45720" tIns="27432" rIns="45720" bIns="27432" anchor="t">
            <a:spAutoFit/>
          </a:bodyPr>
          <a:lstStyle/>
          <a:p>
            <a:pPr algn="ctr"/>
            <a:r>
              <a:rPr sz="1400">
                <a:solidFill>
                  <a:srgbClr val="7E889A"/>
                </a:solidFill>
              </a:rPr>
              <a:t>Which tasks, which patients, which clinics</a:t>
            </a:r>
          </a:p>
        </p:txBody>
      </p:sp>
      <p:sp>
        <p:nvSpPr>
          <p:cNvPr id="10" name="TextBox 9"/>
          <p:cNvSpPr txBox="1"/>
          <p:nvPr/>
        </p:nvSpPr>
        <p:spPr>
          <a:xfrm>
            <a:off x="1481328" y="5303520"/>
            <a:ext cx="3211830" cy="365760"/>
          </a:xfrm>
          <a:prstGeom prst="rect">
            <a:avLst/>
          </a:prstGeom>
          <a:noFill/>
        </p:spPr>
        <p:txBody>
          <a:bodyPr wrap="square" lIns="45720" tIns="27432" rIns="45720" bIns="27432" anchor="t">
            <a:spAutoFit/>
          </a:bodyPr>
          <a:lstStyle/>
          <a:p>
            <a:pPr algn="l"/>
            <a:r>
              <a:rPr sz="1300">
                <a:solidFill>
                  <a:srgbClr val="0766D1"/>
                </a:solidFill>
                <a:latin typeface="+mj-lt"/>
              </a:rPr>
              <a:t>No-Show Agent</a:t>
            </a:r>
          </a:p>
        </p:txBody>
      </p:sp>
      <p:sp>
        <p:nvSpPr>
          <p:cNvPr id="11" name="TextBox 10"/>
          <p:cNvSpPr txBox="1"/>
          <p:nvPr/>
        </p:nvSpPr>
        <p:spPr>
          <a:xfrm>
            <a:off x="1572768" y="5715000"/>
            <a:ext cx="3120390" cy="338328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500">
                <a:solidFill>
                  <a:srgbClr val="262626"/>
                </a:solidFill>
              </a:rPr>
              <a:t>Outpatient follow-ups in three clinics</a:t>
            </a:r>
          </a:p>
          <a:p>
            <a:pPr algn="l" marL="237744" indent="-237744">
              <a:spcAft>
                <a:spcPts val="800"/>
              </a:spcAft>
              <a:buClr>
                <a:srgbClr val="0766D1"/>
              </a:buClr>
              <a:buFont typeface="Arial"/>
              <a:buChar char="•"/>
            </a:pPr>
            <a:r>
              <a:rPr sz="1500">
                <a:solidFill>
                  <a:srgbClr val="262626"/>
                </a:solidFill>
              </a:rPr>
              <a:t>Not oncology, not paediatrics</a:t>
            </a:r>
          </a:p>
          <a:p>
            <a:pPr algn="l" marL="237744" indent="-237744">
              <a:spcAft>
                <a:spcPts val="800"/>
              </a:spcAft>
              <a:buClr>
                <a:srgbClr val="0766D1"/>
              </a:buClr>
              <a:buFont typeface="Arial"/>
              <a:buChar char="•"/>
            </a:pPr>
            <a:r>
              <a:rPr sz="1500">
                <a:solidFill>
                  <a:srgbClr val="262626"/>
                </a:solidFill>
              </a:rPr>
              <a:t>Logistics only, never clinical content</a:t>
            </a:r>
          </a:p>
        </p:txBody>
      </p:sp>
      <p:sp>
        <p:nvSpPr>
          <p:cNvPr id="12" name="Rounded Rectangle 11"/>
          <p:cNvSpPr/>
          <p:nvPr/>
        </p:nvSpPr>
        <p:spPr>
          <a:xfrm>
            <a:off x="5287518" y="315468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19113" y="2651760"/>
            <a:ext cx="1005840" cy="10058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key_w.png"/>
          <p:cNvPicPr>
            <a:picLocks noChangeAspect="1"/>
          </p:cNvPicPr>
          <p:nvPr/>
        </p:nvPicPr>
        <p:blipFill>
          <a:blip r:embed="rId3"/>
          <a:stretch>
            <a:fillRect/>
          </a:stretch>
        </p:blipFill>
        <p:spPr>
          <a:xfrm>
            <a:off x="6860514" y="2893161"/>
            <a:ext cx="523036" cy="523036"/>
          </a:xfrm>
          <a:prstGeom prst="rect">
            <a:avLst/>
          </a:prstGeom>
        </p:spPr>
      </p:pic>
      <p:sp>
        <p:nvSpPr>
          <p:cNvPr id="15" name="TextBox 14"/>
          <p:cNvSpPr txBox="1"/>
          <p:nvPr/>
        </p:nvSpPr>
        <p:spPr>
          <a:xfrm>
            <a:off x="5561838" y="3886200"/>
            <a:ext cx="3120390" cy="548640"/>
          </a:xfrm>
          <a:prstGeom prst="rect">
            <a:avLst/>
          </a:prstGeom>
          <a:noFill/>
        </p:spPr>
        <p:txBody>
          <a:bodyPr wrap="square" lIns="45720" tIns="27432" rIns="45720" bIns="27432" anchor="t">
            <a:spAutoFit/>
          </a:bodyPr>
          <a:lstStyle/>
          <a:p>
            <a:pPr algn="ctr"/>
            <a:r>
              <a:rPr sz="2200">
                <a:solidFill>
                  <a:srgbClr val="262626"/>
                </a:solidFill>
                <a:latin typeface="+mj-lt"/>
              </a:rPr>
              <a:t>Permissions</a:t>
            </a:r>
          </a:p>
        </p:txBody>
      </p:sp>
      <p:sp>
        <p:nvSpPr>
          <p:cNvPr id="16" name="TextBox 15"/>
          <p:cNvSpPr txBox="1"/>
          <p:nvPr/>
        </p:nvSpPr>
        <p:spPr>
          <a:xfrm>
            <a:off x="5561838" y="4434840"/>
            <a:ext cx="3120390" cy="731520"/>
          </a:xfrm>
          <a:prstGeom prst="rect">
            <a:avLst/>
          </a:prstGeom>
          <a:noFill/>
        </p:spPr>
        <p:txBody>
          <a:bodyPr wrap="square" lIns="45720" tIns="27432" rIns="45720" bIns="27432" anchor="t">
            <a:spAutoFit/>
          </a:bodyPr>
          <a:lstStyle/>
          <a:p>
            <a:pPr algn="ctr"/>
            <a:r>
              <a:rPr sz="1400">
                <a:solidFill>
                  <a:srgbClr val="7E889A"/>
                </a:solidFill>
              </a:rPr>
              <a:t>Which tools and data, read or write</a:t>
            </a:r>
          </a:p>
        </p:txBody>
      </p:sp>
      <p:sp>
        <p:nvSpPr>
          <p:cNvPr id="17" name="TextBox 16"/>
          <p:cNvSpPr txBox="1"/>
          <p:nvPr/>
        </p:nvSpPr>
        <p:spPr>
          <a:xfrm>
            <a:off x="5516118" y="5303520"/>
            <a:ext cx="3211830" cy="365760"/>
          </a:xfrm>
          <a:prstGeom prst="rect">
            <a:avLst/>
          </a:prstGeom>
          <a:noFill/>
        </p:spPr>
        <p:txBody>
          <a:bodyPr wrap="square" lIns="45720" tIns="27432" rIns="45720" bIns="27432" anchor="t">
            <a:spAutoFit/>
          </a:bodyPr>
          <a:lstStyle/>
          <a:p>
            <a:pPr algn="l"/>
            <a:r>
              <a:rPr sz="1300">
                <a:solidFill>
                  <a:srgbClr val="0766D1"/>
                </a:solidFill>
                <a:latin typeface="+mj-lt"/>
              </a:rPr>
              <a:t>No-Show Agent</a:t>
            </a:r>
          </a:p>
        </p:txBody>
      </p:sp>
      <p:sp>
        <p:nvSpPr>
          <p:cNvPr id="18" name="TextBox 17"/>
          <p:cNvSpPr txBox="1"/>
          <p:nvPr/>
        </p:nvSpPr>
        <p:spPr>
          <a:xfrm>
            <a:off x="5607558" y="5715000"/>
            <a:ext cx="3120390" cy="338328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500">
                <a:solidFill>
                  <a:srgbClr val="262626"/>
                </a:solidFill>
              </a:rPr>
              <a:t>Read appointments and contact details</a:t>
            </a:r>
          </a:p>
          <a:p>
            <a:pPr algn="l" marL="237744" indent="-237744">
              <a:spcAft>
                <a:spcPts val="800"/>
              </a:spcAft>
              <a:buClr>
                <a:srgbClr val="0766D1"/>
              </a:buClr>
              <a:buFont typeface="Arial"/>
              <a:buChar char="•"/>
            </a:pPr>
            <a:r>
              <a:rPr sz="1500">
                <a:solidFill>
                  <a:srgbClr val="262626"/>
                </a:solidFill>
              </a:rPr>
              <a:t>Write bookings, within policy</a:t>
            </a:r>
          </a:p>
          <a:p>
            <a:pPr algn="l" marL="237744" indent="-237744">
              <a:spcAft>
                <a:spcPts val="800"/>
              </a:spcAft>
              <a:buClr>
                <a:srgbClr val="0766D1"/>
              </a:buClr>
              <a:buFont typeface="Arial"/>
              <a:buChar char="•"/>
            </a:pPr>
            <a:r>
              <a:rPr sz="1500">
                <a:solidFill>
                  <a:srgbClr val="262626"/>
                </a:solidFill>
              </a:rPr>
              <a:t>No access to clinical notes or results</a:t>
            </a:r>
          </a:p>
        </p:txBody>
      </p:sp>
      <p:sp>
        <p:nvSpPr>
          <p:cNvPr id="19" name="Rounded Rectangle 18"/>
          <p:cNvSpPr/>
          <p:nvPr/>
        </p:nvSpPr>
        <p:spPr>
          <a:xfrm>
            <a:off x="9322308" y="315468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653903" y="2651760"/>
            <a:ext cx="1005840" cy="1005840"/>
          </a:xfrm>
          <a:prstGeom prst="ellipse">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gauge_w.png"/>
          <p:cNvPicPr>
            <a:picLocks noChangeAspect="1"/>
          </p:cNvPicPr>
          <p:nvPr/>
        </p:nvPicPr>
        <p:blipFill>
          <a:blip r:embed="rId4"/>
          <a:stretch>
            <a:fillRect/>
          </a:stretch>
        </p:blipFill>
        <p:spPr>
          <a:xfrm>
            <a:off x="10895304" y="2893161"/>
            <a:ext cx="523036" cy="523036"/>
          </a:xfrm>
          <a:prstGeom prst="rect">
            <a:avLst/>
          </a:prstGeom>
        </p:spPr>
      </p:pic>
      <p:sp>
        <p:nvSpPr>
          <p:cNvPr id="22" name="TextBox 21"/>
          <p:cNvSpPr txBox="1"/>
          <p:nvPr/>
        </p:nvSpPr>
        <p:spPr>
          <a:xfrm>
            <a:off x="9596628" y="3886200"/>
            <a:ext cx="3120390" cy="548640"/>
          </a:xfrm>
          <a:prstGeom prst="rect">
            <a:avLst/>
          </a:prstGeom>
          <a:noFill/>
        </p:spPr>
        <p:txBody>
          <a:bodyPr wrap="square" lIns="45720" tIns="27432" rIns="45720" bIns="27432" anchor="t">
            <a:spAutoFit/>
          </a:bodyPr>
          <a:lstStyle/>
          <a:p>
            <a:pPr algn="ctr"/>
            <a:r>
              <a:rPr sz="2200">
                <a:solidFill>
                  <a:srgbClr val="262626"/>
                </a:solidFill>
                <a:latin typeface="+mj-lt"/>
              </a:rPr>
              <a:t>Limits</a:t>
            </a:r>
          </a:p>
        </p:txBody>
      </p:sp>
      <p:sp>
        <p:nvSpPr>
          <p:cNvPr id="23" name="TextBox 22"/>
          <p:cNvSpPr txBox="1"/>
          <p:nvPr/>
        </p:nvSpPr>
        <p:spPr>
          <a:xfrm>
            <a:off x="9596628" y="4434840"/>
            <a:ext cx="3120390" cy="731520"/>
          </a:xfrm>
          <a:prstGeom prst="rect">
            <a:avLst/>
          </a:prstGeom>
          <a:noFill/>
        </p:spPr>
        <p:txBody>
          <a:bodyPr wrap="square" lIns="45720" tIns="27432" rIns="45720" bIns="27432" anchor="t">
            <a:spAutoFit/>
          </a:bodyPr>
          <a:lstStyle/>
          <a:p>
            <a:pPr algn="ctr"/>
            <a:r>
              <a:rPr sz="1400">
                <a:solidFill>
                  <a:srgbClr val="7E889A"/>
                </a:solidFill>
              </a:rPr>
              <a:t>How much, how often, when</a:t>
            </a:r>
          </a:p>
        </p:txBody>
      </p:sp>
      <p:sp>
        <p:nvSpPr>
          <p:cNvPr id="24" name="TextBox 23"/>
          <p:cNvSpPr txBox="1"/>
          <p:nvPr/>
        </p:nvSpPr>
        <p:spPr>
          <a:xfrm>
            <a:off x="9550908" y="5303520"/>
            <a:ext cx="3211830" cy="365760"/>
          </a:xfrm>
          <a:prstGeom prst="rect">
            <a:avLst/>
          </a:prstGeom>
          <a:noFill/>
        </p:spPr>
        <p:txBody>
          <a:bodyPr wrap="square" lIns="45720" tIns="27432" rIns="45720" bIns="27432" anchor="t">
            <a:spAutoFit/>
          </a:bodyPr>
          <a:lstStyle/>
          <a:p>
            <a:pPr algn="l"/>
            <a:r>
              <a:rPr sz="1300">
                <a:solidFill>
                  <a:srgbClr val="0766D1"/>
                </a:solidFill>
                <a:latin typeface="+mj-lt"/>
              </a:rPr>
              <a:t>No-Show Agent</a:t>
            </a:r>
          </a:p>
        </p:txBody>
      </p:sp>
      <p:sp>
        <p:nvSpPr>
          <p:cNvPr id="25" name="TextBox 24"/>
          <p:cNvSpPr txBox="1"/>
          <p:nvPr/>
        </p:nvSpPr>
        <p:spPr>
          <a:xfrm>
            <a:off x="9642348" y="5715000"/>
            <a:ext cx="3120390" cy="338328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500">
                <a:solidFill>
                  <a:srgbClr val="262626"/>
                </a:solidFill>
              </a:rPr>
              <a:t>Max two contact attempts per patient</a:t>
            </a:r>
          </a:p>
          <a:p>
            <a:pPr algn="l" marL="237744" indent="-237744">
              <a:spcAft>
                <a:spcPts val="800"/>
              </a:spcAft>
              <a:buClr>
                <a:srgbClr val="0766D1"/>
              </a:buClr>
              <a:buFont typeface="Arial"/>
              <a:buChar char="•"/>
            </a:pPr>
            <a:r>
              <a:rPr sz="1500">
                <a:solidFill>
                  <a:srgbClr val="262626"/>
                </a:solidFill>
              </a:rPr>
              <a:t>Messages only between 08:00 and 20:00</a:t>
            </a:r>
          </a:p>
          <a:p>
            <a:pPr algn="l" marL="237744" indent="-237744">
              <a:spcAft>
                <a:spcPts val="800"/>
              </a:spcAft>
              <a:buClr>
                <a:srgbClr val="0766D1"/>
              </a:buClr>
              <a:buFont typeface="Arial"/>
              <a:buChar char="•"/>
            </a:pPr>
            <a:r>
              <a:rPr sz="1500">
                <a:solidFill>
                  <a:srgbClr val="262626"/>
                </a:solidFill>
              </a:rPr>
              <a:t>Max 200 messages a day; pause above that</a:t>
            </a:r>
          </a:p>
        </p:txBody>
      </p:sp>
      <p:sp>
        <p:nvSpPr>
          <p:cNvPr id="26" name="Rounded Rectangle 25"/>
          <p:cNvSpPr/>
          <p:nvPr/>
        </p:nvSpPr>
        <p:spPr>
          <a:xfrm>
            <a:off x="13357098" y="315468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4688693" y="2651760"/>
            <a:ext cx="1005840" cy="1005840"/>
          </a:xfrm>
          <a:prstGeom prst="ellipse">
            <a:avLst/>
          </a:prstGeom>
          <a:solidFill>
            <a:srgbClr val="C00000"/>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top_w.png"/>
          <p:cNvPicPr>
            <a:picLocks noChangeAspect="1"/>
          </p:cNvPicPr>
          <p:nvPr/>
        </p:nvPicPr>
        <p:blipFill>
          <a:blip r:embed="rId5"/>
          <a:stretch>
            <a:fillRect/>
          </a:stretch>
        </p:blipFill>
        <p:spPr>
          <a:xfrm>
            <a:off x="14930094" y="2893161"/>
            <a:ext cx="523036" cy="523036"/>
          </a:xfrm>
          <a:prstGeom prst="rect">
            <a:avLst/>
          </a:prstGeom>
        </p:spPr>
      </p:pic>
      <p:sp>
        <p:nvSpPr>
          <p:cNvPr id="29" name="TextBox 28"/>
          <p:cNvSpPr txBox="1"/>
          <p:nvPr/>
        </p:nvSpPr>
        <p:spPr>
          <a:xfrm>
            <a:off x="13631418" y="3886200"/>
            <a:ext cx="3120390" cy="548640"/>
          </a:xfrm>
          <a:prstGeom prst="rect">
            <a:avLst/>
          </a:prstGeom>
          <a:noFill/>
        </p:spPr>
        <p:txBody>
          <a:bodyPr wrap="square" lIns="45720" tIns="27432" rIns="45720" bIns="27432" anchor="t">
            <a:spAutoFit/>
          </a:bodyPr>
          <a:lstStyle/>
          <a:p>
            <a:pPr algn="ctr"/>
            <a:r>
              <a:rPr sz="2200">
                <a:solidFill>
                  <a:srgbClr val="262626"/>
                </a:solidFill>
                <a:latin typeface="+mj-lt"/>
              </a:rPr>
              <a:t>Hard rules</a:t>
            </a:r>
          </a:p>
        </p:txBody>
      </p:sp>
      <p:sp>
        <p:nvSpPr>
          <p:cNvPr id="30" name="TextBox 29"/>
          <p:cNvSpPr txBox="1"/>
          <p:nvPr/>
        </p:nvSpPr>
        <p:spPr>
          <a:xfrm>
            <a:off x="13631418" y="4434840"/>
            <a:ext cx="3120390" cy="731520"/>
          </a:xfrm>
          <a:prstGeom prst="rect">
            <a:avLst/>
          </a:prstGeom>
          <a:noFill/>
        </p:spPr>
        <p:txBody>
          <a:bodyPr wrap="square" lIns="45720" tIns="27432" rIns="45720" bIns="27432" anchor="t">
            <a:spAutoFit/>
          </a:bodyPr>
          <a:lstStyle/>
          <a:p>
            <a:pPr algn="ctr"/>
            <a:r>
              <a:rPr sz="1400">
                <a:solidFill>
                  <a:srgbClr val="7E889A"/>
                </a:solidFill>
              </a:rPr>
              <a:t>Must-never lines, no exceptions</a:t>
            </a:r>
          </a:p>
        </p:txBody>
      </p:sp>
      <p:sp>
        <p:nvSpPr>
          <p:cNvPr id="31" name="TextBox 30"/>
          <p:cNvSpPr txBox="1"/>
          <p:nvPr/>
        </p:nvSpPr>
        <p:spPr>
          <a:xfrm>
            <a:off x="13585698" y="5303520"/>
            <a:ext cx="3211830" cy="365760"/>
          </a:xfrm>
          <a:prstGeom prst="rect">
            <a:avLst/>
          </a:prstGeom>
          <a:noFill/>
        </p:spPr>
        <p:txBody>
          <a:bodyPr wrap="square" lIns="45720" tIns="27432" rIns="45720" bIns="27432" anchor="t">
            <a:spAutoFit/>
          </a:bodyPr>
          <a:lstStyle/>
          <a:p>
            <a:pPr algn="l"/>
            <a:r>
              <a:rPr sz="1300">
                <a:solidFill>
                  <a:srgbClr val="0766D1"/>
                </a:solidFill>
                <a:latin typeface="+mj-lt"/>
              </a:rPr>
              <a:t>No-Show Agent</a:t>
            </a:r>
          </a:p>
        </p:txBody>
      </p:sp>
      <p:sp>
        <p:nvSpPr>
          <p:cNvPr id="32" name="TextBox 31"/>
          <p:cNvSpPr txBox="1"/>
          <p:nvPr/>
        </p:nvSpPr>
        <p:spPr>
          <a:xfrm>
            <a:off x="13677138" y="5715000"/>
            <a:ext cx="3120390" cy="338328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500">
                <a:solidFill>
                  <a:srgbClr val="262626"/>
                </a:solidFill>
              </a:rPr>
              <a:t>Never cancel without consent</a:t>
            </a:r>
          </a:p>
          <a:p>
            <a:pPr algn="l" marL="237744" indent="-237744">
              <a:spcAft>
                <a:spcPts val="800"/>
              </a:spcAft>
              <a:buClr>
                <a:srgbClr val="0766D1"/>
              </a:buClr>
              <a:buFont typeface="Arial"/>
              <a:buChar char="•"/>
            </a:pPr>
            <a:r>
              <a:rPr sz="1500">
                <a:solidFill>
                  <a:srgbClr val="262626"/>
                </a:solidFill>
              </a:rPr>
              <a:t>Never give medical advice</a:t>
            </a:r>
          </a:p>
          <a:p>
            <a:pPr algn="l" marL="237744" indent="-237744">
              <a:spcAft>
                <a:spcPts val="800"/>
              </a:spcAft>
              <a:buClr>
                <a:srgbClr val="0766D1"/>
              </a:buClr>
              <a:buFont typeface="Arial"/>
              <a:buChar char="•"/>
            </a:pPr>
            <a:r>
              <a:rPr sz="1500">
                <a:solidFill>
                  <a:srgbClr val="262626"/>
                </a:solidFill>
              </a:rPr>
              <a:t>Always say it is an automated assistant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4800"/>
              <a:t>Escalation: when the agent must hand over</a:t>
            </a:r>
          </a:p>
        </p:txBody>
      </p:sp>
      <p:sp>
        <p:nvSpPr>
          <p:cNvPr id="3" name="Text Placeholder 2"/>
          <p:cNvSpPr>
            <a:spLocks noGrp="1"/>
          </p:cNvSpPr>
          <p:nvPr>
            <p:ph type="body" idx="10" sz="quarter"/>
          </p:nvPr>
        </p:nvSpPr>
        <p:spPr/>
        <p:txBody>
          <a:bodyPr/>
          <a:lstStyle/>
          <a:p>
            <a:r>
              <a:rPr sz="3000"/>
              <a:t>Escalation is a feature, not a failure</a:t>
            </a:r>
          </a:p>
        </p:txBody>
      </p:sp>
      <p:sp>
        <p:nvSpPr>
          <p:cNvPr id="5" name="Rounded Rectangle 4"/>
          <p:cNvSpPr/>
          <p:nvPr/>
        </p:nvSpPr>
        <p:spPr>
          <a:xfrm>
            <a:off x="1252728" y="2743200"/>
            <a:ext cx="7818120" cy="6583680"/>
          </a:xfrm>
          <a:prstGeom prst="roundRect">
            <a:avLst>
              <a:gd name="adj" fmla="val 388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8" y="3017520"/>
            <a:ext cx="6995160" cy="457200"/>
          </a:xfrm>
          <a:prstGeom prst="rect">
            <a:avLst/>
          </a:prstGeom>
          <a:noFill/>
        </p:spPr>
        <p:txBody>
          <a:bodyPr wrap="square" lIns="45720" tIns="27432" rIns="45720" bIns="27432" anchor="t">
            <a:spAutoFit/>
          </a:bodyPr>
          <a:lstStyle/>
          <a:p>
            <a:pPr algn="l"/>
            <a:r>
              <a:rPr sz="1900">
                <a:solidFill>
                  <a:srgbClr val="0766D1"/>
                </a:solidFill>
                <a:latin typeface="+mj-lt"/>
              </a:rPr>
              <a:t>Triggers that stop the agent and call a person</a:t>
            </a:r>
          </a:p>
        </p:txBody>
      </p:sp>
      <p:sp>
        <p:nvSpPr>
          <p:cNvPr id="7" name="Oval 6"/>
          <p:cNvSpPr/>
          <p:nvPr/>
        </p:nvSpPr>
        <p:spPr>
          <a:xfrm>
            <a:off x="1664208" y="3611880"/>
            <a:ext cx="512064" cy="51206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uestion_w.png"/>
          <p:cNvPicPr>
            <a:picLocks noChangeAspect="1"/>
          </p:cNvPicPr>
          <p:nvPr/>
        </p:nvPicPr>
        <p:blipFill>
          <a:blip r:embed="rId2"/>
          <a:stretch>
            <a:fillRect/>
          </a:stretch>
        </p:blipFill>
        <p:spPr>
          <a:xfrm>
            <a:off x="1779422" y="3727094"/>
            <a:ext cx="281635" cy="281635"/>
          </a:xfrm>
          <a:prstGeom prst="rect">
            <a:avLst/>
          </a:prstGeom>
        </p:spPr>
      </p:pic>
      <p:sp>
        <p:nvSpPr>
          <p:cNvPr id="9" name="TextBox 8"/>
          <p:cNvSpPr txBox="1"/>
          <p:nvPr/>
        </p:nvSpPr>
        <p:spPr>
          <a:xfrm>
            <a:off x="2377440" y="3557016"/>
            <a:ext cx="6281928" cy="384048"/>
          </a:xfrm>
          <a:prstGeom prst="rect">
            <a:avLst/>
          </a:prstGeom>
          <a:noFill/>
        </p:spPr>
        <p:txBody>
          <a:bodyPr wrap="square" lIns="45720" tIns="27432" rIns="45720" bIns="27432" anchor="t">
            <a:spAutoFit/>
          </a:bodyPr>
          <a:lstStyle/>
          <a:p>
            <a:pPr algn="l"/>
            <a:r>
              <a:rPr sz="1500">
                <a:solidFill>
                  <a:srgbClr val="262626"/>
                </a:solidFill>
                <a:latin typeface="+mj-lt"/>
              </a:rPr>
              <a:t>Low confidence</a:t>
            </a:r>
          </a:p>
        </p:txBody>
      </p:sp>
      <p:sp>
        <p:nvSpPr>
          <p:cNvPr id="10" name="TextBox 9"/>
          <p:cNvSpPr txBox="1"/>
          <p:nvPr/>
        </p:nvSpPr>
        <p:spPr>
          <a:xfrm>
            <a:off x="2377440" y="3922776"/>
            <a:ext cx="6281928" cy="557783"/>
          </a:xfrm>
          <a:prstGeom prst="rect">
            <a:avLst/>
          </a:prstGeom>
          <a:noFill/>
        </p:spPr>
        <p:txBody>
          <a:bodyPr wrap="square" lIns="45720" tIns="27432" rIns="45720" bIns="27432" anchor="t">
            <a:spAutoFit/>
          </a:bodyPr>
          <a:lstStyle/>
          <a:p>
            <a:pPr algn="l"/>
            <a:r>
              <a:rPr sz="1300">
                <a:solidFill>
                  <a:srgbClr val="262626"/>
                </a:solidFill>
              </a:rPr>
              <a:t>An unclear reply, a borderline risk score, a rule that almost applies</a:t>
            </a:r>
          </a:p>
        </p:txBody>
      </p:sp>
      <p:sp>
        <p:nvSpPr>
          <p:cNvPr id="11" name="Oval 10"/>
          <p:cNvSpPr/>
          <p:nvPr/>
        </p:nvSpPr>
        <p:spPr>
          <a:xfrm>
            <a:off x="1664208" y="4544568"/>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ethoscope_w.png"/>
          <p:cNvPicPr>
            <a:picLocks noChangeAspect="1"/>
          </p:cNvPicPr>
          <p:nvPr/>
        </p:nvPicPr>
        <p:blipFill>
          <a:blip r:embed="rId3"/>
          <a:stretch>
            <a:fillRect/>
          </a:stretch>
        </p:blipFill>
        <p:spPr>
          <a:xfrm>
            <a:off x="1779422" y="4659782"/>
            <a:ext cx="281635" cy="281635"/>
          </a:xfrm>
          <a:prstGeom prst="rect">
            <a:avLst/>
          </a:prstGeom>
        </p:spPr>
      </p:pic>
      <p:sp>
        <p:nvSpPr>
          <p:cNvPr id="13" name="TextBox 12"/>
          <p:cNvSpPr txBox="1"/>
          <p:nvPr/>
        </p:nvSpPr>
        <p:spPr>
          <a:xfrm>
            <a:off x="2377440" y="4489704"/>
            <a:ext cx="6281928" cy="384048"/>
          </a:xfrm>
          <a:prstGeom prst="rect">
            <a:avLst/>
          </a:prstGeom>
          <a:noFill/>
        </p:spPr>
        <p:txBody>
          <a:bodyPr wrap="square" lIns="45720" tIns="27432" rIns="45720" bIns="27432" anchor="t">
            <a:spAutoFit/>
          </a:bodyPr>
          <a:lstStyle/>
          <a:p>
            <a:pPr algn="l"/>
            <a:r>
              <a:rPr sz="1500">
                <a:solidFill>
                  <a:srgbClr val="262626"/>
                </a:solidFill>
                <a:latin typeface="+mj-lt"/>
              </a:rPr>
              <a:t>Out of scope</a:t>
            </a:r>
          </a:p>
        </p:txBody>
      </p:sp>
      <p:sp>
        <p:nvSpPr>
          <p:cNvPr id="14" name="TextBox 13"/>
          <p:cNvSpPr txBox="1"/>
          <p:nvPr/>
        </p:nvSpPr>
        <p:spPr>
          <a:xfrm>
            <a:off x="2377440" y="4855464"/>
            <a:ext cx="6281928" cy="557783"/>
          </a:xfrm>
          <a:prstGeom prst="rect">
            <a:avLst/>
          </a:prstGeom>
          <a:noFill/>
        </p:spPr>
        <p:txBody>
          <a:bodyPr wrap="square" lIns="45720" tIns="27432" rIns="45720" bIns="27432" anchor="t">
            <a:spAutoFit/>
          </a:bodyPr>
          <a:lstStyle/>
          <a:p>
            <a:pPr algn="l"/>
            <a:r>
              <a:rPr sz="1300">
                <a:solidFill>
                  <a:srgbClr val="262626"/>
                </a:solidFill>
              </a:rPr>
              <a:t>“Can I take a double dose until my appointment?” — any clinical question</a:t>
            </a:r>
          </a:p>
        </p:txBody>
      </p:sp>
      <p:sp>
        <p:nvSpPr>
          <p:cNvPr id="15" name="Oval 14"/>
          <p:cNvSpPr/>
          <p:nvPr/>
        </p:nvSpPr>
        <p:spPr>
          <a:xfrm>
            <a:off x="1664208" y="5477256"/>
            <a:ext cx="512064" cy="51206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warning_w.png"/>
          <p:cNvPicPr>
            <a:picLocks noChangeAspect="1"/>
          </p:cNvPicPr>
          <p:nvPr/>
        </p:nvPicPr>
        <p:blipFill>
          <a:blip r:embed="rId4"/>
          <a:stretch>
            <a:fillRect/>
          </a:stretch>
        </p:blipFill>
        <p:spPr>
          <a:xfrm>
            <a:off x="1779422" y="5592470"/>
            <a:ext cx="281635" cy="281635"/>
          </a:xfrm>
          <a:prstGeom prst="rect">
            <a:avLst/>
          </a:prstGeom>
        </p:spPr>
      </p:pic>
      <p:sp>
        <p:nvSpPr>
          <p:cNvPr id="17" name="TextBox 16"/>
          <p:cNvSpPr txBox="1"/>
          <p:nvPr/>
        </p:nvSpPr>
        <p:spPr>
          <a:xfrm>
            <a:off x="2377440" y="5422392"/>
            <a:ext cx="6281928" cy="384048"/>
          </a:xfrm>
          <a:prstGeom prst="rect">
            <a:avLst/>
          </a:prstGeom>
          <a:noFill/>
        </p:spPr>
        <p:txBody>
          <a:bodyPr wrap="square" lIns="45720" tIns="27432" rIns="45720" bIns="27432" anchor="t">
            <a:spAutoFit/>
          </a:bodyPr>
          <a:lstStyle/>
          <a:p>
            <a:pPr algn="l"/>
            <a:r>
              <a:rPr sz="1500">
                <a:solidFill>
                  <a:srgbClr val="262626"/>
                </a:solidFill>
                <a:latin typeface="+mj-lt"/>
              </a:rPr>
              <a:t>High-risk action needed</a:t>
            </a:r>
          </a:p>
        </p:txBody>
      </p:sp>
      <p:sp>
        <p:nvSpPr>
          <p:cNvPr id="18" name="TextBox 17"/>
          <p:cNvSpPr txBox="1"/>
          <p:nvPr/>
        </p:nvSpPr>
        <p:spPr>
          <a:xfrm>
            <a:off x="2377440" y="5788152"/>
            <a:ext cx="6281928" cy="557783"/>
          </a:xfrm>
          <a:prstGeom prst="rect">
            <a:avLst/>
          </a:prstGeom>
          <a:noFill/>
        </p:spPr>
        <p:txBody>
          <a:bodyPr wrap="square" lIns="45720" tIns="27432" rIns="45720" bIns="27432" anchor="t">
            <a:spAutoFit/>
          </a:bodyPr>
          <a:lstStyle/>
          <a:p>
            <a:pPr algn="l"/>
            <a:r>
              <a:rPr sz="1300">
                <a:solidFill>
                  <a:srgbClr val="262626"/>
                </a:solidFill>
              </a:rPr>
              <a:t>The next step is irreversible or outside its permissions</a:t>
            </a:r>
          </a:p>
        </p:txBody>
      </p:sp>
      <p:sp>
        <p:nvSpPr>
          <p:cNvPr id="19" name="Oval 18"/>
          <p:cNvSpPr/>
          <p:nvPr/>
        </p:nvSpPr>
        <p:spPr>
          <a:xfrm>
            <a:off x="1664208" y="6409944"/>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cale_w.png"/>
          <p:cNvPicPr>
            <a:picLocks noChangeAspect="1"/>
          </p:cNvPicPr>
          <p:nvPr/>
        </p:nvPicPr>
        <p:blipFill>
          <a:blip r:embed="rId5"/>
          <a:stretch>
            <a:fillRect/>
          </a:stretch>
        </p:blipFill>
        <p:spPr>
          <a:xfrm>
            <a:off x="1779422" y="6525158"/>
            <a:ext cx="281635" cy="281635"/>
          </a:xfrm>
          <a:prstGeom prst="rect">
            <a:avLst/>
          </a:prstGeom>
        </p:spPr>
      </p:pic>
      <p:sp>
        <p:nvSpPr>
          <p:cNvPr id="21" name="TextBox 20"/>
          <p:cNvSpPr txBox="1"/>
          <p:nvPr/>
        </p:nvSpPr>
        <p:spPr>
          <a:xfrm>
            <a:off x="2377440" y="6355080"/>
            <a:ext cx="6281928" cy="384048"/>
          </a:xfrm>
          <a:prstGeom prst="rect">
            <a:avLst/>
          </a:prstGeom>
          <a:noFill/>
        </p:spPr>
        <p:txBody>
          <a:bodyPr wrap="square" lIns="45720" tIns="27432" rIns="45720" bIns="27432" anchor="t">
            <a:spAutoFit/>
          </a:bodyPr>
          <a:lstStyle/>
          <a:p>
            <a:pPr algn="l"/>
            <a:r>
              <a:rPr sz="1500">
                <a:solidFill>
                  <a:srgbClr val="262626"/>
                </a:solidFill>
                <a:latin typeface="+mj-lt"/>
              </a:rPr>
              <a:t>Rule conflict</a:t>
            </a:r>
          </a:p>
        </p:txBody>
      </p:sp>
      <p:sp>
        <p:nvSpPr>
          <p:cNvPr id="22" name="TextBox 21"/>
          <p:cNvSpPr txBox="1"/>
          <p:nvPr/>
        </p:nvSpPr>
        <p:spPr>
          <a:xfrm>
            <a:off x="2377440" y="6720840"/>
            <a:ext cx="6281928" cy="557783"/>
          </a:xfrm>
          <a:prstGeom prst="rect">
            <a:avLst/>
          </a:prstGeom>
          <a:noFill/>
        </p:spPr>
        <p:txBody>
          <a:bodyPr wrap="square" lIns="45720" tIns="27432" rIns="45720" bIns="27432" anchor="t">
            <a:spAutoFit/>
          </a:bodyPr>
          <a:lstStyle/>
          <a:p>
            <a:pPr algn="l"/>
            <a:r>
              <a:rPr sz="1300">
                <a:solidFill>
                  <a:srgbClr val="262626"/>
                </a:solidFill>
              </a:rPr>
              <a:t>Two policies disagree, or the case is not covered by any</a:t>
            </a:r>
          </a:p>
        </p:txBody>
      </p:sp>
      <p:sp>
        <p:nvSpPr>
          <p:cNvPr id="23" name="Oval 22"/>
          <p:cNvSpPr/>
          <p:nvPr/>
        </p:nvSpPr>
        <p:spPr>
          <a:xfrm>
            <a:off x="1664208" y="7342632"/>
            <a:ext cx="512064" cy="51206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repeat_w.png"/>
          <p:cNvPicPr>
            <a:picLocks noChangeAspect="1"/>
          </p:cNvPicPr>
          <p:nvPr/>
        </p:nvPicPr>
        <p:blipFill>
          <a:blip r:embed="rId6"/>
          <a:stretch>
            <a:fillRect/>
          </a:stretch>
        </p:blipFill>
        <p:spPr>
          <a:xfrm>
            <a:off x="1779422" y="7457846"/>
            <a:ext cx="281635" cy="281635"/>
          </a:xfrm>
          <a:prstGeom prst="rect">
            <a:avLst/>
          </a:prstGeom>
        </p:spPr>
      </p:pic>
      <p:sp>
        <p:nvSpPr>
          <p:cNvPr id="25" name="TextBox 24"/>
          <p:cNvSpPr txBox="1"/>
          <p:nvPr/>
        </p:nvSpPr>
        <p:spPr>
          <a:xfrm>
            <a:off x="2377440" y="7287768"/>
            <a:ext cx="6281928" cy="384048"/>
          </a:xfrm>
          <a:prstGeom prst="rect">
            <a:avLst/>
          </a:prstGeom>
          <a:noFill/>
        </p:spPr>
        <p:txBody>
          <a:bodyPr wrap="square" lIns="45720" tIns="27432" rIns="45720" bIns="27432" anchor="t">
            <a:spAutoFit/>
          </a:bodyPr>
          <a:lstStyle/>
          <a:p>
            <a:pPr algn="l"/>
            <a:r>
              <a:rPr sz="1500">
                <a:solidFill>
                  <a:srgbClr val="262626"/>
                </a:solidFill>
                <a:latin typeface="+mj-lt"/>
              </a:rPr>
              <a:t>Repeated failure</a:t>
            </a:r>
          </a:p>
        </p:txBody>
      </p:sp>
      <p:sp>
        <p:nvSpPr>
          <p:cNvPr id="26" name="TextBox 25"/>
          <p:cNvSpPr txBox="1"/>
          <p:nvPr/>
        </p:nvSpPr>
        <p:spPr>
          <a:xfrm>
            <a:off x="2377440" y="7653528"/>
            <a:ext cx="6281928" cy="557783"/>
          </a:xfrm>
          <a:prstGeom prst="rect">
            <a:avLst/>
          </a:prstGeom>
          <a:noFill/>
        </p:spPr>
        <p:txBody>
          <a:bodyPr wrap="square" lIns="45720" tIns="27432" rIns="45720" bIns="27432" anchor="t">
            <a:spAutoFit/>
          </a:bodyPr>
          <a:lstStyle/>
          <a:p>
            <a:pPr algn="l"/>
            <a:r>
              <a:rPr sz="1300">
                <a:solidFill>
                  <a:srgbClr val="262626"/>
                </a:solidFill>
              </a:rPr>
              <a:t>No reply after two attempts, or a tool is unavailable</a:t>
            </a:r>
          </a:p>
        </p:txBody>
      </p:sp>
      <p:sp>
        <p:nvSpPr>
          <p:cNvPr id="27" name="Oval 26"/>
          <p:cNvSpPr/>
          <p:nvPr/>
        </p:nvSpPr>
        <p:spPr>
          <a:xfrm>
            <a:off x="1664208" y="8275320"/>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alarm_w.png"/>
          <p:cNvPicPr>
            <a:picLocks noChangeAspect="1"/>
          </p:cNvPicPr>
          <p:nvPr/>
        </p:nvPicPr>
        <p:blipFill>
          <a:blip r:embed="rId7"/>
          <a:stretch>
            <a:fillRect/>
          </a:stretch>
        </p:blipFill>
        <p:spPr>
          <a:xfrm>
            <a:off x="1779422" y="8390534"/>
            <a:ext cx="281635" cy="281635"/>
          </a:xfrm>
          <a:prstGeom prst="rect">
            <a:avLst/>
          </a:prstGeom>
        </p:spPr>
      </p:pic>
      <p:sp>
        <p:nvSpPr>
          <p:cNvPr id="29" name="TextBox 28"/>
          <p:cNvSpPr txBox="1"/>
          <p:nvPr/>
        </p:nvSpPr>
        <p:spPr>
          <a:xfrm>
            <a:off x="2377440" y="8220456"/>
            <a:ext cx="6281928" cy="384048"/>
          </a:xfrm>
          <a:prstGeom prst="rect">
            <a:avLst/>
          </a:prstGeom>
          <a:noFill/>
        </p:spPr>
        <p:txBody>
          <a:bodyPr wrap="square" lIns="45720" tIns="27432" rIns="45720" bIns="27432" anchor="t">
            <a:spAutoFit/>
          </a:bodyPr>
          <a:lstStyle/>
          <a:p>
            <a:pPr algn="l"/>
            <a:r>
              <a:rPr sz="1500">
                <a:solidFill>
                  <a:srgbClr val="262626"/>
                </a:solidFill>
                <a:latin typeface="+mj-lt"/>
              </a:rPr>
              <a:t>Patient asks for a human, or shows distress</a:t>
            </a:r>
          </a:p>
        </p:txBody>
      </p:sp>
      <p:sp>
        <p:nvSpPr>
          <p:cNvPr id="30" name="TextBox 29"/>
          <p:cNvSpPr txBox="1"/>
          <p:nvPr/>
        </p:nvSpPr>
        <p:spPr>
          <a:xfrm>
            <a:off x="2377440" y="8586216"/>
            <a:ext cx="6281928" cy="557783"/>
          </a:xfrm>
          <a:prstGeom prst="rect">
            <a:avLst/>
          </a:prstGeom>
          <a:noFill/>
        </p:spPr>
        <p:txBody>
          <a:bodyPr wrap="square" lIns="45720" tIns="27432" rIns="45720" bIns="27432" anchor="t">
            <a:spAutoFit/>
          </a:bodyPr>
          <a:lstStyle/>
          <a:p>
            <a:pPr algn="l"/>
            <a:r>
              <a:rPr sz="1300">
                <a:solidFill>
                  <a:srgbClr val="262626"/>
                </a:solidFill>
              </a:rPr>
              <a:t>Immediately, no questions asked</a:t>
            </a:r>
          </a:p>
        </p:txBody>
      </p:sp>
      <p:sp>
        <p:nvSpPr>
          <p:cNvPr id="31" name="Rounded Rectangle 30"/>
          <p:cNvSpPr/>
          <p:nvPr/>
        </p:nvSpPr>
        <p:spPr>
          <a:xfrm>
            <a:off x="9482328" y="2743200"/>
            <a:ext cx="7543800" cy="6583680"/>
          </a:xfrm>
          <a:prstGeom prst="roundRect">
            <a:avLst>
              <a:gd name="adj" fmla="val 388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93808" y="3017520"/>
            <a:ext cx="6720840" cy="457200"/>
          </a:xfrm>
          <a:prstGeom prst="rect">
            <a:avLst/>
          </a:prstGeom>
          <a:noFill/>
        </p:spPr>
        <p:txBody>
          <a:bodyPr wrap="square" lIns="45720" tIns="27432" rIns="45720" bIns="27432" anchor="t">
            <a:spAutoFit/>
          </a:bodyPr>
          <a:lstStyle/>
          <a:p>
            <a:pPr algn="l"/>
            <a:r>
              <a:rPr sz="1900">
                <a:solidFill>
                  <a:srgbClr val="0766D1"/>
                </a:solidFill>
                <a:latin typeface="+mj-lt"/>
              </a:rPr>
              <a:t>What a good hand-over looks like</a:t>
            </a:r>
          </a:p>
        </p:txBody>
      </p:sp>
      <p:sp>
        <p:nvSpPr>
          <p:cNvPr id="33" name="Oval 32"/>
          <p:cNvSpPr/>
          <p:nvPr/>
        </p:nvSpPr>
        <p:spPr>
          <a:xfrm>
            <a:off x="9893808" y="3611880"/>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user_w.png"/>
          <p:cNvPicPr>
            <a:picLocks noChangeAspect="1"/>
          </p:cNvPicPr>
          <p:nvPr/>
        </p:nvPicPr>
        <p:blipFill>
          <a:blip r:embed="rId8"/>
          <a:stretch>
            <a:fillRect/>
          </a:stretch>
        </p:blipFill>
        <p:spPr>
          <a:xfrm>
            <a:off x="10009022" y="3727094"/>
            <a:ext cx="281635" cy="281635"/>
          </a:xfrm>
          <a:prstGeom prst="rect">
            <a:avLst/>
          </a:prstGeom>
        </p:spPr>
      </p:pic>
      <p:sp>
        <p:nvSpPr>
          <p:cNvPr id="35" name="TextBox 34"/>
          <p:cNvSpPr txBox="1"/>
          <p:nvPr/>
        </p:nvSpPr>
        <p:spPr>
          <a:xfrm>
            <a:off x="10607040" y="3557016"/>
            <a:ext cx="6007607" cy="384048"/>
          </a:xfrm>
          <a:prstGeom prst="rect">
            <a:avLst/>
          </a:prstGeom>
          <a:noFill/>
        </p:spPr>
        <p:txBody>
          <a:bodyPr wrap="square" lIns="45720" tIns="27432" rIns="45720" bIns="27432" anchor="t">
            <a:spAutoFit/>
          </a:bodyPr>
          <a:lstStyle/>
          <a:p>
            <a:pPr algn="l"/>
            <a:r>
              <a:rPr sz="1500">
                <a:solidFill>
                  <a:srgbClr val="262626"/>
                </a:solidFill>
                <a:latin typeface="+mj-lt"/>
              </a:rPr>
              <a:t>Goes to a named role</a:t>
            </a:r>
          </a:p>
        </p:txBody>
      </p:sp>
      <p:sp>
        <p:nvSpPr>
          <p:cNvPr id="36" name="TextBox 35"/>
          <p:cNvSpPr txBox="1"/>
          <p:nvPr/>
        </p:nvSpPr>
        <p:spPr>
          <a:xfrm>
            <a:off x="10607040" y="3922776"/>
            <a:ext cx="6007607" cy="969263"/>
          </a:xfrm>
          <a:prstGeom prst="rect">
            <a:avLst/>
          </a:prstGeom>
          <a:noFill/>
        </p:spPr>
        <p:txBody>
          <a:bodyPr wrap="square" lIns="45720" tIns="27432" rIns="45720" bIns="27432" anchor="t">
            <a:spAutoFit/>
          </a:bodyPr>
          <a:lstStyle/>
          <a:p>
            <a:pPr algn="l"/>
            <a:r>
              <a:rPr sz="1300">
                <a:solidFill>
                  <a:srgbClr val="262626"/>
                </a:solidFill>
              </a:rPr>
              <a:t>Clinic coordinator for logistics; nurse line for anything clinical</a:t>
            </a:r>
          </a:p>
        </p:txBody>
      </p:sp>
      <p:sp>
        <p:nvSpPr>
          <p:cNvPr id="37" name="Oval 36"/>
          <p:cNvSpPr/>
          <p:nvPr/>
        </p:nvSpPr>
        <p:spPr>
          <a:xfrm>
            <a:off x="9893808" y="5029200"/>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files_w.png"/>
          <p:cNvPicPr>
            <a:picLocks noChangeAspect="1"/>
          </p:cNvPicPr>
          <p:nvPr/>
        </p:nvPicPr>
        <p:blipFill>
          <a:blip r:embed="rId9"/>
          <a:stretch>
            <a:fillRect/>
          </a:stretch>
        </p:blipFill>
        <p:spPr>
          <a:xfrm>
            <a:off x="10009022" y="5144414"/>
            <a:ext cx="281635" cy="281635"/>
          </a:xfrm>
          <a:prstGeom prst="rect">
            <a:avLst/>
          </a:prstGeom>
        </p:spPr>
      </p:pic>
      <p:sp>
        <p:nvSpPr>
          <p:cNvPr id="39" name="TextBox 38"/>
          <p:cNvSpPr txBox="1"/>
          <p:nvPr/>
        </p:nvSpPr>
        <p:spPr>
          <a:xfrm>
            <a:off x="10607040" y="4974336"/>
            <a:ext cx="6007607" cy="384048"/>
          </a:xfrm>
          <a:prstGeom prst="rect">
            <a:avLst/>
          </a:prstGeom>
          <a:noFill/>
        </p:spPr>
        <p:txBody>
          <a:bodyPr wrap="square" lIns="45720" tIns="27432" rIns="45720" bIns="27432" anchor="t">
            <a:spAutoFit/>
          </a:bodyPr>
          <a:lstStyle/>
          <a:p>
            <a:pPr algn="l"/>
            <a:r>
              <a:rPr sz="1500">
                <a:solidFill>
                  <a:srgbClr val="262626"/>
                </a:solidFill>
                <a:latin typeface="+mj-lt"/>
              </a:rPr>
              <a:t>Carries the full context</a:t>
            </a:r>
          </a:p>
        </p:txBody>
      </p:sp>
      <p:sp>
        <p:nvSpPr>
          <p:cNvPr id="40" name="TextBox 39"/>
          <p:cNvSpPr txBox="1"/>
          <p:nvPr/>
        </p:nvSpPr>
        <p:spPr>
          <a:xfrm>
            <a:off x="10607040" y="5340096"/>
            <a:ext cx="6007607" cy="969263"/>
          </a:xfrm>
          <a:prstGeom prst="rect">
            <a:avLst/>
          </a:prstGeom>
          <a:noFill/>
        </p:spPr>
        <p:txBody>
          <a:bodyPr wrap="square" lIns="45720" tIns="27432" rIns="45720" bIns="27432" anchor="t">
            <a:spAutoFit/>
          </a:bodyPr>
          <a:lstStyle/>
          <a:p>
            <a:pPr algn="l"/>
            <a:r>
              <a:rPr sz="1300">
                <a:solidFill>
                  <a:srgbClr val="262626"/>
                </a:solidFill>
              </a:rPr>
              <a:t>What happened, what the agent was about to do, and why it stopped</a:t>
            </a:r>
          </a:p>
        </p:txBody>
      </p:sp>
      <p:sp>
        <p:nvSpPr>
          <p:cNvPr id="41" name="Oval 40"/>
          <p:cNvSpPr/>
          <p:nvPr/>
        </p:nvSpPr>
        <p:spPr>
          <a:xfrm>
            <a:off x="9893808" y="6446520"/>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clock_w.png"/>
          <p:cNvPicPr>
            <a:picLocks noChangeAspect="1"/>
          </p:cNvPicPr>
          <p:nvPr/>
        </p:nvPicPr>
        <p:blipFill>
          <a:blip r:embed="rId10"/>
          <a:stretch>
            <a:fillRect/>
          </a:stretch>
        </p:blipFill>
        <p:spPr>
          <a:xfrm>
            <a:off x="10009022" y="6561734"/>
            <a:ext cx="281635" cy="281635"/>
          </a:xfrm>
          <a:prstGeom prst="rect">
            <a:avLst/>
          </a:prstGeom>
        </p:spPr>
      </p:pic>
      <p:sp>
        <p:nvSpPr>
          <p:cNvPr id="43" name="TextBox 42"/>
          <p:cNvSpPr txBox="1"/>
          <p:nvPr/>
        </p:nvSpPr>
        <p:spPr>
          <a:xfrm>
            <a:off x="10607040" y="6391656"/>
            <a:ext cx="6007607" cy="384048"/>
          </a:xfrm>
          <a:prstGeom prst="rect">
            <a:avLst/>
          </a:prstGeom>
          <a:noFill/>
        </p:spPr>
        <p:txBody>
          <a:bodyPr wrap="square" lIns="45720" tIns="27432" rIns="45720" bIns="27432" anchor="t">
            <a:spAutoFit/>
          </a:bodyPr>
          <a:lstStyle/>
          <a:p>
            <a:pPr algn="l"/>
            <a:r>
              <a:rPr sz="1500">
                <a:solidFill>
                  <a:srgbClr val="262626"/>
                </a:solidFill>
                <a:latin typeface="+mj-lt"/>
              </a:rPr>
              <a:t>Has a time target</a:t>
            </a:r>
          </a:p>
        </p:txBody>
      </p:sp>
      <p:sp>
        <p:nvSpPr>
          <p:cNvPr id="44" name="TextBox 43"/>
          <p:cNvSpPr txBox="1"/>
          <p:nvPr/>
        </p:nvSpPr>
        <p:spPr>
          <a:xfrm>
            <a:off x="10607040" y="6757416"/>
            <a:ext cx="6007607" cy="969263"/>
          </a:xfrm>
          <a:prstGeom prst="rect">
            <a:avLst/>
          </a:prstGeom>
          <a:noFill/>
        </p:spPr>
        <p:txBody>
          <a:bodyPr wrap="square" lIns="45720" tIns="27432" rIns="45720" bIns="27432" anchor="t">
            <a:spAutoFit/>
          </a:bodyPr>
          <a:lstStyle/>
          <a:p>
            <a:pPr algn="l"/>
            <a:r>
              <a:rPr sz="1300">
                <a:solidFill>
                  <a:srgbClr val="262626"/>
                </a:solidFill>
              </a:rPr>
              <a:t>Clinical escalations answered within minutes, logistics within the day</a:t>
            </a:r>
          </a:p>
        </p:txBody>
      </p:sp>
      <p:sp>
        <p:nvSpPr>
          <p:cNvPr id="45" name="Oval 44"/>
          <p:cNvSpPr/>
          <p:nvPr/>
        </p:nvSpPr>
        <p:spPr>
          <a:xfrm>
            <a:off x="9893808" y="7863840"/>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message_w.png"/>
          <p:cNvPicPr>
            <a:picLocks noChangeAspect="1"/>
          </p:cNvPicPr>
          <p:nvPr/>
        </p:nvPicPr>
        <p:blipFill>
          <a:blip r:embed="rId11"/>
          <a:stretch>
            <a:fillRect/>
          </a:stretch>
        </p:blipFill>
        <p:spPr>
          <a:xfrm>
            <a:off x="10009022" y="7979054"/>
            <a:ext cx="281635" cy="281635"/>
          </a:xfrm>
          <a:prstGeom prst="rect">
            <a:avLst/>
          </a:prstGeom>
        </p:spPr>
      </p:pic>
      <p:sp>
        <p:nvSpPr>
          <p:cNvPr id="47" name="TextBox 46"/>
          <p:cNvSpPr txBox="1"/>
          <p:nvPr/>
        </p:nvSpPr>
        <p:spPr>
          <a:xfrm>
            <a:off x="10607040" y="7808976"/>
            <a:ext cx="6007607" cy="384048"/>
          </a:xfrm>
          <a:prstGeom prst="rect">
            <a:avLst/>
          </a:prstGeom>
          <a:noFill/>
        </p:spPr>
        <p:txBody>
          <a:bodyPr wrap="square" lIns="45720" tIns="27432" rIns="45720" bIns="27432" anchor="t">
            <a:spAutoFit/>
          </a:bodyPr>
          <a:lstStyle/>
          <a:p>
            <a:pPr algn="l"/>
            <a:r>
              <a:rPr sz="1500">
                <a:solidFill>
                  <a:srgbClr val="262626"/>
                </a:solidFill>
                <a:latin typeface="+mj-lt"/>
              </a:rPr>
              <a:t>Tells the patient what happens next</a:t>
            </a:r>
          </a:p>
        </p:txBody>
      </p:sp>
      <p:sp>
        <p:nvSpPr>
          <p:cNvPr id="48" name="TextBox 47"/>
          <p:cNvSpPr txBox="1"/>
          <p:nvPr/>
        </p:nvSpPr>
        <p:spPr>
          <a:xfrm>
            <a:off x="10607040" y="8174736"/>
            <a:ext cx="6007607" cy="969263"/>
          </a:xfrm>
          <a:prstGeom prst="rect">
            <a:avLst/>
          </a:prstGeom>
          <a:noFill/>
        </p:spPr>
        <p:txBody>
          <a:bodyPr wrap="square" lIns="45720" tIns="27432" rIns="45720" bIns="27432" anchor="t">
            <a:spAutoFit/>
          </a:bodyPr>
          <a:lstStyle/>
          <a:p>
            <a:pPr algn="l"/>
            <a:r>
              <a:rPr sz="1300">
                <a:solidFill>
                  <a:srgbClr val="262626"/>
                </a:solidFill>
              </a:rPr>
              <a:t>“A member of our team will contact you today.”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The No-Show Agent's operating agreement</a:t>
            </a:r>
          </a:p>
        </p:txBody>
      </p:sp>
      <p:sp>
        <p:nvSpPr>
          <p:cNvPr id="3" name="Text Placeholder 2"/>
          <p:cNvSpPr>
            <a:spLocks noGrp="1"/>
          </p:cNvSpPr>
          <p:nvPr>
            <p:ph type="body" idx="10" sz="quarter"/>
          </p:nvPr>
        </p:nvSpPr>
        <p:spPr/>
        <p:txBody>
          <a:bodyPr/>
          <a:lstStyle/>
          <a:p>
            <a:r>
              <a:rPr sz="3000"/>
              <a:t>One page that says what it may do alone, what needs a person, and who it calls</a:t>
            </a:r>
          </a:p>
        </p:txBody>
      </p:sp>
      <p:graphicFrame>
        <p:nvGraphicFramePr>
          <p:cNvPr id="5" name="Table 4"/>
          <p:cNvGraphicFramePr>
            <a:graphicFrameLocks noGrp="1"/>
          </p:cNvGraphicFramePr>
          <p:nvPr/>
        </p:nvGraphicFramePr>
        <p:xfrm>
          <a:off x="1252728" y="2743200"/>
          <a:ext cx="15773400" cy="5989320"/>
        </p:xfrm>
        <a:graphic>
          <a:graphicData uri="http://schemas.openxmlformats.org/drawingml/2006/table">
            <a:tbl>
              <a:tblPr firstRow="1" bandRow="0">
                <a:tableStyleId>{5C22544A-7EE6-4342-B048-85BDC9FD1C3A}</a:tableStyleId>
              </a:tblPr>
              <a:tblGrid>
                <a:gridCol w="4206240"/>
                <a:gridCol w="3383280"/>
                <a:gridCol w="4892040"/>
                <a:gridCol w="3291840"/>
              </a:tblGrid>
              <a:tr h="685800">
                <a:tc>
                  <a:txBody>
                    <a:bodyPr wrap="square"/>
                    <a:lstStyle/>
                    <a:p>
                      <a:pPr algn="l"/>
                      <a:r>
                        <a:rPr sz="1600">
                          <a:solidFill>
                            <a:srgbClr val="FFFFFF"/>
                          </a:solidFill>
                          <a:latin typeface="+mj-lt"/>
                        </a:rPr>
                        <a:t>Action</a:t>
                      </a:r>
                    </a:p>
                  </a:txBody>
                  <a:tcPr marL="182880" marR="182880" marT="73152" marB="73152" anchor="ctr">
                    <a:solidFill>
                      <a:srgbClr val="032954"/>
                    </a:solidFill>
                  </a:tcPr>
                </a:tc>
                <a:tc>
                  <a:txBody>
                    <a:bodyPr wrap="square"/>
                    <a:lstStyle/>
                    <a:p>
                      <a:pPr algn="l"/>
                      <a:r>
                        <a:rPr sz="1600">
                          <a:solidFill>
                            <a:srgbClr val="FFFFFF"/>
                          </a:solidFill>
                          <a:latin typeface="+mj-lt"/>
                        </a:rPr>
                        <a:t>Runs how</a:t>
                      </a:r>
                    </a:p>
                  </a:txBody>
                  <a:tcPr marL="182880" marR="182880" marT="73152" marB="73152" anchor="ctr">
                    <a:solidFill>
                      <a:srgbClr val="032954"/>
                    </a:solidFill>
                  </a:tcPr>
                </a:tc>
                <a:tc>
                  <a:txBody>
                    <a:bodyPr wrap="square"/>
                    <a:lstStyle/>
                    <a:p>
                      <a:pPr algn="l"/>
                      <a:r>
                        <a:rPr sz="1600">
                          <a:solidFill>
                            <a:srgbClr val="FFFFFF"/>
                          </a:solidFill>
                          <a:latin typeface="+mj-lt"/>
                        </a:rPr>
                        <a:t>Boundary</a:t>
                      </a:r>
                    </a:p>
                  </a:txBody>
                  <a:tcPr marL="182880" marR="182880" marT="73152" marB="73152" anchor="ctr">
                    <a:solidFill>
                      <a:srgbClr val="032954"/>
                    </a:solidFill>
                  </a:tcPr>
                </a:tc>
                <a:tc>
                  <a:txBody>
                    <a:bodyPr wrap="square"/>
                    <a:lstStyle/>
                    <a:p>
                      <a:pPr algn="l"/>
                      <a:r>
                        <a:rPr sz="1600">
                          <a:solidFill>
                            <a:srgbClr val="FFFFFF"/>
                          </a:solidFill>
                          <a:latin typeface="+mj-lt"/>
                        </a:rPr>
                        <a:t>Escalates to</a:t>
                      </a:r>
                    </a:p>
                  </a:txBody>
                  <a:tcPr marL="182880" marR="182880" marT="73152" marB="73152" anchor="ctr">
                    <a:solidFill>
                      <a:srgbClr val="032954"/>
                    </a:solidFill>
                  </a:tcPr>
                </a:tc>
              </a:tr>
              <a:tr h="1060704">
                <a:tc>
                  <a:txBody>
                    <a:bodyPr wrap="square"/>
                    <a:lstStyle/>
                    <a:p>
                      <a:pPr algn="l"/>
                      <a:r>
                        <a:rPr sz="1400">
                          <a:solidFill>
                            <a:srgbClr val="262626"/>
                          </a:solidFill>
                          <a:latin typeface="+mj-lt"/>
                        </a:rPr>
                        <a:t>Send an appointment reminder</a:t>
                      </a:r>
                    </a:p>
                  </a:txBody>
                  <a:tcPr marL="182880" marR="182880" marT="73152" marB="73152" anchor="ctr">
                    <a:solidFill>
                      <a:srgbClr val="FFFFFF"/>
                    </a:solidFill>
                  </a:tcPr>
                </a:tc>
                <a:tc>
                  <a:txBody>
                    <a:bodyPr wrap="square"/>
                    <a:lstStyle/>
                    <a:p>
                      <a:pPr algn="l"/>
                      <a:r>
                        <a:rPr sz="1400">
                          <a:solidFill>
                            <a:srgbClr val="0766D1"/>
                          </a:solidFill>
                        </a:rPr>
                        <a:t>4 · Autonomous</a:t>
                      </a:r>
                    </a:p>
                  </a:txBody>
                  <a:tcPr marL="182880" marR="182880" marT="73152" marB="73152" anchor="ctr">
                    <a:solidFill>
                      <a:srgbClr val="FFFFFF"/>
                    </a:solidFill>
                  </a:tcPr>
                </a:tc>
                <a:tc>
                  <a:txBody>
                    <a:bodyPr wrap="square"/>
                    <a:lstStyle/>
                    <a:p>
                      <a:pPr algn="l"/>
                      <a:r>
                        <a:rPr sz="1400">
                          <a:solidFill>
                            <a:srgbClr val="262626"/>
                          </a:solidFill>
                        </a:rPr>
                        <a:t>Approved templates only; 08:00–20:00; max two attempts</a:t>
                      </a:r>
                    </a:p>
                  </a:txBody>
                  <a:tcPr marL="182880" marR="182880" marT="73152" marB="73152" anchor="ctr">
                    <a:solidFill>
                      <a:srgbClr val="FFFFFF"/>
                    </a:solidFill>
                  </a:tcPr>
                </a:tc>
                <a:tc>
                  <a:txBody>
                    <a:bodyPr wrap="square"/>
                    <a:lstStyle/>
                    <a:p>
                      <a:pPr algn="l"/>
                      <a:r>
                        <a:rPr sz="1400">
                          <a:solidFill>
                            <a:srgbClr val="262626"/>
                          </a:solidFill>
                        </a:rPr>
                        <a:t>—</a:t>
                      </a:r>
                    </a:p>
                  </a:txBody>
                  <a:tcPr marL="182880" marR="182880" marT="73152" marB="73152" anchor="ctr">
                    <a:solidFill>
                      <a:srgbClr val="FFFFFF"/>
                    </a:solidFill>
                  </a:tcPr>
                </a:tc>
              </a:tr>
              <a:tr h="1060704">
                <a:tc>
                  <a:txBody>
                    <a:bodyPr wrap="square"/>
                    <a:lstStyle/>
                    <a:p>
                      <a:pPr algn="l"/>
                      <a:r>
                        <a:rPr sz="1400">
                          <a:solidFill>
                            <a:srgbClr val="262626"/>
                          </a:solidFill>
                          <a:latin typeface="+mj-lt"/>
                        </a:rPr>
                        <a:t>Rebook a routine follow-up</a:t>
                      </a:r>
                    </a:p>
                  </a:txBody>
                  <a:tcPr marL="182880" marR="182880" marT="73152" marB="73152" anchor="ctr">
                    <a:solidFill>
                      <a:srgbClr val="F0F1F3"/>
                    </a:solidFill>
                  </a:tcPr>
                </a:tc>
                <a:tc>
                  <a:txBody>
                    <a:bodyPr wrap="square"/>
                    <a:lstStyle/>
                    <a:p>
                      <a:pPr algn="l"/>
                      <a:r>
                        <a:rPr sz="1400">
                          <a:solidFill>
                            <a:srgbClr val="0766D1"/>
                          </a:solidFill>
                        </a:rPr>
                        <a:t>4 · Autonomous, with patient consent</a:t>
                      </a:r>
                    </a:p>
                  </a:txBody>
                  <a:tcPr marL="182880" marR="182880" marT="73152" marB="73152" anchor="ctr">
                    <a:solidFill>
                      <a:srgbClr val="F0F1F3"/>
                    </a:solidFill>
                  </a:tcPr>
                </a:tc>
                <a:tc>
                  <a:txBody>
                    <a:bodyPr wrap="square"/>
                    <a:lstStyle/>
                    <a:p>
                      <a:pPr algn="l"/>
                      <a:r>
                        <a:rPr sz="1400">
                          <a:solidFill>
                            <a:srgbClr val="262626"/>
                          </a:solidFill>
                        </a:rPr>
                        <a:t>Within 14 days, same clinic, never cancel</a:t>
                      </a:r>
                    </a:p>
                  </a:txBody>
                  <a:tcPr marL="182880" marR="182880" marT="73152" marB="73152" anchor="ctr">
                    <a:solidFill>
                      <a:srgbClr val="F0F1F3"/>
                    </a:solidFill>
                  </a:tcPr>
                </a:tc>
                <a:tc>
                  <a:txBody>
                    <a:bodyPr wrap="square"/>
                    <a:lstStyle/>
                    <a:p>
                      <a:pPr algn="l"/>
                      <a:r>
                        <a:rPr sz="1400">
                          <a:solidFill>
                            <a:srgbClr val="262626"/>
                          </a:solidFill>
                        </a:rPr>
                        <a:t>Coordinator if no slot fits</a:t>
                      </a:r>
                    </a:p>
                  </a:txBody>
                  <a:tcPr marL="182880" marR="182880" marT="73152" marB="73152" anchor="ctr">
                    <a:solidFill>
                      <a:srgbClr val="F0F1F3"/>
                    </a:solidFill>
                  </a:tcPr>
                </a:tc>
              </a:tr>
              <a:tr h="1060704">
                <a:tc>
                  <a:txBody>
                    <a:bodyPr wrap="square"/>
                    <a:lstStyle/>
                    <a:p>
                      <a:pPr algn="l"/>
                      <a:r>
                        <a:rPr sz="1400">
                          <a:solidFill>
                            <a:srgbClr val="262626"/>
                          </a:solidFill>
                          <a:latin typeface="+mj-lt"/>
                        </a:rPr>
                        <a:t>Offer a freed slot to the waiting list</a:t>
                      </a:r>
                    </a:p>
                  </a:txBody>
                  <a:tcPr marL="182880" marR="182880" marT="73152" marB="73152" anchor="ctr">
                    <a:solidFill>
                      <a:srgbClr val="FFFFFF"/>
                    </a:solidFill>
                  </a:tcPr>
                </a:tc>
                <a:tc>
                  <a:txBody>
                    <a:bodyPr wrap="square"/>
                    <a:lstStyle/>
                    <a:p>
                      <a:pPr algn="l"/>
                      <a:r>
                        <a:rPr sz="1400">
                          <a:solidFill>
                            <a:srgbClr val="0766D1"/>
                          </a:solidFill>
                        </a:rPr>
                        <a:t>3 · Supervise</a:t>
                      </a:r>
                    </a:p>
                  </a:txBody>
                  <a:tcPr marL="182880" marR="182880" marT="73152" marB="73152" anchor="ctr">
                    <a:solidFill>
                      <a:srgbClr val="FFFFFF"/>
                    </a:solidFill>
                  </a:tcPr>
                </a:tc>
                <a:tc>
                  <a:txBody>
                    <a:bodyPr wrap="square"/>
                    <a:lstStyle/>
                    <a:p>
                      <a:pPr algn="l"/>
                      <a:r>
                        <a:rPr sz="1400">
                          <a:solidFill>
                            <a:srgbClr val="262626"/>
                          </a:solidFill>
                        </a:rPr>
                        <a:t>Same specialty, in priority order</a:t>
                      </a:r>
                    </a:p>
                  </a:txBody>
                  <a:tcPr marL="182880" marR="182880" marT="73152" marB="73152" anchor="ctr">
                    <a:solidFill>
                      <a:srgbClr val="FFFFFF"/>
                    </a:solidFill>
                  </a:tcPr>
                </a:tc>
                <a:tc>
                  <a:txBody>
                    <a:bodyPr wrap="square"/>
                    <a:lstStyle/>
                    <a:p>
                      <a:pPr algn="l"/>
                      <a:r>
                        <a:rPr sz="1400">
                          <a:solidFill>
                            <a:srgbClr val="262626"/>
                          </a:solidFill>
                        </a:rPr>
                        <a:t>Coordinator, daily summary</a:t>
                      </a:r>
                    </a:p>
                  </a:txBody>
                  <a:tcPr marL="182880" marR="182880" marT="73152" marB="73152" anchor="ctr">
                    <a:solidFill>
                      <a:srgbClr val="FFFFFF"/>
                    </a:solidFill>
                  </a:tcPr>
                </a:tc>
              </a:tr>
              <a:tr h="1060704">
                <a:tc>
                  <a:txBody>
                    <a:bodyPr wrap="square"/>
                    <a:lstStyle/>
                    <a:p>
                      <a:pPr algn="l"/>
                      <a:r>
                        <a:rPr sz="1400">
                          <a:solidFill>
                            <a:srgbClr val="262626"/>
                          </a:solidFill>
                          <a:latin typeface="+mj-lt"/>
                        </a:rPr>
                        <a:t>Move a specialist appointment</a:t>
                      </a:r>
                    </a:p>
                  </a:txBody>
                  <a:tcPr marL="182880" marR="182880" marT="73152" marB="73152" anchor="ctr">
                    <a:solidFill>
                      <a:srgbClr val="F0F1F3"/>
                    </a:solidFill>
                  </a:tcPr>
                </a:tc>
                <a:tc>
                  <a:txBody>
                    <a:bodyPr wrap="square"/>
                    <a:lstStyle/>
                    <a:p>
                      <a:pPr algn="l"/>
                      <a:r>
                        <a:rPr sz="1400">
                          <a:solidFill>
                            <a:srgbClr val="0766D1"/>
                          </a:solidFill>
                        </a:rPr>
                        <a:t>2 · Approve</a:t>
                      </a:r>
                    </a:p>
                  </a:txBody>
                  <a:tcPr marL="182880" marR="182880" marT="73152" marB="73152" anchor="ctr">
                    <a:solidFill>
                      <a:srgbClr val="F0F1F3"/>
                    </a:solidFill>
                  </a:tcPr>
                </a:tc>
                <a:tc>
                  <a:txBody>
                    <a:bodyPr wrap="square"/>
                    <a:lstStyle/>
                    <a:p>
                      <a:pPr algn="l"/>
                      <a:r>
                        <a:rPr sz="1400">
                          <a:solidFill>
                            <a:srgbClr val="262626"/>
                          </a:solidFill>
                        </a:rPr>
                        <a:t>Never without the clinician's OK</a:t>
                      </a:r>
                    </a:p>
                  </a:txBody>
                  <a:tcPr marL="182880" marR="182880" marT="73152" marB="73152" anchor="ctr">
                    <a:solidFill>
                      <a:srgbClr val="F0F1F3"/>
                    </a:solidFill>
                  </a:tcPr>
                </a:tc>
                <a:tc>
                  <a:txBody>
                    <a:bodyPr wrap="square"/>
                    <a:lstStyle/>
                    <a:p>
                      <a:pPr algn="l"/>
                      <a:r>
                        <a:rPr sz="1400">
                          <a:solidFill>
                            <a:srgbClr val="262626"/>
                          </a:solidFill>
                        </a:rPr>
                        <a:t>Clinic lead, same day</a:t>
                      </a:r>
                    </a:p>
                  </a:txBody>
                  <a:tcPr marL="182880" marR="182880" marT="73152" marB="73152" anchor="ctr">
                    <a:solidFill>
                      <a:srgbClr val="F0F1F3"/>
                    </a:solidFill>
                  </a:tcPr>
                </a:tc>
              </a:tr>
              <a:tr h="1060704">
                <a:tc>
                  <a:txBody>
                    <a:bodyPr wrap="square"/>
                    <a:lstStyle/>
                    <a:p>
                      <a:pPr algn="l"/>
                      <a:r>
                        <a:rPr sz="1400">
                          <a:solidFill>
                            <a:srgbClr val="262626"/>
                          </a:solidFill>
                          <a:latin typeface="+mj-lt"/>
                        </a:rPr>
                        <a:t>Any clinical question or distress</a:t>
                      </a:r>
                    </a:p>
                  </a:txBody>
                  <a:tcPr marL="182880" marR="182880" marT="73152" marB="73152" anchor="ctr">
                    <a:solidFill>
                      <a:srgbClr val="FFFFFF"/>
                    </a:solidFill>
                  </a:tcPr>
                </a:tc>
                <a:tc>
                  <a:txBody>
                    <a:bodyPr wrap="square"/>
                    <a:lstStyle/>
                    <a:p>
                      <a:pPr algn="l"/>
                      <a:r>
                        <a:rPr sz="1400">
                          <a:solidFill>
                            <a:srgbClr val="C00000"/>
                          </a:solidFill>
                        </a:rPr>
                        <a:t>Human only</a:t>
                      </a:r>
                    </a:p>
                  </a:txBody>
                  <a:tcPr marL="182880" marR="182880" marT="73152" marB="73152" anchor="ctr">
                    <a:solidFill>
                      <a:srgbClr val="FFFFFF"/>
                    </a:solidFill>
                  </a:tcPr>
                </a:tc>
                <a:tc>
                  <a:txBody>
                    <a:bodyPr wrap="square"/>
                    <a:lstStyle/>
                    <a:p>
                      <a:pPr algn="l"/>
                      <a:r>
                        <a:rPr sz="1400">
                          <a:solidFill>
                            <a:srgbClr val="262626"/>
                          </a:solidFill>
                        </a:rPr>
                        <a:t>The agent never answers; it acknowledges and hands over</a:t>
                      </a:r>
                    </a:p>
                  </a:txBody>
                  <a:tcPr marL="182880" marR="182880" marT="73152" marB="73152" anchor="ctr">
                    <a:solidFill>
                      <a:srgbClr val="FFFFFF"/>
                    </a:solidFill>
                  </a:tcPr>
                </a:tc>
                <a:tc>
                  <a:txBody>
                    <a:bodyPr wrap="square"/>
                    <a:lstStyle/>
                    <a:p>
                      <a:pPr algn="l"/>
                      <a:r>
                        <a:rPr sz="1400">
                          <a:solidFill>
                            <a:srgbClr val="262626"/>
                          </a:solidFill>
                        </a:rPr>
                        <a:t>Nurse line, immediately</a:t>
                      </a:r>
                    </a:p>
                  </a:txBody>
                  <a:tcPr marL="182880" marR="182880" marT="73152" marB="73152"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4800"/>
              <a:t>Your turn: where would you put the human?</a:t>
            </a:r>
          </a:p>
        </p:txBody>
      </p:sp>
      <p:sp>
        <p:nvSpPr>
          <p:cNvPr id="3" name="Text Placeholder 2"/>
          <p:cNvSpPr>
            <a:spLocks noGrp="1"/>
          </p:cNvSpPr>
          <p:nvPr>
            <p:ph type="body" idx="10" sz="quarter"/>
          </p:nvPr>
        </p:nvSpPr>
        <p:spPr/>
        <p:txBody>
          <a:bodyPr/>
          <a:lstStyle/>
          <a:p>
            <a:r>
              <a:rPr sz="3000"/>
              <a:t>5 minutes in pairs. Three clinical scenarios, three quick decisions each.</a:t>
            </a:r>
          </a:p>
        </p:txBody>
      </p:sp>
      <p:sp>
        <p:nvSpPr>
          <p:cNvPr id="5" name="Rounded Rectangle 4"/>
          <p:cNvSpPr/>
          <p:nvPr/>
        </p:nvSpPr>
        <p:spPr>
          <a:xfrm>
            <a:off x="1252728" y="3200400"/>
            <a:ext cx="4983480" cy="3794760"/>
          </a:xfrm>
          <a:prstGeom prst="roundRect">
            <a:avLst>
              <a:gd name="adj" fmla="val 674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218688" y="2674620"/>
            <a:ext cx="1051560" cy="105156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ask_w.png"/>
          <p:cNvPicPr>
            <a:picLocks noChangeAspect="1"/>
          </p:cNvPicPr>
          <p:nvPr/>
        </p:nvPicPr>
        <p:blipFill>
          <a:blip r:embed="rId2"/>
          <a:stretch>
            <a:fillRect/>
          </a:stretch>
        </p:blipFill>
        <p:spPr>
          <a:xfrm>
            <a:off x="3471062" y="2926994"/>
            <a:ext cx="546811" cy="546811"/>
          </a:xfrm>
          <a:prstGeom prst="rect">
            <a:avLst/>
          </a:prstGeom>
        </p:spPr>
      </p:pic>
      <p:sp>
        <p:nvSpPr>
          <p:cNvPr id="8" name="TextBox 7"/>
          <p:cNvSpPr txBox="1"/>
          <p:nvPr/>
        </p:nvSpPr>
        <p:spPr>
          <a:xfrm>
            <a:off x="1527048" y="3977639"/>
            <a:ext cx="4434840" cy="548640"/>
          </a:xfrm>
          <a:prstGeom prst="rect">
            <a:avLst/>
          </a:prstGeom>
          <a:noFill/>
        </p:spPr>
        <p:txBody>
          <a:bodyPr wrap="square" lIns="45720" tIns="27432" rIns="45720" bIns="27432" anchor="t">
            <a:spAutoFit/>
          </a:bodyPr>
          <a:lstStyle/>
          <a:p>
            <a:pPr algn="ctr"/>
            <a:r>
              <a:rPr sz="2000">
                <a:solidFill>
                  <a:srgbClr val="262626"/>
                </a:solidFill>
                <a:latin typeface="+mj-lt"/>
              </a:rPr>
              <a:t>A · Lab results agent</a:t>
            </a:r>
          </a:p>
        </p:txBody>
      </p:sp>
      <p:sp>
        <p:nvSpPr>
          <p:cNvPr id="9" name="TextBox 8"/>
          <p:cNvSpPr txBox="1"/>
          <p:nvPr/>
        </p:nvSpPr>
        <p:spPr>
          <a:xfrm>
            <a:off x="1664208" y="4709160"/>
            <a:ext cx="4160520" cy="2103120"/>
          </a:xfrm>
          <a:prstGeom prst="rect">
            <a:avLst/>
          </a:prstGeom>
          <a:noFill/>
        </p:spPr>
        <p:txBody>
          <a:bodyPr wrap="square" lIns="45720" tIns="27432" rIns="45720" bIns="27432" anchor="t">
            <a:spAutoFit/>
          </a:bodyPr>
          <a:lstStyle/>
          <a:p>
            <a:pPr algn="ctr"/>
            <a:r>
              <a:rPr sz="1500">
                <a:solidFill>
                  <a:srgbClr val="262626"/>
                </a:solidFill>
              </a:rPr>
              <a:t>Tells patients when routine results are normal, and books a follow-up when a result is abnormal.</a:t>
            </a:r>
          </a:p>
        </p:txBody>
      </p:sp>
      <p:sp>
        <p:nvSpPr>
          <p:cNvPr id="10" name="Rounded Rectangle 9"/>
          <p:cNvSpPr/>
          <p:nvPr/>
        </p:nvSpPr>
        <p:spPr>
          <a:xfrm>
            <a:off x="6647688" y="3200400"/>
            <a:ext cx="4983480" cy="3794760"/>
          </a:xfrm>
          <a:prstGeom prst="roundRect">
            <a:avLst>
              <a:gd name="adj" fmla="val 674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613648" y="2674620"/>
            <a:ext cx="1051560" cy="105156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ill_w.png"/>
          <p:cNvPicPr>
            <a:picLocks noChangeAspect="1"/>
          </p:cNvPicPr>
          <p:nvPr/>
        </p:nvPicPr>
        <p:blipFill>
          <a:blip r:embed="rId3"/>
          <a:stretch>
            <a:fillRect/>
          </a:stretch>
        </p:blipFill>
        <p:spPr>
          <a:xfrm>
            <a:off x="8866022" y="2926994"/>
            <a:ext cx="546811" cy="546811"/>
          </a:xfrm>
          <a:prstGeom prst="rect">
            <a:avLst/>
          </a:prstGeom>
        </p:spPr>
      </p:pic>
      <p:sp>
        <p:nvSpPr>
          <p:cNvPr id="13" name="TextBox 12"/>
          <p:cNvSpPr txBox="1"/>
          <p:nvPr/>
        </p:nvSpPr>
        <p:spPr>
          <a:xfrm>
            <a:off x="6922008" y="3977639"/>
            <a:ext cx="4434840" cy="548640"/>
          </a:xfrm>
          <a:prstGeom prst="rect">
            <a:avLst/>
          </a:prstGeom>
          <a:noFill/>
        </p:spPr>
        <p:txBody>
          <a:bodyPr wrap="square" lIns="45720" tIns="27432" rIns="45720" bIns="27432" anchor="t">
            <a:spAutoFit/>
          </a:bodyPr>
          <a:lstStyle/>
          <a:p>
            <a:pPr algn="ctr"/>
            <a:r>
              <a:rPr sz="2000">
                <a:solidFill>
                  <a:srgbClr val="262626"/>
                </a:solidFill>
                <a:latin typeface="+mj-lt"/>
              </a:rPr>
              <a:t>B · Repeat prescription agent</a:t>
            </a:r>
          </a:p>
        </p:txBody>
      </p:sp>
      <p:sp>
        <p:nvSpPr>
          <p:cNvPr id="14" name="TextBox 13"/>
          <p:cNvSpPr txBox="1"/>
          <p:nvPr/>
        </p:nvSpPr>
        <p:spPr>
          <a:xfrm>
            <a:off x="7059168" y="4709160"/>
            <a:ext cx="4160520" cy="2103120"/>
          </a:xfrm>
          <a:prstGeom prst="rect">
            <a:avLst/>
          </a:prstGeom>
          <a:noFill/>
        </p:spPr>
        <p:txBody>
          <a:bodyPr wrap="square" lIns="45720" tIns="27432" rIns="45720" bIns="27432" anchor="t">
            <a:spAutoFit/>
          </a:bodyPr>
          <a:lstStyle/>
          <a:p>
            <a:pPr algn="ctr"/>
            <a:r>
              <a:rPr sz="1500">
                <a:solidFill>
                  <a:srgbClr val="262626"/>
                </a:solidFill>
              </a:rPr>
              <a:t>Handles renewal requests from patients with stable chronic conditions and prepares them for sign-off.</a:t>
            </a:r>
          </a:p>
        </p:txBody>
      </p:sp>
      <p:sp>
        <p:nvSpPr>
          <p:cNvPr id="15" name="Rounded Rectangle 14"/>
          <p:cNvSpPr/>
          <p:nvPr/>
        </p:nvSpPr>
        <p:spPr>
          <a:xfrm>
            <a:off x="12042648" y="3200400"/>
            <a:ext cx="4983480" cy="3794760"/>
          </a:xfrm>
          <a:prstGeom prst="roundRect">
            <a:avLst>
              <a:gd name="adj" fmla="val 674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4008608" y="2674620"/>
            <a:ext cx="1051560" cy="1051560"/>
          </a:xfrm>
          <a:prstGeom prst="ellipse">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at_w.png"/>
          <p:cNvPicPr>
            <a:picLocks noChangeAspect="1"/>
          </p:cNvPicPr>
          <p:nvPr/>
        </p:nvPicPr>
        <p:blipFill>
          <a:blip r:embed="rId4"/>
          <a:stretch>
            <a:fillRect/>
          </a:stretch>
        </p:blipFill>
        <p:spPr>
          <a:xfrm>
            <a:off x="14260982" y="2926994"/>
            <a:ext cx="546811" cy="546811"/>
          </a:xfrm>
          <a:prstGeom prst="rect">
            <a:avLst/>
          </a:prstGeom>
        </p:spPr>
      </p:pic>
      <p:sp>
        <p:nvSpPr>
          <p:cNvPr id="18" name="TextBox 17"/>
          <p:cNvSpPr txBox="1"/>
          <p:nvPr/>
        </p:nvSpPr>
        <p:spPr>
          <a:xfrm>
            <a:off x="12316968" y="3977639"/>
            <a:ext cx="4434840" cy="548640"/>
          </a:xfrm>
          <a:prstGeom prst="rect">
            <a:avLst/>
          </a:prstGeom>
          <a:noFill/>
        </p:spPr>
        <p:txBody>
          <a:bodyPr wrap="square" lIns="45720" tIns="27432" rIns="45720" bIns="27432" anchor="t">
            <a:spAutoFit/>
          </a:bodyPr>
          <a:lstStyle/>
          <a:p>
            <a:pPr algn="ctr"/>
            <a:r>
              <a:rPr sz="2000">
                <a:solidFill>
                  <a:srgbClr val="262626"/>
                </a:solidFill>
                <a:latin typeface="+mj-lt"/>
              </a:rPr>
              <a:t>C · Patient feedback agent</a:t>
            </a:r>
          </a:p>
        </p:txBody>
      </p:sp>
      <p:sp>
        <p:nvSpPr>
          <p:cNvPr id="19" name="TextBox 18"/>
          <p:cNvSpPr txBox="1"/>
          <p:nvPr/>
        </p:nvSpPr>
        <p:spPr>
          <a:xfrm>
            <a:off x="12454128" y="4709160"/>
            <a:ext cx="4160520" cy="2103120"/>
          </a:xfrm>
          <a:prstGeom prst="rect">
            <a:avLst/>
          </a:prstGeom>
          <a:noFill/>
        </p:spPr>
        <p:txBody>
          <a:bodyPr wrap="square" lIns="45720" tIns="27432" rIns="45720" bIns="27432" anchor="t">
            <a:spAutoFit/>
          </a:bodyPr>
          <a:lstStyle/>
          <a:p>
            <a:pPr algn="ctr"/>
            <a:r>
              <a:rPr sz="1500">
                <a:solidFill>
                  <a:srgbClr val="262626"/>
                </a:solidFill>
              </a:rPr>
              <a:t>Reads complaints and compliments, routes them to the right department, and replies to the patient.</a:t>
            </a:r>
          </a:p>
        </p:txBody>
      </p:sp>
      <p:sp>
        <p:nvSpPr>
          <p:cNvPr id="20" name="Rounded Rectangle 19"/>
          <p:cNvSpPr/>
          <p:nvPr/>
        </p:nvSpPr>
        <p:spPr>
          <a:xfrm>
            <a:off x="1252728" y="7406640"/>
            <a:ext cx="4983480" cy="1234440"/>
          </a:xfrm>
          <a:prstGeom prst="roundRect">
            <a:avLst>
              <a:gd name="adj" fmla="val 14814"/>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527048" y="7703820"/>
            <a:ext cx="640080" cy="64008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a:solidFill>
                  <a:srgbClr val="FFFFFF"/>
                </a:solidFill>
                <a:latin typeface="+mj-lt"/>
              </a:rPr>
              <a:t>1</a:t>
            </a:r>
          </a:p>
        </p:txBody>
      </p:sp>
      <p:sp>
        <p:nvSpPr>
          <p:cNvPr id="22" name="TextBox 21"/>
          <p:cNvSpPr txBox="1"/>
          <p:nvPr/>
        </p:nvSpPr>
        <p:spPr>
          <a:xfrm>
            <a:off x="2350008" y="7589519"/>
            <a:ext cx="3703320" cy="411480"/>
          </a:xfrm>
          <a:prstGeom prst="rect">
            <a:avLst/>
          </a:prstGeom>
          <a:noFill/>
        </p:spPr>
        <p:txBody>
          <a:bodyPr wrap="square" lIns="45720" tIns="27432" rIns="45720" bIns="27432" anchor="t">
            <a:spAutoFit/>
          </a:bodyPr>
          <a:lstStyle/>
          <a:p>
            <a:pPr algn="l"/>
            <a:r>
              <a:rPr sz="1600">
                <a:solidFill>
                  <a:srgbClr val="032954"/>
                </a:solidFill>
                <a:latin typeface="+mj-lt"/>
              </a:rPr>
              <a:t>Which autonomy level?</a:t>
            </a:r>
          </a:p>
        </p:txBody>
      </p:sp>
      <p:sp>
        <p:nvSpPr>
          <p:cNvPr id="23" name="TextBox 22"/>
          <p:cNvSpPr txBox="1"/>
          <p:nvPr/>
        </p:nvSpPr>
        <p:spPr>
          <a:xfrm>
            <a:off x="2350008" y="8001000"/>
            <a:ext cx="3703320" cy="548640"/>
          </a:xfrm>
          <a:prstGeom prst="rect">
            <a:avLst/>
          </a:prstGeom>
          <a:noFill/>
        </p:spPr>
        <p:txBody>
          <a:bodyPr wrap="square" lIns="45720" tIns="27432" rIns="45720" bIns="27432" anchor="t">
            <a:spAutoFit/>
          </a:bodyPr>
          <a:lstStyle/>
          <a:p>
            <a:pPr algn="l"/>
            <a:r>
              <a:rPr sz="1300">
                <a:solidFill>
                  <a:srgbClr val="7E889A"/>
                </a:solidFill>
              </a:rPr>
              <a:t>Assist, Approve, Supervise or Autonomous, per action</a:t>
            </a:r>
          </a:p>
        </p:txBody>
      </p:sp>
      <p:sp>
        <p:nvSpPr>
          <p:cNvPr id="24" name="Rounded Rectangle 23"/>
          <p:cNvSpPr/>
          <p:nvPr/>
        </p:nvSpPr>
        <p:spPr>
          <a:xfrm>
            <a:off x="6647688" y="7406640"/>
            <a:ext cx="4983480" cy="1234440"/>
          </a:xfrm>
          <a:prstGeom prst="roundRect">
            <a:avLst>
              <a:gd name="adj" fmla="val 14814"/>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922008" y="7703820"/>
            <a:ext cx="640080" cy="64008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a:solidFill>
                  <a:srgbClr val="FFFFFF"/>
                </a:solidFill>
                <a:latin typeface="+mj-lt"/>
              </a:rPr>
              <a:t>2</a:t>
            </a:r>
          </a:p>
        </p:txBody>
      </p:sp>
      <p:sp>
        <p:nvSpPr>
          <p:cNvPr id="26" name="TextBox 25"/>
          <p:cNvSpPr txBox="1"/>
          <p:nvPr/>
        </p:nvSpPr>
        <p:spPr>
          <a:xfrm>
            <a:off x="7744968" y="7589519"/>
            <a:ext cx="3703320" cy="411480"/>
          </a:xfrm>
          <a:prstGeom prst="rect">
            <a:avLst/>
          </a:prstGeom>
          <a:noFill/>
        </p:spPr>
        <p:txBody>
          <a:bodyPr wrap="square" lIns="45720" tIns="27432" rIns="45720" bIns="27432" anchor="t">
            <a:spAutoFit/>
          </a:bodyPr>
          <a:lstStyle/>
          <a:p>
            <a:pPr algn="l"/>
            <a:r>
              <a:rPr sz="1600">
                <a:solidFill>
                  <a:srgbClr val="032954"/>
                </a:solidFill>
                <a:latin typeface="+mj-lt"/>
              </a:rPr>
              <a:t>One boundary you insist on</a:t>
            </a:r>
          </a:p>
        </p:txBody>
      </p:sp>
      <p:sp>
        <p:nvSpPr>
          <p:cNvPr id="27" name="TextBox 26"/>
          <p:cNvSpPr txBox="1"/>
          <p:nvPr/>
        </p:nvSpPr>
        <p:spPr>
          <a:xfrm>
            <a:off x="7744968" y="8001000"/>
            <a:ext cx="3703320" cy="548640"/>
          </a:xfrm>
          <a:prstGeom prst="rect">
            <a:avLst/>
          </a:prstGeom>
          <a:noFill/>
        </p:spPr>
        <p:txBody>
          <a:bodyPr wrap="square" lIns="45720" tIns="27432" rIns="45720" bIns="27432" anchor="t">
            <a:spAutoFit/>
          </a:bodyPr>
          <a:lstStyle/>
          <a:p>
            <a:pPr algn="l"/>
            <a:r>
              <a:rPr sz="1300">
                <a:solidFill>
                  <a:srgbClr val="7E889A"/>
                </a:solidFill>
              </a:rPr>
              <a:t>Scope, permission, limit or hard rule</a:t>
            </a:r>
          </a:p>
        </p:txBody>
      </p:sp>
      <p:sp>
        <p:nvSpPr>
          <p:cNvPr id="28" name="Rounded Rectangle 27"/>
          <p:cNvSpPr/>
          <p:nvPr/>
        </p:nvSpPr>
        <p:spPr>
          <a:xfrm>
            <a:off x="12042648" y="7406640"/>
            <a:ext cx="4983480" cy="1234440"/>
          </a:xfrm>
          <a:prstGeom prst="roundRect">
            <a:avLst>
              <a:gd name="adj" fmla="val 14814"/>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2316968" y="7703820"/>
            <a:ext cx="640080" cy="64008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a:solidFill>
                  <a:srgbClr val="FFFFFF"/>
                </a:solidFill>
                <a:latin typeface="+mj-lt"/>
              </a:rPr>
              <a:t>3</a:t>
            </a:r>
          </a:p>
        </p:txBody>
      </p:sp>
      <p:sp>
        <p:nvSpPr>
          <p:cNvPr id="30" name="TextBox 29"/>
          <p:cNvSpPr txBox="1"/>
          <p:nvPr/>
        </p:nvSpPr>
        <p:spPr>
          <a:xfrm>
            <a:off x="13139928" y="7589519"/>
            <a:ext cx="3703320" cy="411480"/>
          </a:xfrm>
          <a:prstGeom prst="rect">
            <a:avLst/>
          </a:prstGeom>
          <a:noFill/>
        </p:spPr>
        <p:txBody>
          <a:bodyPr wrap="square" lIns="45720" tIns="27432" rIns="45720" bIns="27432" anchor="t">
            <a:spAutoFit/>
          </a:bodyPr>
          <a:lstStyle/>
          <a:p>
            <a:pPr algn="l"/>
            <a:r>
              <a:rPr sz="1600">
                <a:solidFill>
                  <a:srgbClr val="032954"/>
                </a:solidFill>
                <a:latin typeface="+mj-lt"/>
              </a:rPr>
              <a:t>One escalation trigger</a:t>
            </a:r>
          </a:p>
        </p:txBody>
      </p:sp>
      <p:sp>
        <p:nvSpPr>
          <p:cNvPr id="31" name="TextBox 30"/>
          <p:cNvSpPr txBox="1"/>
          <p:nvPr/>
        </p:nvSpPr>
        <p:spPr>
          <a:xfrm>
            <a:off x="13139928" y="8001000"/>
            <a:ext cx="3703320" cy="548640"/>
          </a:xfrm>
          <a:prstGeom prst="rect">
            <a:avLst/>
          </a:prstGeom>
          <a:noFill/>
        </p:spPr>
        <p:txBody>
          <a:bodyPr wrap="square" lIns="45720" tIns="27432" rIns="45720" bIns="27432" anchor="t">
            <a:spAutoFit/>
          </a:bodyPr>
          <a:lstStyle/>
          <a:p>
            <a:pPr algn="l"/>
            <a:r>
              <a:rPr sz="1300">
                <a:solidFill>
                  <a:srgbClr val="7E889A"/>
                </a:solidFill>
              </a:rPr>
              <a:t>And who receives it</a:t>
            </a:r>
          </a:p>
        </p:txBody>
      </p:sp>
      <p:sp>
        <p:nvSpPr>
          <p:cNvPr id="32" name="TextBox 31"/>
          <p:cNvSpPr txBox="1"/>
          <p:nvPr/>
        </p:nvSpPr>
        <p:spPr>
          <a:xfrm>
            <a:off x="1252728" y="8915400"/>
            <a:ext cx="15773400" cy="411480"/>
          </a:xfrm>
          <a:prstGeom prst="rect">
            <a:avLst/>
          </a:prstGeom>
          <a:noFill/>
        </p:spPr>
        <p:txBody>
          <a:bodyPr wrap="square" lIns="45720" tIns="27432" rIns="45720" bIns="27432" anchor="t">
            <a:spAutoFit/>
          </a:bodyPr>
          <a:lstStyle/>
          <a:p>
            <a:pPr algn="l"/>
            <a:r>
              <a:rPr sz="1400">
                <a:solidFill>
                  <a:srgbClr val="7E889A"/>
                </a:solidFill>
              </a:rPr>
              <a:t>We will use your answers in the use-case assessment session that starts at 11:30.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984480" y="0"/>
            <a:ext cx="5303520" cy="10287000"/>
          </a:xfrm>
          <a:prstGeom prst="rect">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52728" y="777240"/>
            <a:ext cx="10972800" cy="914400"/>
          </a:xfrm>
          <a:prstGeom prst="rect">
            <a:avLst/>
          </a:prstGeom>
          <a:noFill/>
        </p:spPr>
        <p:txBody>
          <a:bodyPr wrap="square" lIns="45720" tIns="27432" rIns="45720" bIns="27432" anchor="ctr">
            <a:spAutoFit/>
          </a:bodyPr>
          <a:lstStyle/>
          <a:p>
            <a:pPr algn="l"/>
            <a:r>
              <a:rPr sz="5600">
                <a:solidFill>
                  <a:srgbClr val="FFFFFF"/>
                </a:solidFill>
                <a:latin typeface="+mj-lt"/>
              </a:rPr>
              <a:t>Takeaways</a:t>
            </a:r>
          </a:p>
        </p:txBody>
      </p:sp>
      <p:sp>
        <p:nvSpPr>
          <p:cNvPr id="5" name="TextBox 4"/>
          <p:cNvSpPr txBox="1"/>
          <p:nvPr/>
        </p:nvSpPr>
        <p:spPr>
          <a:xfrm>
            <a:off x="1252728" y="2514600"/>
            <a:ext cx="2011680" cy="1280160"/>
          </a:xfrm>
          <a:prstGeom prst="rect">
            <a:avLst/>
          </a:prstGeom>
          <a:noFill/>
        </p:spPr>
        <p:txBody>
          <a:bodyPr wrap="square" lIns="45720" tIns="27432" rIns="45720" bIns="27432" anchor="t">
            <a:spAutoFit/>
          </a:bodyPr>
          <a:lstStyle/>
          <a:p>
            <a:pPr algn="l"/>
            <a:r>
              <a:rPr sz="6000">
                <a:solidFill>
                  <a:srgbClr val="C4DEFD"/>
                </a:solidFill>
                <a:latin typeface="+mj-lt"/>
              </a:rPr>
              <a:t>01</a:t>
            </a:r>
          </a:p>
        </p:txBody>
      </p:sp>
      <p:sp>
        <p:nvSpPr>
          <p:cNvPr id="6" name="TextBox 5"/>
          <p:cNvSpPr txBox="1"/>
          <p:nvPr/>
        </p:nvSpPr>
        <p:spPr>
          <a:xfrm>
            <a:off x="3383280" y="2651760"/>
            <a:ext cx="9052560" cy="640080"/>
          </a:xfrm>
          <a:prstGeom prst="rect">
            <a:avLst/>
          </a:prstGeom>
          <a:noFill/>
        </p:spPr>
        <p:txBody>
          <a:bodyPr wrap="square" lIns="45720" tIns="27432" rIns="45720" bIns="27432" anchor="t">
            <a:spAutoFit/>
          </a:bodyPr>
          <a:lstStyle/>
          <a:p>
            <a:pPr algn="l"/>
            <a:r>
              <a:rPr sz="2400">
                <a:solidFill>
                  <a:srgbClr val="FFFFFF"/>
                </a:solidFill>
                <a:latin typeface="+mj-lt"/>
              </a:rPr>
              <a:t>An agent is a system, not a model</a:t>
            </a:r>
          </a:p>
        </p:txBody>
      </p:sp>
      <p:sp>
        <p:nvSpPr>
          <p:cNvPr id="7" name="TextBox 6"/>
          <p:cNvSpPr txBox="1"/>
          <p:nvPr/>
        </p:nvSpPr>
        <p:spPr>
          <a:xfrm>
            <a:off x="3383280" y="3291839"/>
            <a:ext cx="9052560" cy="1097280"/>
          </a:xfrm>
          <a:prstGeom prst="rect">
            <a:avLst/>
          </a:prstGeom>
          <a:noFill/>
        </p:spPr>
        <p:txBody>
          <a:bodyPr wrap="square" lIns="45720" tIns="27432" rIns="45720" bIns="27432" anchor="t">
            <a:spAutoFit/>
          </a:bodyPr>
          <a:lstStyle/>
          <a:p>
            <a:pPr algn="l"/>
            <a:r>
              <a:rPr sz="1700">
                <a:solidFill>
                  <a:srgbClr val="C4DEFD"/>
                </a:solidFill>
              </a:rPr>
              <a:t>Goal, planning, knowledge, tools, actions, and human oversight as a building block.</a:t>
            </a:r>
          </a:p>
        </p:txBody>
      </p:sp>
      <p:sp>
        <p:nvSpPr>
          <p:cNvPr id="8" name="TextBox 7"/>
          <p:cNvSpPr txBox="1"/>
          <p:nvPr/>
        </p:nvSpPr>
        <p:spPr>
          <a:xfrm>
            <a:off x="1252728" y="4663440"/>
            <a:ext cx="2011680" cy="1280160"/>
          </a:xfrm>
          <a:prstGeom prst="rect">
            <a:avLst/>
          </a:prstGeom>
          <a:noFill/>
        </p:spPr>
        <p:txBody>
          <a:bodyPr wrap="square" lIns="45720" tIns="27432" rIns="45720" bIns="27432" anchor="t">
            <a:spAutoFit/>
          </a:bodyPr>
          <a:lstStyle/>
          <a:p>
            <a:pPr algn="l"/>
            <a:r>
              <a:rPr sz="6000">
                <a:solidFill>
                  <a:srgbClr val="C4DEFD"/>
                </a:solidFill>
                <a:latin typeface="+mj-lt"/>
              </a:rPr>
              <a:t>02</a:t>
            </a:r>
          </a:p>
        </p:txBody>
      </p:sp>
      <p:sp>
        <p:nvSpPr>
          <p:cNvPr id="9" name="TextBox 8"/>
          <p:cNvSpPr txBox="1"/>
          <p:nvPr/>
        </p:nvSpPr>
        <p:spPr>
          <a:xfrm>
            <a:off x="3383280" y="4800600"/>
            <a:ext cx="9052560" cy="640080"/>
          </a:xfrm>
          <a:prstGeom prst="rect">
            <a:avLst/>
          </a:prstGeom>
          <a:noFill/>
        </p:spPr>
        <p:txBody>
          <a:bodyPr wrap="square" lIns="45720" tIns="27432" rIns="45720" bIns="27432" anchor="t">
            <a:spAutoFit/>
          </a:bodyPr>
          <a:lstStyle/>
          <a:p>
            <a:pPr algn="l"/>
            <a:r>
              <a:rPr sz="2400">
                <a:solidFill>
                  <a:srgbClr val="FFFFFF"/>
                </a:solidFill>
                <a:latin typeface="+mj-lt"/>
              </a:rPr>
              <a:t>The loop runs until the goal is met or a boundary is hit</a:t>
            </a:r>
          </a:p>
        </p:txBody>
      </p:sp>
      <p:sp>
        <p:nvSpPr>
          <p:cNvPr id="10" name="TextBox 9"/>
          <p:cNvSpPr txBox="1"/>
          <p:nvPr/>
        </p:nvSpPr>
        <p:spPr>
          <a:xfrm>
            <a:off x="3383280" y="5440680"/>
            <a:ext cx="9052560" cy="1097280"/>
          </a:xfrm>
          <a:prstGeom prst="rect">
            <a:avLst/>
          </a:prstGeom>
          <a:noFill/>
        </p:spPr>
        <p:txBody>
          <a:bodyPr wrap="square" lIns="45720" tIns="27432" rIns="45720" bIns="27432" anchor="t">
            <a:spAutoFit/>
          </a:bodyPr>
          <a:lstStyle/>
          <a:p>
            <a:pPr algn="l"/>
            <a:r>
              <a:rPr sz="1700">
                <a:solidFill>
                  <a:srgbClr val="C4DEFD"/>
                </a:solidFill>
              </a:rPr>
              <a:t>Think, act, observe, repeat. Every exit is designed and logged.</a:t>
            </a:r>
          </a:p>
        </p:txBody>
      </p:sp>
      <p:sp>
        <p:nvSpPr>
          <p:cNvPr id="11" name="TextBox 10"/>
          <p:cNvSpPr txBox="1"/>
          <p:nvPr/>
        </p:nvSpPr>
        <p:spPr>
          <a:xfrm>
            <a:off x="1252728" y="6812279"/>
            <a:ext cx="2011680" cy="1280160"/>
          </a:xfrm>
          <a:prstGeom prst="rect">
            <a:avLst/>
          </a:prstGeom>
          <a:noFill/>
        </p:spPr>
        <p:txBody>
          <a:bodyPr wrap="square" lIns="45720" tIns="27432" rIns="45720" bIns="27432" anchor="t">
            <a:spAutoFit/>
          </a:bodyPr>
          <a:lstStyle/>
          <a:p>
            <a:pPr algn="l"/>
            <a:r>
              <a:rPr sz="6000">
                <a:solidFill>
                  <a:srgbClr val="C4DEFD"/>
                </a:solidFill>
                <a:latin typeface="+mj-lt"/>
              </a:rPr>
              <a:t>03</a:t>
            </a:r>
          </a:p>
        </p:txBody>
      </p:sp>
      <p:sp>
        <p:nvSpPr>
          <p:cNvPr id="12" name="TextBox 11"/>
          <p:cNvSpPr txBox="1"/>
          <p:nvPr/>
        </p:nvSpPr>
        <p:spPr>
          <a:xfrm>
            <a:off x="3383280" y="6949440"/>
            <a:ext cx="9052560" cy="640080"/>
          </a:xfrm>
          <a:prstGeom prst="rect">
            <a:avLst/>
          </a:prstGeom>
          <a:noFill/>
        </p:spPr>
        <p:txBody>
          <a:bodyPr wrap="square" lIns="45720" tIns="27432" rIns="45720" bIns="27432" anchor="t">
            <a:spAutoFit/>
          </a:bodyPr>
          <a:lstStyle/>
          <a:p>
            <a:pPr algn="l"/>
            <a:r>
              <a:rPr sz="2400">
                <a:solidFill>
                  <a:srgbClr val="FFFFFF"/>
                </a:solidFill>
                <a:latin typeface="+mj-lt"/>
              </a:rPr>
              <a:t>Autonomy is earned and bounded</a:t>
            </a:r>
          </a:p>
        </p:txBody>
      </p:sp>
      <p:sp>
        <p:nvSpPr>
          <p:cNvPr id="13" name="TextBox 12"/>
          <p:cNvSpPr txBox="1"/>
          <p:nvPr/>
        </p:nvSpPr>
        <p:spPr>
          <a:xfrm>
            <a:off x="3383280" y="7589519"/>
            <a:ext cx="9052560" cy="1097280"/>
          </a:xfrm>
          <a:prstGeom prst="rect">
            <a:avLst/>
          </a:prstGeom>
          <a:noFill/>
        </p:spPr>
        <p:txBody>
          <a:bodyPr wrap="square" lIns="45720" tIns="27432" rIns="45720" bIns="27432" anchor="t">
            <a:spAutoFit/>
          </a:bodyPr>
          <a:lstStyle/>
          <a:p>
            <a:pPr algn="l"/>
            <a:r>
              <a:rPr sz="1700">
                <a:solidFill>
                  <a:srgbClr val="C4DEFD"/>
                </a:solidFill>
              </a:rPr>
              <a:t>Set the level per action, write the boundaries and escalation routes before go-live, and step up only with evidence.</a:t>
            </a:r>
          </a:p>
        </p:txBody>
      </p:sp>
      <p:pic>
        <p:nvPicPr>
          <p:cNvPr id="14" name="Picture 13" descr="arrowRight_w.png"/>
          <p:cNvPicPr>
            <a:picLocks noChangeAspect="1"/>
          </p:cNvPicPr>
          <p:nvPr/>
        </p:nvPicPr>
        <p:blipFill>
          <a:blip r:embed="rId2"/>
          <a:stretch>
            <a:fillRect/>
          </a:stretch>
        </p:blipFill>
        <p:spPr>
          <a:xfrm>
            <a:off x="13898880" y="3291840"/>
            <a:ext cx="822960" cy="822960"/>
          </a:xfrm>
          <a:prstGeom prst="rect">
            <a:avLst/>
          </a:prstGeom>
        </p:spPr>
      </p:pic>
      <p:sp>
        <p:nvSpPr>
          <p:cNvPr id="15" name="TextBox 14"/>
          <p:cNvSpPr txBox="1"/>
          <p:nvPr/>
        </p:nvSpPr>
        <p:spPr>
          <a:xfrm>
            <a:off x="13898880" y="4297680"/>
            <a:ext cx="3840480" cy="548640"/>
          </a:xfrm>
          <a:prstGeom prst="rect">
            <a:avLst/>
          </a:prstGeom>
          <a:noFill/>
        </p:spPr>
        <p:txBody>
          <a:bodyPr wrap="square" lIns="45720" tIns="27432" rIns="45720" bIns="27432" anchor="t">
            <a:spAutoFit/>
          </a:bodyPr>
          <a:lstStyle/>
          <a:p>
            <a:pPr algn="l"/>
            <a:r>
              <a:rPr sz="1600">
                <a:solidFill>
                  <a:srgbClr val="C4DEFD"/>
                </a:solidFill>
                <a:latin typeface="+mj-lt"/>
              </a:rPr>
              <a:t>Up next  ·  11:30</a:t>
            </a:r>
          </a:p>
        </p:txBody>
      </p:sp>
      <p:sp>
        <p:nvSpPr>
          <p:cNvPr id="16" name="TextBox 15"/>
          <p:cNvSpPr txBox="1"/>
          <p:nvPr/>
        </p:nvSpPr>
        <p:spPr>
          <a:xfrm>
            <a:off x="13898880" y="4846320"/>
            <a:ext cx="3840480" cy="2011680"/>
          </a:xfrm>
          <a:prstGeom prst="rect">
            <a:avLst/>
          </a:prstGeom>
          <a:noFill/>
        </p:spPr>
        <p:txBody>
          <a:bodyPr wrap="square" lIns="45720" tIns="27432" rIns="45720" bIns="27432" anchor="t">
            <a:spAutoFit/>
          </a:bodyPr>
          <a:lstStyle/>
          <a:p>
            <a:pPr algn="l"/>
            <a:r>
              <a:rPr sz="2600">
                <a:solidFill>
                  <a:srgbClr val="FFFFFF"/>
                </a:solidFill>
                <a:latin typeface="+mj-lt"/>
              </a:rPr>
              <a:t>Identifying &amp; assessing Agentic AI use cases</a:t>
            </a:r>
          </a:p>
        </p:txBody>
      </p:sp>
      <p:sp>
        <p:nvSpPr>
          <p:cNvPr id="17" name="TextBox 16"/>
          <p:cNvSpPr txBox="1"/>
          <p:nvPr/>
        </p:nvSpPr>
        <p:spPr>
          <a:xfrm>
            <a:off x="13898880" y="6766560"/>
            <a:ext cx="3840480" cy="1463040"/>
          </a:xfrm>
          <a:prstGeom prst="rect">
            <a:avLst/>
          </a:prstGeom>
          <a:noFill/>
        </p:spPr>
        <p:txBody>
          <a:bodyPr wrap="square" lIns="45720" tIns="27432" rIns="45720" bIns="27432" anchor="t">
            <a:spAutoFit/>
          </a:bodyPr>
          <a:lstStyle/>
          <a:p>
            <a:pPr algn="l"/>
            <a:r>
              <a:rPr sz="1500">
                <a:solidFill>
                  <a:srgbClr val="C4DEFD"/>
                </a:solidFill>
              </a:rPr>
              <a:t>Bring the No-Show Agent canvas and your exercise answers.</a:t>
            </a:r>
          </a:p>
        </p:txBody>
      </p:sp>
      <p:sp>
        <p:nvSpPr>
          <p:cNvPr id="18" name="TextBox 17"/>
          <p:cNvSpPr txBox="1"/>
          <p:nvPr/>
        </p:nvSpPr>
        <p:spPr>
          <a:xfrm>
            <a:off x="1252728" y="9857232"/>
            <a:ext cx="5486400" cy="246888"/>
          </a:xfrm>
          <a:prstGeom prst="rect">
            <a:avLst/>
          </a:prstGeom>
          <a:noFill/>
        </p:spPr>
        <p:txBody>
          <a:bodyPr wrap="square" lIns="45720" tIns="27432" rIns="45720" bIns="27432" anchor="b">
            <a:spAutoFit/>
          </a:bodyPr>
          <a:lstStyle/>
          <a:p>
            <a:pPr algn="l"/>
            <a:r>
              <a:rPr sz="1000">
                <a:solidFill>
                  <a:srgbClr val="C4DEFD"/>
                </a:solidFill>
              </a:rPr>
              <a:t>Copyright © SAS Institute Inc. All rights reserved.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Thank you!</a:t>
            </a:r>
          </a:p>
        </p:txBody>
      </p:sp>
      <p:sp>
        <p:nvSpPr>
          <p:cNvPr id="3" name="Text Placeholder 2"/>
          <p:cNvSpPr>
            <a:spLocks noGrp="1"/>
          </p:cNvSpPr>
          <p:nvPr>
            <p:ph type="body" idx="11" sz="quarter"/>
          </p:nvPr>
        </p:nvSpPr>
        <p:spPr/>
        <p:txBody>
          <a:bodyPr/>
          <a:lstStyle/>
          <a:p>
            <a:r>
              <a:rPr sz="2800"/>
              <a:t>Questions?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SAS-EXTERNAL-16X9-2023" val="CJxW6PTk"/>
  <p:tag name="ARTICULATE_DESIGN_ID_1_NDA" val="5KPCLKMf"/>
  <p:tag name="ARTICULATE_DESIGN_ID_1_SAS-EXTERNAL-16X9-2023" val="OvZPFYIY"/>
  <p:tag name="ARTICULATE_DESIGN_ID_SAS - EXTERNAL - 16X9 - 2023" val="iju6vBOG"/>
  <p:tag name="ARTICULATE_DESIGN_ID_SAS - EXTERNAL" val="IZ9bNYet"/>
  <p:tag name="ARTICULATE_DESIGN_ID_SAS - EXTERNAL - NDA" val="RR4fBfJW"/>
  <p:tag name="ARTICULATE_SLIDE_THUMBNAIL_REFRESH" val="1"/>
  <p:tag name="ARTICULATE_DESIGN_ID_CUSTOM DESIGN" val="WASRYxhz"/>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Custom 4">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_2023.potx" id="{2EA8CE33-CC8D-491A-8407-3C6ED769A2DD}" vid="{4D26F06B-4A77-4C47-863E-04711AA87A0D}"/>
    </a:ext>
  </a:extLst>
</a:theme>
</file>

<file path=ppt/theme/theme4.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customXsn xmlns="http://schemas.microsoft.com/office/2006/metadata/customXsn">
  <xsnLocation/>
  <cached>True</cached>
  <openByDefault>True</openByDefault>
  <xsnScope/>
</customXsn>
</file>

<file path=customXml/item3.xml><?xml version="1.0" encoding="utf-8"?>
<p:properties xmlns:p="http://schemas.microsoft.com/office/2006/metadata/properties" xmlns:xsi="http://www.w3.org/2001/XMLSchema-instance" xmlns:pc="http://schemas.microsoft.com/office/infopath/2007/PartnerControls">
  <documentManagement>
    <TaxCatchAll xmlns="53acc77d-4382-4413-8c2d-408a8e2a5705">
      <Value>297</Value>
      <Value>303</Value>
      <Value>1142</Value>
    </TaxCatchAll>
    <SharedWithUsers xmlns="53acc77d-4382-4413-8c2d-408a8e2a5705">
      <UserInfo>
        <DisplayName>Elisabeth Peter</DisplayName>
        <AccountId>228</AccountId>
        <AccountType/>
      </UserInfo>
      <UserInfo>
        <DisplayName>Cameron McLauchlin</DisplayName>
        <AccountId>43</AccountId>
        <AccountType/>
      </UserInfo>
      <UserInfo>
        <DisplayName>Jocelyn Kline</DisplayName>
        <AccountId>144</AccountId>
        <AccountType/>
      </UserInfo>
      <UserInfo>
        <DisplayName>Emily Baranello</DisplayName>
        <AccountId>147</AccountId>
        <AccountType/>
      </UserInfo>
      <UserInfo>
        <DisplayName>Mari Nilsson Björkman</DisplayName>
        <AccountId>28</AccountId>
        <AccountType/>
      </UserInfo>
      <UserInfo>
        <DisplayName>Claire-Juliette Beale</DisplayName>
        <AccountId>17</AccountId>
        <AccountType/>
      </UserInfo>
      <UserInfo>
        <DisplayName>Amanda Wise</DisplayName>
        <AccountId>233</AccountId>
        <AccountType/>
      </UserInfo>
      <UserInfo>
        <DisplayName>Jennifer Olson</DisplayName>
        <AccountId>248</AccountId>
        <AccountType/>
      </UserInfo>
      <UserInfo>
        <DisplayName>Greg Heidrick</DisplayName>
        <AccountId>30</AccountId>
        <AccountType/>
      </UserInfo>
      <UserInfo>
        <DisplayName>Albert Qian</DisplayName>
        <AccountId>964</AccountId>
        <AccountType/>
      </UserInfo>
      <UserInfo>
        <DisplayName>Ali Ricke</DisplayName>
        <AccountId>271</AccountId>
        <AccountType/>
      </UserInfo>
      <UserInfo>
        <DisplayName>Alice McClure</DisplayName>
        <AccountId>255</AccountId>
        <AccountType/>
      </UserInfo>
      <UserInfo>
        <DisplayName>Ashley Danahy</DisplayName>
        <AccountId>965</AccountId>
        <AccountType/>
      </UserInfo>
      <UserInfo>
        <DisplayName>Augusta Zhang</DisplayName>
        <AccountId>247</AccountId>
        <AccountType/>
      </UserInfo>
      <UserInfo>
        <DisplayName>Briana Ullman</DisplayName>
        <AccountId>167</AccountId>
        <AccountType/>
      </UserInfo>
      <UserInfo>
        <DisplayName>Erin McCarthy</DisplayName>
        <AccountId>966</AccountId>
        <AccountType/>
      </UserInfo>
      <UserInfo>
        <DisplayName>Heather Williams</DisplayName>
        <AccountId>967</AccountId>
        <AccountType/>
      </UserInfo>
      <UserInfo>
        <DisplayName>Kunal Shah</DisplayName>
        <AccountId>245</AccountId>
        <AccountType/>
      </UserInfo>
      <UserInfo>
        <DisplayName>Lindsay Marshall</DisplayName>
        <AccountId>183</AccountId>
        <AccountType/>
      </UserInfo>
      <UserInfo>
        <DisplayName>Luis Flynn</DisplayName>
        <AccountId>968</AccountId>
        <AccountType/>
      </UserInfo>
      <UserInfo>
        <DisplayName>Marinela Profi</DisplayName>
        <AccountId>55</AccountId>
        <AccountType/>
      </UserInfo>
      <UserInfo>
        <DisplayName>Michelle France</DisplayName>
        <AccountId>610</AccountId>
        <AccountType/>
      </UserInfo>
      <UserInfo>
        <DisplayName>Spiros Potamitis</DisplayName>
        <AccountId>969</AccountId>
        <AccountType/>
      </UserInfo>
      <UserInfo>
        <DisplayName>Apurva More</DisplayName>
        <AccountId>174</AccountId>
        <AccountType/>
      </UserInfo>
      <UserInfo>
        <DisplayName>Bill Roberts</DisplayName>
        <AccountId>246</AccountId>
        <AccountType/>
      </UserInfo>
      <UserInfo>
        <DisplayName>Brooke Huckabee</DisplayName>
        <AccountId>173</AccountId>
        <AccountType/>
      </UserInfo>
      <UserInfo>
        <DisplayName>Dan Mitchell</DisplayName>
        <AccountId>50</AccountId>
        <AccountType/>
      </UserInfo>
      <UserInfo>
        <DisplayName>David Rogers</DisplayName>
        <AccountId>434</AccountId>
        <AccountType/>
      </UserInfo>
      <UserInfo>
        <DisplayName>Diana Rothfuss</DisplayName>
        <AccountId>180</AccountId>
        <AccountType/>
      </UserInfo>
      <UserInfo>
        <DisplayName>Ellen Roberson</DisplayName>
        <AccountId>177</AccountId>
        <AccountType/>
      </UserInfo>
      <UserInfo>
        <DisplayName>Jane Howell</DisplayName>
        <AccountId>51</AccountId>
        <AccountType/>
      </UserInfo>
      <UserInfo>
        <DisplayName>Jennifer Pearson</DisplayName>
        <AccountId>904</AccountId>
        <AccountType/>
      </UserInfo>
      <UserInfo>
        <DisplayName>Jonathan Moran</DisplayName>
        <AccountId>172</AccountId>
        <AccountType/>
      </UserInfo>
      <UserInfo>
        <DisplayName>Lisa Loftis</DisplayName>
        <AccountId>171</AccountId>
        <AccountType/>
      </UserInfo>
      <UserInfo>
        <DisplayName>Liz Goldberg</DisplayName>
        <AccountId>120</AccountId>
        <AccountType/>
      </UserInfo>
      <UserInfo>
        <DisplayName>Loren Byrd</DisplayName>
        <AccountId>619</AccountId>
        <AccountType/>
      </UserInfo>
      <UserInfo>
        <DisplayName>Paola Csirke-Juliano</DisplayName>
        <AccountId>608</AccountId>
        <AccountType/>
      </UserInfo>
      <UserInfo>
        <DisplayName>Thorsten Hein</DisplayName>
        <AccountId>137</AccountId>
        <AccountType/>
      </UserInfo>
      <UserInfo>
        <DisplayName>Vashinta Dickens</DisplayName>
        <AccountId>182</AccountId>
        <AccountType/>
      </UserInfo>
      <UserInfo>
        <DisplayName>Katy Salamati</DisplayName>
        <AccountId>392</AccountId>
        <AccountType/>
      </UserInfo>
      <UserInfo>
        <DisplayName>Colby Hoke</DisplayName>
        <AccountId>970</AccountId>
        <AccountType/>
      </UserInfo>
      <UserInfo>
        <DisplayName>Mark Demers</DisplayName>
        <AccountId>6</AccountId>
        <AccountType/>
      </UserInfo>
      <UserInfo>
        <DisplayName>Michelle Wells</DisplayName>
        <AccountId>23</AccountId>
        <AccountType/>
      </UserInfo>
      <UserInfo>
        <DisplayName>Alyssa Farrell</DisplayName>
        <AccountId>42</AccountId>
        <AccountType/>
      </UserInfo>
      <UserInfo>
        <DisplayName>Alex Kwiatkowski</DisplayName>
        <AccountId>25</AccountId>
        <AccountType/>
      </UserInfo>
      <UserInfo>
        <DisplayName>Lee Ann Dietz</DisplayName>
        <AccountId>14</AccountId>
        <AccountType/>
      </UserInfo>
      <UserInfo>
        <DisplayName>Patrick Homer</DisplayName>
        <AccountId>32</AccountId>
        <AccountType/>
      </UserInfo>
      <UserInfo>
        <DisplayName>Sydney Chicurel</DisplayName>
        <AccountId>278</AccountId>
        <AccountType/>
      </UserInfo>
      <UserInfo>
        <DisplayName>Robert Montgomery</DisplayName>
        <AccountId>881</AccountId>
        <AccountType/>
      </UserInfo>
      <UserInfo>
        <DisplayName>Alex Maiersperger</DisplayName>
        <AccountId>239</AccountId>
        <AccountType/>
      </UserInfo>
      <UserInfo>
        <DisplayName>Georgia Mariani</DisplayName>
        <AccountId>15</AccountId>
        <AccountType/>
      </UserInfo>
      <UserInfo>
        <DisplayName>Global Technology Product Marketing Members</DisplayName>
        <AccountId>971</AccountId>
        <AccountType/>
      </UserInfo>
      <UserInfo>
        <DisplayName>Kate Parker</DisplayName>
        <AccountId>69</AccountId>
        <AccountType/>
      </UserInfo>
    </SharedWithUsers>
    <Updated xmlns="53acc77d-4382-4413-8c2d-408a8e2a5705" xsi:nil="true"/>
    <a5eaf523e06a49de8d79f6acc451673f xmlns="53acc77d-4382-4413-8c2d-408a8e2a5705">
      <Terms xmlns="http://schemas.microsoft.com/office/infopath/2007/PartnerControls"/>
    </a5eaf523e06a49de8d79f6acc451673f>
    <IconOverlay xmlns="http://schemas.microsoft.com/sharepoint/v4" xsi:nil="true"/>
    <g1556e91db324706a2d96877947f44a1 xmlns="53acc77d-4382-4413-8c2d-408a8e2a5705">
      <Terms xmlns="http://schemas.microsoft.com/office/infopath/2007/PartnerControls">
        <TermInfo xmlns="http://schemas.microsoft.com/office/infopath/2007/PartnerControls">
          <TermName xmlns="http://schemas.microsoft.com/office/infopath/2007/PartnerControls">Application and Identity Fraud</TermName>
          <TermId xmlns="http://schemas.microsoft.com/office/infopath/2007/PartnerControls">40c05cd4-be95-4caf-8451-1dc26fa7f19f</TermId>
        </TermInfo>
        <TermInfo xmlns="http://schemas.microsoft.com/office/infopath/2007/PartnerControls">
          <TermName xmlns="http://schemas.microsoft.com/office/infopath/2007/PartnerControls">Payments Fraud</TermName>
          <TermId xmlns="http://schemas.microsoft.com/office/infopath/2007/PartnerControls">85715592-c0d5-4db6-a49b-e9cd7b557fd0</TermId>
        </TermInfo>
        <TermInfo xmlns="http://schemas.microsoft.com/office/infopath/2007/PartnerControls">
          <TermName xmlns="http://schemas.microsoft.com/office/infopath/2007/PartnerControls">Banking Fraud and Financial Crimes Compliance</TermName>
          <TermId xmlns="http://schemas.microsoft.com/office/infopath/2007/PartnerControls">45b62d14-9032-43d0-998f-4b424fe0f613</TermId>
        </TermInfo>
      </Terms>
    </g1556e91db324706a2d96877947f44a1>
    <Asset_x0020_Status xmlns="53acc77d-4382-4413-8c2d-408a8e2a5705">Publish</Asset_x0020_Status>
    <pc8465657618468292594f9ab4689c33 xmlns="53acc77d-4382-4413-8c2d-408a8e2a5705">
      <Terms xmlns="http://schemas.microsoft.com/office/infopath/2007/PartnerControls"/>
    </pc8465657618468292594f9ab4689c33>
    <Demo_x0020_ID xmlns="53acc77d-4382-4413-8c2d-408a8e2a5705" xsi:nil="true"/>
    <Value_x0020_Proposition xmlns="f6ce49f0-2995-48df-a9c9-3a6b87ac555a">Not Set</Value_x0020_Proposition>
    <PublishingContact xmlns="f6ce49f0-2995-48df-a9c9-3a6b87ac555a">
      <UserInfo>
        <DisplayName/>
        <AccountId xsi:nil="true"/>
        <AccountType/>
      </UserInfo>
    </PublishingContact>
    <Portal_x0020_Content_x0020_Asset_x0020_Type xmlns="53acc77d-4382-4413-8c2d-408a8e2a5705">Overview Presentation</Portal_x0020_Content_x0020_Asset_x0020_Type>
  </documentManagement>
</p:properties>
</file>

<file path=customXml/item4.xml><?xml version="1.0" encoding="utf-8"?>
<ct:contentTypeSchema xmlns:ct="http://schemas.microsoft.com/office/2006/metadata/contentType" xmlns:ma="http://schemas.microsoft.com/office/2006/metadata/properties/metaAttributes" ct:_="" ma:_="" ma:contentTypeName="SAS Portal Document" ma:contentTypeID="0x0101006BE659B9BD46644CB3C6870C03978025002CC455ACD93CE545B750EA5F55C04BF6" ma:contentTypeVersion="47" ma:contentTypeDescription="Custom content type used for content that is surfaced on the Sales &amp; Marketing Portal.." ma:contentTypeScope="" ma:versionID="c117b22ede2bb8718e6234b331348844">
  <xsd:schema xmlns:xsd="http://www.w3.org/2001/XMLSchema" xmlns:xs="http://www.w3.org/2001/XMLSchema" xmlns:p="http://schemas.microsoft.com/office/2006/metadata/properties" xmlns:ns2="53acc77d-4382-4413-8c2d-408a8e2a5705" xmlns:ns4="f6ce49f0-2995-48df-a9c9-3a6b87ac555a" xmlns:ns5="http://schemas.microsoft.com/sharepoint/v4" targetNamespace="http://schemas.microsoft.com/office/2006/metadata/properties" ma:root="true" ma:fieldsID="fcae80220d5a355a2e03199195f972c7" ns2:_="" ns4:_="" ns5:_="">
    <xsd:import namespace="53acc77d-4382-4413-8c2d-408a8e2a5705"/>
    <xsd:import namespace="f6ce49f0-2995-48df-a9c9-3a6b87ac555a"/>
    <xsd:import namespace="http://schemas.microsoft.com/sharepoint/v4"/>
    <xsd:element name="properties">
      <xsd:complexType>
        <xsd:sequence>
          <xsd:element name="documentManagement">
            <xsd:complexType>
              <xsd:all>
                <xsd:element ref="ns2:Portal_x0020_Content_x0020_Asset_x0020_Type"/>
                <xsd:element ref="ns2:Asset_x0020_Status"/>
                <xsd:element ref="ns2:Demo_x0020_ID" minOccurs="0"/>
                <xsd:element ref="ns4:Value_x0020_Proposition" minOccurs="0"/>
                <xsd:element ref="ns2:pc8465657618468292594f9ab4689c33" minOccurs="0"/>
                <xsd:element ref="ns2:Updated" minOccurs="0"/>
                <xsd:element ref="ns2:g1556e91db324706a2d96877947f44a1" minOccurs="0"/>
                <xsd:element ref="ns2:TaxCatchAll" minOccurs="0"/>
                <xsd:element ref="ns2:a5eaf523e06a49de8d79f6acc451673f" minOccurs="0"/>
                <xsd:element ref="ns2:TaxCatchAllLabel"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5:IconOverlay" minOccurs="0"/>
                <xsd:element ref="ns4:PublishingContact" minOccurs="0"/>
                <xsd:element ref="ns2:SharedWithUsers" minOccurs="0"/>
                <xsd:element ref="ns2:SharedWithDetails" minOccurs="0"/>
                <xsd:element ref="ns4:MediaLengthInSeconds" minOccurs="0"/>
                <xsd:element ref="ns4:MediaServiceObjectDetectorVersions" minOccurs="0"/>
                <xsd:element ref="ns4:MediaServiceGenerationTime" minOccurs="0"/>
                <xsd:element ref="ns4:MediaServiceEventHashCode"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acc77d-4382-4413-8c2d-408a8e2a5705" elementFormDefault="qualified">
    <xsd:import namespace="http://schemas.microsoft.com/office/2006/documentManagement/types"/>
    <xsd:import namespace="http://schemas.microsoft.com/office/infopath/2007/PartnerControls"/>
    <xsd:element name="Portal_x0020_Content_x0020_Asset_x0020_Type" ma:index="2" ma:displayName="Asset Type" ma:description="Types of assets available for publishing in Portal Content Libraries." ma:format="Dropdown" ma:internalName="Portal_x0020_Content_x0020_Asset_x0020_Type" ma:readOnly="false">
      <xsd:simpleType>
        <xsd:restriction base="dms:Choice">
          <xsd:enumeration value="Battle Card"/>
          <xsd:enumeration value="Competitive Research"/>
          <xsd:enumeration value="Customer Challenge &amp; What SAS Offers"/>
          <xsd:enumeration value="Customer Introduction Letter"/>
          <xsd:enumeration value="Demo Recording (Customer Ready)"/>
          <xsd:enumeration value="Demo Recording (Internal)"/>
          <xsd:enumeration value="Demo Resource"/>
          <xsd:enumeration value="Demo Script"/>
          <xsd:enumeration value="Discovery Questions"/>
          <xsd:enumeration value="External Video"/>
          <xsd:enumeration value="FAQ"/>
          <xsd:enumeration value="Industry Overview Presentation"/>
          <xsd:enumeration value="Initiate Conversations"/>
          <xsd:enumeration value="Impact Brief"/>
          <xsd:enumeration value="Know Your Buyer"/>
          <xsd:enumeration value="Know Your User"/>
          <xsd:enumeration value="Overview Presentation"/>
          <xsd:enumeration value="Presentation - Internal"/>
          <xsd:enumeration value="Product Roadmap"/>
          <xsd:enumeration value="Product Vision"/>
          <xsd:enumeration value="Qualification Criteria"/>
          <xsd:enumeration value="ROI Calculator"/>
          <xsd:enumeration value="Sales Strategy"/>
          <xsd:enumeration value="Sales Tools - Other"/>
          <xsd:enumeration value="Self-Directed Learning"/>
          <xsd:enumeration value="Shark Finesse ROI Model"/>
          <xsd:enumeration value="Social Selling QuickStart Guide"/>
          <xsd:enumeration value="Solution Brief"/>
          <xsd:enumeration value="Technical - Other"/>
          <xsd:enumeration value="Use Cases"/>
        </xsd:restriction>
      </xsd:simpleType>
    </xsd:element>
    <xsd:element name="Asset_x0020_Status" ma:index="5" ma:displayName="Asset Status" ma:default="Draft" ma:description="Publishing status of asset.  Select &quot;Publish&quot; for asset to be available in Mercury / Sales &amp; Marketing Portal." ma:format="Dropdown" ma:internalName="Asset_x0020_Status" ma:readOnly="false">
      <xsd:simpleType>
        <xsd:restriction base="dms:Choice">
          <xsd:enumeration value="Draft"/>
          <xsd:enumeration value="Under Review"/>
          <xsd:enumeration value="Publish"/>
          <xsd:enumeration value="Archive"/>
        </xsd:restriction>
      </xsd:simpleType>
    </xsd:element>
    <xsd:element name="Demo_x0020_ID" ma:index="9" nillable="true" ma:displayName="Demo ID" ma:description="For demo resources only" ma:internalName="Demo_x0020_ID" ma:readOnly="false">
      <xsd:simpleType>
        <xsd:restriction base="dms:Text">
          <xsd:maxLength value="255"/>
        </xsd:restriction>
      </xsd:simpleType>
    </xsd:element>
    <xsd:element name="pc8465657618468292594f9ab4689c33" ma:index="11" nillable="true" ma:taxonomy="true" ma:internalName="pc8465657618468292594f9ab4689c33" ma:taxonomyFieldName="SAS_x0020_Offering" ma:displayName="SAS Offering" ma:readOnly="false" ma:default="" ma:fieldId="{9c846565-7618-4682-9259-4f9ab4689c33}" ma:taxonomyMulti="true" ma:sspId="7fd0e135-c9ac-4e89-9c36-fb2929ad0f0a" ma:termSetId="13b43256-b3b3-4bff-80b2-57e1064dbe9a" ma:anchorId="00000000-0000-0000-0000-000000000000" ma:open="false" ma:isKeyword="false">
      <xsd:complexType>
        <xsd:sequence>
          <xsd:element ref="pc:Terms" minOccurs="0" maxOccurs="1"/>
        </xsd:sequence>
      </xsd:complexType>
    </xsd:element>
    <xsd:element name="Updated" ma:index="12" nillable="true" ma:displayName="Updated" ma:description="This field MUST include the date of last update.  Asset expiration rules are based on this date, and assets will expire if they have not been recently updated (after 550 days for many asset types). See the Asset Lifecycle List at http://sww.sas.com/gobot/assets" ma:format="DateOnly" ma:hidden="true" ma:internalName="Updated" ma:readOnly="false">
      <xsd:simpleType>
        <xsd:restriction base="dms:DateTime"/>
      </xsd:simpleType>
    </xsd:element>
    <xsd:element name="g1556e91db324706a2d96877947f44a1" ma:index="15" nillable="true" ma:taxonomy="true" ma:internalName="g1556e91db324706a2d96877947f44a1" ma:taxonomyFieldName="SAS_x0020_CBO" ma:displayName="SAS CBO" ma:readOnly="false" ma:default="" ma:fieldId="{01556e91-db32-4706-a2d9-6877947f44a1}" ma:taxonomyMulti="true" ma:sspId="7fd0e135-c9ac-4e89-9c36-fb2929ad0f0a" ma:termSetId="ca7520f6-ccfb-4624-b7c3-7e078f59c263" ma:anchorId="00000000-0000-0000-0000-000000000000" ma:open="false" ma:isKeyword="false">
      <xsd:complexType>
        <xsd:sequence>
          <xsd:element ref="pc:Terms" minOccurs="0" maxOccurs="1"/>
        </xsd:sequence>
      </xsd:complexType>
    </xsd:element>
    <xsd:element name="TaxCatchAll" ma:index="17" nillable="true" ma:displayName="Taxonomy Catch All Column" ma:hidden="true" ma:list="{acba37b5-229d-48b1-a098-788030c8aec9}" ma:internalName="TaxCatchAll" ma:readOnly="false" ma:showField="CatchAllData" ma:web="53acc77d-4382-4413-8c2d-408a8e2a5705">
      <xsd:complexType>
        <xsd:complexContent>
          <xsd:extension base="dms:MultiChoiceLookup">
            <xsd:sequence>
              <xsd:element name="Value" type="dms:Lookup" maxOccurs="unbounded" minOccurs="0" nillable="true"/>
            </xsd:sequence>
          </xsd:extension>
        </xsd:complexContent>
      </xsd:complexType>
    </xsd:element>
    <xsd:element name="a5eaf523e06a49de8d79f6acc451673f" ma:index="18" nillable="true" ma:taxonomy="true" ma:internalName="a5eaf523e06a49de8d79f6acc451673f" ma:taxonomyFieldName="SAS_x0020_Industry" ma:displayName="SAS Industry" ma:readOnly="false" ma:default="" ma:fieldId="{a5eaf523-e06a-49de-8d79-f6acc451673f}" ma:taxonomyMulti="true" ma:sspId="7fd0e135-c9ac-4e89-9c36-fb2929ad0f0a" ma:termSetId="05306096-4b6f-4ef3-835e-901537768b2c" ma:anchorId="00000000-0000-0000-0000-000000000000" ma:open="false" ma:isKeyword="false">
      <xsd:complexType>
        <xsd:sequence>
          <xsd:element ref="pc:Terms" minOccurs="0" maxOccurs="1"/>
        </xsd:sequence>
      </xsd:complexType>
    </xsd:element>
    <xsd:element name="TaxCatchAllLabel" ma:index="19" nillable="true" ma:displayName="Taxonomy Catch All Column1" ma:hidden="true" ma:list="{acba37b5-229d-48b1-a098-788030c8aec9}" ma:internalName="TaxCatchAllLabel" ma:readOnly="true" ma:showField="CatchAllDataLabel" ma:web="53acc77d-4382-4413-8c2d-408a8e2a5705">
      <xsd:complexType>
        <xsd:complexContent>
          <xsd:extension base="dms:MultiChoiceLookup">
            <xsd:sequence>
              <xsd:element name="Value" type="dms:Lookup" maxOccurs="unbounded" minOccurs="0" nillable="true"/>
            </xsd:sequence>
          </xsd:extension>
        </xsd:complexContent>
      </xsd:complexType>
    </xsd:element>
    <xsd:element name="SharedWithUsers" ma:index="3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6ce49f0-2995-48df-a9c9-3a6b87ac555a" elementFormDefault="qualified">
    <xsd:import namespace="http://schemas.microsoft.com/office/2006/documentManagement/types"/>
    <xsd:import namespace="http://schemas.microsoft.com/office/infopath/2007/PartnerControls"/>
    <xsd:element name="Value_x0020_Proposition" ma:index="10" nillable="true" ma:displayName="Library VP Filter" ma:default="Not Set" ma:description="Used for library views ONLY, for grouping and filtering assets. These values do NOT impact Mercury or Quick Find tagging.  Use SAS CBO for official content tagging." ma:format="Dropdown" ma:hidden="true" ma:internalName="Value_x0020_Proposition" ma:readOnly="false">
      <xsd:simpleType>
        <xsd:restriction base="dms:Choice">
          <xsd:enumeration value="N/A - Demo"/>
          <xsd:enumeration value="N/A - Focus Area"/>
          <xsd:enumeration value="Anti-Money Laundering (Banking)"/>
          <xsd:enumeration value="Anti-Money Laundering for Insurance"/>
          <xsd:enumeration value="Cyber Security"/>
          <xsd:enumeration value="Financial Crimes Analytics"/>
          <xsd:enumeration value="Identity and Digital Fraud"/>
          <xsd:enumeration value="Insurance Claims Fraud"/>
          <xsd:enumeration value="Payments Fraud"/>
          <xsd:enumeration value="Procurement Integrity"/>
          <xsd:enumeration value="N/A - Industry"/>
          <xsd:enumeration value="N/A - Roadmap"/>
          <xsd:enumeration value="N/A - Product &amp; Solution"/>
          <xsd:enumeration value="N/A - Retired VP Content"/>
          <xsd:enumeration value="Not Set"/>
        </xsd:restriction>
      </xsd:simpleType>
    </xsd:element>
    <xsd:element name="MediaServiceMetadata" ma:index="22" nillable="true" ma:displayName="MediaServiceMetadata" ma:hidden="true" ma:internalName="MediaServiceMetadata" ma:readOnly="true">
      <xsd:simpleType>
        <xsd:restriction base="dms:Note"/>
      </xsd:simpleType>
    </xsd:element>
    <xsd:element name="MediaServiceFastMetadata" ma:index="23" nillable="true" ma:displayName="MediaServiceFastMetadata" ma:hidden="true" ma:internalName="MediaServiceFastMetadata" ma:readOnly="true">
      <xsd:simpleType>
        <xsd:restriction base="dms:Note"/>
      </xsd:simpleType>
    </xsd:element>
    <xsd:element name="MediaServiceAutoKeyPoints" ma:index="24" nillable="true" ma:displayName="MediaServiceAutoKeyPoints" ma:hidden="true" ma:internalName="MediaServiceAutoKeyPoints" ma:readOnly="true">
      <xsd:simpleType>
        <xsd:restriction base="dms:Note"/>
      </xsd:simpleType>
    </xsd:element>
    <xsd:element name="MediaServiceKeyPoints" ma:index="25" nillable="true" ma:displayName="KeyPoints" ma:hidden="true" ma:internalName="MediaServiceKeyPoints" ma:readOnly="true">
      <xsd:simpleType>
        <xsd:restriction base="dms:Note"/>
      </xsd:simpleType>
    </xsd:element>
    <xsd:element name="MediaServiceDateTaken" ma:index="26" nillable="true" ma:displayName="MediaServiceDateTaken" ma:hidden="true" ma:internalName="MediaServiceDateTaken" ma:readOnly="true">
      <xsd:simpleType>
        <xsd:restriction base="dms:Text"/>
      </xsd:simpleType>
    </xsd:element>
    <xsd:element name="PublishingContact" ma:index="30" nillable="true" ma:displayName="Contact" ma:description="Populates Author field in Mercury." ma:hidden="true" ma:list="UserInfo" ma:SearchPeopleOnly="false" ma:SharePointGroup="0" ma:internalName="PublishingContact"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LengthInSeconds" ma:index="33" nillable="true" ma:displayName="MediaLengthInSeconds" ma:hidden="true" ma:internalName="MediaLengthInSeconds" ma:readOnly="true">
      <xsd:simpleType>
        <xsd:restriction base="dms:Unknown"/>
      </xsd:simpleType>
    </xsd:element>
    <xsd:element name="MediaServiceObjectDetectorVersions" ma:index="34" nillable="true" ma:displayName="MediaServiceObjectDetectorVersions" ma:hidden="true" ma:indexed="true" ma:internalName="MediaServiceObjectDetectorVersions" ma:readOnly="true">
      <xsd:simpleType>
        <xsd:restriction base="dms:Text"/>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7" nillable="true" ma:displayName="IconOverlay" ma:hidden="true" ma:internalName="IconOverlay"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axOccurs="1" ma:index="4" ma:displayName="Author"/>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axOccurs="1" ma:index="3" ma:displayName="Description"/>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E925E4-5239-4639-A029-07B3CFD6A3F1}">
  <ds:schemaRefs>
    <ds:schemaRef ds:uri="http://schemas.microsoft.com/sharepoint/v3/contenttype/forms"/>
  </ds:schemaRefs>
</ds:datastoreItem>
</file>

<file path=customXml/itemProps2.xml><?xml version="1.0" encoding="utf-8"?>
<ds:datastoreItem xmlns:ds="http://schemas.openxmlformats.org/officeDocument/2006/customXml" ds:itemID="{303C9089-9DA5-45ED-8193-FB522D1384FB}">
  <ds:schemaRefs>
    <ds:schemaRef ds:uri="http://schemas.microsoft.com/office/2006/metadata/customXsn"/>
  </ds:schemaRefs>
</ds:datastoreItem>
</file>

<file path=customXml/itemProps3.xml><?xml version="1.0" encoding="utf-8"?>
<ds:datastoreItem xmlns:ds="http://schemas.openxmlformats.org/officeDocument/2006/customXml" ds:itemID="{E2663518-7548-4643-8219-608BFF0DFA0C}">
  <ds:schemaRefs>
    <ds:schemaRef ds:uri="http://purl.org/dc/elements/1.1/"/>
    <ds:schemaRef ds:uri="http://purl.org/dc/terms/"/>
    <ds:schemaRef ds:uri="http://schemas.microsoft.com/office/infopath/2007/PartnerControls"/>
    <ds:schemaRef ds:uri="53acc77d-4382-4413-8c2d-408a8e2a5705"/>
    <ds:schemaRef ds:uri="http://schemas.microsoft.com/office/2006/metadata/properties"/>
    <ds:schemaRef ds:uri="http://purl.org/dc/dcmitype/"/>
    <ds:schemaRef ds:uri="http://schemas.microsoft.com/sharepoint/v4"/>
    <ds:schemaRef ds:uri="http://schemas.microsoft.com/office/2006/documentManagement/types"/>
    <ds:schemaRef ds:uri="http://schemas.openxmlformats.org/package/2006/metadata/core-properties"/>
    <ds:schemaRef ds:uri="f6ce49f0-2995-48df-a9c9-3a6b87ac555a"/>
    <ds:schemaRef ds:uri="http://www.w3.org/XML/1998/namespace"/>
  </ds:schemaRefs>
</ds:datastoreItem>
</file>

<file path=customXml/itemProps4.xml><?xml version="1.0" encoding="utf-8"?>
<ds:datastoreItem xmlns:ds="http://schemas.openxmlformats.org/officeDocument/2006/customXml" ds:itemID="{6B7B042F-9E6C-45C7-9C43-A250F3E13A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acc77d-4382-4413-8c2d-408a8e2a5705"/>
    <ds:schemaRef ds:uri="f6ce49f0-2995-48df-a9c9-3a6b87ac555a"/>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74a3ff5-3dcb-4075-8703-f74a393618ec}" enabled="0" method="" siteId="{b74a3ff5-3dcb-4075-8703-f74a393618ec}" removed="1"/>
  <clbl:label id="{e1c8c91a-c872-4000-818b-3383c70fafcf}" enabled="1" method="Privileged" siteId="{b1c14d5c-3625-45b3-a430-9552373a0c2f}" contentBits="0" removed="0"/>
</clbl:labelList>
</file>

<file path=docProps/app.xml><?xml version="1.0" encoding="utf-8"?>
<Properties xmlns="http://schemas.openxmlformats.org/officeDocument/2006/extended-properties" xmlns:vt="http://schemas.openxmlformats.org/officeDocument/2006/docPropsVTypes">
  <Template>EXTERNAL_Template_2023</Template>
  <TotalTime>656</TotalTime>
  <Words>597</Words>
  <Application>Microsoft Office PowerPoint</Application>
  <PresentationFormat>Custom</PresentationFormat>
  <Paragraphs>130</Paragraphs>
  <Slides>3</Slides>
  <Notes>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vt:i4>
      </vt:variant>
    </vt:vector>
  </HeadingPairs>
  <TitlesOfParts>
    <vt:vector size="12" baseType="lpstr">
      <vt:lpstr>Anova Light</vt:lpstr>
      <vt:lpstr>Anova</vt:lpstr>
      <vt:lpstr>Arial</vt:lpstr>
      <vt:lpstr>Calibri</vt:lpstr>
      <vt:lpstr>Calibri Light</vt:lpstr>
      <vt:lpstr>Anova Bold</vt:lpstr>
      <vt:lpstr>SAS - EXTERNAL</vt:lpstr>
      <vt:lpstr>1_SAS - EXTERNAL</vt:lpstr>
      <vt:lpstr>1_2020-Template-External</vt:lpstr>
      <vt:lpstr>MOHAP Agent 1</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SAS Fraud Decisioning - Customer Presentation</dc:title>
  <dc:creator>Jocelyn Kline</dc:creator>
  <dc:description>Customer presentation for SAS Fraud Decisioning</dc:description>
  <cp:lastModifiedBy>Raed Aldweik</cp:lastModifiedBy>
  <cp:revision>12</cp:revision>
  <dcterms:created xsi:type="dcterms:W3CDTF">2023-10-17T15:08:00Z</dcterms:created>
  <dcterms:modified xsi:type="dcterms:W3CDTF">2026-08-12T06:09:28Z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0x0101006BE659B9BD46644CB3C6870C03978025002CC455ACD93CE545B750EA5F55C04BF6</vt:lpwstr>
  </property>
  <property fmtid="{D5CDD505-2E9C-101B-9397-08002B2CF9AE}" pid="5" name="MediaServiceImageTags">
    <vt:lpwstr/>
  </property>
  <property fmtid="{D5CDD505-2E9C-101B-9397-08002B2CF9AE}" pid="6" name="SAS CBO">
    <vt:lpwstr>1142;#Application and Identity Fraud|40c05cd4-be95-4caf-8451-1dc26fa7f19f;#297;#Payments Fraud|85715592-c0d5-4db6-a49b-e9cd7b557fd0;#303;#Banking Fraud and Financial Crimes Compliance|45b62d14-9032-43d0-998f-4b424fe0f613</vt:lpwstr>
  </property>
  <property fmtid="{D5CDD505-2E9C-101B-9397-08002B2CF9AE}" pid="7" name="SAS Industry">
    <vt:lpwstr/>
  </property>
  <property fmtid="{D5CDD505-2E9C-101B-9397-08002B2CF9AE}" pid="8" name="SAS Offering">
    <vt:lpwstr/>
  </property>
  <property fmtid="{D5CDD505-2E9C-101B-9397-08002B2CF9AE}" pid="9" name="SAS_x0020_CBO">
    <vt:lpwstr>1142;#Application and Identity Fraud|40c05cd4-be95-4caf-8451-1dc26fa7f19f;#297;#Payments Fraud|85715592-c0d5-4db6-a49b-e9cd7b557fd0;#303;#Banking Fraud and Financial Crimes Compliance|45b62d14-9032-43d0-998f-4b424fe0f613</vt:lpwstr>
  </property>
  <property fmtid="{D5CDD505-2E9C-101B-9397-08002B2CF9AE}" pid="10" name="SAS_x0020_Industry">
    <vt:lpwstr/>
  </property>
  <property fmtid="{D5CDD505-2E9C-101B-9397-08002B2CF9AE}" pid="11" name="SAS_x0020_Offering">
    <vt:lpwstr/>
  </property>
</Properties>
</file>