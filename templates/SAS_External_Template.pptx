
<file path=[Content_Types].xml><?xml version="1.0" encoding="utf-8"?>
<Types xmlns="http://schemas.openxmlformats.org/package/2006/content-types">
  <Default Extension="emf" ContentType="image/x-emf"/>
  <Default Extension="fntdata" ContentType="application/x-fontdata"/>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5"/>
  </p:sldMasterIdLst>
  <p:notesMasterIdLst>
    <p:notesMasterId r:id="rId11"/>
  </p:notesMasterIdLst>
  <p:handoutMasterIdLst>
    <p:handoutMasterId r:id="rId12"/>
  </p:handoutMasterIdLst>
  <p:sldIdLst/>
  <p:sldSz cx="18288000" cy="10287000"/>
  <p:notesSz cx="6858000" cy="9144000"/>
  <p:embeddedFontLst>
    <p:embeddedFont>
      <p:font typeface="Anova" panose="020B0604020202020204" charset="0"/>
      <p:regular r:id="rId13"/>
      <p:bold r:id="rId14"/>
      <p:italic r:id="rId15"/>
      <p:boldItalic r:id="rId16"/>
    </p:embeddedFont>
    <p:embeddedFont>
      <p:font typeface="Anova Bold" panose="020B0604020202020204" charset="0"/>
      <p:regular r:id="rId17"/>
      <p:bold r:id="rId18"/>
      <p:italic r:id="rId19"/>
      <p:boldItalic r:id="rId20"/>
    </p:embeddedFont>
    <p:embeddedFont>
      <p:font typeface="Anova Light" panose="020B0604020202020204" charset="0"/>
      <p:regular r:id="rId21"/>
      <p:bold r:id="rId22"/>
      <p:italic r:id="rId23"/>
      <p:boldItalic r:id="rId24"/>
    </p:embeddedFont>
  </p:embeddedFontLst>
  <p:custDataLst>
    <p:tags r:id="rId25"/>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4DA096-A44F-4CB2-86A9-989C8567BC99}">
          <p14:sldIdLst>
            <p14:sldId id="2147477438"/>
            <p14:sldId id="256"/>
            <p14:sldId id="2147483544"/>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708D14-BD54-920F-18BB-8395E60AE589}" name="Alice McClure" initials="AM" userId="S::alice.mcclure@sas.com::6210c489-566a-4639-8da1-84bcfd842f43" providerId="AD"/>
  <p188:author id="{7FD95D2A-4CAA-4E28-14CF-F6755ACD491D}" name="Mark Demers" initials="MD" userId="S::mark.demers@sas.com::a6c1815c-a07e-4ad8-b99d-835bfaf5b59a" providerId="AD"/>
  <p188:author id="{6DFEA739-C4EE-3CDE-94E6-A95954A908DE}" name="Tine Haaber" initials="TH" userId="S::Tine.Haaber@SAS.COM::b28dffea-6139-4081-9090-e82e8f843744" providerId="AD"/>
  <p188:author id="{9966B73D-F5BE-20D5-13EF-9EE7F32E485F}" name="Mark Demers" initials="MD" userId="S::Mark.Demers@sas.com::a6c1815c-a07e-4ad8-b99d-835bfaf5b59a" providerId="AD"/>
  <p188:author id="{8589D845-7987-B917-DB5A-8124C69673B1}" name="Ian Holmes" initials="IH" userId="S::Ian.Holmes@sas.com::be136b62-8947-4791-afb4-a71e75240925" providerId="AD"/>
  <p188:author id="{2809CD54-2E0F-B50C-4978-852C5F801C91}" name="Robert Montgomery" initials="RM" userId="S::robert.montgomery@SAS.com::28d4c29f-64b2-4ffd-8efa-fc826a00016a" providerId="AD"/>
  <p188:author id="{4711F45D-9A4C-C270-559F-E09685DD1391}" name="Elisabeth Peter" initials="EP" userId="S::Elisabeth.Peter@sas.com::e2c5cfb3-f426-4aa6-8c12-a369aa668627" providerId="AD"/>
  <p188:author id="{B039347D-3557-F9F0-E474-D5F325AD51B6}" name="Jocelyn Kline" initials="JK" userId="S::Jocelyn.Kline@sas.com::7590ce6a-d436-43a4-bfea-4908ec3bbc47" providerId="AD"/>
  <p188:author id="{D07952DD-C253-29C0-A67B-3D937B579047}" name="Cameron McLauchlin" initials="CM" userId="S::Cameron.McLauchlin@SAS.com::770c9921-c5b5-47cb-ae7c-d35ee10112a8" providerId="AD"/>
  <p188:author id="{20FD69E9-C4AD-FE04-2F1E-8C20C926D278}" name="Cameron McLauchlin" initials="CM" userId="S::cameron.mclauchlin@sas.com::770c9921-c5b5-47cb-ae7c-d35ee10112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8DE"/>
    <a:srgbClr val="FF66B2"/>
    <a:srgbClr val="64234B"/>
    <a:srgbClr val="69224C"/>
    <a:srgbClr val="850D4A"/>
    <a:srgbClr val="DB1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89F89-7270-4661-92E8-8375F411D5B4}" v="4" dt="2026-08-10T10:39:4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9922" autoAdjust="0"/>
  </p:normalViewPr>
  <p:slideViewPr>
    <p:cSldViewPr snapToGrid="0">
      <p:cViewPr varScale="1">
        <p:scale>
          <a:sx n="96" d="100"/>
          <a:sy n="96" d="100"/>
        </p:scale>
        <p:origin x="3030" y="96"/>
      </p:cViewPr>
      <p:guideLst>
        <p:guide orient="horz" pos="3240"/>
        <p:guide pos="57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tags" Target="../tags/tag42.xml"/><Relationship Id="rId3" Type="http://schemas.openxmlformats.org/officeDocument/2006/relationships/image" Target="../media/image4.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8/12/2026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2927508"/>
            <a:ext cx="1577827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4220171"/>
            <a:ext cx="1577827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5342755"/>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1"/>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301" y="2400301"/>
            <a:ext cx="7741846"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1"/>
            <a:ext cx="7741848"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301" y="5920997"/>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3616"/>
            <a:ext cx="5001768" cy="1551194"/>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4497171"/>
            <a:ext cx="13063134"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839200" y="9303714"/>
            <a:ext cx="42672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2400"/>
            </a:lvl1pPr>
            <a:lvl2pPr marL="0" lvl="1" indent="0" algn="r">
              <a:lnSpc>
                <a:spcPct val="100000"/>
              </a:lnSpc>
              <a:spcBef>
                <a:spcPts val="0"/>
              </a:spcBef>
              <a:spcAft>
                <a:spcPts val="0"/>
              </a:spcAft>
              <a:buClr>
                <a:srgbClr val="000000"/>
              </a:buClr>
              <a:buSzPts val="1200"/>
              <a:buFont typeface="Calibri"/>
              <a:buNone/>
              <a:defRPr sz="2400"/>
            </a:lvl2pPr>
            <a:lvl3pPr marL="0" lvl="2" indent="0" algn="r">
              <a:lnSpc>
                <a:spcPct val="100000"/>
              </a:lnSpc>
              <a:spcBef>
                <a:spcPts val="0"/>
              </a:spcBef>
              <a:spcAft>
                <a:spcPts val="0"/>
              </a:spcAft>
              <a:buClr>
                <a:srgbClr val="000000"/>
              </a:buClr>
              <a:buSzPts val="1200"/>
              <a:buFont typeface="Calibri"/>
              <a:buNone/>
              <a:defRPr sz="2400"/>
            </a:lvl3pPr>
            <a:lvl4pPr marL="0" lvl="3" indent="0" algn="r">
              <a:lnSpc>
                <a:spcPct val="100000"/>
              </a:lnSpc>
              <a:spcBef>
                <a:spcPts val="0"/>
              </a:spcBef>
              <a:spcAft>
                <a:spcPts val="0"/>
              </a:spcAft>
              <a:buClr>
                <a:srgbClr val="000000"/>
              </a:buClr>
              <a:buSzPts val="1200"/>
              <a:buFont typeface="Calibri"/>
              <a:buNone/>
              <a:defRPr sz="2400"/>
            </a:lvl4pPr>
            <a:lvl5pPr marL="0" lvl="4" indent="0" algn="r">
              <a:lnSpc>
                <a:spcPct val="100000"/>
              </a:lnSpc>
              <a:spcBef>
                <a:spcPts val="0"/>
              </a:spcBef>
              <a:spcAft>
                <a:spcPts val="0"/>
              </a:spcAft>
              <a:buClr>
                <a:srgbClr val="000000"/>
              </a:buClr>
              <a:buSzPts val="1200"/>
              <a:buFont typeface="Calibri"/>
              <a:buNone/>
              <a:defRPr sz="2400"/>
            </a:lvl5pPr>
            <a:lvl6pPr marL="0" lvl="5" indent="0" algn="r">
              <a:lnSpc>
                <a:spcPct val="100000"/>
              </a:lnSpc>
              <a:spcBef>
                <a:spcPts val="0"/>
              </a:spcBef>
              <a:spcAft>
                <a:spcPts val="0"/>
              </a:spcAft>
              <a:buClr>
                <a:srgbClr val="000000"/>
              </a:buClr>
              <a:buSzPts val="1200"/>
              <a:buFont typeface="Calibri"/>
              <a:buNone/>
              <a:defRPr sz="2400"/>
            </a:lvl6pPr>
            <a:lvl7pPr marL="0" lvl="6" indent="0" algn="r">
              <a:lnSpc>
                <a:spcPct val="100000"/>
              </a:lnSpc>
              <a:spcBef>
                <a:spcPts val="0"/>
              </a:spcBef>
              <a:spcAft>
                <a:spcPts val="0"/>
              </a:spcAft>
              <a:buClr>
                <a:srgbClr val="000000"/>
              </a:buClr>
              <a:buSzPts val="1200"/>
              <a:buFont typeface="Calibri"/>
              <a:buNone/>
              <a:defRPr sz="2400"/>
            </a:lvl7pPr>
            <a:lvl8pPr marL="0" lvl="7" indent="0" algn="r">
              <a:lnSpc>
                <a:spcPct val="100000"/>
              </a:lnSpc>
              <a:spcBef>
                <a:spcPts val="0"/>
              </a:spcBef>
              <a:spcAft>
                <a:spcPts val="0"/>
              </a:spcAft>
              <a:buClr>
                <a:srgbClr val="000000"/>
              </a:buClr>
              <a:buSzPts val="1200"/>
              <a:buFont typeface="Calibri"/>
              <a:buNone/>
              <a:defRPr sz="2400"/>
            </a:lvl8pPr>
            <a:lvl9pPr marL="0" lvl="8" indent="0" algn="r">
              <a:lnSpc>
                <a:spcPct val="100000"/>
              </a:lnSpc>
              <a:spcBef>
                <a:spcPts val="0"/>
              </a:spcBef>
              <a:spcAft>
                <a:spcPts val="0"/>
              </a:spcAft>
              <a:buClr>
                <a:srgbClr val="000000"/>
              </a:buClr>
              <a:buSzPts val="1200"/>
              <a:buFont typeface="Calibri"/>
              <a:buNone/>
              <a:defRPr sz="2400"/>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634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9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SAS - Title &amp; Subtitle - ">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lgn="ctr">
              <a:defRPr b="0" i="0">
                <a:latin typeface="Calibri Light" panose="020F0302020204030204" pitchFamily="34" charset="0"/>
                <a:cs typeface="Calibri Light" panose="020F030202020403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p:nvPr>
        </p:nvSpPr>
        <p:spPr>
          <a:xfrm>
            <a:off x="1257300" y="1463676"/>
            <a:ext cx="15773400" cy="566292"/>
          </a:xfrm>
        </p:spPr>
        <p:txBody>
          <a:bodyPr anchor="t">
            <a:normAutofit/>
          </a:bodyPr>
          <a:lstStyle>
            <a:lvl1pPr marL="0" indent="0" algn="ctr">
              <a:buNone/>
              <a:defRPr sz="2801">
                <a:solidFill>
                  <a:srgbClr val="1FA09A"/>
                </a:solidFill>
              </a:defRPr>
            </a:lvl1pPr>
            <a:lvl2pPr marL="365771" indent="0">
              <a:buNone/>
              <a:defRPr/>
            </a:lvl2pPr>
            <a:lvl3pPr marL="731538" indent="0">
              <a:buNone/>
              <a:defRPr/>
            </a:lvl3pPr>
            <a:lvl4pPr marL="2057453" indent="0">
              <a:buNone/>
              <a:defRPr/>
            </a:lvl4pPr>
            <a:lvl5pPr marL="2743269" indent="0">
              <a:buNone/>
              <a:defRPr/>
            </a:lvl5pPr>
          </a:lstStyle>
          <a:p>
            <a:pPr lvl="0"/>
            <a:r>
              <a:rPr lang="en-US"/>
              <a:t>Click to edit Master text styles</a:t>
            </a:r>
          </a:p>
        </p:txBody>
      </p:sp>
      <p:sp>
        <p:nvSpPr>
          <p:cNvPr id="4" name="Rectangle 3">
            <a:extLst>
              <a:ext uri="{FF2B5EF4-FFF2-40B4-BE49-F238E27FC236}">
                <a16:creationId xmlns:a16="http://schemas.microsoft.com/office/drawing/2014/main" id="{27C4BDB3-258F-8347-9741-6F21E0DD52AA}"/>
              </a:ext>
            </a:extLst>
          </p:cNvPr>
          <p:cNvSpPr/>
          <p:nvPr userDrawn="1"/>
        </p:nvSpPr>
        <p:spPr>
          <a:xfrm>
            <a:off x="0" y="2220686"/>
            <a:ext cx="18288000" cy="6785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sz="4800"/>
          </a:p>
        </p:txBody>
      </p:sp>
    </p:spTree>
    <p:custDataLst>
      <p:tags r:id="rId1"/>
    </p:custDataLst>
    <p:extLst>
      <p:ext uri="{BB962C8B-B14F-4D97-AF65-F5344CB8AC3E}">
        <p14:creationId xmlns:p14="http://schemas.microsoft.com/office/powerpoint/2010/main" val="301102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1"/>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Tree>
    <p:custDataLst>
      <p:tags r:id="rId16"/>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 id="2147483943" r:id="rId12"/>
    <p:sldLayoutId id="2147483944" r:id="rId13"/>
    <p:sldLayoutId id="214748394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E889A"/>
          </p15:clr>
        </p15:guide>
        <p15:guide id="2" pos="11520" userDrawn="1">
          <p15:clr>
            <a:srgbClr val="7E889A"/>
          </p15:clr>
        </p15:guide>
        <p15:guide id="3" pos="640" userDrawn="1">
          <p15:clr>
            <a:srgbClr val="7E889A"/>
          </p15:clr>
        </p15:guide>
        <p15:guide id="4" pos="810" userDrawn="1">
          <p15:clr>
            <a:srgbClr val="7E889A"/>
          </p15:clr>
        </p15:guide>
        <p15:guide id="5" pos="980" userDrawn="1">
          <p15:clr>
            <a:srgbClr val="7E889A"/>
          </p15:clr>
        </p15:guide>
        <p15:guide id="6" pos="1152" userDrawn="1">
          <p15:clr>
            <a:srgbClr val="7E889A"/>
          </p15:clr>
        </p15:guide>
        <p15:guide id="7" pos="1322" userDrawn="1">
          <p15:clr>
            <a:srgbClr val="7E889A"/>
          </p15:clr>
        </p15:guide>
        <p15:guide id="8" pos="1492" userDrawn="1">
          <p15:clr>
            <a:srgbClr val="7E889A"/>
          </p15:clr>
        </p15:guide>
        <p15:guide id="9" pos="1664" userDrawn="1">
          <p15:clr>
            <a:srgbClr val="7E889A"/>
          </p15:clr>
        </p15:guide>
        <p15:guide id="10" pos="1834" userDrawn="1">
          <p15:clr>
            <a:srgbClr val="7E889A"/>
          </p15:clr>
        </p15:guide>
        <p15:guide id="11" pos="2004" userDrawn="1">
          <p15:clr>
            <a:srgbClr val="7E889A"/>
          </p15:clr>
        </p15:guide>
        <p15:guide id="12" pos="2176" userDrawn="1">
          <p15:clr>
            <a:srgbClr val="7E889A"/>
          </p15:clr>
        </p15:guide>
        <p15:guide id="13" pos="2346" userDrawn="1">
          <p15:clr>
            <a:srgbClr val="7E889A"/>
          </p15:clr>
        </p15:guide>
        <p15:guide id="14" pos="2516" userDrawn="1">
          <p15:clr>
            <a:srgbClr val="7E889A"/>
          </p15:clr>
        </p15:guide>
        <p15:guide id="15" pos="2688" userDrawn="1">
          <p15:clr>
            <a:srgbClr val="7E889A"/>
          </p15:clr>
        </p15:guide>
        <p15:guide id="16" pos="2858" userDrawn="1">
          <p15:clr>
            <a:srgbClr val="7E889A"/>
          </p15:clr>
        </p15:guide>
        <p15:guide id="17" pos="3028" userDrawn="1">
          <p15:clr>
            <a:srgbClr val="7E889A"/>
          </p15:clr>
        </p15:guide>
        <p15:guide id="18" pos="3200" userDrawn="1">
          <p15:clr>
            <a:srgbClr val="7E889A"/>
          </p15:clr>
        </p15:guide>
        <p15:guide id="19" pos="3370" userDrawn="1">
          <p15:clr>
            <a:srgbClr val="7E889A"/>
          </p15:clr>
        </p15:guide>
        <p15:guide id="20" pos="3540" userDrawn="1">
          <p15:clr>
            <a:srgbClr val="7E889A"/>
          </p15:clr>
        </p15:guide>
        <p15:guide id="21" pos="3712" userDrawn="1">
          <p15:clr>
            <a:srgbClr val="7E889A"/>
          </p15:clr>
        </p15:guide>
        <p15:guide id="22" pos="3882" userDrawn="1">
          <p15:clr>
            <a:srgbClr val="7E889A"/>
          </p15:clr>
        </p15:guide>
        <p15:guide id="23" pos="4052" userDrawn="1">
          <p15:clr>
            <a:srgbClr val="7E889A"/>
          </p15:clr>
        </p15:guide>
        <p15:guide id="24" pos="4224" userDrawn="1">
          <p15:clr>
            <a:srgbClr val="7E889A"/>
          </p15:clr>
        </p15:guide>
        <p15:guide id="25" pos="4394" userDrawn="1">
          <p15:clr>
            <a:srgbClr val="7E889A"/>
          </p15:clr>
        </p15:guide>
        <p15:guide id="26" pos="4564" userDrawn="1">
          <p15:clr>
            <a:srgbClr val="7E889A"/>
          </p15:clr>
        </p15:guide>
        <p15:guide id="27" pos="4736" userDrawn="1">
          <p15:clr>
            <a:srgbClr val="7E889A"/>
          </p15:clr>
        </p15:guide>
        <p15:guide id="28" pos="4906" userDrawn="1">
          <p15:clr>
            <a:srgbClr val="7E889A"/>
          </p15:clr>
        </p15:guide>
        <p15:guide id="29" pos="5076" userDrawn="1">
          <p15:clr>
            <a:srgbClr val="7E889A"/>
          </p15:clr>
        </p15:guide>
        <p15:guide id="30" pos="5248" userDrawn="1">
          <p15:clr>
            <a:srgbClr val="7E889A"/>
          </p15:clr>
        </p15:guide>
        <p15:guide id="31" pos="5418" userDrawn="1">
          <p15:clr>
            <a:srgbClr val="7E889A"/>
          </p15:clr>
        </p15:guide>
        <p15:guide id="32" pos="5588" userDrawn="1">
          <p15:clr>
            <a:srgbClr val="7E889A"/>
          </p15:clr>
        </p15:guide>
        <p15:guide id="33" pos="5760" userDrawn="1">
          <p15:clr>
            <a:srgbClr val="7E889A"/>
          </p15:clr>
        </p15:guide>
        <p15:guide id="34" pos="5930" userDrawn="1">
          <p15:clr>
            <a:srgbClr val="7E889A"/>
          </p15:clr>
        </p15:guide>
        <p15:guide id="35" pos="6100" userDrawn="1">
          <p15:clr>
            <a:srgbClr val="7E889A"/>
          </p15:clr>
        </p15:guide>
        <p15:guide id="36" pos="6272" userDrawn="1">
          <p15:clr>
            <a:srgbClr val="7E889A"/>
          </p15:clr>
        </p15:guide>
        <p15:guide id="37" pos="6442" userDrawn="1">
          <p15:clr>
            <a:srgbClr val="7E889A"/>
          </p15:clr>
        </p15:guide>
        <p15:guide id="38" pos="6612" userDrawn="1">
          <p15:clr>
            <a:srgbClr val="7E889A"/>
          </p15:clr>
        </p15:guide>
        <p15:guide id="39" pos="6784" userDrawn="1">
          <p15:clr>
            <a:srgbClr val="7E889A"/>
          </p15:clr>
        </p15:guide>
        <p15:guide id="40" pos="6954" userDrawn="1">
          <p15:clr>
            <a:srgbClr val="7E889A"/>
          </p15:clr>
        </p15:guide>
        <p15:guide id="41" pos="7124" userDrawn="1">
          <p15:clr>
            <a:srgbClr val="7E889A"/>
          </p15:clr>
        </p15:guide>
        <p15:guide id="42" pos="7296" userDrawn="1">
          <p15:clr>
            <a:srgbClr val="7E889A"/>
          </p15:clr>
        </p15:guide>
        <p15:guide id="43" pos="7466" userDrawn="1">
          <p15:clr>
            <a:srgbClr val="7E889A"/>
          </p15:clr>
        </p15:guide>
        <p15:guide id="44" pos="7636" userDrawn="1">
          <p15:clr>
            <a:srgbClr val="7E889A"/>
          </p15:clr>
        </p15:guide>
        <p15:guide id="45" pos="7808" userDrawn="1">
          <p15:clr>
            <a:srgbClr val="7E889A"/>
          </p15:clr>
        </p15:guide>
        <p15:guide id="46" pos="7978" userDrawn="1">
          <p15:clr>
            <a:srgbClr val="7E889A"/>
          </p15:clr>
        </p15:guide>
        <p15:guide id="47" pos="8148" userDrawn="1">
          <p15:clr>
            <a:srgbClr val="7E889A"/>
          </p15:clr>
        </p15:guide>
        <p15:guide id="48" pos="8320" userDrawn="1">
          <p15:clr>
            <a:srgbClr val="7E889A"/>
          </p15:clr>
        </p15:guide>
        <p15:guide id="49" pos="8490" userDrawn="1">
          <p15:clr>
            <a:srgbClr val="7E889A"/>
          </p15:clr>
        </p15:guide>
        <p15:guide id="50" pos="8660" userDrawn="1">
          <p15:clr>
            <a:srgbClr val="7E889A"/>
          </p15:clr>
        </p15:guide>
        <p15:guide id="51" pos="8832" userDrawn="1">
          <p15:clr>
            <a:srgbClr val="7E889A"/>
          </p15:clr>
        </p15:guide>
        <p15:guide id="52" pos="9002" userDrawn="1">
          <p15:clr>
            <a:srgbClr val="7E889A"/>
          </p15:clr>
        </p15:guide>
        <p15:guide id="53" pos="9172" userDrawn="1">
          <p15:clr>
            <a:srgbClr val="7E889A"/>
          </p15:clr>
        </p15:guide>
        <p15:guide id="54" pos="9344" userDrawn="1">
          <p15:clr>
            <a:srgbClr val="7E889A"/>
          </p15:clr>
        </p15:guide>
        <p15:guide id="55" pos="9514" userDrawn="1">
          <p15:clr>
            <a:srgbClr val="7E889A"/>
          </p15:clr>
        </p15:guide>
        <p15:guide id="56" pos="9684" userDrawn="1">
          <p15:clr>
            <a:srgbClr val="7E889A"/>
          </p15:clr>
        </p15:guide>
        <p15:guide id="57" pos="9856" userDrawn="1">
          <p15:clr>
            <a:srgbClr val="7E889A"/>
          </p15:clr>
        </p15:guide>
        <p15:guide id="58" pos="10026" userDrawn="1">
          <p15:clr>
            <a:srgbClr val="7E889A"/>
          </p15:clr>
        </p15:guide>
        <p15:guide id="59" pos="10196" userDrawn="1">
          <p15:clr>
            <a:srgbClr val="7E889A"/>
          </p15:clr>
        </p15:guide>
        <p15:guide id="60" pos="10368" userDrawn="1">
          <p15:clr>
            <a:srgbClr val="7E889A"/>
          </p15:clr>
        </p15:guide>
        <p15:guide id="61" pos="10538" userDrawn="1">
          <p15:clr>
            <a:srgbClr val="7E889A"/>
          </p15:clr>
        </p15:guide>
        <p15:guide id="62" pos="10708" userDrawn="1">
          <p15:clr>
            <a:srgbClr val="7E889A"/>
          </p15:clr>
        </p15:guide>
        <p15:guide id="63" pos="10880" userDrawn="1">
          <p15:clr>
            <a:srgbClr val="7E889A"/>
          </p15:clr>
        </p15:guide>
        <p15:guide id="64" orient="horz" userDrawn="1">
          <p15:clr>
            <a:srgbClr val="7E889A"/>
          </p15:clr>
        </p15:guide>
        <p15:guide id="65" orient="horz" pos="6480" userDrawn="1">
          <p15:clr>
            <a:srgbClr val="7E889A"/>
          </p15:clr>
        </p15:guide>
        <p15:guide id="66" orient="horz" pos="656" userDrawn="1">
          <p15:clr>
            <a:srgbClr val="7E889A"/>
          </p15:clr>
        </p15:guide>
        <p15:guide id="67" orient="horz" pos="828" userDrawn="1">
          <p15:clr>
            <a:srgbClr val="7E889A"/>
          </p15:clr>
        </p15:guide>
        <p15:guide id="68" orient="horz" pos="1000" userDrawn="1">
          <p15:clr>
            <a:srgbClr val="7E889A"/>
          </p15:clr>
        </p15:guide>
        <p15:guide id="69" orient="horz" pos="1172" userDrawn="1">
          <p15:clr>
            <a:srgbClr val="7E889A"/>
          </p15:clr>
        </p15:guide>
        <p15:guide id="70" orient="horz" pos="1344" userDrawn="1">
          <p15:clr>
            <a:srgbClr val="7E889A"/>
          </p15:clr>
        </p15:guide>
        <p15:guide id="71" orient="horz" pos="1516" userDrawn="1">
          <p15:clr>
            <a:srgbClr val="7E889A"/>
          </p15:clr>
        </p15:guide>
        <p15:guide id="72" orient="horz" pos="1688" userDrawn="1">
          <p15:clr>
            <a:srgbClr val="7E889A"/>
          </p15:clr>
        </p15:guide>
        <p15:guide id="73" orient="horz" pos="1860" userDrawn="1">
          <p15:clr>
            <a:srgbClr val="7E889A"/>
          </p15:clr>
        </p15:guide>
        <p15:guide id="74" orient="horz" pos="2034" userDrawn="1">
          <p15:clr>
            <a:srgbClr val="7E889A"/>
          </p15:clr>
        </p15:guide>
        <p15:guide id="75" orient="horz" pos="2206" userDrawn="1">
          <p15:clr>
            <a:srgbClr val="7E889A"/>
          </p15:clr>
        </p15:guide>
        <p15:guide id="76" orient="horz" pos="2378" userDrawn="1">
          <p15:clr>
            <a:srgbClr val="7E889A"/>
          </p15:clr>
        </p15:guide>
        <p15:guide id="77" orient="horz" pos="2550" userDrawn="1">
          <p15:clr>
            <a:srgbClr val="7E889A"/>
          </p15:clr>
        </p15:guide>
        <p15:guide id="78" orient="horz" pos="2722" userDrawn="1">
          <p15:clr>
            <a:srgbClr val="7E889A"/>
          </p15:clr>
        </p15:guide>
        <p15:guide id="79" orient="horz" pos="2894" userDrawn="1">
          <p15:clr>
            <a:srgbClr val="7E889A"/>
          </p15:clr>
        </p15:guide>
        <p15:guide id="80" orient="horz" pos="3066" userDrawn="1">
          <p15:clr>
            <a:srgbClr val="7E889A"/>
          </p15:clr>
        </p15:guide>
        <p15:guide id="81" orient="horz" pos="3240" userDrawn="1">
          <p15:clr>
            <a:srgbClr val="7E889A"/>
          </p15:clr>
        </p15:guide>
        <p15:guide id="82" orient="horz" pos="3412" userDrawn="1">
          <p15:clr>
            <a:srgbClr val="7E889A"/>
          </p15:clr>
        </p15:guide>
        <p15:guide id="83" orient="horz" pos="3584" userDrawn="1">
          <p15:clr>
            <a:srgbClr val="7E889A"/>
          </p15:clr>
        </p15:guide>
        <p15:guide id="84" orient="horz" pos="3756" userDrawn="1">
          <p15:clr>
            <a:srgbClr val="7E889A"/>
          </p15:clr>
        </p15:guide>
        <p15:guide id="85" orient="horz" pos="3928" userDrawn="1">
          <p15:clr>
            <a:srgbClr val="7E889A"/>
          </p15:clr>
        </p15:guide>
        <p15:guide id="86" orient="horz" pos="4100" userDrawn="1">
          <p15:clr>
            <a:srgbClr val="7E889A"/>
          </p15:clr>
        </p15:guide>
        <p15:guide id="87" orient="horz" pos="4272" userDrawn="1">
          <p15:clr>
            <a:srgbClr val="7E889A"/>
          </p15:clr>
        </p15:guide>
        <p15:guide id="88" orient="horz" pos="4444" userDrawn="1">
          <p15:clr>
            <a:srgbClr val="7E889A"/>
          </p15:clr>
        </p15:guide>
        <p15:guide id="89" orient="horz" pos="4618" userDrawn="1">
          <p15:clr>
            <a:srgbClr val="7E889A"/>
          </p15:clr>
        </p15:guide>
        <p15:guide id="90" orient="horz" pos="4790" userDrawn="1">
          <p15:clr>
            <a:srgbClr val="7E889A"/>
          </p15:clr>
        </p15:guide>
        <p15:guide id="91" orient="horz" pos="4962" userDrawn="1">
          <p15:clr>
            <a:srgbClr val="7E889A"/>
          </p15:clr>
        </p15:guide>
        <p15:guide id="92" orient="horz" pos="5134" userDrawn="1">
          <p15:clr>
            <a:srgbClr val="7E889A"/>
          </p15:clr>
        </p15:guide>
        <p15:guide id="93" orient="horz" pos="5306" userDrawn="1">
          <p15:clr>
            <a:srgbClr val="7E889A"/>
          </p15:clr>
        </p15:guide>
        <p15:guide id="94" orient="horz" pos="5478" userDrawn="1">
          <p15:clr>
            <a:srgbClr val="7E889A"/>
          </p15:clr>
        </p15:guide>
        <p15:guide id="95" orient="horz" pos="5650" userDrawn="1">
          <p15:clr>
            <a:srgbClr val="7E889A"/>
          </p15:clr>
        </p15:guide>
        <p15:guide id="96" orient="horz" pos="5824" userDrawn="1">
          <p15:clr>
            <a:srgbClr val="7E889A"/>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Custom 4">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TaxCatchAll xmlns="53acc77d-4382-4413-8c2d-408a8e2a5705">
      <Value>297</Value>
      <Value>303</Value>
      <Value>1142</Value>
    </TaxCatchAll>
    <SharedWithUsers xmlns="53acc77d-4382-4413-8c2d-408a8e2a5705">
      <UserInfo>
        <DisplayName>Elisabeth Peter</DisplayName>
        <AccountId>228</AccountId>
        <AccountType/>
      </UserInfo>
      <UserInfo>
        <DisplayName>Cameron McLauchlin</DisplayName>
        <AccountId>43</AccountId>
        <AccountType/>
      </UserInfo>
      <UserInfo>
        <DisplayName>Jocelyn Kline</DisplayName>
        <AccountId>144</AccountId>
        <AccountType/>
      </UserInfo>
      <UserInfo>
        <DisplayName>Emily Baranello</DisplayName>
        <AccountId>147</AccountId>
        <AccountType/>
      </UserInfo>
      <UserInfo>
        <DisplayName>Mari Nilsson Björkman</DisplayName>
        <AccountId>28</AccountId>
        <AccountType/>
      </UserInfo>
      <UserInfo>
        <DisplayName>Claire-Juliette Beale</DisplayName>
        <AccountId>17</AccountId>
        <AccountType/>
      </UserInfo>
      <UserInfo>
        <DisplayName>Amanda Wise</DisplayName>
        <AccountId>233</AccountId>
        <AccountType/>
      </UserInfo>
      <UserInfo>
        <DisplayName>Jennifer Olson</DisplayName>
        <AccountId>248</AccountId>
        <AccountType/>
      </UserInfo>
      <UserInfo>
        <DisplayName>Greg Heidrick</DisplayName>
        <AccountId>30</AccountId>
        <AccountType/>
      </UserInfo>
      <UserInfo>
        <DisplayName>Albert Qian</DisplayName>
        <AccountId>964</AccountId>
        <AccountType/>
      </UserInfo>
      <UserInfo>
        <DisplayName>Ali Ricke</DisplayName>
        <AccountId>271</AccountId>
        <AccountType/>
      </UserInfo>
      <UserInfo>
        <DisplayName>Alice McClure</DisplayName>
        <AccountId>255</AccountId>
        <AccountType/>
      </UserInfo>
      <UserInfo>
        <DisplayName>Ashley Danahy</DisplayName>
        <AccountId>965</AccountId>
        <AccountType/>
      </UserInfo>
      <UserInfo>
        <DisplayName>Augusta Zhang</DisplayName>
        <AccountId>247</AccountId>
        <AccountType/>
      </UserInfo>
      <UserInfo>
        <DisplayName>Briana Ullman</DisplayName>
        <AccountId>167</AccountId>
        <AccountType/>
      </UserInfo>
      <UserInfo>
        <DisplayName>Erin McCarthy</DisplayName>
        <AccountId>966</AccountId>
        <AccountType/>
      </UserInfo>
      <UserInfo>
        <DisplayName>Heather Williams</DisplayName>
        <AccountId>967</AccountId>
        <AccountType/>
      </UserInfo>
      <UserInfo>
        <DisplayName>Kunal Shah</DisplayName>
        <AccountId>245</AccountId>
        <AccountType/>
      </UserInfo>
      <UserInfo>
        <DisplayName>Lindsay Marshall</DisplayName>
        <AccountId>183</AccountId>
        <AccountType/>
      </UserInfo>
      <UserInfo>
        <DisplayName>Luis Flynn</DisplayName>
        <AccountId>968</AccountId>
        <AccountType/>
      </UserInfo>
      <UserInfo>
        <DisplayName>Marinela Profi</DisplayName>
        <AccountId>55</AccountId>
        <AccountType/>
      </UserInfo>
      <UserInfo>
        <DisplayName>Michelle France</DisplayName>
        <AccountId>610</AccountId>
        <AccountType/>
      </UserInfo>
      <UserInfo>
        <DisplayName>Spiros Potamitis</DisplayName>
        <AccountId>969</AccountId>
        <AccountType/>
      </UserInfo>
      <UserInfo>
        <DisplayName>Apurva More</DisplayName>
        <AccountId>174</AccountId>
        <AccountType/>
      </UserInfo>
      <UserInfo>
        <DisplayName>Bill Roberts</DisplayName>
        <AccountId>246</AccountId>
        <AccountType/>
      </UserInfo>
      <UserInfo>
        <DisplayName>Brooke Huckabee</DisplayName>
        <AccountId>173</AccountId>
        <AccountType/>
      </UserInfo>
      <UserInfo>
        <DisplayName>Dan Mitchell</DisplayName>
        <AccountId>50</AccountId>
        <AccountType/>
      </UserInfo>
      <UserInfo>
        <DisplayName>David Rogers</DisplayName>
        <AccountId>434</AccountId>
        <AccountType/>
      </UserInfo>
      <UserInfo>
        <DisplayName>Diana Rothfuss</DisplayName>
        <AccountId>180</AccountId>
        <AccountType/>
      </UserInfo>
      <UserInfo>
        <DisplayName>Ellen Roberson</DisplayName>
        <AccountId>177</AccountId>
        <AccountType/>
      </UserInfo>
      <UserInfo>
        <DisplayName>Jane Howell</DisplayName>
        <AccountId>51</AccountId>
        <AccountType/>
      </UserInfo>
      <UserInfo>
        <DisplayName>Jennifer Pearson</DisplayName>
        <AccountId>904</AccountId>
        <AccountType/>
      </UserInfo>
      <UserInfo>
        <DisplayName>Jonathan Moran</DisplayName>
        <AccountId>172</AccountId>
        <AccountType/>
      </UserInfo>
      <UserInfo>
        <DisplayName>Lisa Loftis</DisplayName>
        <AccountId>171</AccountId>
        <AccountType/>
      </UserInfo>
      <UserInfo>
        <DisplayName>Liz Goldberg</DisplayName>
        <AccountId>120</AccountId>
        <AccountType/>
      </UserInfo>
      <UserInfo>
        <DisplayName>Loren Byrd</DisplayName>
        <AccountId>619</AccountId>
        <AccountType/>
      </UserInfo>
      <UserInfo>
        <DisplayName>Paola Csirke-Juliano</DisplayName>
        <AccountId>608</AccountId>
        <AccountType/>
      </UserInfo>
      <UserInfo>
        <DisplayName>Thorsten Hein</DisplayName>
        <AccountId>137</AccountId>
        <AccountType/>
      </UserInfo>
      <UserInfo>
        <DisplayName>Vashinta Dickens</DisplayName>
        <AccountId>182</AccountId>
        <AccountType/>
      </UserInfo>
      <UserInfo>
        <DisplayName>Katy Salamati</DisplayName>
        <AccountId>392</AccountId>
        <AccountType/>
      </UserInfo>
      <UserInfo>
        <DisplayName>Colby Hoke</DisplayName>
        <AccountId>970</AccountId>
        <AccountType/>
      </UserInfo>
      <UserInfo>
        <DisplayName>Mark Demers</DisplayName>
        <AccountId>6</AccountId>
        <AccountType/>
      </UserInfo>
      <UserInfo>
        <DisplayName>Michelle Wells</DisplayName>
        <AccountId>23</AccountId>
        <AccountType/>
      </UserInfo>
      <UserInfo>
        <DisplayName>Alyssa Farrell</DisplayName>
        <AccountId>42</AccountId>
        <AccountType/>
      </UserInfo>
      <UserInfo>
        <DisplayName>Alex Kwiatkowski</DisplayName>
        <AccountId>25</AccountId>
        <AccountType/>
      </UserInfo>
      <UserInfo>
        <DisplayName>Lee Ann Dietz</DisplayName>
        <AccountId>14</AccountId>
        <AccountType/>
      </UserInfo>
      <UserInfo>
        <DisplayName>Patrick Homer</DisplayName>
        <AccountId>32</AccountId>
        <AccountType/>
      </UserInfo>
      <UserInfo>
        <DisplayName>Sydney Chicurel</DisplayName>
        <AccountId>278</AccountId>
        <AccountType/>
      </UserInfo>
      <UserInfo>
        <DisplayName>Robert Montgomery</DisplayName>
        <AccountId>881</AccountId>
        <AccountType/>
      </UserInfo>
      <UserInfo>
        <DisplayName>Alex Maiersperger</DisplayName>
        <AccountId>239</AccountId>
        <AccountType/>
      </UserInfo>
      <UserInfo>
        <DisplayName>Georgia Mariani</DisplayName>
        <AccountId>15</AccountId>
        <AccountType/>
      </UserInfo>
      <UserInfo>
        <DisplayName>Global Technology Product Marketing Members</DisplayName>
        <AccountId>971</AccountId>
        <AccountType/>
      </UserInfo>
      <UserInfo>
        <DisplayName>Kate Parker</DisplayName>
        <AccountId>69</AccountId>
        <AccountType/>
      </UserInfo>
    </SharedWithUsers>
    <Updated xmlns="53acc77d-4382-4413-8c2d-408a8e2a5705" xsi:nil="true"/>
    <a5eaf523e06a49de8d79f6acc451673f xmlns="53acc77d-4382-4413-8c2d-408a8e2a5705">
      <Terms xmlns="http://schemas.microsoft.com/office/infopath/2007/PartnerControls"/>
    </a5eaf523e06a49de8d79f6acc451673f>
    <IconOverlay xmlns="http://schemas.microsoft.com/sharepoint/v4" xsi:nil="true"/>
    <g1556e91db324706a2d96877947f44a1 xmlns="53acc77d-4382-4413-8c2d-408a8e2a5705">
      <Terms xmlns="http://schemas.microsoft.com/office/infopath/2007/PartnerControls">
        <TermInfo xmlns="http://schemas.microsoft.com/office/infopath/2007/PartnerControls">
          <TermName xmlns="http://schemas.microsoft.com/office/infopath/2007/PartnerControls">Application and Identity Fraud</TermName>
          <TermId xmlns="http://schemas.microsoft.com/office/infopath/2007/PartnerControls">40c05cd4-be95-4caf-8451-1dc26fa7f19f</TermId>
        </TermInfo>
        <TermInfo xmlns="http://schemas.microsoft.com/office/infopath/2007/PartnerControls">
          <TermName xmlns="http://schemas.microsoft.com/office/infopath/2007/PartnerControls">Payments Fraud</TermName>
          <TermId xmlns="http://schemas.microsoft.com/office/infopath/2007/PartnerControls">85715592-c0d5-4db6-a49b-e9cd7b557fd0</TermId>
        </TermInfo>
        <TermInfo xmlns="http://schemas.microsoft.com/office/infopath/2007/PartnerControls">
          <TermName xmlns="http://schemas.microsoft.com/office/infopath/2007/PartnerControls">Banking Fraud and Financial Crimes Compliance</TermName>
          <TermId xmlns="http://schemas.microsoft.com/office/infopath/2007/PartnerControls">45b62d14-9032-43d0-998f-4b424fe0f613</TermId>
        </TermInfo>
      </Terms>
    </g1556e91db324706a2d96877947f44a1>
    <Asset_x0020_Status xmlns="53acc77d-4382-4413-8c2d-408a8e2a5705">Publish</Asset_x0020_Status>
    <pc8465657618468292594f9ab4689c33 xmlns="53acc77d-4382-4413-8c2d-408a8e2a5705">
      <Terms xmlns="http://schemas.microsoft.com/office/infopath/2007/PartnerControls"/>
    </pc8465657618468292594f9ab4689c33>
    <Demo_x0020_ID xmlns="53acc77d-4382-4413-8c2d-408a8e2a5705" xsi:nil="true"/>
    <Value_x0020_Proposition xmlns="f6ce49f0-2995-48df-a9c9-3a6b87ac555a">Not Set</Value_x0020_Proposition>
    <PublishingContact xmlns="f6ce49f0-2995-48df-a9c9-3a6b87ac555a">
      <UserInfo>
        <DisplayName/>
        <AccountId xsi:nil="true"/>
        <AccountType/>
      </UserInfo>
    </PublishingContact>
    <Portal_x0020_Content_x0020_Asset_x0020_Type xmlns="53acc77d-4382-4413-8c2d-408a8e2a5705">Overview Presentation</Portal_x0020_Content_x0020_Asset_x0020_Type>
  </documentManagement>
</p:properties>
</file>

<file path=customXml/item4.xml><?xml version="1.0" encoding="utf-8"?>
<ct:contentTypeSchema xmlns:ct="http://schemas.microsoft.com/office/2006/metadata/contentType" xmlns:ma="http://schemas.microsoft.com/office/2006/metadata/properties/metaAttributes" ct:_="" ma:_="" ma:contentTypeName="SAS Portal Document" ma:contentTypeID="0x0101006BE659B9BD46644CB3C6870C03978025002CC455ACD93CE545B750EA5F55C04BF6" ma:contentTypeVersion="47" ma:contentTypeDescription="Custom content type used for content that is surfaced on the Sales &amp; Marketing Portal.." ma:contentTypeScope="" ma:versionID="c117b22ede2bb8718e6234b331348844">
  <xsd:schema xmlns:xsd="http://www.w3.org/2001/XMLSchema" xmlns:xs="http://www.w3.org/2001/XMLSchema" xmlns:p="http://schemas.microsoft.com/office/2006/metadata/properties" xmlns:ns2="53acc77d-4382-4413-8c2d-408a8e2a5705" xmlns:ns4="f6ce49f0-2995-48df-a9c9-3a6b87ac555a" xmlns:ns5="http://schemas.microsoft.com/sharepoint/v4" targetNamespace="http://schemas.microsoft.com/office/2006/metadata/properties" ma:root="true" ma:fieldsID="fcae80220d5a355a2e03199195f972c7" ns2:_="" ns4:_="" ns5:_="">
    <xsd:import namespace="53acc77d-4382-4413-8c2d-408a8e2a5705"/>
    <xsd:import namespace="f6ce49f0-2995-48df-a9c9-3a6b87ac555a"/>
    <xsd:import namespace="http://schemas.microsoft.com/sharepoint/v4"/>
    <xsd:element name="properties">
      <xsd:complexType>
        <xsd:sequence>
          <xsd:element name="documentManagement">
            <xsd:complexType>
              <xsd:all>
                <xsd:element ref="ns2:Portal_x0020_Content_x0020_Asset_x0020_Type"/>
                <xsd:element ref="ns2:Asset_x0020_Status"/>
                <xsd:element ref="ns2:Demo_x0020_ID" minOccurs="0"/>
                <xsd:element ref="ns4:Value_x0020_Proposition" minOccurs="0"/>
                <xsd:element ref="ns2:pc8465657618468292594f9ab4689c33" minOccurs="0"/>
                <xsd:element ref="ns2:Updated" minOccurs="0"/>
                <xsd:element ref="ns2:g1556e91db324706a2d96877947f44a1" minOccurs="0"/>
                <xsd:element ref="ns2:TaxCatchAll" minOccurs="0"/>
                <xsd:element ref="ns2:a5eaf523e06a49de8d79f6acc451673f" minOccurs="0"/>
                <xsd:element ref="ns2:TaxCatchAllLabel"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5:IconOverlay" minOccurs="0"/>
                <xsd:element ref="ns4:PublishingContact" minOccurs="0"/>
                <xsd:element ref="ns2:SharedWithUsers" minOccurs="0"/>
                <xsd:element ref="ns2:SharedWithDetails"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acc77d-4382-4413-8c2d-408a8e2a5705" elementFormDefault="qualified">
    <xsd:import namespace="http://schemas.microsoft.com/office/2006/documentManagement/types"/>
    <xsd:import namespace="http://schemas.microsoft.com/office/infopath/2007/PartnerControls"/>
    <xsd:element name="Portal_x0020_Content_x0020_Asset_x0020_Type" ma:index="2" ma:displayName="Asset Type" ma:description="Types of assets available for publishing in Portal Content Libraries." ma:format="Dropdown" ma:internalName="Portal_x0020_Content_x0020_Asset_x0020_Type" ma:readOnly="false">
      <xsd:simpleType>
        <xsd:restriction base="dms:Choice">
          <xsd:enumeration value="Battle Card"/>
          <xsd:enumeration value="Competitive Research"/>
          <xsd:enumeration value="Customer Challenge &amp; What SAS Offers"/>
          <xsd:enumeration value="Customer Introduction Letter"/>
          <xsd:enumeration value="Demo Recording (Customer Ready)"/>
          <xsd:enumeration value="Demo Recording (Internal)"/>
          <xsd:enumeration value="Demo Resource"/>
          <xsd:enumeration value="Demo Script"/>
          <xsd:enumeration value="Discovery Questions"/>
          <xsd:enumeration value="External Video"/>
          <xsd:enumeration value="FAQ"/>
          <xsd:enumeration value="Industry Overview Presentation"/>
          <xsd:enumeration value="Initiate Conversations"/>
          <xsd:enumeration value="Impact Brief"/>
          <xsd:enumeration value="Know Your Buyer"/>
          <xsd:enumeration value="Know Your User"/>
          <xsd:enumeration value="Overview Presentation"/>
          <xsd:enumeration value="Presentation - Internal"/>
          <xsd:enumeration value="Product Roadmap"/>
          <xsd:enumeration value="Product Vision"/>
          <xsd:enumeration value="Qualification Criteria"/>
          <xsd:enumeration value="ROI Calculator"/>
          <xsd:enumeration value="Sales Strategy"/>
          <xsd:enumeration value="Sales Tools - Other"/>
          <xsd:enumeration value="Self-Directed Learning"/>
          <xsd:enumeration value="Shark Finesse ROI Model"/>
          <xsd:enumeration value="Social Selling QuickStart Guide"/>
          <xsd:enumeration value="Solution Brief"/>
          <xsd:enumeration value="Technical - Other"/>
          <xsd:enumeration value="Use Cases"/>
        </xsd:restriction>
      </xsd:simpleType>
    </xsd:element>
    <xsd:element name="Asset_x0020_Status" ma:index="5" ma:displayName="Asset Status" ma:default="Draft" ma:description="Publishing status of asset.  Select &quot;Publish&quot; for asset to be available in Mercury / Sales &amp; Marketing Portal." ma:format="Dropdown" ma:internalName="Asset_x0020_Status" ma:readOnly="false">
      <xsd:simpleType>
        <xsd:restriction base="dms:Choice">
          <xsd:enumeration value="Draft"/>
          <xsd:enumeration value="Under Review"/>
          <xsd:enumeration value="Publish"/>
          <xsd:enumeration value="Archive"/>
        </xsd:restriction>
      </xsd:simpleType>
    </xsd:element>
    <xsd:element name="Demo_x0020_ID" ma:index="9" nillable="true" ma:displayName="Demo ID" ma:description="For demo resources only" ma:internalName="Demo_x0020_ID" ma:readOnly="false">
      <xsd:simpleType>
        <xsd:restriction base="dms:Text">
          <xsd:maxLength value="255"/>
        </xsd:restriction>
      </xsd:simpleType>
    </xsd:element>
    <xsd:element name="pc8465657618468292594f9ab4689c33" ma:index="11" nillable="true" ma:taxonomy="true" ma:internalName="pc8465657618468292594f9ab4689c33" ma:taxonomyFieldName="SAS_x0020_Offering" ma:displayName="SAS Offering" ma:readOnly="false" ma:default="" ma:fieldId="{9c846565-7618-4682-9259-4f9ab4689c33}" ma:taxonomyMulti="true" ma:sspId="7fd0e135-c9ac-4e89-9c36-fb2929ad0f0a" ma:termSetId="13b43256-b3b3-4bff-80b2-57e1064dbe9a" ma:anchorId="00000000-0000-0000-0000-000000000000" ma:open="false" ma:isKeyword="false">
      <xsd:complexType>
        <xsd:sequence>
          <xsd:element ref="pc:Terms" minOccurs="0" maxOccurs="1"/>
        </xsd:sequence>
      </xsd:complexType>
    </xsd:element>
    <xsd:element name="Updated" ma:index="12" nillable="true" ma:displayName="Updated" ma:description="This field MUST include the date of last update.  Asset expiration rules are based on this date, and assets will expire if they have not been recently updated (after 550 days for many asset types). See the Asset Lifecycle List at http://sww.sas.com/gobot/assets" ma:format="DateOnly" ma:hidden="true" ma:internalName="Updated" ma:readOnly="false">
      <xsd:simpleType>
        <xsd:restriction base="dms:DateTime"/>
      </xsd:simpleType>
    </xsd:element>
    <xsd:element name="g1556e91db324706a2d96877947f44a1" ma:index="15" nillable="true" ma:taxonomy="true" ma:internalName="g1556e91db324706a2d96877947f44a1" ma:taxonomyFieldName="SAS_x0020_CBO" ma:displayName="SAS CBO" ma:readOnly="false" ma:default="" ma:fieldId="{01556e91-db32-4706-a2d9-6877947f44a1}" ma:taxonomyMulti="true" ma:sspId="7fd0e135-c9ac-4e89-9c36-fb2929ad0f0a" ma:termSetId="ca7520f6-ccfb-4624-b7c3-7e078f59c263" ma:anchorId="00000000-0000-0000-0000-000000000000" ma:open="false" ma:isKeyword="false">
      <xsd:complexType>
        <xsd:sequence>
          <xsd:element ref="pc:Terms" minOccurs="0" maxOccurs="1"/>
        </xsd:sequence>
      </xsd:complexType>
    </xsd:element>
    <xsd:element name="TaxCatchAll" ma:index="17" nillable="true" ma:displayName="Taxonomy Catch All Column" ma:hidden="true" ma:list="{acba37b5-229d-48b1-a098-788030c8aec9}" ma:internalName="TaxCatchAll" ma:readOnly="false" ma:showField="CatchAllData"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a5eaf523e06a49de8d79f6acc451673f" ma:index="18" nillable="true" ma:taxonomy="true" ma:internalName="a5eaf523e06a49de8d79f6acc451673f" ma:taxonomyFieldName="SAS_x0020_Industry" ma:displayName="SAS Industry" ma:readOnly="false" ma:default="" ma:fieldId="{a5eaf523-e06a-49de-8d79-f6acc451673f}" ma:taxonomyMulti="true" ma:sspId="7fd0e135-c9ac-4e89-9c36-fb2929ad0f0a" ma:termSetId="05306096-4b6f-4ef3-835e-901537768b2c" ma:anchorId="00000000-0000-0000-0000-000000000000" ma:open="false" ma:isKeyword="false">
      <xsd:complexType>
        <xsd:sequence>
          <xsd:element ref="pc:Terms" minOccurs="0" maxOccurs="1"/>
        </xsd:sequence>
      </xsd:complexType>
    </xsd:element>
    <xsd:element name="TaxCatchAllLabel" ma:index="19" nillable="true" ma:displayName="Taxonomy Catch All Column1" ma:hidden="true" ma:list="{acba37b5-229d-48b1-a098-788030c8aec9}" ma:internalName="TaxCatchAllLabel" ma:readOnly="true" ma:showField="CatchAllDataLabel"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ce49f0-2995-48df-a9c9-3a6b87ac555a" elementFormDefault="qualified">
    <xsd:import namespace="http://schemas.microsoft.com/office/2006/documentManagement/types"/>
    <xsd:import namespace="http://schemas.microsoft.com/office/infopath/2007/PartnerControls"/>
    <xsd:element name="Value_x0020_Proposition" ma:index="10" nillable="true" ma:displayName="Library VP Filter" ma:default="Not Set" ma:description="Used for library views ONLY, for grouping and filtering assets. These values do NOT impact Mercury or Quick Find tagging.  Use SAS CBO for official content tagging." ma:format="Dropdown" ma:hidden="true" ma:internalName="Value_x0020_Proposition" ma:readOnly="false">
      <xsd:simpleType>
        <xsd:restriction base="dms:Choice">
          <xsd:enumeration value="N/A - Demo"/>
          <xsd:enumeration value="N/A - Focus Area"/>
          <xsd:enumeration value="Anti-Money Laundering (Banking)"/>
          <xsd:enumeration value="Anti-Money Laundering for Insurance"/>
          <xsd:enumeration value="Cyber Security"/>
          <xsd:enumeration value="Financial Crimes Analytics"/>
          <xsd:enumeration value="Identity and Digital Fraud"/>
          <xsd:enumeration value="Insurance Claims Fraud"/>
          <xsd:enumeration value="Payments Fraud"/>
          <xsd:enumeration value="Procurement Integrity"/>
          <xsd:enumeration value="N/A - Industry"/>
          <xsd:enumeration value="N/A - Roadmap"/>
          <xsd:enumeration value="N/A - Product &amp; Solution"/>
          <xsd:enumeration value="N/A - Retired VP Content"/>
          <xsd:enumeration value="Not Set"/>
        </xsd:restriction>
      </xsd:simpleType>
    </xsd:element>
    <xsd:element name="MediaServiceMetadata" ma:index="22" nillable="true" ma:displayName="MediaServiceMetadata" ma:hidden="true" ma:internalName="MediaServiceMetadata" ma:readOnly="true">
      <xsd:simpleType>
        <xsd:restriction base="dms:Note"/>
      </xsd:simpleType>
    </xsd:element>
    <xsd:element name="MediaServiceFastMetadata" ma:index="23" nillable="true" ma:displayName="MediaServiceFastMetadata" ma:hidden="true" ma:internalName="MediaServiceFastMetadata" ma:readOnly="true">
      <xsd:simpleType>
        <xsd:restriction base="dms:Note"/>
      </xsd:simpleType>
    </xsd:element>
    <xsd:element name="MediaServiceAutoKeyPoints" ma:index="24" nillable="true" ma:displayName="MediaServiceAutoKeyPoints" ma:hidden="true" ma:internalName="MediaServiceAutoKeyPoints" ma:readOnly="true">
      <xsd:simpleType>
        <xsd:restriction base="dms:Note"/>
      </xsd:simpleType>
    </xsd:element>
    <xsd:element name="MediaServiceKeyPoints" ma:index="25" nillable="true" ma:displayName="KeyPoints" ma:hidden="true" ma:internalName="MediaServiceKeyPoints" ma:readOnly="true">
      <xsd:simpleType>
        <xsd:restriction base="dms:Note"/>
      </xsd:simpleType>
    </xsd:element>
    <xsd:element name="MediaServiceDateTaken" ma:index="26" nillable="true" ma:displayName="MediaServiceDateTaken" ma:hidden="true" ma:internalName="MediaServiceDateTaken" ma:readOnly="true">
      <xsd:simpleType>
        <xsd:restriction base="dms:Text"/>
      </xsd:simpleType>
    </xsd:element>
    <xsd:element name="PublishingContact" ma:index="30" nillable="true" ma:displayName="Contact" ma:description="Populates Author field in Mercury." ma:hidden="true" ma:list="UserInfo" ma:SearchPeopleOnly="false" ma:SharePointGroup="0" ma:internalName="Publishing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33" nillable="true" ma:displayName="MediaLengthInSeconds" ma:hidden="true" ma:internalName="MediaLengthInSeconds" ma:readOnly="true">
      <xsd:simpleType>
        <xsd:restriction base="dms:Unknown"/>
      </xsd:simple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7"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4" ma:displayName="Author"/>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axOccurs="1" ma:index="3"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303C9089-9DA5-45ED-8193-FB522D1384FB}">
  <ds:schemaRefs>
    <ds:schemaRef ds:uri="http://schemas.microsoft.com/office/2006/metadata/customXsn"/>
  </ds:schemaRefs>
</ds:datastoreItem>
</file>

<file path=customXml/itemProps3.xml><?xml version="1.0" encoding="utf-8"?>
<ds:datastoreItem xmlns:ds="http://schemas.openxmlformats.org/officeDocument/2006/customXml" ds:itemID="{E2663518-7548-4643-8219-608BFF0DFA0C}">
  <ds:schemaRefs>
    <ds:schemaRef ds:uri="http://purl.org/dc/elements/1.1/"/>
    <ds:schemaRef ds:uri="http://purl.org/dc/terms/"/>
    <ds:schemaRef ds:uri="http://schemas.microsoft.com/office/infopath/2007/PartnerControls"/>
    <ds:schemaRef ds:uri="53acc77d-4382-4413-8c2d-408a8e2a5705"/>
    <ds:schemaRef ds:uri="http://schemas.microsoft.com/office/2006/metadata/properties"/>
    <ds:schemaRef ds:uri="http://purl.org/dc/dcmitype/"/>
    <ds:schemaRef ds:uri="http://schemas.microsoft.com/sharepoint/v4"/>
    <ds:schemaRef ds:uri="http://schemas.microsoft.com/office/2006/documentManagement/types"/>
    <ds:schemaRef ds:uri="http://schemas.openxmlformats.org/package/2006/metadata/core-properties"/>
    <ds:schemaRef ds:uri="f6ce49f0-2995-48df-a9c9-3a6b87ac555a"/>
    <ds:schemaRef ds:uri="http://www.w3.org/XML/1998/namespace"/>
  </ds:schemaRefs>
</ds:datastoreItem>
</file>

<file path=customXml/itemProps4.xml><?xml version="1.0" encoding="utf-8"?>
<ds:datastoreItem xmlns:ds="http://schemas.openxmlformats.org/officeDocument/2006/customXml" ds:itemID="{6B7B042F-9E6C-45C7-9C43-A250F3E13A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acc77d-4382-4413-8c2d-408a8e2a5705"/>
    <ds:schemaRef ds:uri="f6ce49f0-2995-48df-a9c9-3a6b87ac555a"/>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4a3ff5-3dcb-4075-8703-f74a393618ec}" enabled="0" method="" siteId="{b74a3ff5-3dcb-4075-8703-f74a393618ec}" removed="1"/>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656</TotalTime>
  <Words>597</Words>
  <Application>Microsoft Office PowerPoint</Application>
  <PresentationFormat>Custom</PresentationFormat>
  <Paragraphs>130</Paragraphs>
  <Slides>3</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vt:i4>
      </vt:variant>
    </vt:vector>
  </HeadingPairs>
  <TitlesOfParts>
    <vt:vector size="12" baseType="lpstr">
      <vt:lpstr>Anova Light</vt:lpstr>
      <vt:lpstr>Anova</vt:lpstr>
      <vt:lpstr>Arial</vt:lpstr>
      <vt:lpstr>Calibri</vt:lpstr>
      <vt:lpstr>Calibri Light</vt:lpstr>
      <vt:lpstr>Anova Bold</vt:lpstr>
      <vt:lpstr>SAS - EXTERNAL</vt:lpstr>
      <vt:lpstr>1_SAS - EXTERNAL</vt:lpstr>
      <vt:lpstr>1_2020-Template-External</vt:lpstr>
      <vt:lpstr>MOHAP Agent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Fraud Decisioning - Customer Presentation</dc:title>
  <dc:creator>Jocelyn Kline</dc:creator>
  <dc:description>Customer presentation for SAS Fraud Decisioning</dc:description>
  <cp:lastModifiedBy>Raed Aldweik</cp:lastModifiedBy>
  <cp:revision>12</cp:revision>
  <dcterms:created xsi:type="dcterms:W3CDTF">2023-10-17T15:08:00Z</dcterms:created>
  <dcterms:modified xsi:type="dcterms:W3CDTF">2026-08-12T06:09:28Z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0x0101006BE659B9BD46644CB3C6870C03978025002CC455ACD93CE545B750EA5F55C04BF6</vt:lpwstr>
  </property>
  <property fmtid="{D5CDD505-2E9C-101B-9397-08002B2CF9AE}" pid="5" name="MediaServiceImageTags">
    <vt:lpwstr/>
  </property>
  <property fmtid="{D5CDD505-2E9C-101B-9397-08002B2CF9AE}" pid="6" name="SAS CBO">
    <vt:lpwstr>1142;#Application and Identity Fraud|40c05cd4-be95-4caf-8451-1dc26fa7f19f;#297;#Payments Fraud|85715592-c0d5-4db6-a49b-e9cd7b557fd0;#303;#Banking Fraud and Financial Crimes Compliance|45b62d14-9032-43d0-998f-4b424fe0f613</vt:lpwstr>
  </property>
  <property fmtid="{D5CDD505-2E9C-101B-9397-08002B2CF9AE}" pid="7" name="SAS Industry">
    <vt:lpwstr/>
  </property>
  <property fmtid="{D5CDD505-2E9C-101B-9397-08002B2CF9AE}" pid="8" name="SAS Offering">
    <vt:lpwstr/>
  </property>
  <property fmtid="{D5CDD505-2E9C-101B-9397-08002B2CF9AE}" pid="9" name="SAS_x0020_CBO">
    <vt:lpwstr>1142;#Application and Identity Fraud|40c05cd4-be95-4caf-8451-1dc26fa7f19f;#297;#Payments Fraud|85715592-c0d5-4db6-a49b-e9cd7b557fd0;#303;#Banking Fraud and Financial Crimes Compliance|45b62d14-9032-43d0-998f-4b424fe0f613</vt:lpwstr>
  </property>
  <property fmtid="{D5CDD505-2E9C-101B-9397-08002B2CF9AE}" pid="10" name="SAS_x0020_Industry">
    <vt:lpwstr/>
  </property>
  <property fmtid="{D5CDD505-2E9C-101B-9397-08002B2CF9AE}" pid="11" name="SAS_x0020_Offering">
    <vt:lpwstr/>
  </property>
</Properties>
</file>