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2.svg" ContentType="image/svg+xml"/>
  <Override PartName="/ppt/media/image3.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6" r:id="rId5"/>
  </p:sldMasterIdLst>
  <p:notesMasterIdLst>
    <p:notesMasterId r:id="rId11"/>
  </p:notesMasterIdLst>
  <p:handoutMasterIdLst>
    <p:handoutMasterId r:id="rId12"/>
  </p:handoutMasterIdLst>
  <p:sldIdLst>
    <p:sldId id="256" r:id="rId10"/>
    <p:sldId id="257" r:id="rId9"/>
    <p:sldId id="258" r:id="rId8"/>
    <p:sldId id="259" r:id="rId7"/>
    <p:sldId id="260" r:id="rId6"/>
    <p:sldId id="261" r:id="rId32"/>
    <p:sldId id="262" r:id="rId33"/>
    <p:sldId id="263" r:id="rId34"/>
    <p:sldId id="264" r:id="rId35"/>
    <p:sldId id="265" r:id="rId36"/>
    <p:sldId id="266" r:id="rId37"/>
    <p:sldId id="267" r:id="rId38"/>
    <p:sldId id="268" r:id="rId39"/>
    <p:sldId id="269" r:id="rId40"/>
    <p:sldId id="270" r:id="rId41"/>
    <p:sldId id="271" r:id="rId42"/>
    <p:sldId id="272" r:id="rId43"/>
    <p:sldId id="273" r:id="rId44"/>
    <p:sldId id="274" r:id="rId45"/>
    <p:sldId id="275" r:id="rId46"/>
    <p:sldId id="276" r:id="rId47"/>
    <p:sldId id="277" r:id="rId48"/>
    <p:sldId id="278" r:id="rId49"/>
  </p:sldIdLst>
  <p:sldSz cx="18288000" cy="10287000"/>
  <p:notesSz cx="6858000" cy="9144000"/>
  <p:embeddedFontLst>
    <p:embeddedFont>
      <p:font typeface="Anova" panose="020B0604020202020204" charset="0"/>
      <p:regular r:id="rId13"/>
      <p:bold r:id="rId14"/>
      <p:italic r:id="rId15"/>
      <p:boldItalic r:id="rId16"/>
    </p:embeddedFont>
    <p:embeddedFont>
      <p:font typeface="Anova Bold" panose="020B0604020202020204" charset="0"/>
      <p:regular r:id="rId17"/>
      <p:bold r:id="rId18"/>
      <p:italic r:id="rId19"/>
      <p:boldItalic r:id="rId20"/>
    </p:embeddedFont>
    <p:embeddedFont>
      <p:font typeface="Anova Light" panose="020B0604020202020204" charset="0"/>
      <p:regular r:id="rId21"/>
      <p:bold r:id="rId22"/>
      <p:italic r:id="rId23"/>
      <p:boldItalic r:id="rId24"/>
    </p:embeddedFont>
  </p:embeddedFontLst>
  <p:custDataLst>
    <p:tags r:id="rId25"/>
  </p:custDataLst>
  <p:defaultText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4DA096-A44F-4CB2-86A9-989C8567BC99}">
          <p14:sldIdLst>
            <p14:sldId id="2147477438"/>
            <p14:sldId id="256"/>
            <p14:sldId id="2147483544"/>
          </p14:sldIdLst>
        </p14:section>
      </p14:sectionLst>
    </p:ex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4B708D14-BD54-920F-18BB-8395E60AE589}" name="Alice McClure" initials="AM" userId="S::alice.mcclure@sas.com::6210c489-566a-4639-8da1-84bcfd842f43" providerId="AD"/>
  <p188:author id="{7FD95D2A-4CAA-4E28-14CF-F6755ACD491D}" name="Mark Demers" initials="MD" userId="S::mark.demers@sas.com::a6c1815c-a07e-4ad8-b99d-835bfaf5b59a" providerId="AD"/>
  <p188:author id="{6DFEA739-C4EE-3CDE-94E6-A95954A908DE}" name="Tine Haaber" initials="TH" userId="S::Tine.Haaber@SAS.COM::b28dffea-6139-4081-9090-e82e8f843744" providerId="AD"/>
  <p188:author id="{9966B73D-F5BE-20D5-13EF-9EE7F32E485F}" name="Mark Demers" initials="MD" userId="S::Mark.Demers@sas.com::a6c1815c-a07e-4ad8-b99d-835bfaf5b59a" providerId="AD"/>
  <p188:author id="{8589D845-7987-B917-DB5A-8124C69673B1}" name="Ian Holmes" initials="IH" userId="S::Ian.Holmes@sas.com::be136b62-8947-4791-afb4-a71e75240925" providerId="AD"/>
  <p188:author id="{2809CD54-2E0F-B50C-4978-852C5F801C91}" name="Robert Montgomery" initials="RM" userId="S::robert.montgomery@SAS.com::28d4c29f-64b2-4ffd-8efa-fc826a00016a" providerId="AD"/>
  <p188:author id="{4711F45D-9A4C-C270-559F-E09685DD1391}" name="Elisabeth Peter" initials="EP" userId="S::Elisabeth.Peter@sas.com::e2c5cfb3-f426-4aa6-8c12-a369aa668627" providerId="AD"/>
  <p188:author id="{B039347D-3557-F9F0-E474-D5F325AD51B6}" name="Jocelyn Kline" initials="JK" userId="S::Jocelyn.Kline@sas.com::7590ce6a-d436-43a4-bfea-4908ec3bbc47" providerId="AD"/>
  <p188:author id="{D07952DD-C253-29C0-A67B-3D937B579047}" name="Cameron McLauchlin" initials="CM" userId="S::Cameron.McLauchlin@SAS.com::770c9921-c5b5-47cb-ae7c-d35ee10112a8" providerId="AD"/>
  <p188:author id="{20FD69E9-C4AD-FE04-2F1E-8C20C926D278}" name="Cameron McLauchlin" initials="CM" userId="S::cameron.mclauchlin@sas.com::770c9921-c5b5-47cb-ae7c-d35ee10112a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78DE"/>
    <a:srgbClr val="FF66B2"/>
    <a:srgbClr val="64234B"/>
    <a:srgbClr val="69224C"/>
    <a:srgbClr val="850D4A"/>
    <a:srgbClr val="DB12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089F89-7270-4661-92E8-8375F411D5B4}" v="4" dt="2026-08-10T10:39:47.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89922" autoAdjust="0"/>
  </p:normalViewPr>
  <p:slideViewPr>
    <p:cSldViewPr snapToGrid="0">
      <p:cViewPr varScale="1">
        <p:scale>
          <a:sx n="96" d="100"/>
          <a:sy n="96" d="100"/>
        </p:scale>
        <p:origin x="3030" y="96"/>
      </p:cViewPr>
      <p:guideLst>
        <p:guide orient="horz" pos="3240"/>
        <p:guide pos="57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 Id="rId21" Type="http://schemas.openxmlformats.org/officeDocument/2006/relationships/font" Target="fonts/font9.fntdata"/><Relationship Id="rId22" Type="http://schemas.openxmlformats.org/officeDocument/2006/relationships/font" Target="fonts/font10.fntdata"/><Relationship Id="rId23" Type="http://schemas.openxmlformats.org/officeDocument/2006/relationships/font" Target="fonts/font11.fntdata"/><Relationship Id="rId24" Type="http://schemas.openxmlformats.org/officeDocument/2006/relationships/font" Target="fonts/font12.fntdata"/><Relationship Id="rId25" Type="http://schemas.openxmlformats.org/officeDocument/2006/relationships/tags" Target="tags/tag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 Id="rId31" Type="http://schemas.microsoft.com/office/2018/10/relationships/authors" Target="authors.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7" Type="http://schemas.openxmlformats.org/officeDocument/2006/relationships/slide" Target="slides/slide21.xml"/><Relationship Id="rId48" Type="http://schemas.openxmlformats.org/officeDocument/2006/relationships/slide" Target="slides/slide22.xml"/><Relationship Id="rId49" Type="http://schemas.openxmlformats.org/officeDocument/2006/relationships/slide" Target="slides/slide2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tags" Target="../tags/tag42.xml"/><Relationship Id="rId3" Type="http://schemas.openxmlformats.org/officeDocument/2006/relationships/image" Target="../media/image4.sv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01A56FA-0DF4-15B7-A216-DB01CF5CEB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E34E3-7E5C-436A-9E6D-2FFC8FFCFCBF}" type="datetimeFigureOut">
              <a:rPr lang="en-US" smtClean="0">
                <a:latin typeface="Anova Light" panose="020B0403020203020204" pitchFamily="34" charset="0"/>
              </a:rPr>
              <a:t>8/12/2026</a:t>
            </a:fld>
            <a:endParaRPr lang="en-US">
              <a:latin typeface="Anova Light" panose="020B0403020203020204" pitchFamily="34" charset="0"/>
            </a:endParaRPr>
          </a:p>
        </p:txBody>
      </p:sp>
      <p:sp>
        <p:nvSpPr>
          <p:cNvPr id="5" name="Slide Number Placeholder 4">
            <a:extLst>
              <a:ext uri="{FF2B5EF4-FFF2-40B4-BE49-F238E27FC236}">
                <a16:creationId xmlns:a16="http://schemas.microsoft.com/office/drawing/2014/main" id="{BA52EC1A-046B-DC8F-4AAC-4BB03667CCC0}"/>
              </a:ext>
            </a:extLst>
          </p:cNvPr>
          <p:cNvSpPr>
            <a:spLocks noGrp="1"/>
          </p:cNvSpPr>
          <p:nvPr>
            <p:ph type="sldNum" sz="quarter" idx="3"/>
          </p:nvPr>
        </p:nvSpPr>
        <p:spPr>
          <a:xfrm>
            <a:off x="0" y="0"/>
            <a:ext cx="2971800" cy="458787"/>
          </a:xfrm>
          <a:prstGeom prst="rect">
            <a:avLst/>
          </a:prstGeom>
        </p:spPr>
        <p:txBody>
          <a:bodyPr vert="horz" lIns="91440" tIns="45720" rIns="91440" bIns="45720" rtlCol="0" anchor="b"/>
          <a:lstStyle>
            <a:lvl1pPr algn="r">
              <a:defRPr sz="1200"/>
            </a:lvl1pPr>
          </a:lstStyle>
          <a:p>
            <a:pPr algn="l"/>
            <a:fld id="{C4EF46A2-9381-4C51-8277-3C7F2938E9F9}" type="slidenum">
              <a:rPr lang="en-US" smtClean="0">
                <a:latin typeface="Anova Light" panose="020B0403020203020204" pitchFamily="34" charset="0"/>
              </a:rPr>
              <a:pPr algn="l"/>
              <a:t>‹#›</a:t>
            </a:fld>
            <a:endParaRPr lang="en-US">
              <a:latin typeface="Anova Light" panose="020B0403020203020204" pitchFamily="34" charset="0"/>
            </a:endParaRPr>
          </a:p>
        </p:txBody>
      </p:sp>
      <p:sp>
        <p:nvSpPr>
          <p:cNvPr id="2" name="TextBox 4">
            <a:extLst>
              <a:ext uri="{FF2B5EF4-FFF2-40B4-BE49-F238E27FC236}">
                <a16:creationId xmlns:a16="http://schemas.microsoft.com/office/drawing/2014/main" id="{7A8A3785-BF0E-6C8B-8B7B-0521D7696A29}"/>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3F6C63C1-B02C-0586-DDA1-7B0EB003F6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DEF6B2A-6211-F846-C47F-DC10CAA8C891}"/>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accent4"/>
                </a:solidFill>
                <a:latin typeface="Anova Light" panose="020B0403020203020204" pitchFamily="34" charset="0"/>
              </a:rPr>
              <a:t>sas.com</a:t>
            </a:r>
          </a:p>
        </p:txBody>
      </p:sp>
    </p:spTree>
    <p:custDataLst>
      <p:tags r:id="rId2"/>
    </p:custDataLst>
    <p:extLst>
      <p:ext uri="{BB962C8B-B14F-4D97-AF65-F5344CB8AC3E}">
        <p14:creationId xmlns:p14="http://schemas.microsoft.com/office/powerpoint/2010/main" val="262689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4.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solidFill>
                  <a:schemeClr val="tx1"/>
                </a:solidFill>
                <a:latin typeface="Anova Light" panose="020B0403020203020204" pitchFamily="34" charset="0"/>
              </a:defRPr>
            </a:lvl1pPr>
          </a:lstStyle>
          <a:p>
            <a:fld id="{D46682E9-A1D3-F04F-A14F-ABAA4D2618F2}" type="datetimeFigureOut">
              <a:rPr lang="en-US" smtClean="0"/>
              <a:pPr/>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4">
            <a:extLst>
              <a:ext uri="{FF2B5EF4-FFF2-40B4-BE49-F238E27FC236}">
                <a16:creationId xmlns:a16="http://schemas.microsoft.com/office/drawing/2014/main" id="{CFAEC8D7-15A6-6F9F-E0B7-CB248431A52A}"/>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10" name="Slide Number Placeholder 4">
            <a:extLst>
              <a:ext uri="{FF2B5EF4-FFF2-40B4-BE49-F238E27FC236}">
                <a16:creationId xmlns:a16="http://schemas.microsoft.com/office/drawing/2014/main" id="{9DE3AD8C-AE96-943C-8DAF-3D5594863A36}"/>
              </a:ext>
            </a:extLst>
          </p:cNvPr>
          <p:cNvSpPr>
            <a:spLocks noGrp="1"/>
          </p:cNvSpPr>
          <p:nvPr>
            <p:ph type="sldNum" sz="quarter" idx="5"/>
          </p:nvPr>
        </p:nvSpPr>
        <p:spPr>
          <a:xfrm>
            <a:off x="0" y="0"/>
            <a:ext cx="2971800" cy="458787"/>
          </a:xfrm>
          <a:prstGeom prst="rect">
            <a:avLst/>
          </a:prstGeom>
        </p:spPr>
        <p:txBody>
          <a:bodyPr vert="horz" lIns="91440" tIns="45720" rIns="91440" bIns="45720" rtlCol="0" anchor="b"/>
          <a:lstStyle>
            <a:lvl1pPr algn="r">
              <a:defRPr sz="1200" b="0" i="0">
                <a:solidFill>
                  <a:schemeClr val="tx1"/>
                </a:solidFill>
                <a:latin typeface="Anova Light" panose="020B0403020203020204" pitchFamily="34" charset="0"/>
              </a:defRPr>
            </a:lvl1pPr>
          </a:lstStyle>
          <a:p>
            <a:pPr algn="l"/>
            <a:fld id="{C4EF46A2-9381-4C51-8277-3C7F2938E9F9}" type="slidenum">
              <a:rPr lang="en-US" smtClean="0"/>
              <a:pPr algn="l"/>
              <a:t>‹#›</a:t>
            </a:fld>
            <a:endParaRPr lang="en-US"/>
          </a:p>
        </p:txBody>
      </p:sp>
      <p:pic>
        <p:nvPicPr>
          <p:cNvPr id="2" name="Picture 6">
            <a:extLst>
              <a:ext uri="{FF2B5EF4-FFF2-40B4-BE49-F238E27FC236}">
                <a16:creationId xmlns:a16="http://schemas.microsoft.com/office/drawing/2014/main" id="{D7A2D390-EEAD-C632-F276-85D15BA57F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607DE50-086C-7432-5C71-ADF401D86D53}"/>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tx1"/>
                </a:solidFill>
                <a:latin typeface="Anova Light" panose="020B0403020203020204" pitchFamily="34" charset="0"/>
              </a:rPr>
              <a:t>sas.com</a:t>
            </a:r>
          </a:p>
        </p:txBody>
      </p:sp>
    </p:spTree>
    <p:extLst>
      <p:ext uri="{BB962C8B-B14F-4D97-AF65-F5344CB8AC3E}">
        <p14:creationId xmlns:p14="http://schemas.microsoft.com/office/powerpoint/2010/main" val="3625376775"/>
      </p:ext>
    </p:extLst>
  </p:cSld>
  <p:clrMap bg1="lt1" tx1="dk1" bg2="lt2" tx2="dk2" accent1="accent1" accent2="accent2" accent3="accent3" accent4="accent4" accent5="accent5" accent6="accent6" hlink="hlink" folHlink="folHlink"/>
  <p:notesStyle>
    <a:lvl1pPr marL="3429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mn-lt"/>
        <a:ea typeface="+mn-ea"/>
        <a:cs typeface="+mn-cs"/>
      </a:defRPr>
    </a:lvl1pPr>
    <a:lvl2pPr marL="1257300" indent="-342900" algn="l" defTabSz="1828800" rtl="0" eaLnBrk="1" latinLnBrk="0" hangingPunct="1">
      <a:buClr>
        <a:schemeClr val="accent5"/>
      </a:buClr>
      <a:buFont typeface="Anova Light" panose="020B0403020203020204" pitchFamily="34" charset="0"/>
      <a:buChar char="–"/>
      <a:defRPr sz="2000" b="0" i="0" kern="1200">
        <a:solidFill>
          <a:schemeClr val="tx1"/>
        </a:solidFill>
        <a:latin typeface="+mn-lt"/>
        <a:ea typeface="+mn-ea"/>
        <a:cs typeface="+mn-cs"/>
      </a:defRPr>
    </a:lvl2pPr>
    <a:lvl3pPr marL="2171700" indent="-342900" algn="l" defTabSz="1828800" rtl="0" eaLnBrk="1" latinLnBrk="0" hangingPunct="1">
      <a:buClr>
        <a:schemeClr val="accent5"/>
      </a:buClr>
      <a:buFont typeface="Anova Light" panose="020B0403020203020204" pitchFamily="34" charset="0"/>
      <a:buChar char="•"/>
      <a:defRPr sz="1800" b="0" i="0" kern="1200">
        <a:solidFill>
          <a:schemeClr val="tx1"/>
        </a:solidFill>
        <a:latin typeface="+mn-lt"/>
        <a:ea typeface="+mn-ea"/>
        <a:cs typeface="+mn-cs"/>
      </a:defRPr>
    </a:lvl3pPr>
    <a:lvl4pPr marL="3086100" indent="-342900" algn="l" defTabSz="1828800" rtl="0" eaLnBrk="1" latinLnBrk="0" hangingPunct="1">
      <a:buClr>
        <a:schemeClr val="accent5"/>
      </a:buClr>
      <a:buFont typeface="Anova Light" panose="020B0403020203020204" pitchFamily="34" charset="0"/>
      <a:buChar char="–"/>
      <a:defRPr sz="1600" b="0" i="0" kern="1200">
        <a:solidFill>
          <a:schemeClr val="tx1"/>
        </a:solidFill>
        <a:latin typeface="+mn-lt"/>
        <a:ea typeface="+mn-ea"/>
        <a:cs typeface="+mn-cs"/>
      </a:defRPr>
    </a:lvl4pPr>
    <a:lvl5pPr marL="4000500" indent="-342900" algn="l" defTabSz="1828800" rtl="0" eaLnBrk="1" latinLnBrk="0" hangingPunct="1">
      <a:buClr>
        <a:schemeClr val="accent5"/>
      </a:buClr>
      <a:buFont typeface="Anova Light" panose="020B0403020203020204" pitchFamily="34" charset="0"/>
      <a:buChar char="•"/>
      <a:defRPr sz="1400" b="0" i="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Two things in the next 45 minutes: a shared vocabulary for Agentic AI (what an agent is, what RAG, MCP and</a:t>
            </a:r>
          </a:p>
          <a:p>
            <a:r>
              <a:t>composite AI add to it), and a real agent at work on a population-health problem. It is the same agent the</a:t>
            </a:r>
          </a:p>
          <a:p>
            <a:r>
              <a:t>participants build themselves in the hands-on, so everything shown here comes back later. No code, no maths.</a:t>
            </a:r>
          </a:p>
          <a:p>
            <a:r>
              <a:t>Timing guide: intro 3 min (slides 1-2), what is an agent 8 min (3-6), the parts 10 min (7-12), live demo 18 min</a:t>
            </a:r>
          </a:p>
          <a:p>
            <a:r>
              <a:t>(13-18, of which about 12 min live in SAS Retrieval Agent Manager), what you will build 4 min (19-21), wrap-up 2 min</a:t>
            </a:r>
          </a:p>
          <a:p>
            <a:r>
              <a:t>(22-23). If short on time, skip slide 6 (healthcare examples) and slide 21 (the component table). If the live</a:t>
            </a:r>
          </a:p>
          <a:p>
            <a:r>
              <a:t>environment misbehaves, slide 17 is the backup walk-through of one answer.</a:t>
            </a:r>
          </a:p>
          <a:p>
            <a:r>
              <a:t>Before the session: sign in to RAM, open the Population Health Agent, run question 1 once so the compute session is</a:t>
            </a:r>
          </a:p>
          <a:p>
            <a:r>
              <a:t>warm, and keep the app's SAS RAM tab open on the second screen for the trace.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parts quickly (about 8, 10, 18 and 4 minutes). Say up front that the demo agent and the agent they will</a:t>
            </a:r>
          </a:p>
          <a:p>
            <a:r>
              <a:t>build are the same agent: same registry, same guidelines, same model, same tools. Parts 1 and 2 exist so the demo makes</a:t>
            </a:r>
          </a:p>
          <a:p>
            <a:r>
              <a:t>sense; the demo exists so the build makes sense. The card on the right is the promise to the room.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of 4. About 8 minutes: three kinds of AI, the loop, and where agents already fit in healthcare.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kinds of AI, one sentence each. Machine learning predicts, and EHS already runs it (risk scores, forecasts).</a:t>
            </a:r>
          </a:p>
          <a:p>
            <a:r>
              <a:t>Generative AI writes, and most of the room has used a chatbot. Agentic AI is given a goal and works through the steps</a:t>
            </a:r>
          </a:p>
          <a:p>
            <a:r>
              <a:t>itself, calling the other two as tools. The callout is the message of the whole session: this is not a better</a:t>
            </a:r>
          </a:p>
          <a:p>
            <a:r>
              <a:t>chatbot, it is an orchestrator of things you already own. The third card is blue because it is the one we build.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loop is what the word 'agentic' means. Four beats: perceive, reason and plan, act, observe, then round again. A</a:t>
            </a:r>
          </a:p>
          <a:p>
            <a:r>
              <a:t>chatbot goes round once; an agent keeps going until the goal is met or a limit stops it. Three words carry the rest of</a:t>
            </a:r>
          </a:p>
          <a:p>
            <a:r>
              <a:t>the session: goal, tools, lines. If someone asks 'where is the LLM?', point at Reason &amp; plan: that is where it lives,</a:t>
            </a:r>
          </a:p>
          <a:p>
            <a:r>
              <a:t>and only there. Everything else is ordinary software that we control. In the demo this loop shows up as the trace:</a:t>
            </a:r>
          </a:p>
          <a:p>
            <a:r>
              <a:t>every turn is a retrieval, a query or a model call you can see.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patterns, all real, all the same shape: the agent reads, reasons and drafts; a person decides. Read the blue line</a:t>
            </a:r>
          </a:p>
          <a:p>
            <a:r>
              <a:t>on each card aloud, because that line is what makes an agent acceptable in a hospital. The first card is today's demo</a:t>
            </a:r>
          </a:p>
          <a:p>
            <a:r>
              <a:t>and the bootcamp's build. Ask the room to map their own process onto one of the six; most programme and back-office</a:t>
            </a:r>
          </a:p>
          <a:p>
            <a:r>
              <a:t>work fits. Skip this slide if you are behind.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of 4. About 10 minutes: the map, then one slide each on the language model, RAG, MCP, and one question going through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for the next four slides. The language model is in the middle because it thinks, plans and writes, and only</a:t>
            </a:r>
          </a:p>
          <a:p>
            <a:r>
              <a:t>that. Knowledge is what it can quote (RAG). Tools are what it can call (MCP). Your models and rules are the analytics</a:t>
            </a:r>
          </a:p>
          <a:p>
            <a:r>
              <a:t>you already own, exposed as tools (composite AI). People set the goal and the limits and take the decisions. Say the</a:t>
            </a:r>
          </a:p>
          <a:p>
            <a:r>
              <a:t>footer sentence slowly: the model never touches your data or systems. That is the sentence that makes the security</a:t>
            </a:r>
          </a:p>
          <a:p>
            <a:r>
              <a:t>people in the room relax.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language model its due and its limits. Good with language, planning and faithful summarising. It cannot know</a:t>
            </a:r>
          </a:p>
          <a:p>
            <a:r>
              <a:t>your data or today's guideline, cannot count reliably, cannot run anything. When none of its sources has the answer it</a:t>
            </a:r>
          </a:p>
          <a:p>
            <a:r>
              <a:t>produces a plausible guess: that is the hallucination problem, and the cure is design, not hope. The callout is the</a:t>
            </a:r>
          </a:p>
          <a:p>
            <a:r>
              <a:t>plan for the next three slides: RAG, tools and models, people. Ask which of the four 'cannot' lines worries them</a:t>
            </a:r>
          </a:p>
          <a:p>
            <a:r>
              <a:t>most; usually the guideline, which is exactly what RAG fixes.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in two rows. The top row happens once, when you build the knowledge base: documents are cut into passages, each</a:t>
            </a:r>
          </a:p>
          <a:p>
            <a:r>
              <a:t>passage is turned into a vector (a fingerprint of its meaning) and stored. The bottom row happens at every question:</a:t>
            </a:r>
          </a:p>
          <a:p>
            <a:r>
              <a:t>the question gets a fingerprint too, the closest passages are fetched, and the model writes from those passages only,</a:t>
            </a:r>
          </a:p>
          <a:p>
            <a:r>
              <a:t>with the citation. The last card matters most in healthcare: when the documents do not cover the question, the agent</a:t>
            </a:r>
          </a:p>
          <a:p>
            <a:r>
              <a:t>says so instead of guessing. In SAS this whole slide is a Retrieval Agent Manager collection; the participants build</a:t>
            </a:r>
          </a:p>
          <a:p>
            <a:r>
              <a:t>one from the four PDFs in the hands-on, and in the demo you will see the retrieved passages in the trace.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is the standard that lets any agent talk to any tool through one plug: the USB-C of agents. The agent on the left</a:t>
            </a:r>
          </a:p>
          <a:p>
            <a:r>
              <a:t>never reaches a database or a model directly. It sends a request ('score patient EHS-100092') to the MCP server, which</a:t>
            </a:r>
          </a:p>
          <a:p>
            <a:r>
              <a:t>knows what the agent may call, runs it, logs it, and returns the result. Three things for a non-technical audience:</a:t>
            </a:r>
          </a:p>
          <a:p>
            <a:r>
              <a:t>tools are described in plain language, so a business owner can read the tool list; the model asks and the runtime</a:t>
            </a:r>
          </a:p>
          <a:p>
            <a:r>
              <a:t>executes, which is where permissions live; and everything is logged, which is the trace you will see in the demo. In</a:t>
            </a:r>
          </a:p>
          <a:p>
            <a:r>
              <a:t>the bootcamp each team gets an MCP server scoped to its own table and model.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Composite AI is why the agent can be trusted: each kind of fact comes from the engine that is good at it. One real</a:t>
            </a:r>
          </a:p>
          <a:p>
            <a:r>
              <a:t>question from the demo flows left to right. Retrieval finds the section; SQL counts the cohort; the model ranks it;</a:t>
            </a:r>
          </a:p>
          <a:p>
            <a:r>
              <a:t>the rules say who may be listed and who decides; the language model only orchestrates and writes. Read the answer</a:t>
            </a:r>
          </a:p>
          <a:p>
            <a:r>
              <a:t>card: every number has a cohort, every clinical statement has a section, and the last line hands the decision to the</a:t>
            </a:r>
          </a:p>
          <a:p>
            <a:r>
              <a:t>clinician. Come back to this slide when someone asks 'but can we trust what it says?'.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of 4. About 18 minutes: the scenario and the solution overview (3 min), the demo plan (1 min), the live demo in SAS Retrieval Agent Manager (12 min), then the backup walk-through and the rules (2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scene in 90 seconds. The programme lead runs the diabetes registry across the Northern Emirates and asks the</a:t>
            </a:r>
          </a:p>
          <a:p>
            <a:r>
              <a:t>same questions every week: how many are uncontrolled, where are the gaps, who is at risk, what does the guideline</a:t>
            </a:r>
          </a:p>
          <a:p>
            <a:r>
              <a:t>say, what would a programme intervention save. Three ingredients, one per card: the registry (in CAS), the guidelines</a:t>
            </a:r>
          </a:p>
          <a:p>
            <a:r>
              <a:t>(in a RAM collection), and the model (built in Model Studio, published for scoring). Say clearly that the data is</a:t>
            </a:r>
          </a:p>
          <a:p>
            <a:r>
              <a:t>synthetic and the guidelines are a teaching set. These three cards are exactly the three things the participants</a:t>
            </a:r>
          </a:p>
          <a:p>
            <a:r>
              <a:t>will create.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picture to remember, and the one to copy for your own use case. Left: two kinds of data. The guidelines are</a:t>
            </a:r>
          </a:p>
          <a:p>
            <a:r>
              <a:t>chunked, embedded and stored as vectors (the RAG knowledge base); the registry is loaded as a CAS table in SAS Viya.</a:t>
            </a:r>
          </a:p>
          <a:p>
            <a:r>
              <a:t>Middle: the agent, with its orchestrator, its guideline grounding and its audit log. Right: the MCP server and the</a:t>
            </a:r>
          </a:p>
          <a:p>
            <a:r>
              <a:t>tools it exposes: query the data, score the model, run a decision flow, draw a chart. Follow the dotted line: the</a:t>
            </a:r>
          </a:p>
          <a:p>
            <a:r>
              <a:t>registry becomes a CAS table, and the SQL tool reads it; the agent itself never touches the table. The strip at the</a:t>
            </a:r>
          </a:p>
          <a:p>
            <a:r>
              <a:t>bottom is what the solution gives you. Everything on this slide is what the participants assemble in the hands-on.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on this slide, then switch to SAS Retrieval Agent Manager. Five questions in a deliberate order: a plain</a:t>
            </a:r>
          </a:p>
          <a:p>
            <a:r>
              <a:t>count (so the room sees a query and a cohort), a comparison (a chart, and the equity rule firing on its own), a pure</a:t>
            </a:r>
          </a:p>
          <a:p>
            <a:r>
              <a:t>guideline question (no query, just the citation), one that needs RAG and SQL together, and a model score for one</a:t>
            </a:r>
          </a:p>
          <a:p>
            <a:r>
              <a:t>patient. For each, show the answer first, then open the trace and point at the tool call or the retrieved passage.</a:t>
            </a:r>
          </a:p>
          <a:p>
            <a:r>
              <a:t>Expected answers are in the kit (agents/population_health_agent.md): 4,000 patients, 34.9% well controlled; Ajman</a:t>
            </a:r>
          </a:p>
          <a:p>
            <a:r>
              <a:t>46.3% to Umm Al Quwain 22.0%; LDL below 1.4 mmol/L; 399 eligible, 373 not yet treated; EHS-100092 well above the</a:t>
            </a:r>
          </a:p>
          <a:p>
            <a:r>
              <a:t>10.4% base rate. If the environment is slow, drop question 2; if it fails, use slide 17.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in one of two ways. After a successful demo: replay question 4 as six beats and point out that this is</a:t>
            </a:r>
          </a:p>
          <a:p>
            <a:r>
              <a:t>the loop from slide 5, two full turns plus the close. If the live environment failed: this is the demo, told as a</a:t>
            </a:r>
          </a:p>
          <a:p>
            <a:r>
              <a:t>story, with the real numbers. Three design decisions hide in it: the guideline was read before any number was</a:t>
            </a:r>
          </a:p>
          <a:p>
            <a:r>
              <a:t>produced (grounding), restricted-consent patients were counted but never listed (a rule the tool enforces), and the</a:t>
            </a:r>
          </a:p>
          <a:p>
            <a:r>
              <a:t>output is a draft for a clinician (human oversight). Ask: where could this have gone wrong without those three?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rules, and the point is where they live: in the agent's written instructions (the system prompt the participants</a:t>
            </a:r>
          </a:p>
          <a:p>
            <a:r>
              <a:t>will paste) and in the tools (the MCP server's scope, the consent filter), not in the model's good judgement. Numbers</a:t>
            </a:r>
          </a:p>
          <a:p>
            <a:r>
              <a:t>from queries, a section or silence, consent, people decide, scoped tools, everything on record. These six are also</a:t>
            </a:r>
          </a:p>
          <a:p>
            <a:r>
              <a:t>the answer to 'how do we audit an agent?': the trace shows every call, the scope shows what it could reach, and the</a:t>
            </a:r>
          </a:p>
          <a:p>
            <a:r>
              <a:t>instructions show what it was told. Carry the list into the hands-on: each team writes these rules into its own agent.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of 4. About 4 minutes: the five build steps and the component table, then the takeaways.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steps, in the order the participants will do them. Steps 1 and 2 live in SAS Viya: load the registry, build and</a:t>
            </a:r>
          </a:p>
          <a:p>
            <a:r>
              <a:t>publish the model. Steps 3 to 5 live in SAS Retrieval Agent Manager: the collection (RAG), the MCP tool source, and</a:t>
            </a:r>
          </a:p>
          <a:p>
            <a:r>
              <a:t>the agent itself. Point at the coloured tags: the colours match the parts from the second section. Mention the</a:t>
            </a:r>
          </a:p>
          <a:p>
            <a:r>
              <a:t>copilot: a pre-built agent in RAM can do the data loading and the model build through MCP on request, which is itself</a:t>
            </a:r>
          </a:p>
          <a:p>
            <a:r>
              <a:t>a nice demonstration of an agent at work. The hands-on guide has a screenshot for every click.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 slide for the hands-on: one row per part, what it does, where it lives, and what is in the kit.</a:t>
            </a:r>
          </a:p>
          <a:p>
            <a:r>
              <a:t>Skippable if you are behind; the hands-on guide repeats all of it with screenshots. If you keep it, read only the</a:t>
            </a:r>
          </a:p>
          <a:p>
            <a:r>
              <a:t>third column: everything in SAS Viya is data and model, everything in RAM is knowledge, tools and the agent.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sentences to remember. If they keep only one: the LLM thinks, and everything around it keeps it honest. Then</a:t>
            </a:r>
          </a:p>
          <a:p>
            <a:r>
              <a:t>hand over to the hands-on: the participants build exactly the agent they have just seen, step by step, with the</a:t>
            </a:r>
          </a:p>
          <a:p>
            <a:r>
              <a:t>materials in the kit.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questions for two or three minutes, then move to the hands-on build.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2927508"/>
            <a:ext cx="15778270"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3" y="4220171"/>
            <a:ext cx="15778270"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3" y="8276979"/>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Presenter Info</a:t>
            </a:r>
          </a:p>
        </p:txBody>
      </p:sp>
      <p:sp>
        <p:nvSpPr>
          <p:cNvPr id="2" name="TextBox 4">
            <a:extLst>
              <a:ext uri="{FF2B5EF4-FFF2-40B4-BE49-F238E27FC236}">
                <a16:creationId xmlns:a16="http://schemas.microsoft.com/office/drawing/2014/main" id="{7F487846-7C90-09E0-AF50-CA2DB82BFEFD}"/>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28418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3" y="5342755"/>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Section Subtitle</a:t>
            </a:r>
          </a:p>
        </p:txBody>
      </p:sp>
      <p:sp>
        <p:nvSpPr>
          <p:cNvPr id="2" name="TextBox 4">
            <a:extLst>
              <a:ext uri="{FF2B5EF4-FFF2-40B4-BE49-F238E27FC236}">
                <a16:creationId xmlns:a16="http://schemas.microsoft.com/office/drawing/2014/main" id="{BBE5A171-53B6-5D64-1680-262B90DACFE5}"/>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27780B26-6E86-E2AF-35C7-7B8BF24892A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5"/>
            <a:ext cx="1112812" cy="461922"/>
          </a:xfrm>
          <a:prstGeom prst="rect">
            <a:avLst/>
          </a:prstGeom>
        </p:spPr>
      </p:pic>
    </p:spTree>
    <p:custDataLst>
      <p:tags r:id="rId1"/>
    </p:custDataLst>
    <p:extLst>
      <p:ext uri="{BB962C8B-B14F-4D97-AF65-F5344CB8AC3E}">
        <p14:creationId xmlns:p14="http://schemas.microsoft.com/office/powerpoint/2010/main" val="93521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9861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18989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1"/>
            <a:ext cx="15773400" cy="6865146"/>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290233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301" y="2400301"/>
            <a:ext cx="7741846" cy="6865146"/>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1"/>
            <a:ext cx="7741848" cy="6865146"/>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30410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41217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301" y="5920997"/>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3" name="Title 2">
            <a:extLst>
              <a:ext uri="{FF2B5EF4-FFF2-40B4-BE49-F238E27FC236}">
                <a16:creationId xmlns:a16="http://schemas.microsoft.com/office/drawing/2014/main" id="{E84AF2B1-1A71-31A3-C679-D3E1148BD910}"/>
              </a:ext>
            </a:extLst>
          </p:cNvPr>
          <p:cNvSpPr>
            <a:spLocks noGrp="1"/>
          </p:cNvSpPr>
          <p:nvPr>
            <p:ph type="title" hasCustomPrompt="1"/>
          </p:nvPr>
        </p:nvSpPr>
        <p:spPr>
          <a:xfrm>
            <a:off x="1252432" y="4153616"/>
            <a:ext cx="5001768" cy="1551194"/>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a:t>Click to Add Slide Title</a:t>
            </a:r>
          </a:p>
        </p:txBody>
      </p:sp>
    </p:spTree>
    <p:custDataLst>
      <p:tags r:id="rId1"/>
    </p:custDataLst>
    <p:extLst>
      <p:ext uri="{BB962C8B-B14F-4D97-AF65-F5344CB8AC3E}">
        <p14:creationId xmlns:p14="http://schemas.microsoft.com/office/powerpoint/2010/main" val="381217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4497171"/>
            <a:ext cx="13063134"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3" y="8276979"/>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a website or email</a:t>
            </a:r>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30268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8427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AS - Video Only">
    <p:bg>
      <p:bgPr>
        <a:solidFill>
          <a:schemeClr val="tx1"/>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D68E8285-3BE2-9990-FA54-E6AF741CC812}"/>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2" name="Picture 6">
            <a:extLst>
              <a:ext uri="{FF2B5EF4-FFF2-40B4-BE49-F238E27FC236}">
                <a16:creationId xmlns:a16="http://schemas.microsoft.com/office/drawing/2014/main" id="{9DCBE7B6-1449-C2E2-1508-3F2B78AA27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5"/>
            <a:ext cx="1112812" cy="461922"/>
          </a:xfrm>
          <a:prstGeom prst="rect">
            <a:avLst/>
          </a:prstGeom>
        </p:spPr>
      </p:pic>
    </p:spTree>
    <p:custDataLst>
      <p:tags r:id="rId1"/>
    </p:custDataLst>
    <p:extLst>
      <p:ext uri="{BB962C8B-B14F-4D97-AF65-F5344CB8AC3E}">
        <p14:creationId xmlns:p14="http://schemas.microsoft.com/office/powerpoint/2010/main" val="421662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type="tx">
  <p:cSld name="DEFAULT">
    <p:spTree>
      <p:nvGrpSpPr>
        <p:cNvPr id="1" name="Shape 9"/>
        <p:cNvGrpSpPr/>
        <p:nvPr/>
      </p:nvGrpSpPr>
      <p:grpSpPr>
        <a:xfrm>
          <a:off x="0" y="0"/>
          <a:ext cx="0" cy="0"/>
          <a:chOff x="0" y="0"/>
          <a:chExt cx="0" cy="0"/>
        </a:xfrm>
      </p:grpSpPr>
      <p:sp>
        <p:nvSpPr>
          <p:cNvPr id="10" name="Google Shape;10;p20"/>
          <p:cNvSpPr txBox="1">
            <a:spLocks noGrp="1"/>
          </p:cNvSpPr>
          <p:nvPr>
            <p:ph type="sldNum" idx="12"/>
          </p:nvPr>
        </p:nvSpPr>
        <p:spPr>
          <a:xfrm>
            <a:off x="8839200" y="9303714"/>
            <a:ext cx="4267200" cy="461624"/>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Calibri"/>
              <a:buNone/>
              <a:defRPr sz="2400"/>
            </a:lvl1pPr>
            <a:lvl2pPr marL="0" lvl="1" indent="0" algn="r">
              <a:lnSpc>
                <a:spcPct val="100000"/>
              </a:lnSpc>
              <a:spcBef>
                <a:spcPts val="0"/>
              </a:spcBef>
              <a:spcAft>
                <a:spcPts val="0"/>
              </a:spcAft>
              <a:buClr>
                <a:srgbClr val="000000"/>
              </a:buClr>
              <a:buSzPts val="1200"/>
              <a:buFont typeface="Calibri"/>
              <a:buNone/>
              <a:defRPr sz="2400"/>
            </a:lvl2pPr>
            <a:lvl3pPr marL="0" lvl="2" indent="0" algn="r">
              <a:lnSpc>
                <a:spcPct val="100000"/>
              </a:lnSpc>
              <a:spcBef>
                <a:spcPts val="0"/>
              </a:spcBef>
              <a:spcAft>
                <a:spcPts val="0"/>
              </a:spcAft>
              <a:buClr>
                <a:srgbClr val="000000"/>
              </a:buClr>
              <a:buSzPts val="1200"/>
              <a:buFont typeface="Calibri"/>
              <a:buNone/>
              <a:defRPr sz="2400"/>
            </a:lvl3pPr>
            <a:lvl4pPr marL="0" lvl="3" indent="0" algn="r">
              <a:lnSpc>
                <a:spcPct val="100000"/>
              </a:lnSpc>
              <a:spcBef>
                <a:spcPts val="0"/>
              </a:spcBef>
              <a:spcAft>
                <a:spcPts val="0"/>
              </a:spcAft>
              <a:buClr>
                <a:srgbClr val="000000"/>
              </a:buClr>
              <a:buSzPts val="1200"/>
              <a:buFont typeface="Calibri"/>
              <a:buNone/>
              <a:defRPr sz="2400"/>
            </a:lvl4pPr>
            <a:lvl5pPr marL="0" lvl="4" indent="0" algn="r">
              <a:lnSpc>
                <a:spcPct val="100000"/>
              </a:lnSpc>
              <a:spcBef>
                <a:spcPts val="0"/>
              </a:spcBef>
              <a:spcAft>
                <a:spcPts val="0"/>
              </a:spcAft>
              <a:buClr>
                <a:srgbClr val="000000"/>
              </a:buClr>
              <a:buSzPts val="1200"/>
              <a:buFont typeface="Calibri"/>
              <a:buNone/>
              <a:defRPr sz="2400"/>
            </a:lvl5pPr>
            <a:lvl6pPr marL="0" lvl="5" indent="0" algn="r">
              <a:lnSpc>
                <a:spcPct val="100000"/>
              </a:lnSpc>
              <a:spcBef>
                <a:spcPts val="0"/>
              </a:spcBef>
              <a:spcAft>
                <a:spcPts val="0"/>
              </a:spcAft>
              <a:buClr>
                <a:srgbClr val="000000"/>
              </a:buClr>
              <a:buSzPts val="1200"/>
              <a:buFont typeface="Calibri"/>
              <a:buNone/>
              <a:defRPr sz="2400"/>
            </a:lvl6pPr>
            <a:lvl7pPr marL="0" lvl="6" indent="0" algn="r">
              <a:lnSpc>
                <a:spcPct val="100000"/>
              </a:lnSpc>
              <a:spcBef>
                <a:spcPts val="0"/>
              </a:spcBef>
              <a:spcAft>
                <a:spcPts val="0"/>
              </a:spcAft>
              <a:buClr>
                <a:srgbClr val="000000"/>
              </a:buClr>
              <a:buSzPts val="1200"/>
              <a:buFont typeface="Calibri"/>
              <a:buNone/>
              <a:defRPr sz="2400"/>
            </a:lvl7pPr>
            <a:lvl8pPr marL="0" lvl="7" indent="0" algn="r">
              <a:lnSpc>
                <a:spcPct val="100000"/>
              </a:lnSpc>
              <a:spcBef>
                <a:spcPts val="0"/>
              </a:spcBef>
              <a:spcAft>
                <a:spcPts val="0"/>
              </a:spcAft>
              <a:buClr>
                <a:srgbClr val="000000"/>
              </a:buClr>
              <a:buSzPts val="1200"/>
              <a:buFont typeface="Calibri"/>
              <a:buNone/>
              <a:defRPr sz="2400"/>
            </a:lvl8pPr>
            <a:lvl9pPr marL="0" lvl="8" indent="0" algn="r">
              <a:lnSpc>
                <a:spcPct val="100000"/>
              </a:lnSpc>
              <a:spcBef>
                <a:spcPts val="0"/>
              </a:spcBef>
              <a:spcAft>
                <a:spcPts val="0"/>
              </a:spcAft>
              <a:buClr>
                <a:srgbClr val="000000"/>
              </a:buClr>
              <a:buSzPts val="1200"/>
              <a:buFont typeface="Calibri"/>
              <a:buNone/>
              <a:defRPr sz="2400"/>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626341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3290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SAS - Title &amp; Subtitle - ">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lgn="ctr">
              <a:defRPr b="0" i="0">
                <a:latin typeface="Calibri Light" panose="020F0302020204030204" pitchFamily="34" charset="0"/>
                <a:cs typeface="Calibri Light" panose="020F0302020204030204"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p:nvPr>
        </p:nvSpPr>
        <p:spPr>
          <a:xfrm>
            <a:off x="1257300" y="1463676"/>
            <a:ext cx="15773400" cy="566292"/>
          </a:xfrm>
        </p:spPr>
        <p:txBody>
          <a:bodyPr anchor="t">
            <a:normAutofit/>
          </a:bodyPr>
          <a:lstStyle>
            <a:lvl1pPr marL="0" indent="0" algn="ctr">
              <a:buNone/>
              <a:defRPr sz="2801">
                <a:solidFill>
                  <a:srgbClr val="1FA09A"/>
                </a:solidFill>
              </a:defRPr>
            </a:lvl1pPr>
            <a:lvl2pPr marL="365771" indent="0">
              <a:buNone/>
              <a:defRPr/>
            </a:lvl2pPr>
            <a:lvl3pPr marL="731538" indent="0">
              <a:buNone/>
              <a:defRPr/>
            </a:lvl3pPr>
            <a:lvl4pPr marL="2057453" indent="0">
              <a:buNone/>
              <a:defRPr/>
            </a:lvl4pPr>
            <a:lvl5pPr marL="2743269" indent="0">
              <a:buNone/>
              <a:defRPr/>
            </a:lvl5pPr>
          </a:lstStyle>
          <a:p>
            <a:pPr lvl="0"/>
            <a:r>
              <a:rPr lang="en-US"/>
              <a:t>Click to edit Master text styles</a:t>
            </a:r>
          </a:p>
        </p:txBody>
      </p:sp>
      <p:sp>
        <p:nvSpPr>
          <p:cNvPr id="4" name="Rectangle 3">
            <a:extLst>
              <a:ext uri="{FF2B5EF4-FFF2-40B4-BE49-F238E27FC236}">
                <a16:creationId xmlns:a16="http://schemas.microsoft.com/office/drawing/2014/main" id="{27C4BDB3-258F-8347-9741-6F21E0DD52AA}"/>
              </a:ext>
            </a:extLst>
          </p:cNvPr>
          <p:cNvSpPr/>
          <p:nvPr userDrawn="1"/>
        </p:nvSpPr>
        <p:spPr>
          <a:xfrm>
            <a:off x="0" y="2220686"/>
            <a:ext cx="18288000" cy="67856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sz="4800"/>
          </a:p>
        </p:txBody>
      </p:sp>
    </p:spTree>
    <p:custDataLst>
      <p:tags r:id="rId1"/>
    </p:custDataLst>
    <p:extLst>
      <p:ext uri="{BB962C8B-B14F-4D97-AF65-F5344CB8AC3E}">
        <p14:creationId xmlns:p14="http://schemas.microsoft.com/office/powerpoint/2010/main" val="3011025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4">
            <a:extLst>
              <a:ext uri="{FF2B5EF4-FFF2-40B4-BE49-F238E27FC236}">
                <a16:creationId xmlns:a16="http://schemas.microsoft.com/office/drawing/2014/main" id="{1E37FEA7-CA51-4399-92F6-AB705B7FF650}"/>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3" name="Text Placeholder 2"/>
          <p:cNvSpPr>
            <a:spLocks noGrp="1"/>
          </p:cNvSpPr>
          <p:nvPr>
            <p:ph type="body" idx="1"/>
          </p:nvPr>
        </p:nvSpPr>
        <p:spPr>
          <a:xfrm>
            <a:off x="1252432" y="2400301"/>
            <a:ext cx="15773400" cy="6865146"/>
          </a:xfrm>
          <a:prstGeom prst="rect">
            <a:avLst/>
          </a:prstGeom>
        </p:spPr>
        <p:txBody>
          <a:bodyPr vert="horz" lIns="0" tIns="0" rIns="0" bIns="0" rtlCol="0">
            <a:normAutofit/>
          </a:bodyPr>
          <a:lstStyle/>
          <a:p>
            <a:pPr lvl="0"/>
            <a:r>
              <a:rPr lang="en-US"/>
              <a:t>Click to Edit Text</a:t>
            </a:r>
          </a:p>
          <a:p>
            <a:pPr lvl="1"/>
            <a:r>
              <a:rPr lang="en-US"/>
              <a:t>Second level</a:t>
            </a:r>
          </a:p>
          <a:p>
            <a:pPr lvl="2"/>
            <a:r>
              <a:rPr lang="en-US"/>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a:t>Click to Add Slide Title</a:t>
            </a:r>
          </a:p>
        </p:txBody>
      </p:sp>
    </p:spTree>
    <p:custDataLst>
      <p:tags r:id="rId16"/>
    </p:custDataLst>
    <p:extLst>
      <p:ext uri="{BB962C8B-B14F-4D97-AF65-F5344CB8AC3E}">
        <p14:creationId xmlns:p14="http://schemas.microsoft.com/office/powerpoint/2010/main" val="519966091"/>
      </p:ext>
    </p:extLst>
  </p:cSld>
  <p:clrMap bg1="lt1" tx1="dk1" bg2="lt2" tx2="dk2" accent1="accent1" accent2="accent2" accent3="accent3" accent4="accent4" accent5="accent5" accent6="accent6" hlink="hlink" folHlink="folHlink"/>
  <p:sldLayoutIdLst>
    <p:sldLayoutId id="2147483836" r:id="rId1"/>
    <p:sldLayoutId id="2147483838" r:id="rId2"/>
    <p:sldLayoutId id="2147483821" r:id="rId3"/>
    <p:sldLayoutId id="2147483820" r:id="rId4"/>
    <p:sldLayoutId id="2147483819" r:id="rId5"/>
    <p:sldLayoutId id="2147483822" r:id="rId6"/>
    <p:sldLayoutId id="2147483824" r:id="rId7"/>
    <p:sldLayoutId id="2147483832" r:id="rId8"/>
    <p:sldLayoutId id="2147483837" r:id="rId9"/>
    <p:sldLayoutId id="2147483828" r:id="rId10"/>
    <p:sldLayoutId id="2147483829" r:id="rId11"/>
    <p:sldLayoutId id="2147483943" r:id="rId12"/>
    <p:sldLayoutId id="2147483944" r:id="rId13"/>
    <p:sldLayoutId id="2147483945"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7E889A"/>
          </p15:clr>
        </p15:guide>
        <p15:guide id="2" pos="11520" userDrawn="1">
          <p15:clr>
            <a:srgbClr val="7E889A"/>
          </p15:clr>
        </p15:guide>
        <p15:guide id="3" pos="640" userDrawn="1">
          <p15:clr>
            <a:srgbClr val="7E889A"/>
          </p15:clr>
        </p15:guide>
        <p15:guide id="4" pos="810" userDrawn="1">
          <p15:clr>
            <a:srgbClr val="7E889A"/>
          </p15:clr>
        </p15:guide>
        <p15:guide id="5" pos="980" userDrawn="1">
          <p15:clr>
            <a:srgbClr val="7E889A"/>
          </p15:clr>
        </p15:guide>
        <p15:guide id="6" pos="1152" userDrawn="1">
          <p15:clr>
            <a:srgbClr val="7E889A"/>
          </p15:clr>
        </p15:guide>
        <p15:guide id="7" pos="1322" userDrawn="1">
          <p15:clr>
            <a:srgbClr val="7E889A"/>
          </p15:clr>
        </p15:guide>
        <p15:guide id="8" pos="1492" userDrawn="1">
          <p15:clr>
            <a:srgbClr val="7E889A"/>
          </p15:clr>
        </p15:guide>
        <p15:guide id="9" pos="1664" userDrawn="1">
          <p15:clr>
            <a:srgbClr val="7E889A"/>
          </p15:clr>
        </p15:guide>
        <p15:guide id="10" pos="1834" userDrawn="1">
          <p15:clr>
            <a:srgbClr val="7E889A"/>
          </p15:clr>
        </p15:guide>
        <p15:guide id="11" pos="2004" userDrawn="1">
          <p15:clr>
            <a:srgbClr val="7E889A"/>
          </p15:clr>
        </p15:guide>
        <p15:guide id="12" pos="2176" userDrawn="1">
          <p15:clr>
            <a:srgbClr val="7E889A"/>
          </p15:clr>
        </p15:guide>
        <p15:guide id="13" pos="2346" userDrawn="1">
          <p15:clr>
            <a:srgbClr val="7E889A"/>
          </p15:clr>
        </p15:guide>
        <p15:guide id="14" pos="2516" userDrawn="1">
          <p15:clr>
            <a:srgbClr val="7E889A"/>
          </p15:clr>
        </p15:guide>
        <p15:guide id="15" pos="2688" userDrawn="1">
          <p15:clr>
            <a:srgbClr val="7E889A"/>
          </p15:clr>
        </p15:guide>
        <p15:guide id="16" pos="2858" userDrawn="1">
          <p15:clr>
            <a:srgbClr val="7E889A"/>
          </p15:clr>
        </p15:guide>
        <p15:guide id="17" pos="3028" userDrawn="1">
          <p15:clr>
            <a:srgbClr val="7E889A"/>
          </p15:clr>
        </p15:guide>
        <p15:guide id="18" pos="3200" userDrawn="1">
          <p15:clr>
            <a:srgbClr val="7E889A"/>
          </p15:clr>
        </p15:guide>
        <p15:guide id="19" pos="3370" userDrawn="1">
          <p15:clr>
            <a:srgbClr val="7E889A"/>
          </p15:clr>
        </p15:guide>
        <p15:guide id="20" pos="3540" userDrawn="1">
          <p15:clr>
            <a:srgbClr val="7E889A"/>
          </p15:clr>
        </p15:guide>
        <p15:guide id="21" pos="3712" userDrawn="1">
          <p15:clr>
            <a:srgbClr val="7E889A"/>
          </p15:clr>
        </p15:guide>
        <p15:guide id="22" pos="3882" userDrawn="1">
          <p15:clr>
            <a:srgbClr val="7E889A"/>
          </p15:clr>
        </p15:guide>
        <p15:guide id="23" pos="4052" userDrawn="1">
          <p15:clr>
            <a:srgbClr val="7E889A"/>
          </p15:clr>
        </p15:guide>
        <p15:guide id="24" pos="4224" userDrawn="1">
          <p15:clr>
            <a:srgbClr val="7E889A"/>
          </p15:clr>
        </p15:guide>
        <p15:guide id="25" pos="4394" userDrawn="1">
          <p15:clr>
            <a:srgbClr val="7E889A"/>
          </p15:clr>
        </p15:guide>
        <p15:guide id="26" pos="4564" userDrawn="1">
          <p15:clr>
            <a:srgbClr val="7E889A"/>
          </p15:clr>
        </p15:guide>
        <p15:guide id="27" pos="4736" userDrawn="1">
          <p15:clr>
            <a:srgbClr val="7E889A"/>
          </p15:clr>
        </p15:guide>
        <p15:guide id="28" pos="4906" userDrawn="1">
          <p15:clr>
            <a:srgbClr val="7E889A"/>
          </p15:clr>
        </p15:guide>
        <p15:guide id="29" pos="5076" userDrawn="1">
          <p15:clr>
            <a:srgbClr val="7E889A"/>
          </p15:clr>
        </p15:guide>
        <p15:guide id="30" pos="5248" userDrawn="1">
          <p15:clr>
            <a:srgbClr val="7E889A"/>
          </p15:clr>
        </p15:guide>
        <p15:guide id="31" pos="5418" userDrawn="1">
          <p15:clr>
            <a:srgbClr val="7E889A"/>
          </p15:clr>
        </p15:guide>
        <p15:guide id="32" pos="5588" userDrawn="1">
          <p15:clr>
            <a:srgbClr val="7E889A"/>
          </p15:clr>
        </p15:guide>
        <p15:guide id="33" pos="5760" userDrawn="1">
          <p15:clr>
            <a:srgbClr val="7E889A"/>
          </p15:clr>
        </p15:guide>
        <p15:guide id="34" pos="5930" userDrawn="1">
          <p15:clr>
            <a:srgbClr val="7E889A"/>
          </p15:clr>
        </p15:guide>
        <p15:guide id="35" pos="6100" userDrawn="1">
          <p15:clr>
            <a:srgbClr val="7E889A"/>
          </p15:clr>
        </p15:guide>
        <p15:guide id="36" pos="6272" userDrawn="1">
          <p15:clr>
            <a:srgbClr val="7E889A"/>
          </p15:clr>
        </p15:guide>
        <p15:guide id="37" pos="6442" userDrawn="1">
          <p15:clr>
            <a:srgbClr val="7E889A"/>
          </p15:clr>
        </p15:guide>
        <p15:guide id="38" pos="6612" userDrawn="1">
          <p15:clr>
            <a:srgbClr val="7E889A"/>
          </p15:clr>
        </p15:guide>
        <p15:guide id="39" pos="6784" userDrawn="1">
          <p15:clr>
            <a:srgbClr val="7E889A"/>
          </p15:clr>
        </p15:guide>
        <p15:guide id="40" pos="6954" userDrawn="1">
          <p15:clr>
            <a:srgbClr val="7E889A"/>
          </p15:clr>
        </p15:guide>
        <p15:guide id="41" pos="7124" userDrawn="1">
          <p15:clr>
            <a:srgbClr val="7E889A"/>
          </p15:clr>
        </p15:guide>
        <p15:guide id="42" pos="7296" userDrawn="1">
          <p15:clr>
            <a:srgbClr val="7E889A"/>
          </p15:clr>
        </p15:guide>
        <p15:guide id="43" pos="7466" userDrawn="1">
          <p15:clr>
            <a:srgbClr val="7E889A"/>
          </p15:clr>
        </p15:guide>
        <p15:guide id="44" pos="7636" userDrawn="1">
          <p15:clr>
            <a:srgbClr val="7E889A"/>
          </p15:clr>
        </p15:guide>
        <p15:guide id="45" pos="7808" userDrawn="1">
          <p15:clr>
            <a:srgbClr val="7E889A"/>
          </p15:clr>
        </p15:guide>
        <p15:guide id="46" pos="7978" userDrawn="1">
          <p15:clr>
            <a:srgbClr val="7E889A"/>
          </p15:clr>
        </p15:guide>
        <p15:guide id="47" pos="8148" userDrawn="1">
          <p15:clr>
            <a:srgbClr val="7E889A"/>
          </p15:clr>
        </p15:guide>
        <p15:guide id="48" pos="8320" userDrawn="1">
          <p15:clr>
            <a:srgbClr val="7E889A"/>
          </p15:clr>
        </p15:guide>
        <p15:guide id="49" pos="8490" userDrawn="1">
          <p15:clr>
            <a:srgbClr val="7E889A"/>
          </p15:clr>
        </p15:guide>
        <p15:guide id="50" pos="8660" userDrawn="1">
          <p15:clr>
            <a:srgbClr val="7E889A"/>
          </p15:clr>
        </p15:guide>
        <p15:guide id="51" pos="8832" userDrawn="1">
          <p15:clr>
            <a:srgbClr val="7E889A"/>
          </p15:clr>
        </p15:guide>
        <p15:guide id="52" pos="9002" userDrawn="1">
          <p15:clr>
            <a:srgbClr val="7E889A"/>
          </p15:clr>
        </p15:guide>
        <p15:guide id="53" pos="9172" userDrawn="1">
          <p15:clr>
            <a:srgbClr val="7E889A"/>
          </p15:clr>
        </p15:guide>
        <p15:guide id="54" pos="9344" userDrawn="1">
          <p15:clr>
            <a:srgbClr val="7E889A"/>
          </p15:clr>
        </p15:guide>
        <p15:guide id="55" pos="9514" userDrawn="1">
          <p15:clr>
            <a:srgbClr val="7E889A"/>
          </p15:clr>
        </p15:guide>
        <p15:guide id="56" pos="9684" userDrawn="1">
          <p15:clr>
            <a:srgbClr val="7E889A"/>
          </p15:clr>
        </p15:guide>
        <p15:guide id="57" pos="9856" userDrawn="1">
          <p15:clr>
            <a:srgbClr val="7E889A"/>
          </p15:clr>
        </p15:guide>
        <p15:guide id="58" pos="10026" userDrawn="1">
          <p15:clr>
            <a:srgbClr val="7E889A"/>
          </p15:clr>
        </p15:guide>
        <p15:guide id="59" pos="10196" userDrawn="1">
          <p15:clr>
            <a:srgbClr val="7E889A"/>
          </p15:clr>
        </p15:guide>
        <p15:guide id="60" pos="10368" userDrawn="1">
          <p15:clr>
            <a:srgbClr val="7E889A"/>
          </p15:clr>
        </p15:guide>
        <p15:guide id="61" pos="10538" userDrawn="1">
          <p15:clr>
            <a:srgbClr val="7E889A"/>
          </p15:clr>
        </p15:guide>
        <p15:guide id="62" pos="10708" userDrawn="1">
          <p15:clr>
            <a:srgbClr val="7E889A"/>
          </p15:clr>
        </p15:guide>
        <p15:guide id="63" pos="10880" userDrawn="1">
          <p15:clr>
            <a:srgbClr val="7E889A"/>
          </p15:clr>
        </p15:guide>
        <p15:guide id="64" orient="horz" userDrawn="1">
          <p15:clr>
            <a:srgbClr val="7E889A"/>
          </p15:clr>
        </p15:guide>
        <p15:guide id="65" orient="horz" pos="6480" userDrawn="1">
          <p15:clr>
            <a:srgbClr val="7E889A"/>
          </p15:clr>
        </p15:guide>
        <p15:guide id="66" orient="horz" pos="656" userDrawn="1">
          <p15:clr>
            <a:srgbClr val="7E889A"/>
          </p15:clr>
        </p15:guide>
        <p15:guide id="67" orient="horz" pos="828" userDrawn="1">
          <p15:clr>
            <a:srgbClr val="7E889A"/>
          </p15:clr>
        </p15:guide>
        <p15:guide id="68" orient="horz" pos="1000" userDrawn="1">
          <p15:clr>
            <a:srgbClr val="7E889A"/>
          </p15:clr>
        </p15:guide>
        <p15:guide id="69" orient="horz" pos="1172" userDrawn="1">
          <p15:clr>
            <a:srgbClr val="7E889A"/>
          </p15:clr>
        </p15:guide>
        <p15:guide id="70" orient="horz" pos="1344" userDrawn="1">
          <p15:clr>
            <a:srgbClr val="7E889A"/>
          </p15:clr>
        </p15:guide>
        <p15:guide id="71" orient="horz" pos="1516" userDrawn="1">
          <p15:clr>
            <a:srgbClr val="7E889A"/>
          </p15:clr>
        </p15:guide>
        <p15:guide id="72" orient="horz" pos="1688" userDrawn="1">
          <p15:clr>
            <a:srgbClr val="7E889A"/>
          </p15:clr>
        </p15:guide>
        <p15:guide id="73" orient="horz" pos="1860" userDrawn="1">
          <p15:clr>
            <a:srgbClr val="7E889A"/>
          </p15:clr>
        </p15:guide>
        <p15:guide id="74" orient="horz" pos="2034" userDrawn="1">
          <p15:clr>
            <a:srgbClr val="7E889A"/>
          </p15:clr>
        </p15:guide>
        <p15:guide id="75" orient="horz" pos="2206" userDrawn="1">
          <p15:clr>
            <a:srgbClr val="7E889A"/>
          </p15:clr>
        </p15:guide>
        <p15:guide id="76" orient="horz" pos="2378" userDrawn="1">
          <p15:clr>
            <a:srgbClr val="7E889A"/>
          </p15:clr>
        </p15:guide>
        <p15:guide id="77" orient="horz" pos="2550" userDrawn="1">
          <p15:clr>
            <a:srgbClr val="7E889A"/>
          </p15:clr>
        </p15:guide>
        <p15:guide id="78" orient="horz" pos="2722" userDrawn="1">
          <p15:clr>
            <a:srgbClr val="7E889A"/>
          </p15:clr>
        </p15:guide>
        <p15:guide id="79" orient="horz" pos="2894" userDrawn="1">
          <p15:clr>
            <a:srgbClr val="7E889A"/>
          </p15:clr>
        </p15:guide>
        <p15:guide id="80" orient="horz" pos="3066" userDrawn="1">
          <p15:clr>
            <a:srgbClr val="7E889A"/>
          </p15:clr>
        </p15:guide>
        <p15:guide id="81" orient="horz" pos="3240" userDrawn="1">
          <p15:clr>
            <a:srgbClr val="7E889A"/>
          </p15:clr>
        </p15:guide>
        <p15:guide id="82" orient="horz" pos="3412" userDrawn="1">
          <p15:clr>
            <a:srgbClr val="7E889A"/>
          </p15:clr>
        </p15:guide>
        <p15:guide id="83" orient="horz" pos="3584" userDrawn="1">
          <p15:clr>
            <a:srgbClr val="7E889A"/>
          </p15:clr>
        </p15:guide>
        <p15:guide id="84" orient="horz" pos="3756" userDrawn="1">
          <p15:clr>
            <a:srgbClr val="7E889A"/>
          </p15:clr>
        </p15:guide>
        <p15:guide id="85" orient="horz" pos="3928" userDrawn="1">
          <p15:clr>
            <a:srgbClr val="7E889A"/>
          </p15:clr>
        </p15:guide>
        <p15:guide id="86" orient="horz" pos="4100" userDrawn="1">
          <p15:clr>
            <a:srgbClr val="7E889A"/>
          </p15:clr>
        </p15:guide>
        <p15:guide id="87" orient="horz" pos="4272" userDrawn="1">
          <p15:clr>
            <a:srgbClr val="7E889A"/>
          </p15:clr>
        </p15:guide>
        <p15:guide id="88" orient="horz" pos="4444" userDrawn="1">
          <p15:clr>
            <a:srgbClr val="7E889A"/>
          </p15:clr>
        </p15:guide>
        <p15:guide id="89" orient="horz" pos="4618" userDrawn="1">
          <p15:clr>
            <a:srgbClr val="7E889A"/>
          </p15:clr>
        </p15:guide>
        <p15:guide id="90" orient="horz" pos="4790" userDrawn="1">
          <p15:clr>
            <a:srgbClr val="7E889A"/>
          </p15:clr>
        </p15:guide>
        <p15:guide id="91" orient="horz" pos="4962" userDrawn="1">
          <p15:clr>
            <a:srgbClr val="7E889A"/>
          </p15:clr>
        </p15:guide>
        <p15:guide id="92" orient="horz" pos="5134" userDrawn="1">
          <p15:clr>
            <a:srgbClr val="7E889A"/>
          </p15:clr>
        </p15:guide>
        <p15:guide id="93" orient="horz" pos="5306" userDrawn="1">
          <p15:clr>
            <a:srgbClr val="7E889A"/>
          </p15:clr>
        </p15:guide>
        <p15:guide id="94" orient="horz" pos="5478" userDrawn="1">
          <p15:clr>
            <a:srgbClr val="7E889A"/>
          </p15:clr>
        </p15:guide>
        <p15:guide id="95" orient="horz" pos="5650" userDrawn="1">
          <p15:clr>
            <a:srgbClr val="7E889A"/>
          </p15:clr>
        </p15:guide>
        <p15:guide id="96" orient="horz" pos="5824" userDrawn="1">
          <p15:clr>
            <a:srgbClr val="7E889A"/>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7.png"/><Relationship Id="rId5" Type="http://schemas.openxmlformats.org/officeDocument/2006/relationships/image" Target="../media/image23.png"/><Relationship Id="rId6" Type="http://schemas.openxmlformats.org/officeDocument/2006/relationships/image" Target="../media/image11.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2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13.png"/><Relationship Id="rId8" Type="http://schemas.openxmlformats.org/officeDocument/2006/relationships/image" Target="../media/image11.png"/><Relationship Id="rId9" Type="http://schemas.openxmlformats.org/officeDocument/2006/relationships/image" Target="../media/image29.png"/><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30.png"/><Relationship Id="rId4" Type="http://schemas.openxmlformats.org/officeDocument/2006/relationships/image" Target="../media/image11.png"/><Relationship Id="rId5" Type="http://schemas.openxmlformats.org/officeDocument/2006/relationships/image" Target="../media/image21.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7.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 Id="rId3" Type="http://schemas.openxmlformats.org/officeDocument/2006/relationships/image" Target="../media/image21.png"/><Relationship Id="rId4" Type="http://schemas.openxmlformats.org/officeDocument/2006/relationships/image" Target="../media/image32.png"/><Relationship Id="rId5" Type="http://schemas.openxmlformats.org/officeDocument/2006/relationships/image" Target="../media/image7.png"/><Relationship Id="rId6" Type="http://schemas.openxmlformats.org/officeDocument/2006/relationships/image" Target="../media/image33.png"/><Relationship Id="rId7" Type="http://schemas.openxmlformats.org/officeDocument/2006/relationships/image" Target="../media/image29.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 Id="rId3" Type="http://schemas.openxmlformats.org/officeDocument/2006/relationships/image" Target="../media/image21.png"/><Relationship Id="rId4" Type="http://schemas.openxmlformats.org/officeDocument/2006/relationships/image" Target="../media/image7.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 Id="rId3" Type="http://schemas.openxmlformats.org/officeDocument/2006/relationships/image" Target="../media/image29.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6.png"/><Relationship Id="rId3" Type="http://schemas.openxmlformats.org/officeDocument/2006/relationships/image" Target="../media/image7.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6.png"/><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600"/>
              <a:t>Agentic AI in action</a:t>
            </a:r>
          </a:p>
        </p:txBody>
      </p:sp>
      <p:sp>
        <p:nvSpPr>
          <p:cNvPr id="3" name="Text Placeholder 2"/>
          <p:cNvSpPr>
            <a:spLocks noGrp="1"/>
          </p:cNvSpPr>
          <p:nvPr>
            <p:ph type="body" idx="10" sz="quarter"/>
          </p:nvPr>
        </p:nvSpPr>
        <p:spPr/>
        <p:txBody>
          <a:bodyPr/>
          <a:lstStyle/>
          <a:p>
            <a:r>
              <a:rPr sz="3600"/>
              <a:t>From the concepts to a working Population Health agent</a:t>
            </a:r>
          </a:p>
        </p:txBody>
      </p:sp>
      <p:sp>
        <p:nvSpPr>
          <p:cNvPr id="4" name="Text Placeholder 3"/>
          <p:cNvSpPr>
            <a:spLocks noGrp="1"/>
          </p:cNvSpPr>
          <p:nvPr>
            <p:ph type="body" idx="11" sz="quarter"/>
          </p:nvPr>
        </p:nvSpPr>
        <p:spPr/>
        <p:txBody>
          <a:bodyPr/>
          <a:lstStyle/>
          <a:p>
            <a:r>
              <a:rPr sz="2400"/>
              <a:t>Raed Aldweik  |  SAS</a:t>
            </a:r>
          </a:p>
          <a:p>
            <a:r>
              <a:rPr sz="2400"/>
              <a:t>EHS Agentic AI Bootcamp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600"/>
              <a:t>In the next 45 minutes</a:t>
            </a:r>
          </a:p>
        </p:txBody>
      </p:sp>
      <p:sp>
        <p:nvSpPr>
          <p:cNvPr id="3" name="Text Placeholder 2"/>
          <p:cNvSpPr>
            <a:spLocks noGrp="1"/>
          </p:cNvSpPr>
          <p:nvPr>
            <p:ph type="body" idx="10" sz="quarter"/>
          </p:nvPr>
        </p:nvSpPr>
        <p:spPr/>
        <p:txBody>
          <a:bodyPr/>
          <a:lstStyle/>
          <a:p>
            <a:r>
              <a:rPr sz="3000"/>
              <a:t>A few concepts, one live agent, and what you will build yourselves</a:t>
            </a:r>
          </a:p>
        </p:txBody>
      </p:sp>
      <p:cxnSp>
        <p:nvCxnSpPr>
          <p:cNvPr id="5" name="Connector 4"/>
          <p:cNvCxnSpPr/>
          <p:nvPr/>
        </p:nvCxnSpPr>
        <p:spPr>
          <a:xfrm>
            <a:off x="1664208" y="3108960"/>
            <a:ext cx="0" cy="4892040"/>
          </a:xfrm>
          <a:prstGeom prst="line">
            <a:avLst/>
          </a:prstGeom>
          <a:ln w="31750">
            <a:solidFill>
              <a:srgbClr val="C4DEFD"/>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252728" y="2788920"/>
            <a:ext cx="822960" cy="822960"/>
          </a:xfrm>
          <a:prstGeom prst="roundRect">
            <a:avLst>
              <a:gd name="adj" fmla="val 13333"/>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600">
                <a:solidFill>
                  <a:srgbClr val="FFFFFF"/>
                </a:solidFill>
                <a:latin typeface="+mj-lt"/>
              </a:rPr>
              <a:t>1</a:t>
            </a:r>
          </a:p>
        </p:txBody>
      </p:sp>
      <p:sp>
        <p:nvSpPr>
          <p:cNvPr id="7" name="TextBox 6"/>
          <p:cNvSpPr txBox="1"/>
          <p:nvPr/>
        </p:nvSpPr>
        <p:spPr>
          <a:xfrm>
            <a:off x="2331720" y="2752344"/>
            <a:ext cx="7589520" cy="457200"/>
          </a:xfrm>
          <a:prstGeom prst="rect">
            <a:avLst/>
          </a:prstGeom>
          <a:noFill/>
        </p:spPr>
        <p:txBody>
          <a:bodyPr wrap="square" lIns="45720" tIns="27432" rIns="45720" bIns="27432" anchor="t">
            <a:spAutoFit/>
          </a:bodyPr>
          <a:lstStyle/>
          <a:p>
            <a:pPr algn="l"/>
            <a:r>
              <a:rPr sz="2200">
                <a:solidFill>
                  <a:srgbClr val="262626"/>
                </a:solidFill>
                <a:latin typeface="+mj-lt"/>
              </a:rPr>
              <a:t>What is an agent, really?</a:t>
            </a:r>
          </a:p>
        </p:txBody>
      </p:sp>
      <p:sp>
        <p:nvSpPr>
          <p:cNvPr id="8" name="TextBox 7"/>
          <p:cNvSpPr txBox="1"/>
          <p:nvPr/>
        </p:nvSpPr>
        <p:spPr>
          <a:xfrm>
            <a:off x="2331720" y="3191256"/>
            <a:ext cx="7589520" cy="777240"/>
          </a:xfrm>
          <a:prstGeom prst="rect">
            <a:avLst/>
          </a:prstGeom>
          <a:noFill/>
        </p:spPr>
        <p:txBody>
          <a:bodyPr wrap="square" lIns="45720" tIns="27432" rIns="45720" bIns="27432" anchor="t">
            <a:spAutoFit/>
          </a:bodyPr>
          <a:lstStyle/>
          <a:p>
            <a:pPr algn="l"/>
            <a:r>
              <a:rPr sz="1500">
                <a:solidFill>
                  <a:srgbClr val="7E889A"/>
                </a:solidFill>
              </a:rPr>
              <a:t>How it differs from a chatbot, and why that matters in a hospital</a:t>
            </a:r>
          </a:p>
        </p:txBody>
      </p:sp>
      <p:sp>
        <p:nvSpPr>
          <p:cNvPr id="9" name="Rounded Rectangle 8"/>
          <p:cNvSpPr/>
          <p:nvPr/>
        </p:nvSpPr>
        <p:spPr>
          <a:xfrm>
            <a:off x="1252728" y="4361688"/>
            <a:ext cx="822960" cy="822960"/>
          </a:xfrm>
          <a:prstGeom prst="roundRect">
            <a:avLst>
              <a:gd name="adj" fmla="val 13333"/>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600">
                <a:solidFill>
                  <a:srgbClr val="FFFFFF"/>
                </a:solidFill>
                <a:latin typeface="+mj-lt"/>
              </a:rPr>
              <a:t>2</a:t>
            </a:r>
          </a:p>
        </p:txBody>
      </p:sp>
      <p:sp>
        <p:nvSpPr>
          <p:cNvPr id="10" name="TextBox 9"/>
          <p:cNvSpPr txBox="1"/>
          <p:nvPr/>
        </p:nvSpPr>
        <p:spPr>
          <a:xfrm>
            <a:off x="2331720" y="4325112"/>
            <a:ext cx="7589520" cy="457200"/>
          </a:xfrm>
          <a:prstGeom prst="rect">
            <a:avLst/>
          </a:prstGeom>
          <a:noFill/>
        </p:spPr>
        <p:txBody>
          <a:bodyPr wrap="square" lIns="45720" tIns="27432" rIns="45720" bIns="27432" anchor="t">
            <a:spAutoFit/>
          </a:bodyPr>
          <a:lstStyle/>
          <a:p>
            <a:pPr algn="l"/>
            <a:r>
              <a:rPr sz="2200">
                <a:solidFill>
                  <a:srgbClr val="262626"/>
                </a:solidFill>
                <a:latin typeface="+mj-lt"/>
              </a:rPr>
              <a:t>The parts you need: LLM, RAG, MCP, and your own models</a:t>
            </a:r>
          </a:p>
        </p:txBody>
      </p:sp>
      <p:sp>
        <p:nvSpPr>
          <p:cNvPr id="11" name="TextBox 10"/>
          <p:cNvSpPr txBox="1"/>
          <p:nvPr/>
        </p:nvSpPr>
        <p:spPr>
          <a:xfrm>
            <a:off x="2331720" y="4764024"/>
            <a:ext cx="7589520" cy="777240"/>
          </a:xfrm>
          <a:prstGeom prst="rect">
            <a:avLst/>
          </a:prstGeom>
          <a:noFill/>
        </p:spPr>
        <p:txBody>
          <a:bodyPr wrap="square" lIns="45720" tIns="27432" rIns="45720" bIns="27432" anchor="t">
            <a:spAutoFit/>
          </a:bodyPr>
          <a:lstStyle/>
          <a:p>
            <a:pPr algn="l"/>
            <a:r>
              <a:rPr sz="1500">
                <a:solidFill>
                  <a:srgbClr val="7E889A"/>
                </a:solidFill>
              </a:rPr>
              <a:t>What each one does, without the jargon</a:t>
            </a:r>
          </a:p>
        </p:txBody>
      </p:sp>
      <p:sp>
        <p:nvSpPr>
          <p:cNvPr id="12" name="Rounded Rectangle 11"/>
          <p:cNvSpPr/>
          <p:nvPr/>
        </p:nvSpPr>
        <p:spPr>
          <a:xfrm>
            <a:off x="1252728" y="5934456"/>
            <a:ext cx="822960" cy="822960"/>
          </a:xfrm>
          <a:prstGeom prst="roundRect">
            <a:avLst>
              <a:gd name="adj" fmla="val 13333"/>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600">
                <a:solidFill>
                  <a:srgbClr val="FFFFFF"/>
                </a:solidFill>
                <a:latin typeface="+mj-lt"/>
              </a:rPr>
              <a:t>3</a:t>
            </a:r>
          </a:p>
        </p:txBody>
      </p:sp>
      <p:sp>
        <p:nvSpPr>
          <p:cNvPr id="13" name="TextBox 12"/>
          <p:cNvSpPr txBox="1"/>
          <p:nvPr/>
        </p:nvSpPr>
        <p:spPr>
          <a:xfrm>
            <a:off x="2331720" y="5897880"/>
            <a:ext cx="7589520" cy="457200"/>
          </a:xfrm>
          <a:prstGeom prst="rect">
            <a:avLst/>
          </a:prstGeom>
          <a:noFill/>
        </p:spPr>
        <p:txBody>
          <a:bodyPr wrap="square" lIns="45720" tIns="27432" rIns="45720" bIns="27432" anchor="t">
            <a:spAutoFit/>
          </a:bodyPr>
          <a:lstStyle/>
          <a:p>
            <a:pPr algn="l"/>
            <a:r>
              <a:rPr sz="2200">
                <a:solidFill>
                  <a:srgbClr val="262626"/>
                </a:solidFill>
                <a:latin typeface="+mj-lt"/>
              </a:rPr>
              <a:t>Live demo: the Population Health Agent</a:t>
            </a:r>
          </a:p>
        </p:txBody>
      </p:sp>
      <p:sp>
        <p:nvSpPr>
          <p:cNvPr id="14" name="TextBox 13"/>
          <p:cNvSpPr txBox="1"/>
          <p:nvPr/>
        </p:nvSpPr>
        <p:spPr>
          <a:xfrm>
            <a:off x="2331720" y="6336792"/>
            <a:ext cx="7589520" cy="777240"/>
          </a:xfrm>
          <a:prstGeom prst="rect">
            <a:avLst/>
          </a:prstGeom>
          <a:noFill/>
        </p:spPr>
        <p:txBody>
          <a:bodyPr wrap="square" lIns="45720" tIns="27432" rIns="45720" bIns="27432" anchor="t">
            <a:spAutoFit/>
          </a:bodyPr>
          <a:lstStyle/>
          <a:p>
            <a:pPr algn="l"/>
            <a:r>
              <a:rPr sz="1500">
                <a:solidFill>
                  <a:srgbClr val="7E889A"/>
                </a:solidFill>
              </a:rPr>
              <a:t>Real questions on a diabetes registry, with the trace behind each answer</a:t>
            </a:r>
          </a:p>
        </p:txBody>
      </p:sp>
      <p:sp>
        <p:nvSpPr>
          <p:cNvPr id="15" name="Rounded Rectangle 14"/>
          <p:cNvSpPr/>
          <p:nvPr/>
        </p:nvSpPr>
        <p:spPr>
          <a:xfrm>
            <a:off x="1252728" y="7507224"/>
            <a:ext cx="822960" cy="822960"/>
          </a:xfrm>
          <a:prstGeom prst="roundRect">
            <a:avLst>
              <a:gd name="adj" fmla="val 13333"/>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600">
                <a:solidFill>
                  <a:srgbClr val="FFFFFF"/>
                </a:solidFill>
                <a:latin typeface="+mj-lt"/>
              </a:rPr>
              <a:t>4</a:t>
            </a:r>
          </a:p>
        </p:txBody>
      </p:sp>
      <p:sp>
        <p:nvSpPr>
          <p:cNvPr id="16" name="TextBox 15"/>
          <p:cNvSpPr txBox="1"/>
          <p:nvPr/>
        </p:nvSpPr>
        <p:spPr>
          <a:xfrm>
            <a:off x="2331720" y="7470648"/>
            <a:ext cx="7589520" cy="457200"/>
          </a:xfrm>
          <a:prstGeom prst="rect">
            <a:avLst/>
          </a:prstGeom>
          <a:noFill/>
        </p:spPr>
        <p:txBody>
          <a:bodyPr wrap="square" lIns="45720" tIns="27432" rIns="45720" bIns="27432" anchor="t">
            <a:spAutoFit/>
          </a:bodyPr>
          <a:lstStyle/>
          <a:p>
            <a:pPr algn="l"/>
            <a:r>
              <a:rPr sz="2200">
                <a:solidFill>
                  <a:srgbClr val="262626"/>
                </a:solidFill>
                <a:latin typeface="+mj-lt"/>
              </a:rPr>
              <a:t>What you will build in the hands-on</a:t>
            </a:r>
          </a:p>
        </p:txBody>
      </p:sp>
      <p:sp>
        <p:nvSpPr>
          <p:cNvPr id="17" name="TextBox 16"/>
          <p:cNvSpPr txBox="1"/>
          <p:nvPr/>
        </p:nvSpPr>
        <p:spPr>
          <a:xfrm>
            <a:off x="2331720" y="7909560"/>
            <a:ext cx="7589520" cy="777240"/>
          </a:xfrm>
          <a:prstGeom prst="rect">
            <a:avLst/>
          </a:prstGeom>
          <a:noFill/>
        </p:spPr>
        <p:txBody>
          <a:bodyPr wrap="square" lIns="45720" tIns="27432" rIns="45720" bIns="27432" anchor="t">
            <a:spAutoFit/>
          </a:bodyPr>
          <a:lstStyle/>
          <a:p>
            <a:pPr algn="l"/>
            <a:r>
              <a:rPr sz="1500">
                <a:solidFill>
                  <a:srgbClr val="7E889A"/>
                </a:solidFill>
              </a:rPr>
              <a:t>The same agent, in SAS Viya and SAS RAM, without writing code</a:t>
            </a:r>
          </a:p>
        </p:txBody>
      </p:sp>
      <p:sp>
        <p:nvSpPr>
          <p:cNvPr id="18" name="Rounded Rectangle 17"/>
          <p:cNvSpPr/>
          <p:nvPr/>
        </p:nvSpPr>
        <p:spPr>
          <a:xfrm>
            <a:off x="10424160" y="2697480"/>
            <a:ext cx="6601968" cy="6400800"/>
          </a:xfrm>
          <a:prstGeom prst="roundRect">
            <a:avLst>
              <a:gd name="adj" fmla="val 400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35640" y="3017520"/>
            <a:ext cx="5852160" cy="457200"/>
          </a:xfrm>
          <a:prstGeom prst="rect">
            <a:avLst/>
          </a:prstGeom>
          <a:noFill/>
        </p:spPr>
        <p:txBody>
          <a:bodyPr wrap="square" lIns="45720" tIns="27432" rIns="45720" bIns="27432" anchor="t">
            <a:spAutoFit/>
          </a:bodyPr>
          <a:lstStyle/>
          <a:p>
            <a:pPr algn="l"/>
            <a:r>
              <a:rPr sz="2200">
                <a:solidFill>
                  <a:srgbClr val="0766D1"/>
                </a:solidFill>
                <a:latin typeface="+mj-lt"/>
              </a:rPr>
              <a:t>By the end of this session you can…</a:t>
            </a:r>
          </a:p>
        </p:txBody>
      </p:sp>
      <p:sp>
        <p:nvSpPr>
          <p:cNvPr id="20" name="Oval 19"/>
          <p:cNvSpPr/>
          <p:nvPr/>
        </p:nvSpPr>
        <p:spPr>
          <a:xfrm>
            <a:off x="10835640" y="3886200"/>
            <a:ext cx="566928" cy="56692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w.png"/>
          <p:cNvPicPr>
            <a:picLocks noChangeAspect="1"/>
          </p:cNvPicPr>
          <p:nvPr/>
        </p:nvPicPr>
        <p:blipFill>
          <a:blip r:embed="rId2"/>
          <a:stretch>
            <a:fillRect/>
          </a:stretch>
        </p:blipFill>
        <p:spPr>
          <a:xfrm>
            <a:off x="10963198" y="4013758"/>
            <a:ext cx="311810" cy="311810"/>
          </a:xfrm>
          <a:prstGeom prst="rect">
            <a:avLst/>
          </a:prstGeom>
        </p:spPr>
      </p:pic>
      <p:sp>
        <p:nvSpPr>
          <p:cNvPr id="22" name="TextBox 21"/>
          <p:cNvSpPr txBox="1"/>
          <p:nvPr/>
        </p:nvSpPr>
        <p:spPr>
          <a:xfrm>
            <a:off x="11603736" y="3831336"/>
            <a:ext cx="5084064" cy="384048"/>
          </a:xfrm>
          <a:prstGeom prst="rect">
            <a:avLst/>
          </a:prstGeom>
          <a:noFill/>
        </p:spPr>
        <p:txBody>
          <a:bodyPr wrap="square" lIns="45720" tIns="27432" rIns="45720" bIns="27432" anchor="t">
            <a:spAutoFit/>
          </a:bodyPr>
          <a:lstStyle/>
          <a:p>
            <a:pPr algn="l"/>
            <a:r>
              <a:rPr sz="1700">
                <a:solidFill>
                  <a:srgbClr val="262626"/>
                </a:solidFill>
                <a:latin typeface="+mj-lt"/>
              </a:rPr>
              <a:t>Explain what an agent is in one sentence</a:t>
            </a:r>
          </a:p>
        </p:txBody>
      </p:sp>
      <p:sp>
        <p:nvSpPr>
          <p:cNvPr id="23" name="TextBox 22"/>
          <p:cNvSpPr txBox="1"/>
          <p:nvPr/>
        </p:nvSpPr>
        <p:spPr>
          <a:xfrm>
            <a:off x="11603736" y="4197096"/>
            <a:ext cx="5084064" cy="969263"/>
          </a:xfrm>
          <a:prstGeom prst="rect">
            <a:avLst/>
          </a:prstGeom>
          <a:noFill/>
        </p:spPr>
        <p:txBody>
          <a:bodyPr wrap="square" lIns="45720" tIns="27432" rIns="45720" bIns="27432" anchor="t">
            <a:spAutoFit/>
          </a:bodyPr>
          <a:lstStyle/>
          <a:p>
            <a:pPr algn="l"/>
            <a:r>
              <a:rPr sz="1500">
                <a:solidFill>
                  <a:srgbClr val="262626"/>
                </a:solidFill>
              </a:rPr>
              <a:t>and say why it is not just a smarter chatbot</a:t>
            </a:r>
          </a:p>
        </p:txBody>
      </p:sp>
      <p:sp>
        <p:nvSpPr>
          <p:cNvPr id="24" name="Oval 23"/>
          <p:cNvSpPr/>
          <p:nvPr/>
        </p:nvSpPr>
        <p:spPr>
          <a:xfrm>
            <a:off x="10835640" y="5486400"/>
            <a:ext cx="566928" cy="56692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eck_w.png"/>
          <p:cNvPicPr>
            <a:picLocks noChangeAspect="1"/>
          </p:cNvPicPr>
          <p:nvPr/>
        </p:nvPicPr>
        <p:blipFill>
          <a:blip r:embed="rId2"/>
          <a:stretch>
            <a:fillRect/>
          </a:stretch>
        </p:blipFill>
        <p:spPr>
          <a:xfrm>
            <a:off x="10963198" y="5613958"/>
            <a:ext cx="311810" cy="311810"/>
          </a:xfrm>
          <a:prstGeom prst="rect">
            <a:avLst/>
          </a:prstGeom>
        </p:spPr>
      </p:pic>
      <p:sp>
        <p:nvSpPr>
          <p:cNvPr id="26" name="TextBox 25"/>
          <p:cNvSpPr txBox="1"/>
          <p:nvPr/>
        </p:nvSpPr>
        <p:spPr>
          <a:xfrm>
            <a:off x="11603736" y="5431536"/>
            <a:ext cx="5084064" cy="384048"/>
          </a:xfrm>
          <a:prstGeom prst="rect">
            <a:avLst/>
          </a:prstGeom>
          <a:noFill/>
        </p:spPr>
        <p:txBody>
          <a:bodyPr wrap="square" lIns="45720" tIns="27432" rIns="45720" bIns="27432" anchor="t">
            <a:spAutoFit/>
          </a:bodyPr>
          <a:lstStyle/>
          <a:p>
            <a:pPr algn="l"/>
            <a:r>
              <a:rPr sz="1700">
                <a:solidFill>
                  <a:srgbClr val="262626"/>
                </a:solidFill>
                <a:latin typeface="+mj-lt"/>
              </a:rPr>
              <a:t>Describe RAG, MCP and composite AI</a:t>
            </a:r>
          </a:p>
        </p:txBody>
      </p:sp>
      <p:sp>
        <p:nvSpPr>
          <p:cNvPr id="27" name="TextBox 26"/>
          <p:cNvSpPr txBox="1"/>
          <p:nvPr/>
        </p:nvSpPr>
        <p:spPr>
          <a:xfrm>
            <a:off x="11603736" y="5797296"/>
            <a:ext cx="5084064" cy="969263"/>
          </a:xfrm>
          <a:prstGeom prst="rect">
            <a:avLst/>
          </a:prstGeom>
          <a:noFill/>
        </p:spPr>
        <p:txBody>
          <a:bodyPr wrap="square" lIns="45720" tIns="27432" rIns="45720" bIns="27432" anchor="t">
            <a:spAutoFit/>
          </a:bodyPr>
          <a:lstStyle/>
          <a:p>
            <a:pPr algn="l"/>
            <a:r>
              <a:rPr sz="1500">
                <a:solidFill>
                  <a:srgbClr val="262626"/>
                </a:solidFill>
              </a:rPr>
              <a:t>in words your colleagues will understand</a:t>
            </a:r>
          </a:p>
        </p:txBody>
      </p:sp>
      <p:sp>
        <p:nvSpPr>
          <p:cNvPr id="28" name="Oval 27"/>
          <p:cNvSpPr/>
          <p:nvPr/>
        </p:nvSpPr>
        <p:spPr>
          <a:xfrm>
            <a:off x="10835640" y="7086600"/>
            <a:ext cx="566928" cy="56692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check_w.png"/>
          <p:cNvPicPr>
            <a:picLocks noChangeAspect="1"/>
          </p:cNvPicPr>
          <p:nvPr/>
        </p:nvPicPr>
        <p:blipFill>
          <a:blip r:embed="rId2"/>
          <a:stretch>
            <a:fillRect/>
          </a:stretch>
        </p:blipFill>
        <p:spPr>
          <a:xfrm>
            <a:off x="10963198" y="7214158"/>
            <a:ext cx="311810" cy="311810"/>
          </a:xfrm>
          <a:prstGeom prst="rect">
            <a:avLst/>
          </a:prstGeom>
        </p:spPr>
      </p:pic>
      <p:sp>
        <p:nvSpPr>
          <p:cNvPr id="30" name="TextBox 29"/>
          <p:cNvSpPr txBox="1"/>
          <p:nvPr/>
        </p:nvSpPr>
        <p:spPr>
          <a:xfrm>
            <a:off x="11603736" y="7031736"/>
            <a:ext cx="5084064" cy="384048"/>
          </a:xfrm>
          <a:prstGeom prst="rect">
            <a:avLst/>
          </a:prstGeom>
          <a:noFill/>
        </p:spPr>
        <p:txBody>
          <a:bodyPr wrap="square" lIns="45720" tIns="27432" rIns="45720" bIns="27432" anchor="t">
            <a:spAutoFit/>
          </a:bodyPr>
          <a:lstStyle/>
          <a:p>
            <a:pPr algn="l"/>
            <a:r>
              <a:rPr sz="1700">
                <a:solidFill>
                  <a:srgbClr val="262626"/>
                </a:solidFill>
                <a:latin typeface="+mj-lt"/>
              </a:rPr>
              <a:t>Follow the Population Health Agent</a:t>
            </a:r>
          </a:p>
        </p:txBody>
      </p:sp>
      <p:sp>
        <p:nvSpPr>
          <p:cNvPr id="31" name="TextBox 30"/>
          <p:cNvSpPr txBox="1"/>
          <p:nvPr/>
        </p:nvSpPr>
        <p:spPr>
          <a:xfrm>
            <a:off x="11603736" y="7397496"/>
            <a:ext cx="5084064" cy="969263"/>
          </a:xfrm>
          <a:prstGeom prst="rect">
            <a:avLst/>
          </a:prstGeom>
          <a:noFill/>
        </p:spPr>
        <p:txBody>
          <a:bodyPr wrap="square" lIns="45720" tIns="27432" rIns="45720" bIns="27432" anchor="t">
            <a:spAutoFit/>
          </a:bodyPr>
          <a:lstStyle/>
          <a:p>
            <a:pPr algn="l"/>
            <a:r>
              <a:rPr sz="1500">
                <a:solidFill>
                  <a:srgbClr val="262626"/>
                </a:solidFill>
              </a:rPr>
              <a:t>and recognise its parts when you build your 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000"/>
              <a:t>What is Agentic AI?</a:t>
            </a:r>
          </a:p>
        </p:txBody>
      </p:sp>
      <p:sp>
        <p:nvSpPr>
          <p:cNvPr id="3" name="Text Placeholder 2"/>
          <p:cNvSpPr>
            <a:spLocks noGrp="1"/>
          </p:cNvSpPr>
          <p:nvPr>
            <p:ph type="body" idx="10" sz="quarter"/>
          </p:nvPr>
        </p:nvSpPr>
        <p:spPr/>
        <p:txBody>
          <a:bodyPr/>
          <a:lstStyle/>
          <a:p>
            <a:r>
              <a:rPr sz="3600"/>
              <a:t>From answering questions to getting things done</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obot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600"/>
              <a:t>Predict, generate, act</a:t>
            </a:r>
          </a:p>
        </p:txBody>
      </p:sp>
      <p:sp>
        <p:nvSpPr>
          <p:cNvPr id="3" name="Text Placeholder 2"/>
          <p:cNvSpPr>
            <a:spLocks noGrp="1"/>
          </p:cNvSpPr>
          <p:nvPr>
            <p:ph type="body" idx="10" sz="quarter"/>
          </p:nvPr>
        </p:nvSpPr>
        <p:spPr/>
        <p:txBody>
          <a:bodyPr/>
          <a:lstStyle/>
          <a:p>
            <a:r>
              <a:rPr sz="3000"/>
              <a:t>Three kinds of AI. The third one puts the other two to work.</a:t>
            </a:r>
          </a:p>
        </p:txBody>
      </p:sp>
      <p:sp>
        <p:nvSpPr>
          <p:cNvPr id="5" name="Rounded Rectangle 4"/>
          <p:cNvSpPr/>
          <p:nvPr/>
        </p:nvSpPr>
        <p:spPr>
          <a:xfrm>
            <a:off x="1252728" y="3246120"/>
            <a:ext cx="4983480" cy="4480560"/>
          </a:xfrm>
          <a:prstGeom prst="roundRect">
            <a:avLst>
              <a:gd name="adj" fmla="val 571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218688" y="2720339"/>
            <a:ext cx="1051560" cy="105156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odel_w.png"/>
          <p:cNvPicPr>
            <a:picLocks noChangeAspect="1"/>
          </p:cNvPicPr>
          <p:nvPr/>
        </p:nvPicPr>
        <p:blipFill>
          <a:blip r:embed="rId2"/>
          <a:stretch>
            <a:fillRect/>
          </a:stretch>
        </p:blipFill>
        <p:spPr>
          <a:xfrm>
            <a:off x="3471062" y="2972714"/>
            <a:ext cx="546811" cy="546811"/>
          </a:xfrm>
          <a:prstGeom prst="rect">
            <a:avLst/>
          </a:prstGeom>
        </p:spPr>
      </p:pic>
      <p:sp>
        <p:nvSpPr>
          <p:cNvPr id="8" name="TextBox 7"/>
          <p:cNvSpPr txBox="1"/>
          <p:nvPr/>
        </p:nvSpPr>
        <p:spPr>
          <a:xfrm>
            <a:off x="1527048" y="4003243"/>
            <a:ext cx="4434840" cy="594360"/>
          </a:xfrm>
          <a:prstGeom prst="rect">
            <a:avLst/>
          </a:prstGeom>
          <a:noFill/>
        </p:spPr>
        <p:txBody>
          <a:bodyPr wrap="square" lIns="45720" tIns="27432" rIns="45720" bIns="27432" anchor="t">
            <a:spAutoFit/>
          </a:bodyPr>
          <a:lstStyle/>
          <a:p>
            <a:pPr algn="ctr"/>
            <a:r>
              <a:rPr sz="2200">
                <a:solidFill>
                  <a:srgbClr val="262626"/>
                </a:solidFill>
                <a:latin typeface="+mj-lt"/>
              </a:rPr>
              <a:t>Machine learning</a:t>
            </a:r>
          </a:p>
        </p:txBody>
      </p:sp>
      <p:sp>
        <p:nvSpPr>
          <p:cNvPr id="9" name="TextBox 8"/>
          <p:cNvSpPr txBox="1"/>
          <p:nvPr/>
        </p:nvSpPr>
        <p:spPr>
          <a:xfrm>
            <a:off x="1572768" y="4689043"/>
            <a:ext cx="4343400" cy="1940356"/>
          </a:xfrm>
          <a:prstGeom prst="rect">
            <a:avLst/>
          </a:prstGeom>
          <a:noFill/>
        </p:spPr>
        <p:txBody>
          <a:bodyPr wrap="square" lIns="45720" tIns="27432" rIns="45720" bIns="27432" anchor="t">
            <a:spAutoFit/>
          </a:bodyPr>
          <a:lstStyle/>
          <a:p>
            <a:pPr algn="l"/>
            <a:r>
              <a:rPr sz="1700">
                <a:solidFill>
                  <a:srgbClr val="262626"/>
                </a:solidFill>
              </a:rPr>
              <a:t>Learns patterns from data and gives you a number: a risk score, a forecast, the chance a patient does not turn up. EHS has done this for years.</a:t>
            </a:r>
          </a:p>
          <a:p>
            <a:pPr algn="l">
              <a:spcBef>
                <a:spcPts val="1400"/>
              </a:spcBef>
            </a:pPr>
            <a:r>
              <a:rPr sz="1700">
                <a:solidFill>
                  <a:srgbClr val="0766D1"/>
                </a:solidFill>
                <a:latin typeface="+mj-lt"/>
              </a:rPr>
              <a:t>This is the risk model in today's demo.</a:t>
            </a:r>
          </a:p>
        </p:txBody>
      </p:sp>
      <p:sp>
        <p:nvSpPr>
          <p:cNvPr id="10" name="TextBox 9"/>
          <p:cNvSpPr txBox="1"/>
          <p:nvPr/>
        </p:nvSpPr>
        <p:spPr>
          <a:xfrm>
            <a:off x="1572768" y="6675119"/>
            <a:ext cx="4343400" cy="868680"/>
          </a:xfrm>
          <a:prstGeom prst="rect">
            <a:avLst/>
          </a:prstGeom>
          <a:noFill/>
        </p:spPr>
        <p:txBody>
          <a:bodyPr wrap="square" lIns="45720" tIns="27432" rIns="45720" bIns="27432" anchor="b">
            <a:spAutoFit/>
          </a:bodyPr>
          <a:lstStyle/>
          <a:p>
            <a:pPr algn="l"/>
            <a:r>
              <a:rPr sz="1600">
                <a:solidFill>
                  <a:srgbClr val="0766D1"/>
                </a:solidFill>
                <a:latin typeface="+mj-lt"/>
              </a:rPr>
              <a:t>Good at: how likely? how many?</a:t>
            </a:r>
          </a:p>
        </p:txBody>
      </p:sp>
      <p:sp>
        <p:nvSpPr>
          <p:cNvPr id="11" name="Rounded Rectangle 10"/>
          <p:cNvSpPr/>
          <p:nvPr/>
        </p:nvSpPr>
        <p:spPr>
          <a:xfrm>
            <a:off x="6647688" y="3246120"/>
            <a:ext cx="4983480" cy="4480560"/>
          </a:xfrm>
          <a:prstGeom prst="roundRect">
            <a:avLst>
              <a:gd name="adj" fmla="val 571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13648" y="2720339"/>
            <a:ext cx="1051560" cy="1051560"/>
          </a:xfrm>
          <a:prstGeom prst="ellipse">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les_w.png"/>
          <p:cNvPicPr>
            <a:picLocks noChangeAspect="1"/>
          </p:cNvPicPr>
          <p:nvPr/>
        </p:nvPicPr>
        <p:blipFill>
          <a:blip r:embed="rId3"/>
          <a:stretch>
            <a:fillRect/>
          </a:stretch>
        </p:blipFill>
        <p:spPr>
          <a:xfrm>
            <a:off x="8866022" y="2972714"/>
            <a:ext cx="546811" cy="546811"/>
          </a:xfrm>
          <a:prstGeom prst="rect">
            <a:avLst/>
          </a:prstGeom>
        </p:spPr>
      </p:pic>
      <p:sp>
        <p:nvSpPr>
          <p:cNvPr id="14" name="TextBox 13"/>
          <p:cNvSpPr txBox="1"/>
          <p:nvPr/>
        </p:nvSpPr>
        <p:spPr>
          <a:xfrm>
            <a:off x="6922008" y="4003243"/>
            <a:ext cx="4434840" cy="594360"/>
          </a:xfrm>
          <a:prstGeom prst="rect">
            <a:avLst/>
          </a:prstGeom>
          <a:noFill/>
        </p:spPr>
        <p:txBody>
          <a:bodyPr wrap="square" lIns="45720" tIns="27432" rIns="45720" bIns="27432" anchor="t">
            <a:spAutoFit/>
          </a:bodyPr>
          <a:lstStyle/>
          <a:p>
            <a:pPr algn="ctr"/>
            <a:r>
              <a:rPr sz="2200">
                <a:solidFill>
                  <a:srgbClr val="262626"/>
                </a:solidFill>
                <a:latin typeface="+mj-lt"/>
              </a:rPr>
              <a:t>Generative AI</a:t>
            </a:r>
          </a:p>
        </p:txBody>
      </p:sp>
      <p:sp>
        <p:nvSpPr>
          <p:cNvPr id="15" name="TextBox 14"/>
          <p:cNvSpPr txBox="1"/>
          <p:nvPr/>
        </p:nvSpPr>
        <p:spPr>
          <a:xfrm>
            <a:off x="6967728" y="4689043"/>
            <a:ext cx="4343400" cy="1940356"/>
          </a:xfrm>
          <a:prstGeom prst="rect">
            <a:avLst/>
          </a:prstGeom>
          <a:noFill/>
        </p:spPr>
        <p:txBody>
          <a:bodyPr wrap="square" lIns="45720" tIns="27432" rIns="45720" bIns="27432" anchor="t">
            <a:spAutoFit/>
          </a:bodyPr>
          <a:lstStyle/>
          <a:p>
            <a:pPr algn="l"/>
            <a:r>
              <a:rPr sz="1700">
                <a:solidFill>
                  <a:srgbClr val="262626"/>
                </a:solidFill>
              </a:rPr>
              <a:t>Learns language and produces it: a summary, a draft letter, an answer to the question you typed. One question, one answer, then it stops.</a:t>
            </a:r>
          </a:p>
          <a:p>
            <a:pPr algn="l">
              <a:spcBef>
                <a:spcPts val="1400"/>
              </a:spcBef>
            </a:pPr>
            <a:r>
              <a:rPr sz="1700">
                <a:solidFill>
                  <a:srgbClr val="0766D1"/>
                </a:solidFill>
                <a:latin typeface="+mj-lt"/>
              </a:rPr>
              <a:t>This is what writes the answers in the demo.</a:t>
            </a:r>
          </a:p>
        </p:txBody>
      </p:sp>
      <p:sp>
        <p:nvSpPr>
          <p:cNvPr id="16" name="TextBox 15"/>
          <p:cNvSpPr txBox="1"/>
          <p:nvPr/>
        </p:nvSpPr>
        <p:spPr>
          <a:xfrm>
            <a:off x="6967728" y="6675119"/>
            <a:ext cx="4343400" cy="868680"/>
          </a:xfrm>
          <a:prstGeom prst="rect">
            <a:avLst/>
          </a:prstGeom>
          <a:noFill/>
        </p:spPr>
        <p:txBody>
          <a:bodyPr wrap="square" lIns="45720" tIns="27432" rIns="45720" bIns="27432" anchor="b">
            <a:spAutoFit/>
          </a:bodyPr>
          <a:lstStyle/>
          <a:p>
            <a:pPr algn="l"/>
            <a:r>
              <a:rPr sz="1600">
                <a:solidFill>
                  <a:srgbClr val="0766D1"/>
                </a:solidFill>
                <a:latin typeface="+mj-lt"/>
              </a:rPr>
              <a:t>Good at: explain this, write that.</a:t>
            </a:r>
          </a:p>
        </p:txBody>
      </p:sp>
      <p:sp>
        <p:nvSpPr>
          <p:cNvPr id="17" name="Rounded Rectangle 16"/>
          <p:cNvSpPr/>
          <p:nvPr/>
        </p:nvSpPr>
        <p:spPr>
          <a:xfrm>
            <a:off x="12042648" y="3246120"/>
            <a:ext cx="4983480" cy="4480560"/>
          </a:xfrm>
          <a:prstGeom prst="roundRect">
            <a:avLst>
              <a:gd name="adj" fmla="val 5714"/>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008608" y="2720339"/>
            <a:ext cx="1051560" cy="1051560"/>
          </a:xfrm>
          <a:prstGeom prst="ellipse">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robot_b.png"/>
          <p:cNvPicPr>
            <a:picLocks noChangeAspect="1"/>
          </p:cNvPicPr>
          <p:nvPr/>
        </p:nvPicPr>
        <p:blipFill>
          <a:blip r:embed="rId4"/>
          <a:stretch>
            <a:fillRect/>
          </a:stretch>
        </p:blipFill>
        <p:spPr>
          <a:xfrm>
            <a:off x="14260982" y="2972714"/>
            <a:ext cx="546811" cy="546811"/>
          </a:xfrm>
          <a:prstGeom prst="rect">
            <a:avLst/>
          </a:prstGeom>
        </p:spPr>
      </p:pic>
      <p:sp>
        <p:nvSpPr>
          <p:cNvPr id="20" name="TextBox 19"/>
          <p:cNvSpPr txBox="1"/>
          <p:nvPr/>
        </p:nvSpPr>
        <p:spPr>
          <a:xfrm>
            <a:off x="12316968" y="4003243"/>
            <a:ext cx="4434840" cy="594360"/>
          </a:xfrm>
          <a:prstGeom prst="rect">
            <a:avLst/>
          </a:prstGeom>
          <a:noFill/>
        </p:spPr>
        <p:txBody>
          <a:bodyPr wrap="square" lIns="45720" tIns="27432" rIns="45720" bIns="27432" anchor="t">
            <a:spAutoFit/>
          </a:bodyPr>
          <a:lstStyle/>
          <a:p>
            <a:pPr algn="ctr"/>
            <a:r>
              <a:rPr sz="2200">
                <a:solidFill>
                  <a:srgbClr val="FFFFFF"/>
                </a:solidFill>
                <a:latin typeface="+mj-lt"/>
              </a:rPr>
              <a:t>Agentic AI</a:t>
            </a:r>
          </a:p>
        </p:txBody>
      </p:sp>
      <p:sp>
        <p:nvSpPr>
          <p:cNvPr id="21" name="TextBox 20"/>
          <p:cNvSpPr txBox="1"/>
          <p:nvPr/>
        </p:nvSpPr>
        <p:spPr>
          <a:xfrm>
            <a:off x="12362688" y="4689043"/>
            <a:ext cx="4343400" cy="1940356"/>
          </a:xfrm>
          <a:prstGeom prst="rect">
            <a:avLst/>
          </a:prstGeom>
          <a:noFill/>
        </p:spPr>
        <p:txBody>
          <a:bodyPr wrap="square" lIns="45720" tIns="27432" rIns="45720" bIns="27432" anchor="t">
            <a:spAutoFit/>
          </a:bodyPr>
          <a:lstStyle/>
          <a:p>
            <a:pPr algn="l"/>
            <a:r>
              <a:rPr sz="1700">
                <a:solidFill>
                  <a:srgbClr val="FFFFFF"/>
                </a:solidFill>
              </a:rPr>
              <a:t>Gets a goal, not a question. Works out the steps, uses the other two as tools, checks the result, and keeps going until the job is done or it needs a person.</a:t>
            </a:r>
          </a:p>
          <a:p>
            <a:pPr algn="l">
              <a:spcBef>
                <a:spcPts val="1400"/>
              </a:spcBef>
            </a:pPr>
            <a:r>
              <a:rPr sz="1700">
                <a:solidFill>
                  <a:srgbClr val="C4DEFD"/>
                </a:solidFill>
                <a:latin typeface="+mj-lt"/>
              </a:rPr>
              <a:t>This is the whole Population Health Agent.</a:t>
            </a:r>
          </a:p>
        </p:txBody>
      </p:sp>
      <p:sp>
        <p:nvSpPr>
          <p:cNvPr id="22" name="TextBox 21"/>
          <p:cNvSpPr txBox="1"/>
          <p:nvPr/>
        </p:nvSpPr>
        <p:spPr>
          <a:xfrm>
            <a:off x="12362688" y="6675119"/>
            <a:ext cx="4343400" cy="868680"/>
          </a:xfrm>
          <a:prstGeom prst="rect">
            <a:avLst/>
          </a:prstGeom>
          <a:noFill/>
        </p:spPr>
        <p:txBody>
          <a:bodyPr wrap="square" lIns="45720" tIns="27432" rIns="45720" bIns="27432" anchor="b">
            <a:spAutoFit/>
          </a:bodyPr>
          <a:lstStyle/>
          <a:p>
            <a:pPr algn="l"/>
            <a:r>
              <a:rPr sz="1600">
                <a:solidFill>
                  <a:srgbClr val="C4DEFD"/>
                </a:solidFill>
                <a:latin typeface="+mj-lt"/>
              </a:rPr>
              <a:t>Good at: get this done, and show me how.</a:t>
            </a:r>
          </a:p>
        </p:txBody>
      </p:sp>
      <p:sp>
        <p:nvSpPr>
          <p:cNvPr id="23" name="TextBox 22"/>
          <p:cNvSpPr txBox="1"/>
          <p:nvPr/>
        </p:nvSpPr>
        <p:spPr>
          <a:xfrm>
            <a:off x="1252728" y="8092440"/>
            <a:ext cx="15773400" cy="457200"/>
          </a:xfrm>
          <a:prstGeom prst="rect">
            <a:avLst/>
          </a:prstGeom>
          <a:noFill/>
        </p:spPr>
        <p:txBody>
          <a:bodyPr wrap="square" lIns="45720" tIns="27432" rIns="45720" bIns="27432" anchor="t">
            <a:spAutoFit/>
          </a:bodyPr>
          <a:lstStyle/>
          <a:p>
            <a:pPr algn="l"/>
            <a:r>
              <a:rPr sz="1400">
                <a:solidFill>
                  <a:srgbClr val="7E889A"/>
                </a:solidFill>
              </a:rPr>
              <a:t>Nothing here replaces what you already have. The agent is the layer that puts your models and the language model to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600"/>
              <a:t>What makes it an agent</a:t>
            </a:r>
          </a:p>
        </p:txBody>
      </p:sp>
      <p:sp>
        <p:nvSpPr>
          <p:cNvPr id="3" name="Text Placeholder 2"/>
          <p:cNvSpPr>
            <a:spLocks noGrp="1"/>
          </p:cNvSpPr>
          <p:nvPr>
            <p:ph type="body" idx="10" sz="quarter"/>
          </p:nvPr>
        </p:nvSpPr>
        <p:spPr/>
        <p:txBody>
          <a:bodyPr/>
          <a:lstStyle/>
          <a:p>
            <a:r>
              <a:rPr sz="3000"/>
              <a:t>It does not stop after one answer. It looks, thinks, acts, checks, and goes again.</a:t>
            </a:r>
          </a:p>
        </p:txBody>
      </p:sp>
      <p:sp>
        <p:nvSpPr>
          <p:cNvPr id="5" name="Donut 4"/>
          <p:cNvSpPr/>
          <p:nvPr/>
        </p:nvSpPr>
        <p:spPr>
          <a:xfrm>
            <a:off x="2907792" y="3639312"/>
            <a:ext cx="5065776" cy="5065776"/>
          </a:xfrm>
          <a:prstGeom prst="donut">
            <a:avLst>
              <a:gd name="adj" fmla="val 1500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709160" y="3291840"/>
            <a:ext cx="1463040" cy="14630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300">
                <a:solidFill>
                  <a:srgbClr val="FFFFFF"/>
                </a:solidFill>
                <a:latin typeface="+mj-lt"/>
              </a:rPr>
              <a:t>PERCEIVE</a:t>
            </a:r>
          </a:p>
        </p:txBody>
      </p:sp>
      <p:sp>
        <p:nvSpPr>
          <p:cNvPr id="7" name="Oval 6"/>
          <p:cNvSpPr/>
          <p:nvPr/>
        </p:nvSpPr>
        <p:spPr>
          <a:xfrm>
            <a:off x="6858000" y="5440680"/>
            <a:ext cx="1463040" cy="14630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300">
                <a:solidFill>
                  <a:srgbClr val="FFFFFF"/>
                </a:solidFill>
                <a:latin typeface="+mj-lt"/>
              </a:rPr>
              <a:t>REASON &amp; PLAN</a:t>
            </a:r>
          </a:p>
        </p:txBody>
      </p:sp>
      <p:sp>
        <p:nvSpPr>
          <p:cNvPr id="8" name="Oval 7"/>
          <p:cNvSpPr/>
          <p:nvPr/>
        </p:nvSpPr>
        <p:spPr>
          <a:xfrm>
            <a:off x="4709160" y="7589519"/>
            <a:ext cx="1463040" cy="14630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300">
                <a:solidFill>
                  <a:srgbClr val="FFFFFF"/>
                </a:solidFill>
                <a:latin typeface="+mj-lt"/>
              </a:rPr>
              <a:t>ACT</a:t>
            </a:r>
          </a:p>
        </p:txBody>
      </p:sp>
      <p:sp>
        <p:nvSpPr>
          <p:cNvPr id="9" name="Oval 8"/>
          <p:cNvSpPr/>
          <p:nvPr/>
        </p:nvSpPr>
        <p:spPr>
          <a:xfrm>
            <a:off x="2560320" y="5440680"/>
            <a:ext cx="1463040" cy="14630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300">
                <a:solidFill>
                  <a:srgbClr val="FFFFFF"/>
                </a:solidFill>
                <a:latin typeface="+mj-lt"/>
              </a:rPr>
              <a:t>OBSERVE</a:t>
            </a:r>
          </a:p>
        </p:txBody>
      </p:sp>
      <p:sp>
        <p:nvSpPr>
          <p:cNvPr id="10" name="Chevron 9"/>
          <p:cNvSpPr/>
          <p:nvPr/>
        </p:nvSpPr>
        <p:spPr>
          <a:xfrm rot="2700000">
            <a:off x="6685819" y="4414996"/>
            <a:ext cx="548640" cy="47548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rot="8100000">
            <a:off x="6685819" y="7453915"/>
            <a:ext cx="548640" cy="47548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hevron 11"/>
          <p:cNvSpPr/>
          <p:nvPr/>
        </p:nvSpPr>
        <p:spPr>
          <a:xfrm rot="13500000">
            <a:off x="3646900" y="7453915"/>
            <a:ext cx="548640" cy="47548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evron 12"/>
          <p:cNvSpPr/>
          <p:nvPr/>
        </p:nvSpPr>
        <p:spPr>
          <a:xfrm rot="18900000">
            <a:off x="3646900" y="4414996"/>
            <a:ext cx="548640" cy="47548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5394960"/>
            <a:ext cx="2468880" cy="1554480"/>
          </a:xfrm>
          <a:prstGeom prst="rect">
            <a:avLst/>
          </a:prstGeom>
          <a:noFill/>
        </p:spPr>
        <p:txBody>
          <a:bodyPr wrap="square" lIns="45720" tIns="27432" rIns="45720" bIns="27432" anchor="ctr">
            <a:spAutoFit/>
          </a:bodyPr>
          <a:lstStyle/>
          <a:p>
            <a:pPr algn="ctr"/>
            <a:r>
              <a:rPr sz="1400">
                <a:solidFill>
                  <a:srgbClr val="032954"/>
                </a:solidFill>
                <a:latin typeface="+mj-lt"/>
              </a:rPr>
              <a:t>Round and round until the job is done,</a:t>
            </a:r>
          </a:p>
          <a:p>
            <a:pPr algn="ctr"/>
            <a:r>
              <a:rPr sz="1400">
                <a:solidFill>
                  <a:srgbClr val="0766D1"/>
                </a:solidFill>
                <a:latin typeface="+mj-lt"/>
              </a:rPr>
              <a:t>or a limit is reached</a:t>
            </a:r>
          </a:p>
        </p:txBody>
      </p:sp>
      <p:sp>
        <p:nvSpPr>
          <p:cNvPr id="15" name="Rounded Rectangle 14"/>
          <p:cNvSpPr/>
          <p:nvPr/>
        </p:nvSpPr>
        <p:spPr>
          <a:xfrm>
            <a:off x="9144000" y="2743200"/>
            <a:ext cx="7882128" cy="6309360"/>
          </a:xfrm>
          <a:prstGeom prst="roundRect">
            <a:avLst>
              <a:gd name="adj" fmla="val 405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55480" y="3017520"/>
            <a:ext cx="7059168" cy="457200"/>
          </a:xfrm>
          <a:prstGeom prst="rect">
            <a:avLst/>
          </a:prstGeom>
          <a:noFill/>
        </p:spPr>
        <p:txBody>
          <a:bodyPr wrap="square" lIns="45720" tIns="27432" rIns="45720" bIns="27432" anchor="t">
            <a:spAutoFit/>
          </a:bodyPr>
          <a:lstStyle/>
          <a:p>
            <a:pPr algn="l"/>
            <a:r>
              <a:rPr sz="2000">
                <a:solidFill>
                  <a:srgbClr val="0766D1"/>
                </a:solidFill>
                <a:latin typeface="+mj-lt"/>
              </a:rPr>
              <a:t>One turn around the loop</a:t>
            </a:r>
          </a:p>
        </p:txBody>
      </p:sp>
      <p:sp>
        <p:nvSpPr>
          <p:cNvPr id="17" name="Oval 16"/>
          <p:cNvSpPr/>
          <p:nvPr/>
        </p:nvSpPr>
        <p:spPr>
          <a:xfrm>
            <a:off x="9555480" y="3611880"/>
            <a:ext cx="530352" cy="53035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eye_w.png"/>
          <p:cNvPicPr>
            <a:picLocks noChangeAspect="1"/>
          </p:cNvPicPr>
          <p:nvPr/>
        </p:nvPicPr>
        <p:blipFill>
          <a:blip r:embed="rId2"/>
          <a:stretch>
            <a:fillRect/>
          </a:stretch>
        </p:blipFill>
        <p:spPr>
          <a:xfrm>
            <a:off x="9674809" y="3731209"/>
            <a:ext cx="291693" cy="291693"/>
          </a:xfrm>
          <a:prstGeom prst="rect">
            <a:avLst/>
          </a:prstGeom>
        </p:spPr>
      </p:pic>
      <p:sp>
        <p:nvSpPr>
          <p:cNvPr id="19" name="TextBox 18"/>
          <p:cNvSpPr txBox="1"/>
          <p:nvPr/>
        </p:nvSpPr>
        <p:spPr>
          <a:xfrm>
            <a:off x="10287000" y="3557016"/>
            <a:ext cx="6327648" cy="384048"/>
          </a:xfrm>
          <a:prstGeom prst="rect">
            <a:avLst/>
          </a:prstGeom>
          <a:noFill/>
        </p:spPr>
        <p:txBody>
          <a:bodyPr wrap="square" lIns="45720" tIns="27432" rIns="45720" bIns="27432" anchor="t">
            <a:spAutoFit/>
          </a:bodyPr>
          <a:lstStyle/>
          <a:p>
            <a:pPr algn="l"/>
            <a:r>
              <a:rPr sz="1600">
                <a:solidFill>
                  <a:srgbClr val="262626"/>
                </a:solidFill>
                <a:latin typeface="+mj-lt"/>
              </a:rPr>
              <a:t>Perceive</a:t>
            </a:r>
          </a:p>
        </p:txBody>
      </p:sp>
      <p:sp>
        <p:nvSpPr>
          <p:cNvPr id="20" name="TextBox 19"/>
          <p:cNvSpPr txBox="1"/>
          <p:nvPr/>
        </p:nvSpPr>
        <p:spPr>
          <a:xfrm>
            <a:off x="10287000" y="3922776"/>
            <a:ext cx="6327648" cy="603503"/>
          </a:xfrm>
          <a:prstGeom prst="rect">
            <a:avLst/>
          </a:prstGeom>
          <a:noFill/>
        </p:spPr>
        <p:txBody>
          <a:bodyPr wrap="square" lIns="45720" tIns="27432" rIns="45720" bIns="27432" anchor="t">
            <a:spAutoFit/>
          </a:bodyPr>
          <a:lstStyle/>
          <a:p>
            <a:pPr algn="l"/>
            <a:r>
              <a:rPr sz="1400">
                <a:solidFill>
                  <a:srgbClr val="262626"/>
                </a:solidFill>
              </a:rPr>
              <a:t>What is in front of it now: your question, the last result, a new row of data.</a:t>
            </a:r>
          </a:p>
        </p:txBody>
      </p:sp>
      <p:sp>
        <p:nvSpPr>
          <p:cNvPr id="21" name="Oval 20"/>
          <p:cNvSpPr/>
          <p:nvPr/>
        </p:nvSpPr>
        <p:spPr>
          <a:xfrm>
            <a:off x="9555480" y="4599432"/>
            <a:ext cx="530352" cy="53035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brain_w.png"/>
          <p:cNvPicPr>
            <a:picLocks noChangeAspect="1"/>
          </p:cNvPicPr>
          <p:nvPr/>
        </p:nvPicPr>
        <p:blipFill>
          <a:blip r:embed="rId3"/>
          <a:stretch>
            <a:fillRect/>
          </a:stretch>
        </p:blipFill>
        <p:spPr>
          <a:xfrm>
            <a:off x="9674809" y="4718761"/>
            <a:ext cx="291693" cy="291693"/>
          </a:xfrm>
          <a:prstGeom prst="rect">
            <a:avLst/>
          </a:prstGeom>
        </p:spPr>
      </p:pic>
      <p:sp>
        <p:nvSpPr>
          <p:cNvPr id="23" name="TextBox 22"/>
          <p:cNvSpPr txBox="1"/>
          <p:nvPr/>
        </p:nvSpPr>
        <p:spPr>
          <a:xfrm>
            <a:off x="10287000" y="4544568"/>
            <a:ext cx="6327648" cy="384048"/>
          </a:xfrm>
          <a:prstGeom prst="rect">
            <a:avLst/>
          </a:prstGeom>
          <a:noFill/>
        </p:spPr>
        <p:txBody>
          <a:bodyPr wrap="square" lIns="45720" tIns="27432" rIns="45720" bIns="27432" anchor="t">
            <a:spAutoFit/>
          </a:bodyPr>
          <a:lstStyle/>
          <a:p>
            <a:pPr algn="l"/>
            <a:r>
              <a:rPr sz="1600">
                <a:solidFill>
                  <a:srgbClr val="262626"/>
                </a:solidFill>
                <a:latin typeface="+mj-lt"/>
              </a:rPr>
              <a:t>Reason &amp; plan</a:t>
            </a:r>
          </a:p>
        </p:txBody>
      </p:sp>
      <p:sp>
        <p:nvSpPr>
          <p:cNvPr id="24" name="TextBox 23"/>
          <p:cNvSpPr txBox="1"/>
          <p:nvPr/>
        </p:nvSpPr>
        <p:spPr>
          <a:xfrm>
            <a:off x="10287000" y="4910328"/>
            <a:ext cx="6327648" cy="603503"/>
          </a:xfrm>
          <a:prstGeom prst="rect">
            <a:avLst/>
          </a:prstGeom>
          <a:noFill/>
        </p:spPr>
        <p:txBody>
          <a:bodyPr wrap="square" lIns="45720" tIns="27432" rIns="45720" bIns="27432" anchor="t">
            <a:spAutoFit/>
          </a:bodyPr>
          <a:lstStyle/>
          <a:p>
            <a:pPr algn="l"/>
            <a:r>
              <a:rPr sz="1400">
                <a:solidFill>
                  <a:srgbClr val="262626"/>
                </a:solidFill>
              </a:rPr>
              <a:t>The LLM decides the next step. Ask the registry? Open the guideline? Score the model?</a:t>
            </a:r>
          </a:p>
        </p:txBody>
      </p:sp>
      <p:sp>
        <p:nvSpPr>
          <p:cNvPr id="25" name="Oval 24"/>
          <p:cNvSpPr/>
          <p:nvPr/>
        </p:nvSpPr>
        <p:spPr>
          <a:xfrm>
            <a:off x="9555480" y="5586984"/>
            <a:ext cx="530352" cy="53035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play_w.png"/>
          <p:cNvPicPr>
            <a:picLocks noChangeAspect="1"/>
          </p:cNvPicPr>
          <p:nvPr/>
        </p:nvPicPr>
        <p:blipFill>
          <a:blip r:embed="rId4"/>
          <a:stretch>
            <a:fillRect/>
          </a:stretch>
        </p:blipFill>
        <p:spPr>
          <a:xfrm>
            <a:off x="9674809" y="5706313"/>
            <a:ext cx="291693" cy="291693"/>
          </a:xfrm>
          <a:prstGeom prst="rect">
            <a:avLst/>
          </a:prstGeom>
        </p:spPr>
      </p:pic>
      <p:sp>
        <p:nvSpPr>
          <p:cNvPr id="27" name="TextBox 26"/>
          <p:cNvSpPr txBox="1"/>
          <p:nvPr/>
        </p:nvSpPr>
        <p:spPr>
          <a:xfrm>
            <a:off x="10287000" y="5532120"/>
            <a:ext cx="6327648" cy="384048"/>
          </a:xfrm>
          <a:prstGeom prst="rect">
            <a:avLst/>
          </a:prstGeom>
          <a:noFill/>
        </p:spPr>
        <p:txBody>
          <a:bodyPr wrap="square" lIns="45720" tIns="27432" rIns="45720" bIns="27432" anchor="t">
            <a:spAutoFit/>
          </a:bodyPr>
          <a:lstStyle/>
          <a:p>
            <a:pPr algn="l"/>
            <a:r>
              <a:rPr sz="1600">
                <a:solidFill>
                  <a:srgbClr val="262626"/>
                </a:solidFill>
                <a:latin typeface="+mj-lt"/>
              </a:rPr>
              <a:t>Act</a:t>
            </a:r>
          </a:p>
        </p:txBody>
      </p:sp>
      <p:sp>
        <p:nvSpPr>
          <p:cNvPr id="28" name="TextBox 27"/>
          <p:cNvSpPr txBox="1"/>
          <p:nvPr/>
        </p:nvSpPr>
        <p:spPr>
          <a:xfrm>
            <a:off x="10287000" y="5897880"/>
            <a:ext cx="6327648" cy="603503"/>
          </a:xfrm>
          <a:prstGeom prst="rect">
            <a:avLst/>
          </a:prstGeom>
          <a:noFill/>
        </p:spPr>
        <p:txBody>
          <a:bodyPr wrap="square" lIns="45720" tIns="27432" rIns="45720" bIns="27432" anchor="t">
            <a:spAutoFit/>
          </a:bodyPr>
          <a:lstStyle/>
          <a:p>
            <a:pPr algn="l"/>
            <a:r>
              <a:rPr sz="1400">
                <a:solidFill>
                  <a:srgbClr val="262626"/>
                </a:solidFill>
              </a:rPr>
              <a:t>The runtime runs that step. The LLM itself never touches a system.</a:t>
            </a:r>
          </a:p>
        </p:txBody>
      </p:sp>
      <p:sp>
        <p:nvSpPr>
          <p:cNvPr id="29" name="Oval 28"/>
          <p:cNvSpPr/>
          <p:nvPr/>
        </p:nvSpPr>
        <p:spPr>
          <a:xfrm>
            <a:off x="9555480" y="6574536"/>
            <a:ext cx="530352" cy="53035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search_w.png"/>
          <p:cNvPicPr>
            <a:picLocks noChangeAspect="1"/>
          </p:cNvPicPr>
          <p:nvPr/>
        </p:nvPicPr>
        <p:blipFill>
          <a:blip r:embed="rId5"/>
          <a:stretch>
            <a:fillRect/>
          </a:stretch>
        </p:blipFill>
        <p:spPr>
          <a:xfrm>
            <a:off x="9674809" y="6693865"/>
            <a:ext cx="291693" cy="291693"/>
          </a:xfrm>
          <a:prstGeom prst="rect">
            <a:avLst/>
          </a:prstGeom>
        </p:spPr>
      </p:pic>
      <p:sp>
        <p:nvSpPr>
          <p:cNvPr id="31" name="TextBox 30"/>
          <p:cNvSpPr txBox="1"/>
          <p:nvPr/>
        </p:nvSpPr>
        <p:spPr>
          <a:xfrm>
            <a:off x="10287000" y="6519672"/>
            <a:ext cx="6327648" cy="384048"/>
          </a:xfrm>
          <a:prstGeom prst="rect">
            <a:avLst/>
          </a:prstGeom>
          <a:noFill/>
        </p:spPr>
        <p:txBody>
          <a:bodyPr wrap="square" lIns="45720" tIns="27432" rIns="45720" bIns="27432" anchor="t">
            <a:spAutoFit/>
          </a:bodyPr>
          <a:lstStyle/>
          <a:p>
            <a:pPr algn="l"/>
            <a:r>
              <a:rPr sz="1600">
                <a:solidFill>
                  <a:srgbClr val="262626"/>
                </a:solidFill>
                <a:latin typeface="+mj-lt"/>
              </a:rPr>
              <a:t>Observe</a:t>
            </a:r>
          </a:p>
        </p:txBody>
      </p:sp>
      <p:sp>
        <p:nvSpPr>
          <p:cNvPr id="32" name="TextBox 31"/>
          <p:cNvSpPr txBox="1"/>
          <p:nvPr/>
        </p:nvSpPr>
        <p:spPr>
          <a:xfrm>
            <a:off x="10287000" y="6885432"/>
            <a:ext cx="6327648" cy="603503"/>
          </a:xfrm>
          <a:prstGeom prst="rect">
            <a:avLst/>
          </a:prstGeom>
          <a:noFill/>
        </p:spPr>
        <p:txBody>
          <a:bodyPr wrap="square" lIns="45720" tIns="27432" rIns="45720" bIns="27432" anchor="t">
            <a:spAutoFit/>
          </a:bodyPr>
          <a:lstStyle/>
          <a:p>
            <a:pPr algn="l"/>
            <a:r>
              <a:rPr sz="1400">
                <a:solidFill>
                  <a:srgbClr val="262626"/>
                </a:solidFill>
              </a:rPr>
              <a:t>The result comes back, and the loop starts again.</a:t>
            </a:r>
          </a:p>
        </p:txBody>
      </p:sp>
      <p:cxnSp>
        <p:nvCxnSpPr>
          <p:cNvPr id="33" name="Connector 32"/>
          <p:cNvCxnSpPr/>
          <p:nvPr/>
        </p:nvCxnSpPr>
        <p:spPr>
          <a:xfrm>
            <a:off x="9555480" y="7726679"/>
            <a:ext cx="7059168" cy="0"/>
          </a:xfrm>
          <a:prstGeom prst="line">
            <a:avLst/>
          </a:prstGeom>
          <a:ln w="12700">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555480" y="7863840"/>
            <a:ext cx="7059168" cy="1005840"/>
          </a:xfrm>
          <a:prstGeom prst="rect">
            <a:avLst/>
          </a:prstGeom>
          <a:noFill/>
        </p:spPr>
        <p:txBody>
          <a:bodyPr wrap="square" lIns="45720" tIns="27432" rIns="45720" bIns="27432" anchor="ctr">
            <a:spAutoFit/>
          </a:bodyPr>
          <a:lstStyle/>
          <a:p>
            <a:pPr algn="l"/>
            <a:r>
              <a:rPr sz="1600">
                <a:solidFill>
                  <a:srgbClr val="032954"/>
                </a:solidFill>
              </a:rPr>
              <a:t>In one sentence: an agent chases a </a:t>
            </a:r>
            <a:r>
              <a:rPr sz="1600">
                <a:solidFill>
                  <a:srgbClr val="032954"/>
                </a:solidFill>
                <a:latin typeface="+mj-lt"/>
              </a:rPr>
              <a:t>goal</a:t>
            </a:r>
            <a:r>
              <a:rPr sz="1600">
                <a:solidFill>
                  <a:srgbClr val="032954"/>
                </a:solidFill>
              </a:rPr>
              <a:t>, uses </a:t>
            </a:r>
            <a:r>
              <a:rPr sz="1600">
                <a:solidFill>
                  <a:srgbClr val="032954"/>
                </a:solidFill>
                <a:latin typeface="+mj-lt"/>
              </a:rPr>
              <a:t>tools</a:t>
            </a:r>
            <a:r>
              <a:rPr sz="1600">
                <a:solidFill>
                  <a:srgbClr val="032954"/>
                </a:solidFill>
              </a:rPr>
              <a:t>, checks its own work, and stays inside the </a:t>
            </a:r>
            <a:r>
              <a:rPr sz="1600">
                <a:solidFill>
                  <a:srgbClr val="032954"/>
                </a:solidFill>
                <a:latin typeface="+mj-lt"/>
              </a:rPr>
              <a:t>lines we draw</a:t>
            </a:r>
            <a:r>
              <a:rPr sz="1600">
                <a:solidFill>
                  <a:srgbClr val="032954"/>
                </a:solidFill>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600"/>
              <a:t>Where agents fit in healthcare</a:t>
            </a:r>
          </a:p>
        </p:txBody>
      </p:sp>
      <p:sp>
        <p:nvSpPr>
          <p:cNvPr id="3" name="Text Placeholder 2"/>
          <p:cNvSpPr>
            <a:spLocks noGrp="1"/>
          </p:cNvSpPr>
          <p:nvPr>
            <p:ph type="body" idx="10" sz="quarter"/>
          </p:nvPr>
        </p:nvSpPr>
        <p:spPr/>
        <p:txBody>
          <a:bodyPr/>
          <a:lstStyle/>
          <a:p>
            <a:r>
              <a:rPr sz="3000"/>
              <a:t>Six places this already works. In every one, a person signs off.</a:t>
            </a:r>
          </a:p>
        </p:txBody>
      </p:sp>
      <p:sp>
        <p:nvSpPr>
          <p:cNvPr id="5" name="Rounded Rectangle 4"/>
          <p:cNvSpPr/>
          <p:nvPr/>
        </p:nvSpPr>
        <p:spPr>
          <a:xfrm>
            <a:off x="1252728" y="2697480"/>
            <a:ext cx="5013960" cy="3017520"/>
          </a:xfrm>
          <a:prstGeom prst="roundRect">
            <a:avLst>
              <a:gd name="adj" fmla="val 848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17904" y="2935224"/>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eart_w.png"/>
          <p:cNvPicPr>
            <a:picLocks noChangeAspect="1"/>
          </p:cNvPicPr>
          <p:nvPr/>
        </p:nvPicPr>
        <p:blipFill>
          <a:blip r:embed="rId2"/>
          <a:stretch>
            <a:fillRect/>
          </a:stretch>
        </p:blipFill>
        <p:spPr>
          <a:xfrm>
            <a:off x="1666036" y="3083356"/>
            <a:ext cx="362102" cy="362102"/>
          </a:xfrm>
          <a:prstGeom prst="rect">
            <a:avLst/>
          </a:prstGeom>
        </p:spPr>
      </p:pic>
      <p:sp>
        <p:nvSpPr>
          <p:cNvPr id="8" name="TextBox 7"/>
          <p:cNvSpPr txBox="1"/>
          <p:nvPr/>
        </p:nvSpPr>
        <p:spPr>
          <a:xfrm>
            <a:off x="2350008" y="3017520"/>
            <a:ext cx="2133599" cy="502920"/>
          </a:xfrm>
          <a:prstGeom prst="rect">
            <a:avLst/>
          </a:prstGeom>
          <a:noFill/>
        </p:spPr>
        <p:txBody>
          <a:bodyPr wrap="square" lIns="45720" tIns="27432" rIns="45720" bIns="27432" anchor="t">
            <a:spAutoFit/>
          </a:bodyPr>
          <a:lstStyle/>
          <a:p>
            <a:pPr algn="l"/>
            <a:r>
              <a:rPr sz="1900">
                <a:solidFill>
                  <a:srgbClr val="262626"/>
                </a:solidFill>
                <a:latin typeface="+mj-lt"/>
              </a:rPr>
              <a:t>Population health</a:t>
            </a:r>
          </a:p>
        </p:txBody>
      </p:sp>
      <p:sp>
        <p:nvSpPr>
          <p:cNvPr id="9" name="Rounded Rectangle 8"/>
          <p:cNvSpPr/>
          <p:nvPr/>
        </p:nvSpPr>
        <p:spPr>
          <a:xfrm>
            <a:off x="4483608" y="3063240"/>
            <a:ext cx="1508760" cy="420624"/>
          </a:xfrm>
          <a:prstGeom prst="roundRect">
            <a:avLst>
              <a:gd name="adj" fmla="val 50000"/>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200">
                <a:solidFill>
                  <a:srgbClr val="FFFFFF"/>
                </a:solidFill>
                <a:latin typeface="+mj-lt"/>
              </a:rPr>
              <a:t>Today's demo</a:t>
            </a:r>
          </a:p>
        </p:txBody>
      </p:sp>
      <p:sp>
        <p:nvSpPr>
          <p:cNvPr id="10" name="TextBox 9"/>
          <p:cNvSpPr txBox="1"/>
          <p:nvPr/>
        </p:nvSpPr>
        <p:spPr>
          <a:xfrm>
            <a:off x="1618488" y="3749039"/>
            <a:ext cx="4282440" cy="1325880"/>
          </a:xfrm>
          <a:prstGeom prst="rect">
            <a:avLst/>
          </a:prstGeom>
          <a:noFill/>
        </p:spPr>
        <p:txBody>
          <a:bodyPr wrap="square" lIns="45720" tIns="27432" rIns="45720" bIns="27432" anchor="t">
            <a:spAutoFit/>
          </a:bodyPr>
          <a:lstStyle/>
          <a:p>
            <a:pPr algn="l"/>
            <a:r>
              <a:rPr sz="1400">
                <a:solidFill>
                  <a:srgbClr val="262626"/>
                </a:solidFill>
              </a:rPr>
              <a:t>Who is slipping, where the care gaps are, and what the guideline says to do about it. A recall list with the evidence attached.</a:t>
            </a:r>
          </a:p>
        </p:txBody>
      </p:sp>
      <p:sp>
        <p:nvSpPr>
          <p:cNvPr id="11" name="TextBox 10"/>
          <p:cNvSpPr txBox="1"/>
          <p:nvPr/>
        </p:nvSpPr>
        <p:spPr>
          <a:xfrm>
            <a:off x="1618488" y="5029200"/>
            <a:ext cx="4282440" cy="457200"/>
          </a:xfrm>
          <a:prstGeom prst="rect">
            <a:avLst/>
          </a:prstGeom>
          <a:noFill/>
        </p:spPr>
        <p:txBody>
          <a:bodyPr wrap="square" lIns="45720" tIns="27432" rIns="45720" bIns="27432" anchor="b">
            <a:spAutoFit/>
          </a:bodyPr>
          <a:lstStyle/>
          <a:p>
            <a:pPr algn="l"/>
            <a:r>
              <a:rPr sz="1300">
                <a:solidFill>
                  <a:srgbClr val="0766D1"/>
                </a:solidFill>
                <a:latin typeface="+mj-lt"/>
              </a:rPr>
              <a:t>The programme lead approves the list.</a:t>
            </a:r>
          </a:p>
        </p:txBody>
      </p:sp>
      <p:sp>
        <p:nvSpPr>
          <p:cNvPr id="12" name="Rounded Rectangle 11"/>
          <p:cNvSpPr/>
          <p:nvPr/>
        </p:nvSpPr>
        <p:spPr>
          <a:xfrm>
            <a:off x="6632448" y="2697480"/>
            <a:ext cx="5013960" cy="3017520"/>
          </a:xfrm>
          <a:prstGeom prst="roundRect">
            <a:avLst>
              <a:gd name="adj" fmla="val 848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97624" y="2935224"/>
            <a:ext cx="658368" cy="65836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alendar_w.png"/>
          <p:cNvPicPr>
            <a:picLocks noChangeAspect="1"/>
          </p:cNvPicPr>
          <p:nvPr/>
        </p:nvPicPr>
        <p:blipFill>
          <a:blip r:embed="rId3"/>
          <a:stretch>
            <a:fillRect/>
          </a:stretch>
        </p:blipFill>
        <p:spPr>
          <a:xfrm>
            <a:off x="7045756" y="3083356"/>
            <a:ext cx="362102" cy="362102"/>
          </a:xfrm>
          <a:prstGeom prst="rect">
            <a:avLst/>
          </a:prstGeom>
        </p:spPr>
      </p:pic>
      <p:sp>
        <p:nvSpPr>
          <p:cNvPr id="15" name="TextBox 14"/>
          <p:cNvSpPr txBox="1"/>
          <p:nvPr/>
        </p:nvSpPr>
        <p:spPr>
          <a:xfrm>
            <a:off x="7729728" y="3017520"/>
            <a:ext cx="3688080" cy="502920"/>
          </a:xfrm>
          <a:prstGeom prst="rect">
            <a:avLst/>
          </a:prstGeom>
          <a:noFill/>
        </p:spPr>
        <p:txBody>
          <a:bodyPr wrap="square" lIns="45720" tIns="27432" rIns="45720" bIns="27432" anchor="t">
            <a:spAutoFit/>
          </a:bodyPr>
          <a:lstStyle/>
          <a:p>
            <a:pPr algn="l"/>
            <a:r>
              <a:rPr sz="1900">
                <a:solidFill>
                  <a:srgbClr val="262626"/>
                </a:solidFill>
                <a:latin typeface="+mj-lt"/>
              </a:rPr>
              <a:t>Outpatient no-shows</a:t>
            </a:r>
          </a:p>
        </p:txBody>
      </p:sp>
      <p:sp>
        <p:nvSpPr>
          <p:cNvPr id="16" name="TextBox 15"/>
          <p:cNvSpPr txBox="1"/>
          <p:nvPr/>
        </p:nvSpPr>
        <p:spPr>
          <a:xfrm>
            <a:off x="6998208" y="3749039"/>
            <a:ext cx="4282440" cy="1325880"/>
          </a:xfrm>
          <a:prstGeom prst="rect">
            <a:avLst/>
          </a:prstGeom>
          <a:noFill/>
        </p:spPr>
        <p:txBody>
          <a:bodyPr wrap="square" lIns="45720" tIns="27432" rIns="45720" bIns="27432" anchor="t">
            <a:spAutoFit/>
          </a:bodyPr>
          <a:lstStyle/>
          <a:p>
            <a:pPr algn="l"/>
            <a:r>
              <a:rPr sz="1400">
                <a:solidFill>
                  <a:srgbClr val="262626"/>
                </a:solidFill>
              </a:rPr>
              <a:t>Who is likely to miss tomorrow, a message to confirm or move the slot, and the freed slot offered to the waiting list.</a:t>
            </a:r>
          </a:p>
        </p:txBody>
      </p:sp>
      <p:sp>
        <p:nvSpPr>
          <p:cNvPr id="17" name="TextBox 16"/>
          <p:cNvSpPr txBox="1"/>
          <p:nvPr/>
        </p:nvSpPr>
        <p:spPr>
          <a:xfrm>
            <a:off x="6998208" y="5029200"/>
            <a:ext cx="4282440" cy="457200"/>
          </a:xfrm>
          <a:prstGeom prst="rect">
            <a:avLst/>
          </a:prstGeom>
          <a:noFill/>
        </p:spPr>
        <p:txBody>
          <a:bodyPr wrap="square" lIns="45720" tIns="27432" rIns="45720" bIns="27432" anchor="b">
            <a:spAutoFit/>
          </a:bodyPr>
          <a:lstStyle/>
          <a:p>
            <a:pPr algn="l"/>
            <a:r>
              <a:rPr sz="1300">
                <a:solidFill>
                  <a:srgbClr val="0766D1"/>
                </a:solidFill>
                <a:latin typeface="+mj-lt"/>
              </a:rPr>
              <a:t>The coordinator handles the exceptions.</a:t>
            </a:r>
          </a:p>
        </p:txBody>
      </p:sp>
      <p:sp>
        <p:nvSpPr>
          <p:cNvPr id="18" name="Rounded Rectangle 17"/>
          <p:cNvSpPr/>
          <p:nvPr/>
        </p:nvSpPr>
        <p:spPr>
          <a:xfrm>
            <a:off x="12012168" y="2697480"/>
            <a:ext cx="5013960" cy="3017520"/>
          </a:xfrm>
          <a:prstGeom prst="roundRect">
            <a:avLst>
              <a:gd name="adj" fmla="val 848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2277344" y="2935224"/>
            <a:ext cx="658368" cy="65836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lipboard_w.png"/>
          <p:cNvPicPr>
            <a:picLocks noChangeAspect="1"/>
          </p:cNvPicPr>
          <p:nvPr/>
        </p:nvPicPr>
        <p:blipFill>
          <a:blip r:embed="rId4"/>
          <a:stretch>
            <a:fillRect/>
          </a:stretch>
        </p:blipFill>
        <p:spPr>
          <a:xfrm>
            <a:off x="12425476" y="3083356"/>
            <a:ext cx="362102" cy="362102"/>
          </a:xfrm>
          <a:prstGeom prst="rect">
            <a:avLst/>
          </a:prstGeom>
        </p:spPr>
      </p:pic>
      <p:sp>
        <p:nvSpPr>
          <p:cNvPr id="21" name="TextBox 20"/>
          <p:cNvSpPr txBox="1"/>
          <p:nvPr/>
        </p:nvSpPr>
        <p:spPr>
          <a:xfrm>
            <a:off x="13109448" y="3017520"/>
            <a:ext cx="3688080" cy="502920"/>
          </a:xfrm>
          <a:prstGeom prst="rect">
            <a:avLst/>
          </a:prstGeom>
          <a:noFill/>
        </p:spPr>
        <p:txBody>
          <a:bodyPr wrap="square" lIns="45720" tIns="27432" rIns="45720" bIns="27432" anchor="t">
            <a:spAutoFit/>
          </a:bodyPr>
          <a:lstStyle/>
          <a:p>
            <a:pPr algn="l"/>
            <a:r>
              <a:rPr sz="1900">
                <a:solidFill>
                  <a:srgbClr val="262626"/>
                </a:solidFill>
                <a:latin typeface="+mj-lt"/>
              </a:rPr>
              <a:t>Coding and documentation</a:t>
            </a:r>
          </a:p>
        </p:txBody>
      </p:sp>
      <p:sp>
        <p:nvSpPr>
          <p:cNvPr id="22" name="TextBox 21"/>
          <p:cNvSpPr txBox="1"/>
          <p:nvPr/>
        </p:nvSpPr>
        <p:spPr>
          <a:xfrm>
            <a:off x="12377928" y="3749039"/>
            <a:ext cx="4282440" cy="1325880"/>
          </a:xfrm>
          <a:prstGeom prst="rect">
            <a:avLst/>
          </a:prstGeom>
          <a:noFill/>
        </p:spPr>
        <p:txBody>
          <a:bodyPr wrap="square" lIns="45720" tIns="27432" rIns="45720" bIns="27432" anchor="t">
            <a:spAutoFit/>
          </a:bodyPr>
          <a:lstStyle/>
          <a:p>
            <a:pPr algn="l"/>
            <a:r>
              <a:rPr sz="1400">
                <a:solidFill>
                  <a:srgbClr val="262626"/>
                </a:solidFill>
              </a:rPr>
              <a:t>Reads the discharge note and proposes the codes, with the sentences that support each one highlighted.</a:t>
            </a:r>
          </a:p>
        </p:txBody>
      </p:sp>
      <p:sp>
        <p:nvSpPr>
          <p:cNvPr id="23" name="TextBox 22"/>
          <p:cNvSpPr txBox="1"/>
          <p:nvPr/>
        </p:nvSpPr>
        <p:spPr>
          <a:xfrm>
            <a:off x="12377928" y="5029200"/>
            <a:ext cx="4282440" cy="457200"/>
          </a:xfrm>
          <a:prstGeom prst="rect">
            <a:avLst/>
          </a:prstGeom>
          <a:noFill/>
        </p:spPr>
        <p:txBody>
          <a:bodyPr wrap="square" lIns="45720" tIns="27432" rIns="45720" bIns="27432" anchor="b">
            <a:spAutoFit/>
          </a:bodyPr>
          <a:lstStyle/>
          <a:p>
            <a:pPr algn="l"/>
            <a:r>
              <a:rPr sz="1300">
                <a:solidFill>
                  <a:srgbClr val="0766D1"/>
                </a:solidFill>
                <a:latin typeface="+mj-lt"/>
              </a:rPr>
              <a:t>The coder signs off.</a:t>
            </a:r>
          </a:p>
        </p:txBody>
      </p:sp>
      <p:sp>
        <p:nvSpPr>
          <p:cNvPr id="24" name="Rounded Rectangle 23"/>
          <p:cNvSpPr/>
          <p:nvPr/>
        </p:nvSpPr>
        <p:spPr>
          <a:xfrm>
            <a:off x="1252728" y="6080760"/>
            <a:ext cx="5013960" cy="3017520"/>
          </a:xfrm>
          <a:prstGeom prst="roundRect">
            <a:avLst>
              <a:gd name="adj" fmla="val 848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517904" y="6318504"/>
            <a:ext cx="658368" cy="65836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hat_w.png"/>
          <p:cNvPicPr>
            <a:picLocks noChangeAspect="1"/>
          </p:cNvPicPr>
          <p:nvPr/>
        </p:nvPicPr>
        <p:blipFill>
          <a:blip r:embed="rId5"/>
          <a:stretch>
            <a:fillRect/>
          </a:stretch>
        </p:blipFill>
        <p:spPr>
          <a:xfrm>
            <a:off x="1666036" y="6466636"/>
            <a:ext cx="362102" cy="362102"/>
          </a:xfrm>
          <a:prstGeom prst="rect">
            <a:avLst/>
          </a:prstGeom>
        </p:spPr>
      </p:pic>
      <p:sp>
        <p:nvSpPr>
          <p:cNvPr id="27" name="TextBox 26"/>
          <p:cNvSpPr txBox="1"/>
          <p:nvPr/>
        </p:nvSpPr>
        <p:spPr>
          <a:xfrm>
            <a:off x="2350008" y="6400800"/>
            <a:ext cx="3688080" cy="502920"/>
          </a:xfrm>
          <a:prstGeom prst="rect">
            <a:avLst/>
          </a:prstGeom>
          <a:noFill/>
        </p:spPr>
        <p:txBody>
          <a:bodyPr wrap="square" lIns="45720" tIns="27432" rIns="45720" bIns="27432" anchor="t">
            <a:spAutoFit/>
          </a:bodyPr>
          <a:lstStyle/>
          <a:p>
            <a:pPr algn="l"/>
            <a:r>
              <a:rPr sz="1900">
                <a:solidFill>
                  <a:srgbClr val="262626"/>
                </a:solidFill>
                <a:latin typeface="+mj-lt"/>
              </a:rPr>
              <a:t>Patient enquiries</a:t>
            </a:r>
          </a:p>
        </p:txBody>
      </p:sp>
      <p:sp>
        <p:nvSpPr>
          <p:cNvPr id="28" name="TextBox 27"/>
          <p:cNvSpPr txBox="1"/>
          <p:nvPr/>
        </p:nvSpPr>
        <p:spPr>
          <a:xfrm>
            <a:off x="1618488" y="7132320"/>
            <a:ext cx="4282440" cy="1325880"/>
          </a:xfrm>
          <a:prstGeom prst="rect">
            <a:avLst/>
          </a:prstGeom>
          <a:noFill/>
        </p:spPr>
        <p:txBody>
          <a:bodyPr wrap="square" lIns="45720" tIns="27432" rIns="45720" bIns="27432" anchor="t">
            <a:spAutoFit/>
          </a:bodyPr>
          <a:lstStyle/>
          <a:p>
            <a:pPr algn="l"/>
            <a:r>
              <a:rPr sz="1400">
                <a:solidFill>
                  <a:srgbClr val="262626"/>
                </a:solidFill>
              </a:rPr>
              <a:t>Reads the message, sends it to the right department, drafts the reply in the patient's own language.</a:t>
            </a:r>
          </a:p>
        </p:txBody>
      </p:sp>
      <p:sp>
        <p:nvSpPr>
          <p:cNvPr id="29" name="TextBox 28"/>
          <p:cNvSpPr txBox="1"/>
          <p:nvPr/>
        </p:nvSpPr>
        <p:spPr>
          <a:xfrm>
            <a:off x="1618488" y="8412480"/>
            <a:ext cx="4282440" cy="457200"/>
          </a:xfrm>
          <a:prstGeom prst="rect">
            <a:avLst/>
          </a:prstGeom>
          <a:noFill/>
        </p:spPr>
        <p:txBody>
          <a:bodyPr wrap="square" lIns="45720" tIns="27432" rIns="45720" bIns="27432" anchor="b">
            <a:spAutoFit/>
          </a:bodyPr>
          <a:lstStyle/>
          <a:p>
            <a:pPr algn="l"/>
            <a:r>
              <a:rPr sz="1300">
                <a:solidFill>
                  <a:srgbClr val="0766D1"/>
                </a:solidFill>
                <a:latin typeface="+mj-lt"/>
              </a:rPr>
              <a:t>A person sends anything clinical.</a:t>
            </a:r>
          </a:p>
        </p:txBody>
      </p:sp>
      <p:sp>
        <p:nvSpPr>
          <p:cNvPr id="30" name="Rounded Rectangle 29"/>
          <p:cNvSpPr/>
          <p:nvPr/>
        </p:nvSpPr>
        <p:spPr>
          <a:xfrm>
            <a:off x="6632448" y="6080760"/>
            <a:ext cx="5013960" cy="3017520"/>
          </a:xfrm>
          <a:prstGeom prst="roundRect">
            <a:avLst>
              <a:gd name="adj" fmla="val 848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97624" y="6318504"/>
            <a:ext cx="658368" cy="65836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trend_w.png"/>
          <p:cNvPicPr>
            <a:picLocks noChangeAspect="1"/>
          </p:cNvPicPr>
          <p:nvPr/>
        </p:nvPicPr>
        <p:blipFill>
          <a:blip r:embed="rId6"/>
          <a:stretch>
            <a:fillRect/>
          </a:stretch>
        </p:blipFill>
        <p:spPr>
          <a:xfrm>
            <a:off x="7045756" y="6466636"/>
            <a:ext cx="362102" cy="362102"/>
          </a:xfrm>
          <a:prstGeom prst="rect">
            <a:avLst/>
          </a:prstGeom>
        </p:spPr>
      </p:pic>
      <p:sp>
        <p:nvSpPr>
          <p:cNvPr id="33" name="TextBox 32"/>
          <p:cNvSpPr txBox="1"/>
          <p:nvPr/>
        </p:nvSpPr>
        <p:spPr>
          <a:xfrm>
            <a:off x="7729728" y="6400800"/>
            <a:ext cx="3688080" cy="502920"/>
          </a:xfrm>
          <a:prstGeom prst="rect">
            <a:avLst/>
          </a:prstGeom>
          <a:noFill/>
        </p:spPr>
        <p:txBody>
          <a:bodyPr wrap="square" lIns="45720" tIns="27432" rIns="45720" bIns="27432" anchor="t">
            <a:spAutoFit/>
          </a:bodyPr>
          <a:lstStyle/>
          <a:p>
            <a:pPr algn="l"/>
            <a:r>
              <a:rPr sz="1900">
                <a:solidFill>
                  <a:srgbClr val="262626"/>
                </a:solidFill>
                <a:latin typeface="+mj-lt"/>
              </a:rPr>
              <a:t>Capacity and supply</a:t>
            </a:r>
          </a:p>
        </p:txBody>
      </p:sp>
      <p:sp>
        <p:nvSpPr>
          <p:cNvPr id="34" name="TextBox 33"/>
          <p:cNvSpPr txBox="1"/>
          <p:nvPr/>
        </p:nvSpPr>
        <p:spPr>
          <a:xfrm>
            <a:off x="6998208" y="7132320"/>
            <a:ext cx="4282440" cy="1325880"/>
          </a:xfrm>
          <a:prstGeom prst="rect">
            <a:avLst/>
          </a:prstGeom>
          <a:noFill/>
        </p:spPr>
        <p:txBody>
          <a:bodyPr wrap="square" lIns="45720" tIns="27432" rIns="45720" bIns="27432" anchor="t">
            <a:spAutoFit/>
          </a:bodyPr>
          <a:lstStyle/>
          <a:p>
            <a:pPr algn="l"/>
            <a:r>
              <a:rPr sz="1400">
                <a:solidFill>
                  <a:srgbClr val="262626"/>
                </a:solidFill>
              </a:rPr>
              <a:t>Next month's demand per facility, the wards under pressure, the stock that will run out first.</a:t>
            </a:r>
          </a:p>
        </p:txBody>
      </p:sp>
      <p:sp>
        <p:nvSpPr>
          <p:cNvPr id="35" name="TextBox 34"/>
          <p:cNvSpPr txBox="1"/>
          <p:nvPr/>
        </p:nvSpPr>
        <p:spPr>
          <a:xfrm>
            <a:off x="6998208" y="8412480"/>
            <a:ext cx="4282440" cy="457200"/>
          </a:xfrm>
          <a:prstGeom prst="rect">
            <a:avLst/>
          </a:prstGeom>
          <a:noFill/>
        </p:spPr>
        <p:txBody>
          <a:bodyPr wrap="square" lIns="45720" tIns="27432" rIns="45720" bIns="27432" anchor="b">
            <a:spAutoFit/>
          </a:bodyPr>
          <a:lstStyle/>
          <a:p>
            <a:pPr algn="l"/>
            <a:r>
              <a:rPr sz="1300">
                <a:solidFill>
                  <a:srgbClr val="0766D1"/>
                </a:solidFill>
                <a:latin typeface="+mj-lt"/>
              </a:rPr>
              <a:t>Operations decides the move.</a:t>
            </a:r>
          </a:p>
        </p:txBody>
      </p:sp>
      <p:sp>
        <p:nvSpPr>
          <p:cNvPr id="36" name="Rounded Rectangle 35"/>
          <p:cNvSpPr/>
          <p:nvPr/>
        </p:nvSpPr>
        <p:spPr>
          <a:xfrm>
            <a:off x="12012168" y="6080760"/>
            <a:ext cx="5013960" cy="3017520"/>
          </a:xfrm>
          <a:prstGeom prst="roundRect">
            <a:avLst>
              <a:gd name="adj" fmla="val 848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2277344" y="6318504"/>
            <a:ext cx="658368" cy="65836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badge_w.png"/>
          <p:cNvPicPr>
            <a:picLocks noChangeAspect="1"/>
          </p:cNvPicPr>
          <p:nvPr/>
        </p:nvPicPr>
        <p:blipFill>
          <a:blip r:embed="rId7"/>
          <a:stretch>
            <a:fillRect/>
          </a:stretch>
        </p:blipFill>
        <p:spPr>
          <a:xfrm>
            <a:off x="12425476" y="6466636"/>
            <a:ext cx="362102" cy="362102"/>
          </a:xfrm>
          <a:prstGeom prst="rect">
            <a:avLst/>
          </a:prstGeom>
        </p:spPr>
      </p:pic>
      <p:sp>
        <p:nvSpPr>
          <p:cNvPr id="39" name="TextBox 38"/>
          <p:cNvSpPr txBox="1"/>
          <p:nvPr/>
        </p:nvSpPr>
        <p:spPr>
          <a:xfrm>
            <a:off x="13109448" y="6400800"/>
            <a:ext cx="3688080" cy="502920"/>
          </a:xfrm>
          <a:prstGeom prst="rect">
            <a:avLst/>
          </a:prstGeom>
          <a:noFill/>
        </p:spPr>
        <p:txBody>
          <a:bodyPr wrap="square" lIns="45720" tIns="27432" rIns="45720" bIns="27432" anchor="t">
            <a:spAutoFit/>
          </a:bodyPr>
          <a:lstStyle/>
          <a:p>
            <a:pPr algn="l"/>
            <a:r>
              <a:rPr sz="1900">
                <a:solidFill>
                  <a:srgbClr val="262626"/>
                </a:solidFill>
                <a:latin typeface="+mj-lt"/>
              </a:rPr>
              <a:t>Quality and audit</a:t>
            </a:r>
          </a:p>
        </p:txBody>
      </p:sp>
      <p:sp>
        <p:nvSpPr>
          <p:cNvPr id="40" name="TextBox 39"/>
          <p:cNvSpPr txBox="1"/>
          <p:nvPr/>
        </p:nvSpPr>
        <p:spPr>
          <a:xfrm>
            <a:off x="12377928" y="7132320"/>
            <a:ext cx="4282440" cy="1325880"/>
          </a:xfrm>
          <a:prstGeom prst="rect">
            <a:avLst/>
          </a:prstGeom>
          <a:noFill/>
        </p:spPr>
        <p:txBody>
          <a:bodyPr wrap="square" lIns="45720" tIns="27432" rIns="45720" bIns="27432" anchor="t">
            <a:spAutoFit/>
          </a:bodyPr>
          <a:lstStyle/>
          <a:p>
            <a:pPr algn="l"/>
            <a:r>
              <a:rPr sz="1400">
                <a:solidFill>
                  <a:srgbClr val="262626"/>
                </a:solidFill>
              </a:rPr>
              <a:t>The measures, the drivers behind them, and a first draft of the report against the national standard.</a:t>
            </a:r>
          </a:p>
        </p:txBody>
      </p:sp>
      <p:sp>
        <p:nvSpPr>
          <p:cNvPr id="41" name="TextBox 40"/>
          <p:cNvSpPr txBox="1"/>
          <p:nvPr/>
        </p:nvSpPr>
        <p:spPr>
          <a:xfrm>
            <a:off x="12377928" y="8412480"/>
            <a:ext cx="4282440" cy="457200"/>
          </a:xfrm>
          <a:prstGeom prst="rect">
            <a:avLst/>
          </a:prstGeom>
          <a:noFill/>
        </p:spPr>
        <p:txBody>
          <a:bodyPr wrap="square" lIns="45720" tIns="27432" rIns="45720" bIns="27432" anchor="b">
            <a:spAutoFit/>
          </a:bodyPr>
          <a:lstStyle/>
          <a:p>
            <a:pPr algn="l"/>
            <a:r>
              <a:rPr sz="1300">
                <a:solidFill>
                  <a:srgbClr val="0766D1"/>
                </a:solidFill>
                <a:latin typeface="+mj-lt"/>
              </a:rPr>
              <a:t>The quality team reviews and publishes.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000"/>
              <a:t>The parts you need</a:t>
            </a:r>
          </a:p>
        </p:txBody>
      </p:sp>
      <p:sp>
        <p:nvSpPr>
          <p:cNvPr id="3" name="Text Placeholder 2"/>
          <p:cNvSpPr>
            <a:spLocks noGrp="1"/>
          </p:cNvSpPr>
          <p:nvPr>
            <p:ph type="body" idx="10" sz="quarter"/>
          </p:nvPr>
        </p:nvSpPr>
        <p:spPr/>
        <p:txBody>
          <a:bodyPr/>
          <a:lstStyle/>
          <a:p>
            <a:r>
              <a:rPr sz="3600"/>
              <a:t>LLM, RAG, MCP and your own models, in plain words</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ocks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600"/>
              <a:t>The LLM is only the middle</a:t>
            </a:r>
          </a:p>
        </p:txBody>
      </p:sp>
      <p:sp>
        <p:nvSpPr>
          <p:cNvPr id="3" name="Text Placeholder 2"/>
          <p:cNvSpPr>
            <a:spLocks noGrp="1"/>
          </p:cNvSpPr>
          <p:nvPr>
            <p:ph type="body" idx="10" sz="quarter"/>
          </p:nvPr>
        </p:nvSpPr>
        <p:spPr/>
        <p:txBody>
          <a:bodyPr/>
          <a:lstStyle/>
          <a:p>
            <a:r>
              <a:rPr sz="3000"/>
              <a:t>Four things around it turn a clever model into a useful, safe agent</a:t>
            </a:r>
          </a:p>
        </p:txBody>
      </p:sp>
      <p:cxnSp>
        <p:nvCxnSpPr>
          <p:cNvPr id="5" name="Connector 4"/>
          <p:cNvCxnSpPr/>
          <p:nvPr/>
        </p:nvCxnSpPr>
        <p:spPr>
          <a:xfrm>
            <a:off x="6922008" y="4000500"/>
            <a:ext cx="804671" cy="198882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252728" y="2834640"/>
            <a:ext cx="5669280" cy="2331720"/>
          </a:xfrm>
          <a:prstGeom prst="roundRect">
            <a:avLst>
              <a:gd name="adj" fmla="val 1098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18488" y="3497580"/>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les_w.png"/>
          <p:cNvPicPr>
            <a:picLocks noChangeAspect="1"/>
          </p:cNvPicPr>
          <p:nvPr/>
        </p:nvPicPr>
        <p:blipFill>
          <a:blip r:embed="rId2"/>
          <a:stretch>
            <a:fillRect/>
          </a:stretch>
        </p:blipFill>
        <p:spPr>
          <a:xfrm>
            <a:off x="1859889" y="3738981"/>
            <a:ext cx="523036" cy="523036"/>
          </a:xfrm>
          <a:prstGeom prst="rect">
            <a:avLst/>
          </a:prstGeom>
        </p:spPr>
      </p:pic>
      <p:sp>
        <p:nvSpPr>
          <p:cNvPr id="9" name="TextBox 8"/>
          <p:cNvSpPr txBox="1"/>
          <p:nvPr/>
        </p:nvSpPr>
        <p:spPr>
          <a:xfrm>
            <a:off x="2852928" y="3154680"/>
            <a:ext cx="3840480" cy="457200"/>
          </a:xfrm>
          <a:prstGeom prst="rect">
            <a:avLst/>
          </a:prstGeom>
          <a:noFill/>
        </p:spPr>
        <p:txBody>
          <a:bodyPr wrap="square" lIns="45720" tIns="27432" rIns="45720" bIns="27432" anchor="t">
            <a:spAutoFit/>
          </a:bodyPr>
          <a:lstStyle/>
          <a:p>
            <a:pPr algn="l"/>
            <a:r>
              <a:rPr sz="2100">
                <a:solidFill>
                  <a:srgbClr val="262626"/>
                </a:solidFill>
                <a:latin typeface="+mj-lt"/>
              </a:rPr>
              <a:t>Knowledge (RAG)</a:t>
            </a:r>
          </a:p>
        </p:txBody>
      </p:sp>
      <p:sp>
        <p:nvSpPr>
          <p:cNvPr id="10" name="TextBox 9"/>
          <p:cNvSpPr txBox="1"/>
          <p:nvPr/>
        </p:nvSpPr>
        <p:spPr>
          <a:xfrm>
            <a:off x="2852928" y="3703320"/>
            <a:ext cx="3840480" cy="1280160"/>
          </a:xfrm>
          <a:prstGeom prst="rect">
            <a:avLst/>
          </a:prstGeom>
          <a:noFill/>
        </p:spPr>
        <p:txBody>
          <a:bodyPr wrap="square" lIns="45720" tIns="27432" rIns="45720" bIns="27432" anchor="t">
            <a:spAutoFit/>
          </a:bodyPr>
          <a:lstStyle/>
          <a:p>
            <a:pPr algn="l"/>
            <a:r>
              <a:rPr sz="1500">
                <a:solidFill>
                  <a:srgbClr val="262626"/>
                </a:solidFill>
              </a:rPr>
              <a:t>Your own documents, pulled in when needed and quoted with the section number.</a:t>
            </a:r>
          </a:p>
        </p:txBody>
      </p:sp>
      <p:cxnSp>
        <p:nvCxnSpPr>
          <p:cNvPr id="11" name="Connector 10"/>
          <p:cNvCxnSpPr/>
          <p:nvPr/>
        </p:nvCxnSpPr>
        <p:spPr>
          <a:xfrm flipV="1">
            <a:off x="6922008" y="5989320"/>
            <a:ext cx="804671" cy="157734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52728" y="6400800"/>
            <a:ext cx="5669280" cy="2331720"/>
          </a:xfrm>
          <a:prstGeom prst="roundRect">
            <a:avLst>
              <a:gd name="adj" fmla="val 1098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18488" y="7063740"/>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pi_w.png"/>
          <p:cNvPicPr>
            <a:picLocks noChangeAspect="1"/>
          </p:cNvPicPr>
          <p:nvPr/>
        </p:nvPicPr>
        <p:blipFill>
          <a:blip r:embed="rId3"/>
          <a:stretch>
            <a:fillRect/>
          </a:stretch>
        </p:blipFill>
        <p:spPr>
          <a:xfrm>
            <a:off x="1859889" y="7305141"/>
            <a:ext cx="523036" cy="523036"/>
          </a:xfrm>
          <a:prstGeom prst="rect">
            <a:avLst/>
          </a:prstGeom>
        </p:spPr>
      </p:pic>
      <p:sp>
        <p:nvSpPr>
          <p:cNvPr id="15" name="TextBox 14"/>
          <p:cNvSpPr txBox="1"/>
          <p:nvPr/>
        </p:nvSpPr>
        <p:spPr>
          <a:xfrm>
            <a:off x="2852928" y="6720840"/>
            <a:ext cx="3840480" cy="457200"/>
          </a:xfrm>
          <a:prstGeom prst="rect">
            <a:avLst/>
          </a:prstGeom>
          <a:noFill/>
        </p:spPr>
        <p:txBody>
          <a:bodyPr wrap="square" lIns="45720" tIns="27432" rIns="45720" bIns="27432" anchor="t">
            <a:spAutoFit/>
          </a:bodyPr>
          <a:lstStyle/>
          <a:p>
            <a:pPr algn="l"/>
            <a:r>
              <a:rPr sz="2100">
                <a:solidFill>
                  <a:srgbClr val="262626"/>
                </a:solidFill>
                <a:latin typeface="+mj-lt"/>
              </a:rPr>
              <a:t>Tools (MCP)</a:t>
            </a:r>
          </a:p>
        </p:txBody>
      </p:sp>
      <p:sp>
        <p:nvSpPr>
          <p:cNvPr id="16" name="TextBox 15"/>
          <p:cNvSpPr txBox="1"/>
          <p:nvPr/>
        </p:nvSpPr>
        <p:spPr>
          <a:xfrm>
            <a:off x="2852928" y="7269480"/>
            <a:ext cx="3840480" cy="1280160"/>
          </a:xfrm>
          <a:prstGeom prst="rect">
            <a:avLst/>
          </a:prstGeom>
          <a:noFill/>
        </p:spPr>
        <p:txBody>
          <a:bodyPr wrap="square" lIns="45720" tIns="27432" rIns="45720" bIns="27432" anchor="t">
            <a:spAutoFit/>
          </a:bodyPr>
          <a:lstStyle/>
          <a:p>
            <a:pPr algn="l"/>
            <a:r>
              <a:rPr sz="1500">
                <a:solidFill>
                  <a:srgbClr val="262626"/>
                </a:solidFill>
              </a:rPr>
              <a:t>The plug that lets the agent query data, run a model or draw a chart, without touching anything directly.</a:t>
            </a:r>
          </a:p>
        </p:txBody>
      </p:sp>
      <p:cxnSp>
        <p:nvCxnSpPr>
          <p:cNvPr id="17" name="Connector 16"/>
          <p:cNvCxnSpPr/>
          <p:nvPr/>
        </p:nvCxnSpPr>
        <p:spPr>
          <a:xfrm flipH="1">
            <a:off x="10561320" y="4000500"/>
            <a:ext cx="795528" cy="198882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1356848" y="2834640"/>
            <a:ext cx="5669280" cy="2331720"/>
          </a:xfrm>
          <a:prstGeom prst="roundRect">
            <a:avLst>
              <a:gd name="adj" fmla="val 1098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22608" y="3497580"/>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odel_w.png"/>
          <p:cNvPicPr>
            <a:picLocks noChangeAspect="1"/>
          </p:cNvPicPr>
          <p:nvPr/>
        </p:nvPicPr>
        <p:blipFill>
          <a:blip r:embed="rId4"/>
          <a:stretch>
            <a:fillRect/>
          </a:stretch>
        </p:blipFill>
        <p:spPr>
          <a:xfrm>
            <a:off x="11964009" y="3738981"/>
            <a:ext cx="523036" cy="523036"/>
          </a:xfrm>
          <a:prstGeom prst="rect">
            <a:avLst/>
          </a:prstGeom>
        </p:spPr>
      </p:pic>
      <p:sp>
        <p:nvSpPr>
          <p:cNvPr id="21" name="TextBox 20"/>
          <p:cNvSpPr txBox="1"/>
          <p:nvPr/>
        </p:nvSpPr>
        <p:spPr>
          <a:xfrm>
            <a:off x="12957048" y="3154680"/>
            <a:ext cx="3840480" cy="457200"/>
          </a:xfrm>
          <a:prstGeom prst="rect">
            <a:avLst/>
          </a:prstGeom>
          <a:noFill/>
        </p:spPr>
        <p:txBody>
          <a:bodyPr wrap="square" lIns="45720" tIns="27432" rIns="45720" bIns="27432" anchor="t">
            <a:spAutoFit/>
          </a:bodyPr>
          <a:lstStyle/>
          <a:p>
            <a:pPr algn="l"/>
            <a:r>
              <a:rPr sz="2100">
                <a:solidFill>
                  <a:srgbClr val="262626"/>
                </a:solidFill>
                <a:latin typeface="+mj-lt"/>
              </a:rPr>
              <a:t>Your models and rules</a:t>
            </a:r>
          </a:p>
        </p:txBody>
      </p:sp>
      <p:sp>
        <p:nvSpPr>
          <p:cNvPr id="22" name="TextBox 21"/>
          <p:cNvSpPr txBox="1"/>
          <p:nvPr/>
        </p:nvSpPr>
        <p:spPr>
          <a:xfrm>
            <a:off x="12957048" y="3703320"/>
            <a:ext cx="3840480" cy="1280160"/>
          </a:xfrm>
          <a:prstGeom prst="rect">
            <a:avLst/>
          </a:prstGeom>
          <a:noFill/>
        </p:spPr>
        <p:txBody>
          <a:bodyPr wrap="square" lIns="45720" tIns="27432" rIns="45720" bIns="27432" anchor="t">
            <a:spAutoFit/>
          </a:bodyPr>
          <a:lstStyle/>
          <a:p>
            <a:pPr algn="l"/>
            <a:r>
              <a:rPr sz="1500">
                <a:solidFill>
                  <a:srgbClr val="262626"/>
                </a:solidFill>
              </a:rPr>
              <a:t>The risk model, the SQL, the decision rules you already trust. The agent calls them; it does not replace them.</a:t>
            </a:r>
          </a:p>
        </p:txBody>
      </p:sp>
      <p:cxnSp>
        <p:nvCxnSpPr>
          <p:cNvPr id="23" name="Connector 22"/>
          <p:cNvCxnSpPr/>
          <p:nvPr/>
        </p:nvCxnSpPr>
        <p:spPr>
          <a:xfrm flipH="1" flipV="1">
            <a:off x="10561320" y="5989320"/>
            <a:ext cx="795528" cy="157734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1356848" y="6400800"/>
            <a:ext cx="5669280" cy="2331720"/>
          </a:xfrm>
          <a:prstGeom prst="roundRect">
            <a:avLst>
              <a:gd name="adj" fmla="val 1098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722608" y="7063740"/>
            <a:ext cx="1005840" cy="100584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oversight_w.png"/>
          <p:cNvPicPr>
            <a:picLocks noChangeAspect="1"/>
          </p:cNvPicPr>
          <p:nvPr/>
        </p:nvPicPr>
        <p:blipFill>
          <a:blip r:embed="rId5"/>
          <a:stretch>
            <a:fillRect/>
          </a:stretch>
        </p:blipFill>
        <p:spPr>
          <a:xfrm>
            <a:off x="11964009" y="7305141"/>
            <a:ext cx="523036" cy="523036"/>
          </a:xfrm>
          <a:prstGeom prst="rect">
            <a:avLst/>
          </a:prstGeom>
        </p:spPr>
      </p:pic>
      <p:sp>
        <p:nvSpPr>
          <p:cNvPr id="27" name="TextBox 26"/>
          <p:cNvSpPr txBox="1"/>
          <p:nvPr/>
        </p:nvSpPr>
        <p:spPr>
          <a:xfrm>
            <a:off x="12957048" y="6720840"/>
            <a:ext cx="3840480" cy="457200"/>
          </a:xfrm>
          <a:prstGeom prst="rect">
            <a:avLst/>
          </a:prstGeom>
          <a:noFill/>
        </p:spPr>
        <p:txBody>
          <a:bodyPr wrap="square" lIns="45720" tIns="27432" rIns="45720" bIns="27432" anchor="t">
            <a:spAutoFit/>
          </a:bodyPr>
          <a:lstStyle/>
          <a:p>
            <a:pPr algn="l"/>
            <a:r>
              <a:rPr sz="2100">
                <a:solidFill>
                  <a:srgbClr val="262626"/>
                </a:solidFill>
                <a:latin typeface="+mj-lt"/>
              </a:rPr>
              <a:t>People</a:t>
            </a:r>
          </a:p>
        </p:txBody>
      </p:sp>
      <p:sp>
        <p:nvSpPr>
          <p:cNvPr id="28" name="TextBox 27"/>
          <p:cNvSpPr txBox="1"/>
          <p:nvPr/>
        </p:nvSpPr>
        <p:spPr>
          <a:xfrm>
            <a:off x="12957048" y="7269480"/>
            <a:ext cx="3840480" cy="1280160"/>
          </a:xfrm>
          <a:prstGeom prst="rect">
            <a:avLst/>
          </a:prstGeom>
          <a:noFill/>
        </p:spPr>
        <p:txBody>
          <a:bodyPr wrap="square" lIns="45720" tIns="27432" rIns="45720" bIns="27432" anchor="t">
            <a:spAutoFit/>
          </a:bodyPr>
          <a:lstStyle/>
          <a:p>
            <a:pPr algn="l"/>
            <a:r>
              <a:rPr sz="1500">
                <a:solidFill>
                  <a:srgbClr val="262626"/>
                </a:solidFill>
              </a:rPr>
              <a:t>The goal, the limits, the approvals. The agent drafts, you decide.</a:t>
            </a:r>
          </a:p>
        </p:txBody>
      </p:sp>
      <p:sp>
        <p:nvSpPr>
          <p:cNvPr id="29" name="Oval 28"/>
          <p:cNvSpPr/>
          <p:nvPr/>
        </p:nvSpPr>
        <p:spPr>
          <a:xfrm>
            <a:off x="7726679" y="4572000"/>
            <a:ext cx="2834640" cy="28346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886700" y="4732020"/>
            <a:ext cx="2514600" cy="2514600"/>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brain_w.png"/>
          <p:cNvPicPr>
            <a:picLocks noChangeAspect="1"/>
          </p:cNvPicPr>
          <p:nvPr/>
        </p:nvPicPr>
        <p:blipFill>
          <a:blip r:embed="rId6"/>
          <a:stretch>
            <a:fillRect/>
          </a:stretch>
        </p:blipFill>
        <p:spPr>
          <a:xfrm>
            <a:off x="8778240" y="5029200"/>
            <a:ext cx="731520" cy="731520"/>
          </a:xfrm>
          <a:prstGeom prst="rect">
            <a:avLst/>
          </a:prstGeom>
        </p:spPr>
      </p:pic>
      <p:sp>
        <p:nvSpPr>
          <p:cNvPr id="32" name="TextBox 31"/>
          <p:cNvSpPr txBox="1"/>
          <p:nvPr/>
        </p:nvSpPr>
        <p:spPr>
          <a:xfrm>
            <a:off x="7955279" y="5806440"/>
            <a:ext cx="2377440" cy="1097280"/>
          </a:xfrm>
          <a:prstGeom prst="rect">
            <a:avLst/>
          </a:prstGeom>
          <a:noFill/>
        </p:spPr>
        <p:txBody>
          <a:bodyPr wrap="square" lIns="45720" tIns="27432" rIns="45720" bIns="27432" anchor="t">
            <a:spAutoFit/>
          </a:bodyPr>
          <a:lstStyle/>
          <a:p>
            <a:pPr algn="ctr"/>
            <a:r>
              <a:rPr sz="2200">
                <a:solidFill>
                  <a:srgbClr val="FFFFFF"/>
                </a:solidFill>
                <a:latin typeface="+mj-lt"/>
              </a:rPr>
              <a:t>LLM</a:t>
            </a:r>
          </a:p>
          <a:p>
            <a:pPr algn="ctr"/>
            <a:r>
              <a:rPr sz="1300">
                <a:solidFill>
                  <a:srgbClr val="FFFFFF"/>
                </a:solidFill>
                <a:latin typeface="+mj-lt"/>
              </a:rPr>
              <a:t>thinks, plans, writes</a:t>
            </a:r>
          </a:p>
        </p:txBody>
      </p:sp>
      <p:sp>
        <p:nvSpPr>
          <p:cNvPr id="33" name="TextBox 32"/>
          <p:cNvSpPr txBox="1"/>
          <p:nvPr/>
        </p:nvSpPr>
        <p:spPr>
          <a:xfrm>
            <a:off x="1252728" y="9006840"/>
            <a:ext cx="15773400" cy="365760"/>
          </a:xfrm>
          <a:prstGeom prst="rect">
            <a:avLst/>
          </a:prstGeom>
          <a:noFill/>
        </p:spPr>
        <p:txBody>
          <a:bodyPr wrap="square" lIns="45720" tIns="27432" rIns="45720" bIns="27432" anchor="t">
            <a:spAutoFit/>
          </a:bodyPr>
          <a:lstStyle/>
          <a:p>
            <a:pPr algn="l"/>
            <a:r>
              <a:rPr sz="1300">
                <a:solidFill>
                  <a:srgbClr val="7E889A"/>
                </a:solidFill>
              </a:rPr>
              <a:t>The LLM never touches your data or your systems. The parts around it do. One slide on each, next.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600"/>
              <a:t>Why the LLM alone is not enough</a:t>
            </a:r>
          </a:p>
        </p:txBody>
      </p:sp>
      <p:sp>
        <p:nvSpPr>
          <p:cNvPr id="3" name="Text Placeholder 2"/>
          <p:cNvSpPr>
            <a:spLocks noGrp="1"/>
          </p:cNvSpPr>
          <p:nvPr>
            <p:ph type="body" idx="10" sz="quarter"/>
          </p:nvPr>
        </p:nvSpPr>
        <p:spPr/>
        <p:txBody>
          <a:bodyPr/>
          <a:lstStyle/>
          <a:p>
            <a:r>
              <a:rPr sz="3000"/>
              <a:t>Brilliant with language. Blind to your data.</a:t>
            </a:r>
          </a:p>
        </p:txBody>
      </p:sp>
      <p:sp>
        <p:nvSpPr>
          <p:cNvPr id="5" name="Rounded Rectangle 4"/>
          <p:cNvSpPr/>
          <p:nvPr/>
        </p:nvSpPr>
        <p:spPr>
          <a:xfrm>
            <a:off x="1252728" y="2743200"/>
            <a:ext cx="7680960" cy="4937760"/>
          </a:xfrm>
          <a:prstGeom prst="roundRect">
            <a:avLst>
              <a:gd name="adj" fmla="val 518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27048" y="2971800"/>
            <a:ext cx="731520" cy="731520"/>
          </a:xfrm>
          <a:prstGeom prst="ellipse">
            <a:avLst/>
          </a:prstGeom>
          <a:solidFill>
            <a:srgbClr val="009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w.png"/>
          <p:cNvPicPr>
            <a:picLocks noChangeAspect="1"/>
          </p:cNvPicPr>
          <p:nvPr/>
        </p:nvPicPr>
        <p:blipFill>
          <a:blip r:embed="rId2"/>
          <a:stretch>
            <a:fillRect/>
          </a:stretch>
        </p:blipFill>
        <p:spPr>
          <a:xfrm>
            <a:off x="1709928" y="3154679"/>
            <a:ext cx="365760" cy="365760"/>
          </a:xfrm>
          <a:prstGeom prst="rect">
            <a:avLst/>
          </a:prstGeom>
        </p:spPr>
      </p:pic>
      <p:sp>
        <p:nvSpPr>
          <p:cNvPr id="8" name="TextBox 7"/>
          <p:cNvSpPr txBox="1"/>
          <p:nvPr/>
        </p:nvSpPr>
        <p:spPr>
          <a:xfrm>
            <a:off x="2395728" y="3108960"/>
            <a:ext cx="6309360" cy="457200"/>
          </a:xfrm>
          <a:prstGeom prst="rect">
            <a:avLst/>
          </a:prstGeom>
          <a:noFill/>
        </p:spPr>
        <p:txBody>
          <a:bodyPr wrap="square" lIns="45720" tIns="27432" rIns="45720" bIns="27432" anchor="t">
            <a:spAutoFit/>
          </a:bodyPr>
          <a:lstStyle/>
          <a:p>
            <a:pPr algn="l"/>
            <a:r>
              <a:rPr sz="2000">
                <a:solidFill>
                  <a:srgbClr val="262626"/>
                </a:solidFill>
                <a:latin typeface="+mj-lt"/>
              </a:rPr>
              <a:t>What it does well</a:t>
            </a:r>
          </a:p>
        </p:txBody>
      </p:sp>
      <p:sp>
        <p:nvSpPr>
          <p:cNvPr id="9" name="TextBox 8"/>
          <p:cNvSpPr txBox="1"/>
          <p:nvPr/>
        </p:nvSpPr>
        <p:spPr>
          <a:xfrm>
            <a:off x="1664208" y="4114800"/>
            <a:ext cx="6858000" cy="3200400"/>
          </a:xfrm>
          <a:prstGeom prst="rect">
            <a:avLst/>
          </a:prstGeom>
          <a:noFill/>
        </p:spPr>
        <p:txBody>
          <a:bodyPr wrap="square" lIns="45720" tIns="27432" rIns="45720" bIns="27432" anchor="t">
            <a:spAutoFit/>
          </a:bodyPr>
          <a:lstStyle/>
          <a:p>
            <a:pPr algn="l" marL="237744" indent="-237744">
              <a:spcAft>
                <a:spcPts val="1600"/>
              </a:spcAft>
              <a:buClr>
                <a:srgbClr val="0766D1"/>
              </a:buClr>
              <a:buFont typeface="Arial"/>
              <a:buChar char="•"/>
            </a:pPr>
            <a:r>
              <a:rPr sz="2000">
                <a:solidFill>
                  <a:srgbClr val="262626"/>
                </a:solidFill>
              </a:rPr>
              <a:t>Understands the question, in English or Arabic</a:t>
            </a:r>
          </a:p>
          <a:p>
            <a:pPr algn="l" marL="237744" indent="-237744">
              <a:spcAft>
                <a:spcPts val="1600"/>
              </a:spcAft>
              <a:buClr>
                <a:srgbClr val="0766D1"/>
              </a:buClr>
              <a:buFont typeface="Arial"/>
              <a:buChar char="•"/>
            </a:pPr>
            <a:r>
              <a:rPr sz="2000">
                <a:solidFill>
                  <a:srgbClr val="262626"/>
                </a:solidFill>
              </a:rPr>
              <a:t>Breaks a task into steps and picks the right tool for each</a:t>
            </a:r>
          </a:p>
          <a:p>
            <a:pPr algn="l" marL="237744" indent="-237744">
              <a:spcAft>
                <a:spcPts val="1600"/>
              </a:spcAft>
              <a:buClr>
                <a:srgbClr val="0766D1"/>
              </a:buClr>
              <a:buFont typeface="Arial"/>
              <a:buChar char="•"/>
            </a:pPr>
            <a:r>
              <a:rPr sz="2000">
                <a:solidFill>
                  <a:srgbClr val="262626"/>
                </a:solidFill>
              </a:rPr>
              <a:t>Reads a passage and summarises it without inventing</a:t>
            </a:r>
          </a:p>
          <a:p>
            <a:pPr algn="l" marL="237744" indent="-237744">
              <a:spcAft>
                <a:spcPts val="1600"/>
              </a:spcAft>
              <a:buClr>
                <a:srgbClr val="0766D1"/>
              </a:buClr>
              <a:buFont typeface="Arial"/>
              <a:buChar char="•"/>
            </a:pPr>
            <a:r>
              <a:rPr sz="2000">
                <a:solidFill>
                  <a:srgbClr val="262626"/>
                </a:solidFill>
              </a:rPr>
              <a:t>Writes a clear answer, cohort and all</a:t>
            </a:r>
          </a:p>
        </p:txBody>
      </p:sp>
      <p:sp>
        <p:nvSpPr>
          <p:cNvPr id="10" name="TextBox 9"/>
          <p:cNvSpPr txBox="1"/>
          <p:nvPr/>
        </p:nvSpPr>
        <p:spPr>
          <a:xfrm>
            <a:off x="1664208" y="6720840"/>
            <a:ext cx="6858000" cy="777240"/>
          </a:xfrm>
          <a:prstGeom prst="rect">
            <a:avLst/>
          </a:prstGeom>
          <a:noFill/>
        </p:spPr>
        <p:txBody>
          <a:bodyPr wrap="square" lIns="45720" tIns="27432" rIns="45720" bIns="27432" anchor="b">
            <a:spAutoFit/>
          </a:bodyPr>
          <a:lstStyle/>
          <a:p>
            <a:pPr algn="l"/>
            <a:r>
              <a:rPr sz="1400">
                <a:solidFill>
                  <a:srgbClr val="0766D1"/>
                </a:solidFill>
                <a:latin typeface="+mj-lt"/>
              </a:rPr>
              <a:t>In the demo it chooses the SQL tool for counts and the collection for targets.</a:t>
            </a:r>
          </a:p>
        </p:txBody>
      </p:sp>
      <p:sp>
        <p:nvSpPr>
          <p:cNvPr id="11" name="Rounded Rectangle 10"/>
          <p:cNvSpPr/>
          <p:nvPr/>
        </p:nvSpPr>
        <p:spPr>
          <a:xfrm>
            <a:off x="9345167" y="2743200"/>
            <a:ext cx="7680960" cy="4937760"/>
          </a:xfrm>
          <a:prstGeom prst="roundRect">
            <a:avLst>
              <a:gd name="adj" fmla="val 5185"/>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19487" y="2971800"/>
            <a:ext cx="731520" cy="7315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x_w.png"/>
          <p:cNvPicPr>
            <a:picLocks noChangeAspect="1"/>
          </p:cNvPicPr>
          <p:nvPr/>
        </p:nvPicPr>
        <p:blipFill>
          <a:blip r:embed="rId3"/>
          <a:stretch>
            <a:fillRect/>
          </a:stretch>
        </p:blipFill>
        <p:spPr>
          <a:xfrm>
            <a:off x="9802367" y="3154679"/>
            <a:ext cx="365760" cy="365760"/>
          </a:xfrm>
          <a:prstGeom prst="rect">
            <a:avLst/>
          </a:prstGeom>
        </p:spPr>
      </p:pic>
      <p:sp>
        <p:nvSpPr>
          <p:cNvPr id="14" name="TextBox 13"/>
          <p:cNvSpPr txBox="1"/>
          <p:nvPr/>
        </p:nvSpPr>
        <p:spPr>
          <a:xfrm>
            <a:off x="10488167" y="3108960"/>
            <a:ext cx="6309360" cy="457200"/>
          </a:xfrm>
          <a:prstGeom prst="rect">
            <a:avLst/>
          </a:prstGeom>
          <a:noFill/>
        </p:spPr>
        <p:txBody>
          <a:bodyPr wrap="square" lIns="45720" tIns="27432" rIns="45720" bIns="27432" anchor="t">
            <a:spAutoFit/>
          </a:bodyPr>
          <a:lstStyle/>
          <a:p>
            <a:pPr algn="l"/>
            <a:r>
              <a:rPr sz="2000">
                <a:solidFill>
                  <a:srgbClr val="262626"/>
                </a:solidFill>
                <a:latin typeface="+mj-lt"/>
              </a:rPr>
              <a:t>What it cannot do on its own</a:t>
            </a:r>
          </a:p>
        </p:txBody>
      </p:sp>
      <p:sp>
        <p:nvSpPr>
          <p:cNvPr id="15" name="TextBox 14"/>
          <p:cNvSpPr txBox="1"/>
          <p:nvPr/>
        </p:nvSpPr>
        <p:spPr>
          <a:xfrm>
            <a:off x="9756647" y="4114800"/>
            <a:ext cx="6858000" cy="3200400"/>
          </a:xfrm>
          <a:prstGeom prst="rect">
            <a:avLst/>
          </a:prstGeom>
          <a:noFill/>
        </p:spPr>
        <p:txBody>
          <a:bodyPr wrap="square" lIns="45720" tIns="27432" rIns="45720" bIns="27432" anchor="t">
            <a:spAutoFit/>
          </a:bodyPr>
          <a:lstStyle/>
          <a:p>
            <a:pPr algn="l" marL="237744" indent="-237744">
              <a:spcAft>
                <a:spcPts val="1600"/>
              </a:spcAft>
              <a:buClr>
                <a:srgbClr val="C00000"/>
              </a:buClr>
              <a:buFont typeface="Arial"/>
              <a:buChar char="•"/>
            </a:pPr>
            <a:r>
              <a:rPr sz="2000">
                <a:solidFill>
                  <a:srgbClr val="262626"/>
                </a:solidFill>
              </a:rPr>
              <a:t>Know how many of your patients are uncontrolled today</a:t>
            </a:r>
          </a:p>
          <a:p>
            <a:pPr algn="l" marL="237744" indent="-237744">
              <a:spcAft>
                <a:spcPts val="1600"/>
              </a:spcAft>
              <a:buClr>
                <a:srgbClr val="C00000"/>
              </a:buClr>
              <a:buFont typeface="Arial"/>
              <a:buChar char="•"/>
            </a:pPr>
            <a:r>
              <a:rPr sz="2000">
                <a:solidFill>
                  <a:srgbClr val="262626"/>
                </a:solidFill>
              </a:rPr>
              <a:t>Know what the national guideline says in section 4</a:t>
            </a:r>
          </a:p>
          <a:p>
            <a:pPr algn="l" marL="237744" indent="-237744">
              <a:spcAft>
                <a:spcPts val="1600"/>
              </a:spcAft>
              <a:buClr>
                <a:srgbClr val="C00000"/>
              </a:buClr>
              <a:buFont typeface="Arial"/>
              <a:buChar char="•"/>
            </a:pPr>
            <a:r>
              <a:rPr sz="2000">
                <a:solidFill>
                  <a:srgbClr val="262626"/>
                </a:solidFill>
              </a:rPr>
              <a:t>Count reliably across 4,000 rows</a:t>
            </a:r>
          </a:p>
          <a:p>
            <a:pPr algn="l" marL="237744" indent="-237744">
              <a:spcAft>
                <a:spcPts val="1600"/>
              </a:spcAft>
              <a:buClr>
                <a:srgbClr val="C00000"/>
              </a:buClr>
              <a:buFont typeface="Arial"/>
              <a:buChar char="•"/>
            </a:pPr>
            <a:r>
              <a:rPr sz="2000">
                <a:solidFill>
                  <a:srgbClr val="262626"/>
                </a:solidFill>
              </a:rPr>
              <a:t>Run anything. It can only propose.</a:t>
            </a:r>
          </a:p>
        </p:txBody>
      </p:sp>
      <p:sp>
        <p:nvSpPr>
          <p:cNvPr id="16" name="TextBox 15"/>
          <p:cNvSpPr txBox="1"/>
          <p:nvPr/>
        </p:nvSpPr>
        <p:spPr>
          <a:xfrm>
            <a:off x="9756647" y="6720840"/>
            <a:ext cx="6858000" cy="777240"/>
          </a:xfrm>
          <a:prstGeom prst="rect">
            <a:avLst/>
          </a:prstGeom>
          <a:noFill/>
        </p:spPr>
        <p:txBody>
          <a:bodyPr wrap="square" lIns="45720" tIns="27432" rIns="45720" bIns="27432" anchor="b">
            <a:spAutoFit/>
          </a:bodyPr>
          <a:lstStyle/>
          <a:p>
            <a:pPr algn="l"/>
            <a:r>
              <a:rPr sz="1400">
                <a:solidFill>
                  <a:srgbClr val="0766D1"/>
                </a:solidFill>
                <a:latin typeface="+mj-lt"/>
              </a:rPr>
              <a:t>In the demo every number is a query that ran, and every target has a section number.</a:t>
            </a:r>
          </a:p>
        </p:txBody>
      </p:sp>
      <p:sp>
        <p:nvSpPr>
          <p:cNvPr id="17" name="TextBox 16"/>
          <p:cNvSpPr txBox="1"/>
          <p:nvPr/>
        </p:nvSpPr>
        <p:spPr>
          <a:xfrm>
            <a:off x="1252728" y="8092440"/>
            <a:ext cx="15773400" cy="457200"/>
          </a:xfrm>
          <a:prstGeom prst="rect">
            <a:avLst/>
          </a:prstGeom>
          <a:noFill/>
        </p:spPr>
        <p:txBody>
          <a:bodyPr wrap="square" lIns="45720" tIns="27432" rIns="45720" bIns="27432" anchor="t">
            <a:spAutoFit/>
          </a:bodyPr>
          <a:lstStyle/>
          <a:p>
            <a:pPr algn="l"/>
            <a:r>
              <a:rPr sz="1400">
                <a:solidFill>
                  <a:srgbClr val="7E889A"/>
                </a:solidFill>
              </a:rPr>
              <a:t>So we surround it. RAG for the quotes, tools and models for the numbers, people for the decisions.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600"/>
              <a:t>RAG in one picture</a:t>
            </a:r>
          </a:p>
        </p:txBody>
      </p:sp>
      <p:sp>
        <p:nvSpPr>
          <p:cNvPr id="3" name="Text Placeholder 2"/>
          <p:cNvSpPr>
            <a:spLocks noGrp="1"/>
          </p:cNvSpPr>
          <p:nvPr>
            <p:ph type="body" idx="10" sz="quarter"/>
          </p:nvPr>
        </p:nvSpPr>
        <p:spPr/>
        <p:txBody>
          <a:bodyPr/>
          <a:lstStyle/>
          <a:p>
            <a:r>
              <a:rPr sz="3000"/>
              <a:t>How the agent answers from your documents instead of from memory</a:t>
            </a:r>
          </a:p>
        </p:txBody>
      </p:sp>
      <p:sp>
        <p:nvSpPr>
          <p:cNvPr id="5" name="Rounded Rectangle 4"/>
          <p:cNvSpPr/>
          <p:nvPr/>
        </p:nvSpPr>
        <p:spPr>
          <a:xfrm>
            <a:off x="1252728" y="2926080"/>
            <a:ext cx="15773400" cy="3017520"/>
          </a:xfrm>
          <a:prstGeom prst="roundRect">
            <a:avLst>
              <a:gd name="adj" fmla="val 9090"/>
            </a:avLst>
          </a:prstGeom>
          <a:solidFill>
            <a:srgbClr val="E4E7EA"/>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664208" y="2651760"/>
            <a:ext cx="5120640"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Once, when you build the knowledge base</a:t>
            </a:r>
          </a:p>
        </p:txBody>
      </p:sp>
      <p:sp>
        <p:nvSpPr>
          <p:cNvPr id="7" name="Rounded Rectangle 6"/>
          <p:cNvSpPr/>
          <p:nvPr/>
        </p:nvSpPr>
        <p:spPr>
          <a:xfrm>
            <a:off x="1664208" y="3383280"/>
            <a:ext cx="3312414" cy="2286000"/>
          </a:xfrm>
          <a:prstGeom prst="roundRect">
            <a:avLst>
              <a:gd name="adj" fmla="val 112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920240" y="3602736"/>
            <a:ext cx="621792" cy="62179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les_w.png"/>
          <p:cNvPicPr>
            <a:picLocks noChangeAspect="1"/>
          </p:cNvPicPr>
          <p:nvPr/>
        </p:nvPicPr>
        <p:blipFill>
          <a:blip r:embed="rId2"/>
          <a:stretch>
            <a:fillRect/>
          </a:stretch>
        </p:blipFill>
        <p:spPr>
          <a:xfrm>
            <a:off x="2060143" y="3742639"/>
            <a:ext cx="341985" cy="341985"/>
          </a:xfrm>
          <a:prstGeom prst="rect">
            <a:avLst/>
          </a:prstGeom>
        </p:spPr>
      </p:pic>
      <p:sp>
        <p:nvSpPr>
          <p:cNvPr id="10" name="TextBox 9"/>
          <p:cNvSpPr txBox="1"/>
          <p:nvPr/>
        </p:nvSpPr>
        <p:spPr>
          <a:xfrm>
            <a:off x="2670048" y="3657600"/>
            <a:ext cx="2123694" cy="548640"/>
          </a:xfrm>
          <a:prstGeom prst="rect">
            <a:avLst/>
          </a:prstGeom>
          <a:noFill/>
        </p:spPr>
        <p:txBody>
          <a:bodyPr wrap="square" lIns="45720" tIns="27432" rIns="45720" bIns="27432" anchor="t">
            <a:spAutoFit/>
          </a:bodyPr>
          <a:lstStyle/>
          <a:p>
            <a:pPr algn="l"/>
            <a:r>
              <a:rPr sz="1600">
                <a:solidFill>
                  <a:srgbClr val="262626"/>
                </a:solidFill>
                <a:latin typeface="+mj-lt"/>
              </a:rPr>
              <a:t>Documents</a:t>
            </a:r>
          </a:p>
        </p:txBody>
      </p:sp>
      <p:sp>
        <p:nvSpPr>
          <p:cNvPr id="11" name="TextBox 10"/>
          <p:cNvSpPr txBox="1"/>
          <p:nvPr/>
        </p:nvSpPr>
        <p:spPr>
          <a:xfrm>
            <a:off x="1938528" y="4343400"/>
            <a:ext cx="2763774" cy="1234440"/>
          </a:xfrm>
          <a:prstGeom prst="rect">
            <a:avLst/>
          </a:prstGeom>
          <a:noFill/>
        </p:spPr>
        <p:txBody>
          <a:bodyPr wrap="square" lIns="45720" tIns="27432" rIns="45720" bIns="27432" anchor="t">
            <a:spAutoFit/>
          </a:bodyPr>
          <a:lstStyle/>
          <a:p>
            <a:pPr algn="l"/>
            <a:r>
              <a:rPr sz="1300">
                <a:solidFill>
                  <a:srgbClr val="262626"/>
                </a:solidFill>
              </a:rPr>
              <a:t>The four NHA guidelines as PDFs. Diabetes, lipids, hypertension, screening and recall.</a:t>
            </a:r>
          </a:p>
        </p:txBody>
      </p:sp>
      <p:sp>
        <p:nvSpPr>
          <p:cNvPr id="12" name="Right Arrow 11"/>
          <p:cNvSpPr/>
          <p:nvPr/>
        </p:nvSpPr>
        <p:spPr>
          <a:xfrm>
            <a:off x="5068062" y="4343400"/>
            <a:ext cx="384048" cy="365760"/>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543550" y="3383280"/>
            <a:ext cx="3312414" cy="2286000"/>
          </a:xfrm>
          <a:prstGeom prst="roundRect">
            <a:avLst>
              <a:gd name="adj" fmla="val 112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799582" y="3602736"/>
            <a:ext cx="621792" cy="62179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plit_w.png"/>
          <p:cNvPicPr>
            <a:picLocks noChangeAspect="1"/>
          </p:cNvPicPr>
          <p:nvPr/>
        </p:nvPicPr>
        <p:blipFill>
          <a:blip r:embed="rId3"/>
          <a:stretch>
            <a:fillRect/>
          </a:stretch>
        </p:blipFill>
        <p:spPr>
          <a:xfrm>
            <a:off x="5939485" y="3742639"/>
            <a:ext cx="341985" cy="341985"/>
          </a:xfrm>
          <a:prstGeom prst="rect">
            <a:avLst/>
          </a:prstGeom>
        </p:spPr>
      </p:pic>
      <p:sp>
        <p:nvSpPr>
          <p:cNvPr id="16" name="TextBox 15"/>
          <p:cNvSpPr txBox="1"/>
          <p:nvPr/>
        </p:nvSpPr>
        <p:spPr>
          <a:xfrm>
            <a:off x="6549390" y="3657600"/>
            <a:ext cx="2123694" cy="548640"/>
          </a:xfrm>
          <a:prstGeom prst="rect">
            <a:avLst/>
          </a:prstGeom>
          <a:noFill/>
        </p:spPr>
        <p:txBody>
          <a:bodyPr wrap="square" lIns="45720" tIns="27432" rIns="45720" bIns="27432" anchor="t">
            <a:spAutoFit/>
          </a:bodyPr>
          <a:lstStyle/>
          <a:p>
            <a:pPr algn="l"/>
            <a:r>
              <a:rPr sz="1600">
                <a:solidFill>
                  <a:srgbClr val="262626"/>
                </a:solidFill>
                <a:latin typeface="+mj-lt"/>
              </a:rPr>
              <a:t>Chunk</a:t>
            </a:r>
          </a:p>
        </p:txBody>
      </p:sp>
      <p:sp>
        <p:nvSpPr>
          <p:cNvPr id="17" name="TextBox 16"/>
          <p:cNvSpPr txBox="1"/>
          <p:nvPr/>
        </p:nvSpPr>
        <p:spPr>
          <a:xfrm>
            <a:off x="5817870" y="4343400"/>
            <a:ext cx="2763774" cy="1234440"/>
          </a:xfrm>
          <a:prstGeom prst="rect">
            <a:avLst/>
          </a:prstGeom>
          <a:noFill/>
        </p:spPr>
        <p:txBody>
          <a:bodyPr wrap="square" lIns="45720" tIns="27432" rIns="45720" bIns="27432" anchor="t">
            <a:spAutoFit/>
          </a:bodyPr>
          <a:lstStyle/>
          <a:p>
            <a:pPr algn="l"/>
            <a:r>
              <a:rPr sz="1300">
                <a:solidFill>
                  <a:srgbClr val="262626"/>
                </a:solidFill>
              </a:rPr>
              <a:t>Cut into passages of a few hundred characters, with overlap, so a section stays in one piece.</a:t>
            </a:r>
          </a:p>
        </p:txBody>
      </p:sp>
      <p:sp>
        <p:nvSpPr>
          <p:cNvPr id="18" name="Right Arrow 17"/>
          <p:cNvSpPr/>
          <p:nvPr/>
        </p:nvSpPr>
        <p:spPr>
          <a:xfrm>
            <a:off x="8947404" y="4343400"/>
            <a:ext cx="384048" cy="365760"/>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422892" y="3383280"/>
            <a:ext cx="3312414" cy="2286000"/>
          </a:xfrm>
          <a:prstGeom prst="roundRect">
            <a:avLst>
              <a:gd name="adj" fmla="val 112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678924" y="3602736"/>
            <a:ext cx="621792" cy="62179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mbed_w.png"/>
          <p:cNvPicPr>
            <a:picLocks noChangeAspect="1"/>
          </p:cNvPicPr>
          <p:nvPr/>
        </p:nvPicPr>
        <p:blipFill>
          <a:blip r:embed="rId4"/>
          <a:stretch>
            <a:fillRect/>
          </a:stretch>
        </p:blipFill>
        <p:spPr>
          <a:xfrm>
            <a:off x="9818827" y="3742639"/>
            <a:ext cx="341985" cy="341985"/>
          </a:xfrm>
          <a:prstGeom prst="rect">
            <a:avLst/>
          </a:prstGeom>
        </p:spPr>
      </p:pic>
      <p:sp>
        <p:nvSpPr>
          <p:cNvPr id="22" name="TextBox 21"/>
          <p:cNvSpPr txBox="1"/>
          <p:nvPr/>
        </p:nvSpPr>
        <p:spPr>
          <a:xfrm>
            <a:off x="10428732" y="3657600"/>
            <a:ext cx="2123694" cy="548640"/>
          </a:xfrm>
          <a:prstGeom prst="rect">
            <a:avLst/>
          </a:prstGeom>
          <a:noFill/>
        </p:spPr>
        <p:txBody>
          <a:bodyPr wrap="square" lIns="45720" tIns="27432" rIns="45720" bIns="27432" anchor="t">
            <a:spAutoFit/>
          </a:bodyPr>
          <a:lstStyle/>
          <a:p>
            <a:pPr algn="l"/>
            <a:r>
              <a:rPr sz="1600">
                <a:solidFill>
                  <a:srgbClr val="262626"/>
                </a:solidFill>
                <a:latin typeface="+mj-lt"/>
              </a:rPr>
              <a:t>Embed</a:t>
            </a:r>
          </a:p>
        </p:txBody>
      </p:sp>
      <p:sp>
        <p:nvSpPr>
          <p:cNvPr id="23" name="TextBox 22"/>
          <p:cNvSpPr txBox="1"/>
          <p:nvPr/>
        </p:nvSpPr>
        <p:spPr>
          <a:xfrm>
            <a:off x="9697212" y="4343400"/>
            <a:ext cx="2763774" cy="1234440"/>
          </a:xfrm>
          <a:prstGeom prst="rect">
            <a:avLst/>
          </a:prstGeom>
          <a:noFill/>
        </p:spPr>
        <p:txBody>
          <a:bodyPr wrap="square" lIns="45720" tIns="27432" rIns="45720" bIns="27432" anchor="t">
            <a:spAutoFit/>
          </a:bodyPr>
          <a:lstStyle/>
          <a:p>
            <a:pPr algn="l"/>
            <a:r>
              <a:rPr sz="1300">
                <a:solidFill>
                  <a:srgbClr val="262626"/>
                </a:solidFill>
              </a:rPr>
              <a:t>Each passage becomes a vector, a numeric fingerprint of what it means.</a:t>
            </a:r>
          </a:p>
        </p:txBody>
      </p:sp>
      <p:sp>
        <p:nvSpPr>
          <p:cNvPr id="24" name="Right Arrow 23"/>
          <p:cNvSpPr/>
          <p:nvPr/>
        </p:nvSpPr>
        <p:spPr>
          <a:xfrm>
            <a:off x="12826746" y="4343400"/>
            <a:ext cx="384048" cy="365760"/>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3302234" y="3383280"/>
            <a:ext cx="3312414" cy="2286000"/>
          </a:xfrm>
          <a:prstGeom prst="roundRect">
            <a:avLst>
              <a:gd name="adj" fmla="val 112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558266" y="3602736"/>
            <a:ext cx="621792" cy="62179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vector_w.png"/>
          <p:cNvPicPr>
            <a:picLocks noChangeAspect="1"/>
          </p:cNvPicPr>
          <p:nvPr/>
        </p:nvPicPr>
        <p:blipFill>
          <a:blip r:embed="rId5"/>
          <a:stretch>
            <a:fillRect/>
          </a:stretch>
        </p:blipFill>
        <p:spPr>
          <a:xfrm>
            <a:off x="13698169" y="3742639"/>
            <a:ext cx="341985" cy="341985"/>
          </a:xfrm>
          <a:prstGeom prst="rect">
            <a:avLst/>
          </a:prstGeom>
        </p:spPr>
      </p:pic>
      <p:sp>
        <p:nvSpPr>
          <p:cNvPr id="28" name="TextBox 27"/>
          <p:cNvSpPr txBox="1"/>
          <p:nvPr/>
        </p:nvSpPr>
        <p:spPr>
          <a:xfrm>
            <a:off x="14308074" y="3657600"/>
            <a:ext cx="2123694" cy="548640"/>
          </a:xfrm>
          <a:prstGeom prst="rect">
            <a:avLst/>
          </a:prstGeom>
          <a:noFill/>
        </p:spPr>
        <p:txBody>
          <a:bodyPr wrap="square" lIns="45720" tIns="27432" rIns="45720" bIns="27432" anchor="t">
            <a:spAutoFit/>
          </a:bodyPr>
          <a:lstStyle/>
          <a:p>
            <a:pPr algn="l"/>
            <a:r>
              <a:rPr sz="1600">
                <a:solidFill>
                  <a:srgbClr val="262626"/>
                </a:solidFill>
                <a:latin typeface="+mj-lt"/>
              </a:rPr>
              <a:t>Store</a:t>
            </a:r>
          </a:p>
        </p:txBody>
      </p:sp>
      <p:sp>
        <p:nvSpPr>
          <p:cNvPr id="29" name="TextBox 28"/>
          <p:cNvSpPr txBox="1"/>
          <p:nvPr/>
        </p:nvSpPr>
        <p:spPr>
          <a:xfrm>
            <a:off x="13576554" y="4343400"/>
            <a:ext cx="2763774" cy="1234440"/>
          </a:xfrm>
          <a:prstGeom prst="rect">
            <a:avLst/>
          </a:prstGeom>
          <a:noFill/>
        </p:spPr>
        <p:txBody>
          <a:bodyPr wrap="square" lIns="45720" tIns="27432" rIns="45720" bIns="27432" anchor="t">
            <a:spAutoFit/>
          </a:bodyPr>
          <a:lstStyle/>
          <a:p>
            <a:pPr algn="l"/>
            <a:r>
              <a:rPr sz="1300">
                <a:solidFill>
                  <a:srgbClr val="262626"/>
                </a:solidFill>
              </a:rPr>
              <a:t>The vectors are kept so a passage can be found by meaning, not by keyword.</a:t>
            </a:r>
          </a:p>
        </p:txBody>
      </p:sp>
      <p:sp>
        <p:nvSpPr>
          <p:cNvPr id="30" name="Rounded Rectangle 29"/>
          <p:cNvSpPr/>
          <p:nvPr/>
        </p:nvSpPr>
        <p:spPr>
          <a:xfrm>
            <a:off x="1252728" y="6263640"/>
            <a:ext cx="15773400" cy="3017520"/>
          </a:xfrm>
          <a:prstGeom prst="roundRect">
            <a:avLst>
              <a:gd name="adj" fmla="val 9090"/>
            </a:avLst>
          </a:prstGeom>
          <a:solidFill>
            <a:srgbClr val="E4E7EA"/>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664208" y="5989320"/>
            <a:ext cx="5120640"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Every time someone asks a question</a:t>
            </a:r>
          </a:p>
        </p:txBody>
      </p:sp>
      <p:sp>
        <p:nvSpPr>
          <p:cNvPr id="32" name="Rounded Rectangle 31"/>
          <p:cNvSpPr/>
          <p:nvPr/>
        </p:nvSpPr>
        <p:spPr>
          <a:xfrm>
            <a:off x="1664208" y="6720840"/>
            <a:ext cx="3312414" cy="2286000"/>
          </a:xfrm>
          <a:prstGeom prst="roundRect">
            <a:avLst>
              <a:gd name="adj" fmla="val 112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920240" y="6940296"/>
            <a:ext cx="621792" cy="62179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question_w.png"/>
          <p:cNvPicPr>
            <a:picLocks noChangeAspect="1"/>
          </p:cNvPicPr>
          <p:nvPr/>
        </p:nvPicPr>
        <p:blipFill>
          <a:blip r:embed="rId6"/>
          <a:stretch>
            <a:fillRect/>
          </a:stretch>
        </p:blipFill>
        <p:spPr>
          <a:xfrm>
            <a:off x="2060143" y="7080199"/>
            <a:ext cx="341985" cy="341985"/>
          </a:xfrm>
          <a:prstGeom prst="rect">
            <a:avLst/>
          </a:prstGeom>
        </p:spPr>
      </p:pic>
      <p:sp>
        <p:nvSpPr>
          <p:cNvPr id="35" name="TextBox 34"/>
          <p:cNvSpPr txBox="1"/>
          <p:nvPr/>
        </p:nvSpPr>
        <p:spPr>
          <a:xfrm>
            <a:off x="2670048" y="6995159"/>
            <a:ext cx="2123694" cy="548640"/>
          </a:xfrm>
          <a:prstGeom prst="rect">
            <a:avLst/>
          </a:prstGeom>
          <a:noFill/>
        </p:spPr>
        <p:txBody>
          <a:bodyPr wrap="square" lIns="45720" tIns="27432" rIns="45720" bIns="27432" anchor="t">
            <a:spAutoFit/>
          </a:bodyPr>
          <a:lstStyle/>
          <a:p>
            <a:pPr algn="l"/>
            <a:r>
              <a:rPr sz="1600">
                <a:solidFill>
                  <a:srgbClr val="262626"/>
                </a:solidFill>
                <a:latin typeface="+mj-lt"/>
              </a:rPr>
              <a:t>Question</a:t>
            </a:r>
          </a:p>
        </p:txBody>
      </p:sp>
      <p:sp>
        <p:nvSpPr>
          <p:cNvPr id="36" name="TextBox 35"/>
          <p:cNvSpPr txBox="1"/>
          <p:nvPr/>
        </p:nvSpPr>
        <p:spPr>
          <a:xfrm>
            <a:off x="1938528" y="7680960"/>
            <a:ext cx="2763774" cy="1234440"/>
          </a:xfrm>
          <a:prstGeom prst="rect">
            <a:avLst/>
          </a:prstGeom>
          <a:noFill/>
        </p:spPr>
        <p:txBody>
          <a:bodyPr wrap="square" lIns="45720" tIns="27432" rIns="45720" bIns="27432" anchor="t">
            <a:spAutoFit/>
          </a:bodyPr>
          <a:lstStyle/>
          <a:p>
            <a:pPr algn="l"/>
            <a:r>
              <a:rPr sz="1300">
                <a:solidFill>
                  <a:srgbClr val="262626"/>
                </a:solidFill>
              </a:rPr>
              <a:t>“What is the LDL target for a very-high-risk patient?”</a:t>
            </a:r>
          </a:p>
        </p:txBody>
      </p:sp>
      <p:sp>
        <p:nvSpPr>
          <p:cNvPr id="37" name="Right Arrow 36"/>
          <p:cNvSpPr/>
          <p:nvPr/>
        </p:nvSpPr>
        <p:spPr>
          <a:xfrm>
            <a:off x="5068062" y="7680960"/>
            <a:ext cx="384048" cy="365760"/>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543550" y="6720840"/>
            <a:ext cx="3312414" cy="2286000"/>
          </a:xfrm>
          <a:prstGeom prst="roundRect">
            <a:avLst>
              <a:gd name="adj" fmla="val 112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799582" y="6940296"/>
            <a:ext cx="621792" cy="62179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search_w.png"/>
          <p:cNvPicPr>
            <a:picLocks noChangeAspect="1"/>
          </p:cNvPicPr>
          <p:nvPr/>
        </p:nvPicPr>
        <p:blipFill>
          <a:blip r:embed="rId7"/>
          <a:stretch>
            <a:fillRect/>
          </a:stretch>
        </p:blipFill>
        <p:spPr>
          <a:xfrm>
            <a:off x="5939485" y="7080199"/>
            <a:ext cx="341985" cy="341985"/>
          </a:xfrm>
          <a:prstGeom prst="rect">
            <a:avLst/>
          </a:prstGeom>
        </p:spPr>
      </p:pic>
      <p:sp>
        <p:nvSpPr>
          <p:cNvPr id="41" name="TextBox 40"/>
          <p:cNvSpPr txBox="1"/>
          <p:nvPr/>
        </p:nvSpPr>
        <p:spPr>
          <a:xfrm>
            <a:off x="6549390" y="6995159"/>
            <a:ext cx="2123694" cy="548640"/>
          </a:xfrm>
          <a:prstGeom prst="rect">
            <a:avLst/>
          </a:prstGeom>
          <a:noFill/>
        </p:spPr>
        <p:txBody>
          <a:bodyPr wrap="square" lIns="45720" tIns="27432" rIns="45720" bIns="27432" anchor="t">
            <a:spAutoFit/>
          </a:bodyPr>
          <a:lstStyle/>
          <a:p>
            <a:pPr algn="l"/>
            <a:r>
              <a:rPr sz="1600">
                <a:solidFill>
                  <a:srgbClr val="262626"/>
                </a:solidFill>
                <a:latin typeface="+mj-lt"/>
              </a:rPr>
              <a:t>Retrieve</a:t>
            </a:r>
          </a:p>
        </p:txBody>
      </p:sp>
      <p:sp>
        <p:nvSpPr>
          <p:cNvPr id="42" name="TextBox 41"/>
          <p:cNvSpPr txBox="1"/>
          <p:nvPr/>
        </p:nvSpPr>
        <p:spPr>
          <a:xfrm>
            <a:off x="5817870" y="7680960"/>
            <a:ext cx="2763774" cy="1234440"/>
          </a:xfrm>
          <a:prstGeom prst="rect">
            <a:avLst/>
          </a:prstGeom>
          <a:noFill/>
        </p:spPr>
        <p:txBody>
          <a:bodyPr wrap="square" lIns="45720" tIns="27432" rIns="45720" bIns="27432" anchor="t">
            <a:spAutoFit/>
          </a:bodyPr>
          <a:lstStyle/>
          <a:p>
            <a:pPr algn="l"/>
            <a:r>
              <a:rPr sz="1300">
                <a:solidFill>
                  <a:srgbClr val="262626"/>
                </a:solidFill>
              </a:rPr>
              <a:t>The question gets its own fingerprint. The four to six closest passages come back.</a:t>
            </a:r>
          </a:p>
        </p:txBody>
      </p:sp>
      <p:sp>
        <p:nvSpPr>
          <p:cNvPr id="43" name="Right Arrow 42"/>
          <p:cNvSpPr/>
          <p:nvPr/>
        </p:nvSpPr>
        <p:spPr>
          <a:xfrm>
            <a:off x="8947404" y="7680960"/>
            <a:ext cx="384048" cy="365760"/>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422892" y="6720840"/>
            <a:ext cx="3312414" cy="2286000"/>
          </a:xfrm>
          <a:prstGeom prst="roundRect">
            <a:avLst>
              <a:gd name="adj" fmla="val 112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678924" y="6940296"/>
            <a:ext cx="621792" cy="62179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brain_w.png"/>
          <p:cNvPicPr>
            <a:picLocks noChangeAspect="1"/>
          </p:cNvPicPr>
          <p:nvPr/>
        </p:nvPicPr>
        <p:blipFill>
          <a:blip r:embed="rId8"/>
          <a:stretch>
            <a:fillRect/>
          </a:stretch>
        </p:blipFill>
        <p:spPr>
          <a:xfrm>
            <a:off x="9818827" y="7080199"/>
            <a:ext cx="341985" cy="341985"/>
          </a:xfrm>
          <a:prstGeom prst="rect">
            <a:avLst/>
          </a:prstGeom>
        </p:spPr>
      </p:pic>
      <p:sp>
        <p:nvSpPr>
          <p:cNvPr id="47" name="TextBox 46"/>
          <p:cNvSpPr txBox="1"/>
          <p:nvPr/>
        </p:nvSpPr>
        <p:spPr>
          <a:xfrm>
            <a:off x="10428732" y="6995159"/>
            <a:ext cx="2123694" cy="548640"/>
          </a:xfrm>
          <a:prstGeom prst="rect">
            <a:avLst/>
          </a:prstGeom>
          <a:noFill/>
        </p:spPr>
        <p:txBody>
          <a:bodyPr wrap="square" lIns="45720" tIns="27432" rIns="45720" bIns="27432" anchor="t">
            <a:spAutoFit/>
          </a:bodyPr>
          <a:lstStyle/>
          <a:p>
            <a:pPr algn="l"/>
            <a:r>
              <a:rPr sz="1600">
                <a:solidFill>
                  <a:srgbClr val="262626"/>
                </a:solidFill>
                <a:latin typeface="+mj-lt"/>
              </a:rPr>
              <a:t>Write</a:t>
            </a:r>
          </a:p>
        </p:txBody>
      </p:sp>
      <p:sp>
        <p:nvSpPr>
          <p:cNvPr id="48" name="TextBox 47"/>
          <p:cNvSpPr txBox="1"/>
          <p:nvPr/>
        </p:nvSpPr>
        <p:spPr>
          <a:xfrm>
            <a:off x="9697212" y="7680960"/>
            <a:ext cx="2763774" cy="1234440"/>
          </a:xfrm>
          <a:prstGeom prst="rect">
            <a:avLst/>
          </a:prstGeom>
          <a:noFill/>
        </p:spPr>
        <p:txBody>
          <a:bodyPr wrap="square" lIns="45720" tIns="27432" rIns="45720" bIns="27432" anchor="t">
            <a:spAutoFit/>
          </a:bodyPr>
          <a:lstStyle/>
          <a:p>
            <a:pPr algn="l"/>
            <a:r>
              <a:rPr sz="1300">
                <a:solidFill>
                  <a:srgbClr val="262626"/>
                </a:solidFill>
              </a:rPr>
              <a:t>The LLM writes from those passages and nothing else.</a:t>
            </a:r>
          </a:p>
        </p:txBody>
      </p:sp>
      <p:sp>
        <p:nvSpPr>
          <p:cNvPr id="49" name="Right Arrow 48"/>
          <p:cNvSpPr/>
          <p:nvPr/>
        </p:nvSpPr>
        <p:spPr>
          <a:xfrm>
            <a:off x="12826746" y="7680960"/>
            <a:ext cx="384048" cy="365760"/>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3302234" y="6720840"/>
            <a:ext cx="3312414" cy="2286000"/>
          </a:xfrm>
          <a:prstGeom prst="roundRect">
            <a:avLst>
              <a:gd name="adj" fmla="val 112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3558266" y="6940296"/>
            <a:ext cx="621792" cy="62179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cite_w.png"/>
          <p:cNvPicPr>
            <a:picLocks noChangeAspect="1"/>
          </p:cNvPicPr>
          <p:nvPr/>
        </p:nvPicPr>
        <p:blipFill>
          <a:blip r:embed="rId9"/>
          <a:stretch>
            <a:fillRect/>
          </a:stretch>
        </p:blipFill>
        <p:spPr>
          <a:xfrm>
            <a:off x="13698169" y="7080199"/>
            <a:ext cx="341985" cy="341985"/>
          </a:xfrm>
          <a:prstGeom prst="rect">
            <a:avLst/>
          </a:prstGeom>
        </p:spPr>
      </p:pic>
      <p:sp>
        <p:nvSpPr>
          <p:cNvPr id="53" name="TextBox 52"/>
          <p:cNvSpPr txBox="1"/>
          <p:nvPr/>
        </p:nvSpPr>
        <p:spPr>
          <a:xfrm>
            <a:off x="14308074" y="6995159"/>
            <a:ext cx="2123694" cy="548640"/>
          </a:xfrm>
          <a:prstGeom prst="rect">
            <a:avLst/>
          </a:prstGeom>
          <a:noFill/>
        </p:spPr>
        <p:txBody>
          <a:bodyPr wrap="square" lIns="45720" tIns="27432" rIns="45720" bIns="27432" anchor="t">
            <a:spAutoFit/>
          </a:bodyPr>
          <a:lstStyle/>
          <a:p>
            <a:pPr algn="l"/>
            <a:r>
              <a:rPr sz="1600">
                <a:solidFill>
                  <a:srgbClr val="262626"/>
                </a:solidFill>
                <a:latin typeface="+mj-lt"/>
              </a:rPr>
              <a:t>Cited answer</a:t>
            </a:r>
          </a:p>
        </p:txBody>
      </p:sp>
      <p:sp>
        <p:nvSpPr>
          <p:cNvPr id="54" name="TextBox 53"/>
          <p:cNvSpPr txBox="1"/>
          <p:nvPr/>
        </p:nvSpPr>
        <p:spPr>
          <a:xfrm>
            <a:off x="13576554" y="7680960"/>
            <a:ext cx="2763774" cy="1234440"/>
          </a:xfrm>
          <a:prstGeom prst="rect">
            <a:avLst/>
          </a:prstGeom>
          <a:noFill/>
        </p:spPr>
        <p:txBody>
          <a:bodyPr wrap="square" lIns="45720" tIns="27432" rIns="45720" bIns="27432" anchor="t">
            <a:spAutoFit/>
          </a:bodyPr>
          <a:lstStyle/>
          <a:p>
            <a:pPr algn="l"/>
            <a:r>
              <a:rPr sz="1300">
                <a:solidFill>
                  <a:srgbClr val="262626"/>
                </a:solidFill>
              </a:rPr>
              <a:t>“Below 1.4 mmol/L, NHA-CG-02 §3.” And if the documents are silent, it says so.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000"/>
              <a:t>MCP: how the agent reaches your systems</a:t>
            </a:r>
          </a:p>
        </p:txBody>
      </p:sp>
      <p:sp>
        <p:nvSpPr>
          <p:cNvPr id="3" name="Text Placeholder 2"/>
          <p:cNvSpPr>
            <a:spLocks noGrp="1"/>
          </p:cNvSpPr>
          <p:nvPr>
            <p:ph type="body" idx="10" sz="quarter"/>
          </p:nvPr>
        </p:nvSpPr>
        <p:spPr/>
        <p:txBody>
          <a:bodyPr/>
          <a:lstStyle/>
          <a:p>
            <a:r>
              <a:rPr sz="3000"/>
              <a:t>One standard plug. The agent asks, the server does the work, everything is written down.</a:t>
            </a:r>
          </a:p>
        </p:txBody>
      </p:sp>
      <p:sp>
        <p:nvSpPr>
          <p:cNvPr id="5" name="Rounded Rectangle 4"/>
          <p:cNvSpPr/>
          <p:nvPr/>
        </p:nvSpPr>
        <p:spPr>
          <a:xfrm>
            <a:off x="1252728" y="3017520"/>
            <a:ext cx="4206240" cy="5577840"/>
          </a:xfrm>
          <a:prstGeom prst="roundRect">
            <a:avLst>
              <a:gd name="adj" fmla="val 608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30068" y="2491739"/>
            <a:ext cx="1051560" cy="105156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bot_w.png"/>
          <p:cNvPicPr>
            <a:picLocks noChangeAspect="1"/>
          </p:cNvPicPr>
          <p:nvPr/>
        </p:nvPicPr>
        <p:blipFill>
          <a:blip r:embed="rId2"/>
          <a:stretch>
            <a:fillRect/>
          </a:stretch>
        </p:blipFill>
        <p:spPr>
          <a:xfrm>
            <a:off x="3082442" y="2744114"/>
            <a:ext cx="546811" cy="546811"/>
          </a:xfrm>
          <a:prstGeom prst="rect">
            <a:avLst/>
          </a:prstGeom>
        </p:spPr>
      </p:pic>
      <p:sp>
        <p:nvSpPr>
          <p:cNvPr id="8" name="TextBox 7"/>
          <p:cNvSpPr txBox="1"/>
          <p:nvPr/>
        </p:nvSpPr>
        <p:spPr>
          <a:xfrm>
            <a:off x="1527048" y="3749039"/>
            <a:ext cx="3657599" cy="548640"/>
          </a:xfrm>
          <a:prstGeom prst="rect">
            <a:avLst/>
          </a:prstGeom>
          <a:noFill/>
        </p:spPr>
        <p:txBody>
          <a:bodyPr wrap="square" lIns="45720" tIns="27432" rIns="45720" bIns="27432" anchor="t">
            <a:spAutoFit/>
          </a:bodyPr>
          <a:lstStyle/>
          <a:p>
            <a:pPr algn="ctr"/>
            <a:r>
              <a:rPr sz="2200">
                <a:solidFill>
                  <a:srgbClr val="262626"/>
                </a:solidFill>
                <a:latin typeface="+mj-lt"/>
              </a:rPr>
              <a:t>The agent</a:t>
            </a:r>
          </a:p>
        </p:txBody>
      </p:sp>
      <p:sp>
        <p:nvSpPr>
          <p:cNvPr id="9" name="Oval 8"/>
          <p:cNvSpPr/>
          <p:nvPr/>
        </p:nvSpPr>
        <p:spPr>
          <a:xfrm>
            <a:off x="1664208" y="461772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oal_w.png"/>
          <p:cNvPicPr>
            <a:picLocks noChangeAspect="1"/>
          </p:cNvPicPr>
          <p:nvPr/>
        </p:nvPicPr>
        <p:blipFill>
          <a:blip r:embed="rId3"/>
          <a:stretch>
            <a:fillRect/>
          </a:stretch>
        </p:blipFill>
        <p:spPr>
          <a:xfrm>
            <a:off x="1787652" y="4741164"/>
            <a:ext cx="301752" cy="301752"/>
          </a:xfrm>
          <a:prstGeom prst="rect">
            <a:avLst/>
          </a:prstGeom>
        </p:spPr>
      </p:pic>
      <p:sp>
        <p:nvSpPr>
          <p:cNvPr id="11" name="TextBox 10"/>
          <p:cNvSpPr txBox="1"/>
          <p:nvPr/>
        </p:nvSpPr>
        <p:spPr>
          <a:xfrm>
            <a:off x="2395728" y="4663440"/>
            <a:ext cx="2834639" cy="457200"/>
          </a:xfrm>
          <a:prstGeom prst="rect">
            <a:avLst/>
          </a:prstGeom>
          <a:noFill/>
        </p:spPr>
        <p:txBody>
          <a:bodyPr wrap="square" lIns="45720" tIns="27432" rIns="45720" bIns="27432" anchor="t">
            <a:spAutoFit/>
          </a:bodyPr>
          <a:lstStyle/>
          <a:p>
            <a:pPr algn="l"/>
            <a:r>
              <a:rPr sz="1600">
                <a:solidFill>
                  <a:srgbClr val="262626"/>
                </a:solidFill>
                <a:latin typeface="+mj-lt"/>
              </a:rPr>
              <a:t>Goal and rules</a:t>
            </a:r>
          </a:p>
        </p:txBody>
      </p:sp>
      <p:sp>
        <p:nvSpPr>
          <p:cNvPr id="12" name="Oval 11"/>
          <p:cNvSpPr/>
          <p:nvPr/>
        </p:nvSpPr>
        <p:spPr>
          <a:xfrm>
            <a:off x="1664208" y="557784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rain_w.png"/>
          <p:cNvPicPr>
            <a:picLocks noChangeAspect="1"/>
          </p:cNvPicPr>
          <p:nvPr/>
        </p:nvPicPr>
        <p:blipFill>
          <a:blip r:embed="rId4"/>
          <a:stretch>
            <a:fillRect/>
          </a:stretch>
        </p:blipFill>
        <p:spPr>
          <a:xfrm>
            <a:off x="1787652" y="5701283"/>
            <a:ext cx="301752" cy="301752"/>
          </a:xfrm>
          <a:prstGeom prst="rect">
            <a:avLst/>
          </a:prstGeom>
        </p:spPr>
      </p:pic>
      <p:sp>
        <p:nvSpPr>
          <p:cNvPr id="14" name="TextBox 13"/>
          <p:cNvSpPr txBox="1"/>
          <p:nvPr/>
        </p:nvSpPr>
        <p:spPr>
          <a:xfrm>
            <a:off x="2395728" y="5623559"/>
            <a:ext cx="2834639" cy="457200"/>
          </a:xfrm>
          <a:prstGeom prst="rect">
            <a:avLst/>
          </a:prstGeom>
          <a:noFill/>
        </p:spPr>
        <p:txBody>
          <a:bodyPr wrap="square" lIns="45720" tIns="27432" rIns="45720" bIns="27432" anchor="t">
            <a:spAutoFit/>
          </a:bodyPr>
          <a:lstStyle/>
          <a:p>
            <a:pPr algn="l"/>
            <a:r>
              <a:rPr sz="1600">
                <a:solidFill>
                  <a:srgbClr val="262626"/>
                </a:solidFill>
                <a:latin typeface="+mj-lt"/>
              </a:rPr>
              <a:t>The LLM</a:t>
            </a:r>
          </a:p>
        </p:txBody>
      </p:sp>
      <p:sp>
        <p:nvSpPr>
          <p:cNvPr id="15" name="Oval 14"/>
          <p:cNvSpPr/>
          <p:nvPr/>
        </p:nvSpPr>
        <p:spPr>
          <a:xfrm>
            <a:off x="1664208" y="653796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iles_w.png"/>
          <p:cNvPicPr>
            <a:picLocks noChangeAspect="1"/>
          </p:cNvPicPr>
          <p:nvPr/>
        </p:nvPicPr>
        <p:blipFill>
          <a:blip r:embed="rId5"/>
          <a:stretch>
            <a:fillRect/>
          </a:stretch>
        </p:blipFill>
        <p:spPr>
          <a:xfrm>
            <a:off x="1787652" y="6661404"/>
            <a:ext cx="301752" cy="301752"/>
          </a:xfrm>
          <a:prstGeom prst="rect">
            <a:avLst/>
          </a:prstGeom>
        </p:spPr>
      </p:pic>
      <p:sp>
        <p:nvSpPr>
          <p:cNvPr id="17" name="TextBox 16"/>
          <p:cNvSpPr txBox="1"/>
          <p:nvPr/>
        </p:nvSpPr>
        <p:spPr>
          <a:xfrm>
            <a:off x="2395728" y="6583680"/>
            <a:ext cx="2834639" cy="457200"/>
          </a:xfrm>
          <a:prstGeom prst="rect">
            <a:avLst/>
          </a:prstGeom>
          <a:noFill/>
        </p:spPr>
        <p:txBody>
          <a:bodyPr wrap="square" lIns="45720" tIns="27432" rIns="45720" bIns="27432" anchor="t">
            <a:spAutoFit/>
          </a:bodyPr>
          <a:lstStyle/>
          <a:p>
            <a:pPr algn="l"/>
            <a:r>
              <a:rPr sz="1600">
                <a:solidFill>
                  <a:srgbClr val="262626"/>
                </a:solidFill>
                <a:latin typeface="+mj-lt"/>
              </a:rPr>
              <a:t>The guidelines (RAG)</a:t>
            </a:r>
          </a:p>
        </p:txBody>
      </p:sp>
      <p:sp>
        <p:nvSpPr>
          <p:cNvPr id="18" name="Oval 17"/>
          <p:cNvSpPr/>
          <p:nvPr/>
        </p:nvSpPr>
        <p:spPr>
          <a:xfrm>
            <a:off x="1664208" y="7498079"/>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emory_w.png"/>
          <p:cNvPicPr>
            <a:picLocks noChangeAspect="1"/>
          </p:cNvPicPr>
          <p:nvPr/>
        </p:nvPicPr>
        <p:blipFill>
          <a:blip r:embed="rId6"/>
          <a:stretch>
            <a:fillRect/>
          </a:stretch>
        </p:blipFill>
        <p:spPr>
          <a:xfrm>
            <a:off x="1787652" y="7621524"/>
            <a:ext cx="301752" cy="301752"/>
          </a:xfrm>
          <a:prstGeom prst="rect">
            <a:avLst/>
          </a:prstGeom>
        </p:spPr>
      </p:pic>
      <p:sp>
        <p:nvSpPr>
          <p:cNvPr id="20" name="TextBox 19"/>
          <p:cNvSpPr txBox="1"/>
          <p:nvPr/>
        </p:nvSpPr>
        <p:spPr>
          <a:xfrm>
            <a:off x="2395728" y="7543800"/>
            <a:ext cx="2834639" cy="457200"/>
          </a:xfrm>
          <a:prstGeom prst="rect">
            <a:avLst/>
          </a:prstGeom>
          <a:noFill/>
        </p:spPr>
        <p:txBody>
          <a:bodyPr wrap="square" lIns="45720" tIns="27432" rIns="45720" bIns="27432" anchor="t">
            <a:spAutoFit/>
          </a:bodyPr>
          <a:lstStyle/>
          <a:p>
            <a:pPr algn="l"/>
            <a:r>
              <a:rPr sz="1600">
                <a:solidFill>
                  <a:srgbClr val="262626"/>
                </a:solidFill>
                <a:latin typeface="+mj-lt"/>
              </a:rPr>
              <a:t>What happened so far</a:t>
            </a:r>
          </a:p>
        </p:txBody>
      </p:sp>
      <p:sp>
        <p:nvSpPr>
          <p:cNvPr id="21" name="Rounded Rectangle 20"/>
          <p:cNvSpPr/>
          <p:nvPr/>
        </p:nvSpPr>
        <p:spPr>
          <a:xfrm>
            <a:off x="6675120" y="2743200"/>
            <a:ext cx="2286000" cy="5852160"/>
          </a:xfrm>
          <a:prstGeom prst="roundRect">
            <a:avLst>
              <a:gd name="adj" fmla="val 12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rot="16200000">
            <a:off x="5074920" y="4846320"/>
            <a:ext cx="5486400" cy="1645920"/>
          </a:xfrm>
          <a:prstGeom prst="rect">
            <a:avLst/>
          </a:prstGeom>
          <a:noFill/>
        </p:spPr>
        <p:txBody>
          <a:bodyPr wrap="square" lIns="45720" tIns="27432" rIns="45720" bIns="27432" anchor="ctr">
            <a:spAutoFit/>
          </a:bodyPr>
          <a:lstStyle/>
          <a:p>
            <a:pPr algn="ctr"/>
            <a:r>
              <a:rPr sz="1800">
                <a:solidFill>
                  <a:srgbClr val="FFFFFF"/>
                </a:solidFill>
                <a:latin typeface="+mj-lt"/>
              </a:rPr>
              <a:t>MCP SERVER</a:t>
            </a:r>
          </a:p>
          <a:p>
            <a:pPr algn="ctr"/>
            <a:r>
              <a:rPr sz="1300">
                <a:solidFill>
                  <a:srgbClr val="FFFFFF"/>
                </a:solidFill>
              </a:rPr>
              <a:t>knows the tools, who may call them, and keeps the log</a:t>
            </a:r>
          </a:p>
        </p:txBody>
      </p:sp>
      <p:cxnSp>
        <p:nvCxnSpPr>
          <p:cNvPr id="23" name="Connector 22"/>
          <p:cNvCxnSpPr/>
          <p:nvPr/>
        </p:nvCxnSpPr>
        <p:spPr>
          <a:xfrm>
            <a:off x="5550407" y="5806440"/>
            <a:ext cx="1033273" cy="0"/>
          </a:xfrm>
          <a:prstGeom prst="line">
            <a:avLst/>
          </a:prstGeom>
          <a:ln w="28575">
            <a:solidFill>
              <a:srgbClr val="0766D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550407" y="5166360"/>
            <a:ext cx="1033272" cy="548640"/>
          </a:xfrm>
          <a:prstGeom prst="rect">
            <a:avLst/>
          </a:prstGeom>
          <a:noFill/>
        </p:spPr>
        <p:txBody>
          <a:bodyPr wrap="square" lIns="45720" tIns="27432" rIns="45720" bIns="27432" anchor="b">
            <a:spAutoFit/>
          </a:bodyPr>
          <a:lstStyle/>
          <a:p>
            <a:pPr algn="ctr"/>
            <a:r>
              <a:rPr sz="1200">
                <a:solidFill>
                  <a:srgbClr val="0766D1"/>
                </a:solidFill>
                <a:latin typeface="+mj-lt"/>
              </a:rPr>
              <a:t>asks, gets the result</a:t>
            </a:r>
          </a:p>
        </p:txBody>
      </p:sp>
      <p:sp>
        <p:nvSpPr>
          <p:cNvPr id="25" name="Rounded Rectangle 24"/>
          <p:cNvSpPr/>
          <p:nvPr/>
        </p:nvSpPr>
        <p:spPr>
          <a:xfrm>
            <a:off x="9966960" y="2743200"/>
            <a:ext cx="7059168" cy="1188720"/>
          </a:xfrm>
          <a:prstGeom prst="roundRect">
            <a:avLst>
              <a:gd name="adj" fmla="val 2153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77856" y="3008376"/>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ql_w.png"/>
          <p:cNvPicPr>
            <a:picLocks noChangeAspect="1"/>
          </p:cNvPicPr>
          <p:nvPr/>
        </p:nvPicPr>
        <p:blipFill>
          <a:blip r:embed="rId7"/>
          <a:stretch>
            <a:fillRect/>
          </a:stretch>
        </p:blipFill>
        <p:spPr>
          <a:xfrm>
            <a:off x="10425988" y="3156508"/>
            <a:ext cx="362102" cy="362102"/>
          </a:xfrm>
          <a:prstGeom prst="rect">
            <a:avLst/>
          </a:prstGeom>
        </p:spPr>
      </p:pic>
      <p:sp>
        <p:nvSpPr>
          <p:cNvPr id="28" name="TextBox 27"/>
          <p:cNvSpPr txBox="1"/>
          <p:nvPr/>
        </p:nvSpPr>
        <p:spPr>
          <a:xfrm>
            <a:off x="11109960" y="2880360"/>
            <a:ext cx="5733288" cy="411480"/>
          </a:xfrm>
          <a:prstGeom prst="rect">
            <a:avLst/>
          </a:prstGeom>
          <a:noFill/>
        </p:spPr>
        <p:txBody>
          <a:bodyPr wrap="square" lIns="45720" tIns="27432" rIns="45720" bIns="27432" anchor="t">
            <a:spAutoFit/>
          </a:bodyPr>
          <a:lstStyle/>
          <a:p>
            <a:pPr algn="l"/>
            <a:r>
              <a:rPr sz="1600">
                <a:solidFill>
                  <a:srgbClr val="262626"/>
                </a:solidFill>
                <a:latin typeface="+mj-lt"/>
              </a:rPr>
              <a:t>Query the registry</a:t>
            </a:r>
          </a:p>
        </p:txBody>
      </p:sp>
      <p:sp>
        <p:nvSpPr>
          <p:cNvPr id="29" name="TextBox 28"/>
          <p:cNvSpPr txBox="1"/>
          <p:nvPr/>
        </p:nvSpPr>
        <p:spPr>
          <a:xfrm>
            <a:off x="11109960" y="3273552"/>
            <a:ext cx="5733288" cy="594360"/>
          </a:xfrm>
          <a:prstGeom prst="rect">
            <a:avLst/>
          </a:prstGeom>
          <a:noFill/>
        </p:spPr>
        <p:txBody>
          <a:bodyPr wrap="square" lIns="45720" tIns="27432" rIns="45720" bIns="27432" anchor="t">
            <a:spAutoFit/>
          </a:bodyPr>
          <a:lstStyle/>
          <a:p>
            <a:pPr algn="l"/>
            <a:r>
              <a:rPr sz="1200">
                <a:solidFill>
                  <a:srgbClr val="7E889A"/>
                </a:solidFill>
              </a:rPr>
              <a:t>FedSQL on the CAS tables. Counts, rates, costs, or one patient</a:t>
            </a:r>
          </a:p>
        </p:txBody>
      </p:sp>
      <p:cxnSp>
        <p:nvCxnSpPr>
          <p:cNvPr id="30" name="Connector 29"/>
          <p:cNvCxnSpPr/>
          <p:nvPr/>
        </p:nvCxnSpPr>
        <p:spPr>
          <a:xfrm>
            <a:off x="9006840" y="3337560"/>
            <a:ext cx="886968" cy="0"/>
          </a:xfrm>
          <a:prstGeom prst="line">
            <a:avLst/>
          </a:prstGeom>
          <a:ln w="2222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966960" y="4297680"/>
            <a:ext cx="7059168" cy="1188720"/>
          </a:xfrm>
          <a:prstGeom prst="roundRect">
            <a:avLst>
              <a:gd name="adj" fmla="val 2153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77856" y="4562856"/>
            <a:ext cx="658368" cy="658368"/>
          </a:xfrm>
          <a:prstGeom prst="ellipse">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model_w.png"/>
          <p:cNvPicPr>
            <a:picLocks noChangeAspect="1"/>
          </p:cNvPicPr>
          <p:nvPr/>
        </p:nvPicPr>
        <p:blipFill>
          <a:blip r:embed="rId8"/>
          <a:stretch>
            <a:fillRect/>
          </a:stretch>
        </p:blipFill>
        <p:spPr>
          <a:xfrm>
            <a:off x="10425988" y="4710988"/>
            <a:ext cx="362102" cy="362102"/>
          </a:xfrm>
          <a:prstGeom prst="rect">
            <a:avLst/>
          </a:prstGeom>
        </p:spPr>
      </p:pic>
      <p:sp>
        <p:nvSpPr>
          <p:cNvPr id="34" name="TextBox 33"/>
          <p:cNvSpPr txBox="1"/>
          <p:nvPr/>
        </p:nvSpPr>
        <p:spPr>
          <a:xfrm>
            <a:off x="11109960" y="4434840"/>
            <a:ext cx="5733288" cy="411480"/>
          </a:xfrm>
          <a:prstGeom prst="rect">
            <a:avLst/>
          </a:prstGeom>
          <a:noFill/>
        </p:spPr>
        <p:txBody>
          <a:bodyPr wrap="square" lIns="45720" tIns="27432" rIns="45720" bIns="27432" anchor="t">
            <a:spAutoFit/>
          </a:bodyPr>
          <a:lstStyle/>
          <a:p>
            <a:pPr algn="l"/>
            <a:r>
              <a:rPr sz="1600">
                <a:solidFill>
                  <a:srgbClr val="262626"/>
                </a:solidFill>
                <a:latin typeface="+mj-lt"/>
              </a:rPr>
              <a:t>Score the model</a:t>
            </a:r>
          </a:p>
        </p:txBody>
      </p:sp>
      <p:sp>
        <p:nvSpPr>
          <p:cNvPr id="35" name="TextBox 34"/>
          <p:cNvSpPr txBox="1"/>
          <p:nvPr/>
        </p:nvSpPr>
        <p:spPr>
          <a:xfrm>
            <a:off x="11109960" y="4828032"/>
            <a:ext cx="5733288" cy="594360"/>
          </a:xfrm>
          <a:prstGeom prst="rect">
            <a:avLst/>
          </a:prstGeom>
          <a:noFill/>
        </p:spPr>
        <p:txBody>
          <a:bodyPr wrap="square" lIns="45720" tIns="27432" rIns="45720" bIns="27432" anchor="t">
            <a:spAutoFit/>
          </a:bodyPr>
          <a:lstStyle/>
          <a:p>
            <a:pPr algn="l"/>
            <a:r>
              <a:rPr sz="1200">
                <a:solidFill>
                  <a:srgbClr val="7E889A"/>
                </a:solidFill>
              </a:rPr>
              <a:t>The published risk model in SAS Micro Analytic Service</a:t>
            </a:r>
          </a:p>
        </p:txBody>
      </p:sp>
      <p:cxnSp>
        <p:nvCxnSpPr>
          <p:cNvPr id="36" name="Connector 35"/>
          <p:cNvCxnSpPr/>
          <p:nvPr/>
        </p:nvCxnSpPr>
        <p:spPr>
          <a:xfrm>
            <a:off x="9006840" y="4892040"/>
            <a:ext cx="886968" cy="0"/>
          </a:xfrm>
          <a:prstGeom prst="line">
            <a:avLst/>
          </a:prstGeom>
          <a:ln w="2222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966960" y="5852160"/>
            <a:ext cx="7059168" cy="1188720"/>
          </a:xfrm>
          <a:prstGeom prst="roundRect">
            <a:avLst>
              <a:gd name="adj" fmla="val 2153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77856" y="6117336"/>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rules_w.png"/>
          <p:cNvPicPr>
            <a:picLocks noChangeAspect="1"/>
          </p:cNvPicPr>
          <p:nvPr/>
        </p:nvPicPr>
        <p:blipFill>
          <a:blip r:embed="rId9"/>
          <a:stretch>
            <a:fillRect/>
          </a:stretch>
        </p:blipFill>
        <p:spPr>
          <a:xfrm>
            <a:off x="10425988" y="6265468"/>
            <a:ext cx="362102" cy="362102"/>
          </a:xfrm>
          <a:prstGeom prst="rect">
            <a:avLst/>
          </a:prstGeom>
        </p:spPr>
      </p:pic>
      <p:sp>
        <p:nvSpPr>
          <p:cNvPr id="40" name="TextBox 39"/>
          <p:cNvSpPr txBox="1"/>
          <p:nvPr/>
        </p:nvSpPr>
        <p:spPr>
          <a:xfrm>
            <a:off x="11109960" y="5989320"/>
            <a:ext cx="5733288" cy="411480"/>
          </a:xfrm>
          <a:prstGeom prst="rect">
            <a:avLst/>
          </a:prstGeom>
          <a:noFill/>
        </p:spPr>
        <p:txBody>
          <a:bodyPr wrap="square" lIns="45720" tIns="27432" rIns="45720" bIns="27432" anchor="t">
            <a:spAutoFit/>
          </a:bodyPr>
          <a:lstStyle/>
          <a:p>
            <a:pPr algn="l"/>
            <a:r>
              <a:rPr sz="1600">
                <a:solidFill>
                  <a:srgbClr val="262626"/>
                </a:solidFill>
                <a:latin typeface="+mj-lt"/>
              </a:rPr>
              <a:t>Run a decision flow</a:t>
            </a:r>
          </a:p>
        </p:txBody>
      </p:sp>
      <p:sp>
        <p:nvSpPr>
          <p:cNvPr id="41" name="TextBox 40"/>
          <p:cNvSpPr txBox="1"/>
          <p:nvPr/>
        </p:nvSpPr>
        <p:spPr>
          <a:xfrm>
            <a:off x="11109960" y="6382512"/>
            <a:ext cx="5733288" cy="594360"/>
          </a:xfrm>
          <a:prstGeom prst="rect">
            <a:avLst/>
          </a:prstGeom>
          <a:noFill/>
        </p:spPr>
        <p:txBody>
          <a:bodyPr wrap="square" lIns="45720" tIns="27432" rIns="45720" bIns="27432" anchor="t">
            <a:spAutoFit/>
          </a:bodyPr>
          <a:lstStyle/>
          <a:p>
            <a:pPr algn="l"/>
            <a:r>
              <a:rPr sz="1200">
                <a:solidFill>
                  <a:srgbClr val="7E889A"/>
                </a:solidFill>
              </a:rPr>
              <a:t>SAS Intelligent Decisioning. Recall priority, the 30-day window</a:t>
            </a:r>
          </a:p>
        </p:txBody>
      </p:sp>
      <p:cxnSp>
        <p:nvCxnSpPr>
          <p:cNvPr id="42" name="Connector 41"/>
          <p:cNvCxnSpPr/>
          <p:nvPr/>
        </p:nvCxnSpPr>
        <p:spPr>
          <a:xfrm>
            <a:off x="9006840" y="6446520"/>
            <a:ext cx="886968" cy="0"/>
          </a:xfrm>
          <a:prstGeom prst="line">
            <a:avLst/>
          </a:prstGeom>
          <a:ln w="2222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66960" y="7406640"/>
            <a:ext cx="7059168" cy="1188720"/>
          </a:xfrm>
          <a:prstGeom prst="roundRect">
            <a:avLst>
              <a:gd name="adj" fmla="val 2153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277856" y="7671816"/>
            <a:ext cx="658368" cy="658368"/>
          </a:xfrm>
          <a:prstGeom prst="ellipse">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chart_w.png"/>
          <p:cNvPicPr>
            <a:picLocks noChangeAspect="1"/>
          </p:cNvPicPr>
          <p:nvPr/>
        </p:nvPicPr>
        <p:blipFill>
          <a:blip r:embed="rId10"/>
          <a:stretch>
            <a:fillRect/>
          </a:stretch>
        </p:blipFill>
        <p:spPr>
          <a:xfrm>
            <a:off x="10425988" y="7819948"/>
            <a:ext cx="362102" cy="362102"/>
          </a:xfrm>
          <a:prstGeom prst="rect">
            <a:avLst/>
          </a:prstGeom>
        </p:spPr>
      </p:pic>
      <p:sp>
        <p:nvSpPr>
          <p:cNvPr id="46" name="TextBox 45"/>
          <p:cNvSpPr txBox="1"/>
          <p:nvPr/>
        </p:nvSpPr>
        <p:spPr>
          <a:xfrm>
            <a:off x="11109960" y="7543800"/>
            <a:ext cx="5733288" cy="411480"/>
          </a:xfrm>
          <a:prstGeom prst="rect">
            <a:avLst/>
          </a:prstGeom>
          <a:noFill/>
        </p:spPr>
        <p:txBody>
          <a:bodyPr wrap="square" lIns="45720" tIns="27432" rIns="45720" bIns="27432" anchor="t">
            <a:spAutoFit/>
          </a:bodyPr>
          <a:lstStyle/>
          <a:p>
            <a:pPr algn="l"/>
            <a:r>
              <a:rPr sz="1600">
                <a:solidFill>
                  <a:srgbClr val="262626"/>
                </a:solidFill>
                <a:latin typeface="+mj-lt"/>
              </a:rPr>
              <a:t>Draw a chart</a:t>
            </a:r>
          </a:p>
        </p:txBody>
      </p:sp>
      <p:sp>
        <p:nvSpPr>
          <p:cNvPr id="47" name="TextBox 46"/>
          <p:cNvSpPr txBox="1"/>
          <p:nvPr/>
        </p:nvSpPr>
        <p:spPr>
          <a:xfrm>
            <a:off x="11109960" y="7936992"/>
            <a:ext cx="5733288" cy="594360"/>
          </a:xfrm>
          <a:prstGeom prst="rect">
            <a:avLst/>
          </a:prstGeom>
          <a:noFill/>
        </p:spPr>
        <p:txBody>
          <a:bodyPr wrap="square" lIns="45720" tIns="27432" rIns="45720" bIns="27432" anchor="t">
            <a:spAutoFit/>
          </a:bodyPr>
          <a:lstStyle/>
          <a:p>
            <a:pPr algn="l"/>
            <a:r>
              <a:rPr sz="1200">
                <a:solidFill>
                  <a:srgbClr val="7E889A"/>
                </a:solidFill>
              </a:rPr>
              <a:t>Control by emirate, cost by risk tier, straight into the answer</a:t>
            </a:r>
          </a:p>
        </p:txBody>
      </p:sp>
      <p:cxnSp>
        <p:nvCxnSpPr>
          <p:cNvPr id="48" name="Connector 47"/>
          <p:cNvCxnSpPr/>
          <p:nvPr/>
        </p:nvCxnSpPr>
        <p:spPr>
          <a:xfrm>
            <a:off x="9006840" y="8001000"/>
            <a:ext cx="886968" cy="0"/>
          </a:xfrm>
          <a:prstGeom prst="line">
            <a:avLst/>
          </a:prstGeom>
          <a:ln w="2222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966960" y="2286000"/>
            <a:ext cx="7059168" cy="365760"/>
          </a:xfrm>
          <a:prstGeom prst="rect">
            <a:avLst/>
          </a:prstGeom>
          <a:noFill/>
        </p:spPr>
        <p:txBody>
          <a:bodyPr wrap="square" lIns="45720" tIns="27432" rIns="45720" bIns="27432" anchor="t">
            <a:spAutoFit/>
          </a:bodyPr>
          <a:lstStyle/>
          <a:p>
            <a:pPr algn="l"/>
            <a:r>
              <a:rPr sz="1400">
                <a:solidFill>
                  <a:srgbClr val="0766D1"/>
                </a:solidFill>
                <a:latin typeface="+mj-lt"/>
              </a:rPr>
              <a:t>Each tool comes with a one-line description the agent reads</a:t>
            </a:r>
          </a:p>
        </p:txBody>
      </p:sp>
      <p:sp>
        <p:nvSpPr>
          <p:cNvPr id="50" name="TextBox 49"/>
          <p:cNvSpPr txBox="1"/>
          <p:nvPr/>
        </p:nvSpPr>
        <p:spPr>
          <a:xfrm>
            <a:off x="1252728" y="8869680"/>
            <a:ext cx="15773400" cy="457200"/>
          </a:xfrm>
          <a:prstGeom prst="rect">
            <a:avLst/>
          </a:prstGeom>
          <a:noFill/>
        </p:spPr>
        <p:txBody>
          <a:bodyPr wrap="square" lIns="45720" tIns="27432" rIns="45720" bIns="27432" anchor="t">
            <a:spAutoFit/>
          </a:bodyPr>
          <a:lstStyle/>
          <a:p>
            <a:pPr algn="l"/>
            <a:r>
              <a:rPr sz="1400">
                <a:solidFill>
                  <a:srgbClr val="7E889A"/>
                </a:solidFill>
              </a:rPr>
              <a:t>Think USB-C: one plug, any device. Read the tool list and you know exactly what the agent can reach. Nothing else.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600"/>
              <a:t>One question, four engines</a:t>
            </a:r>
          </a:p>
        </p:txBody>
      </p:sp>
      <p:sp>
        <p:nvSpPr>
          <p:cNvPr id="3" name="Text Placeholder 2"/>
          <p:cNvSpPr>
            <a:spLocks noGrp="1"/>
          </p:cNvSpPr>
          <p:nvPr>
            <p:ph type="body" idx="10" sz="quarter"/>
          </p:nvPr>
        </p:nvSpPr>
        <p:spPr/>
        <p:txBody>
          <a:bodyPr/>
          <a:lstStyle/>
          <a:p>
            <a:r>
              <a:rPr sz="3000"/>
              <a:t>Why the answer can be trusted: each part comes from the thing that is good at it</a:t>
            </a:r>
          </a:p>
        </p:txBody>
      </p:sp>
      <p:sp>
        <p:nvSpPr>
          <p:cNvPr id="5" name="Rounded Rectangle 4"/>
          <p:cNvSpPr/>
          <p:nvPr/>
        </p:nvSpPr>
        <p:spPr>
          <a:xfrm>
            <a:off x="1252728" y="3108960"/>
            <a:ext cx="4023360" cy="4206240"/>
          </a:xfrm>
          <a:prstGeom prst="roundRect">
            <a:avLst>
              <a:gd name="adj" fmla="val 636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761488" y="2606039"/>
            <a:ext cx="1005840" cy="10058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uestion_w.png"/>
          <p:cNvPicPr>
            <a:picLocks noChangeAspect="1"/>
          </p:cNvPicPr>
          <p:nvPr/>
        </p:nvPicPr>
        <p:blipFill>
          <a:blip r:embed="rId2"/>
          <a:stretch>
            <a:fillRect/>
          </a:stretch>
        </p:blipFill>
        <p:spPr>
          <a:xfrm>
            <a:off x="3002889" y="2847441"/>
            <a:ext cx="523036" cy="523036"/>
          </a:xfrm>
          <a:prstGeom prst="rect">
            <a:avLst/>
          </a:prstGeom>
        </p:spPr>
      </p:pic>
      <p:sp>
        <p:nvSpPr>
          <p:cNvPr id="8" name="TextBox 7"/>
          <p:cNvSpPr txBox="1"/>
          <p:nvPr/>
        </p:nvSpPr>
        <p:spPr>
          <a:xfrm>
            <a:off x="1527048" y="3840480"/>
            <a:ext cx="3474720" cy="457200"/>
          </a:xfrm>
          <a:prstGeom prst="rect">
            <a:avLst/>
          </a:prstGeom>
          <a:noFill/>
        </p:spPr>
        <p:txBody>
          <a:bodyPr wrap="square" lIns="45720" tIns="27432" rIns="45720" bIns="27432" anchor="t">
            <a:spAutoFit/>
          </a:bodyPr>
          <a:lstStyle/>
          <a:p>
            <a:pPr algn="ctr"/>
            <a:r>
              <a:rPr sz="1800">
                <a:solidFill>
                  <a:srgbClr val="262626"/>
                </a:solidFill>
                <a:latin typeface="+mj-lt"/>
              </a:rPr>
              <a:t>The question</a:t>
            </a:r>
          </a:p>
        </p:txBody>
      </p:sp>
      <p:sp>
        <p:nvSpPr>
          <p:cNvPr id="9" name="TextBox 8"/>
          <p:cNvSpPr txBox="1"/>
          <p:nvPr/>
        </p:nvSpPr>
        <p:spPr>
          <a:xfrm>
            <a:off x="1618488" y="4434840"/>
            <a:ext cx="3291840" cy="2651760"/>
          </a:xfrm>
          <a:prstGeom prst="rect">
            <a:avLst/>
          </a:prstGeom>
          <a:noFill/>
        </p:spPr>
        <p:txBody>
          <a:bodyPr wrap="square" lIns="45720" tIns="27432" rIns="45720" bIns="27432" anchor="ctr">
            <a:spAutoFit/>
          </a:bodyPr>
          <a:lstStyle/>
          <a:p>
            <a:pPr algn="ctr"/>
            <a:r>
              <a:rPr sz="1700">
                <a:solidFill>
                  <a:srgbClr val="032954"/>
                </a:solidFill>
              </a:rPr>
              <a:t>“Who would qualify for a GLP-1 RA under the guideline, and how many are already on one?”</a:t>
            </a:r>
          </a:p>
        </p:txBody>
      </p:sp>
      <p:sp>
        <p:nvSpPr>
          <p:cNvPr id="10" name="Rounded Rectangle 9"/>
          <p:cNvSpPr/>
          <p:nvPr/>
        </p:nvSpPr>
        <p:spPr>
          <a:xfrm>
            <a:off x="5897880" y="2697480"/>
            <a:ext cx="6126480" cy="1207008"/>
          </a:xfrm>
          <a:prstGeom prst="roundRect">
            <a:avLst>
              <a:gd name="adj" fmla="val 2121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99632" y="2962656"/>
            <a:ext cx="676656" cy="676656"/>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les_w.png"/>
          <p:cNvPicPr>
            <a:picLocks noChangeAspect="1"/>
          </p:cNvPicPr>
          <p:nvPr/>
        </p:nvPicPr>
        <p:blipFill>
          <a:blip r:embed="rId3"/>
          <a:stretch>
            <a:fillRect/>
          </a:stretch>
        </p:blipFill>
        <p:spPr>
          <a:xfrm>
            <a:off x="6351879" y="3114903"/>
            <a:ext cx="372160" cy="372160"/>
          </a:xfrm>
          <a:prstGeom prst="rect">
            <a:avLst/>
          </a:prstGeom>
        </p:spPr>
      </p:pic>
      <p:sp>
        <p:nvSpPr>
          <p:cNvPr id="13" name="TextBox 12"/>
          <p:cNvSpPr txBox="1"/>
          <p:nvPr/>
        </p:nvSpPr>
        <p:spPr>
          <a:xfrm>
            <a:off x="7086600" y="2788920"/>
            <a:ext cx="4754880" cy="411480"/>
          </a:xfrm>
          <a:prstGeom prst="rect">
            <a:avLst/>
          </a:prstGeom>
          <a:noFill/>
        </p:spPr>
        <p:txBody>
          <a:bodyPr wrap="square" lIns="45720" tIns="27432" rIns="45720" bIns="27432" anchor="t">
            <a:spAutoFit/>
          </a:bodyPr>
          <a:lstStyle/>
          <a:p>
            <a:pPr algn="l"/>
            <a:r>
              <a:rPr sz="1600">
                <a:solidFill>
                  <a:srgbClr val="262626"/>
                </a:solidFill>
                <a:latin typeface="+mj-lt"/>
              </a:rPr>
              <a:t>The guideline</a:t>
            </a:r>
          </a:p>
        </p:txBody>
      </p:sp>
      <p:sp>
        <p:nvSpPr>
          <p:cNvPr id="14" name="TextBox 13"/>
          <p:cNvSpPr txBox="1"/>
          <p:nvPr/>
        </p:nvSpPr>
        <p:spPr>
          <a:xfrm>
            <a:off x="7086600" y="3200400"/>
            <a:ext cx="4754880" cy="685800"/>
          </a:xfrm>
          <a:prstGeom prst="rect">
            <a:avLst/>
          </a:prstGeom>
          <a:noFill/>
        </p:spPr>
        <p:txBody>
          <a:bodyPr wrap="square" lIns="45720" tIns="27432" rIns="45720" bIns="27432" anchor="t">
            <a:spAutoFit/>
          </a:bodyPr>
          <a:lstStyle/>
          <a:p>
            <a:pPr algn="l"/>
            <a:r>
              <a:rPr sz="1200">
                <a:solidFill>
                  <a:srgbClr val="262626"/>
                </a:solidFill>
              </a:rPr>
              <a:t>NHA-CG-01 §4: consider a GLP-1 RA when HbA1c stays high and BMI is over 30.</a:t>
            </a:r>
          </a:p>
        </p:txBody>
      </p:sp>
      <p:sp>
        <p:nvSpPr>
          <p:cNvPr id="15" name="Rounded Rectangle 14"/>
          <p:cNvSpPr/>
          <p:nvPr/>
        </p:nvSpPr>
        <p:spPr>
          <a:xfrm>
            <a:off x="5897880" y="4133088"/>
            <a:ext cx="6126480" cy="1207008"/>
          </a:xfrm>
          <a:prstGeom prst="roundRect">
            <a:avLst>
              <a:gd name="adj" fmla="val 2121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199632" y="4398264"/>
            <a:ext cx="676656" cy="676656"/>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ql_w.png"/>
          <p:cNvPicPr>
            <a:picLocks noChangeAspect="1"/>
          </p:cNvPicPr>
          <p:nvPr/>
        </p:nvPicPr>
        <p:blipFill>
          <a:blip r:embed="rId4"/>
          <a:stretch>
            <a:fillRect/>
          </a:stretch>
        </p:blipFill>
        <p:spPr>
          <a:xfrm>
            <a:off x="6351879" y="4550511"/>
            <a:ext cx="372160" cy="372160"/>
          </a:xfrm>
          <a:prstGeom prst="rect">
            <a:avLst/>
          </a:prstGeom>
        </p:spPr>
      </p:pic>
      <p:sp>
        <p:nvSpPr>
          <p:cNvPr id="18" name="TextBox 17"/>
          <p:cNvSpPr txBox="1"/>
          <p:nvPr/>
        </p:nvSpPr>
        <p:spPr>
          <a:xfrm>
            <a:off x="7086600" y="4224528"/>
            <a:ext cx="4754880" cy="411480"/>
          </a:xfrm>
          <a:prstGeom prst="rect">
            <a:avLst/>
          </a:prstGeom>
          <a:noFill/>
        </p:spPr>
        <p:txBody>
          <a:bodyPr wrap="square" lIns="45720" tIns="27432" rIns="45720" bIns="27432" anchor="t">
            <a:spAutoFit/>
          </a:bodyPr>
          <a:lstStyle/>
          <a:p>
            <a:pPr algn="l"/>
            <a:r>
              <a:rPr sz="1600">
                <a:solidFill>
                  <a:srgbClr val="262626"/>
                </a:solidFill>
                <a:latin typeface="+mj-lt"/>
              </a:rPr>
              <a:t>SQL on the registry</a:t>
            </a:r>
          </a:p>
        </p:txBody>
      </p:sp>
      <p:sp>
        <p:nvSpPr>
          <p:cNvPr id="19" name="TextBox 18"/>
          <p:cNvSpPr txBox="1"/>
          <p:nvPr/>
        </p:nvSpPr>
        <p:spPr>
          <a:xfrm>
            <a:off x="7086600" y="4636008"/>
            <a:ext cx="4754880" cy="685800"/>
          </a:xfrm>
          <a:prstGeom prst="rect">
            <a:avLst/>
          </a:prstGeom>
          <a:noFill/>
        </p:spPr>
        <p:txBody>
          <a:bodyPr wrap="square" lIns="45720" tIns="27432" rIns="45720" bIns="27432" anchor="t">
            <a:spAutoFit/>
          </a:bodyPr>
          <a:lstStyle/>
          <a:p>
            <a:pPr algn="l"/>
            <a:r>
              <a:rPr sz="1200">
                <a:solidFill>
                  <a:srgbClr val="262626"/>
                </a:solidFill>
              </a:rPr>
              <a:t>Counts who meets that, then who is not yet treated. Both are real queries.</a:t>
            </a:r>
          </a:p>
        </p:txBody>
      </p:sp>
      <p:sp>
        <p:nvSpPr>
          <p:cNvPr id="20" name="Rounded Rectangle 19"/>
          <p:cNvSpPr/>
          <p:nvPr/>
        </p:nvSpPr>
        <p:spPr>
          <a:xfrm>
            <a:off x="5897880" y="5568696"/>
            <a:ext cx="6126480" cy="1207008"/>
          </a:xfrm>
          <a:prstGeom prst="roundRect">
            <a:avLst>
              <a:gd name="adj" fmla="val 2121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199632" y="5833872"/>
            <a:ext cx="676656" cy="676656"/>
          </a:xfrm>
          <a:prstGeom prst="ellipse">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odel_w.png"/>
          <p:cNvPicPr>
            <a:picLocks noChangeAspect="1"/>
          </p:cNvPicPr>
          <p:nvPr/>
        </p:nvPicPr>
        <p:blipFill>
          <a:blip r:embed="rId5"/>
          <a:stretch>
            <a:fillRect/>
          </a:stretch>
        </p:blipFill>
        <p:spPr>
          <a:xfrm>
            <a:off x="6351879" y="5986119"/>
            <a:ext cx="372160" cy="372160"/>
          </a:xfrm>
          <a:prstGeom prst="rect">
            <a:avLst/>
          </a:prstGeom>
        </p:spPr>
      </p:pic>
      <p:sp>
        <p:nvSpPr>
          <p:cNvPr id="23" name="TextBox 22"/>
          <p:cNvSpPr txBox="1"/>
          <p:nvPr/>
        </p:nvSpPr>
        <p:spPr>
          <a:xfrm>
            <a:off x="7086600" y="5660136"/>
            <a:ext cx="4754880" cy="411480"/>
          </a:xfrm>
          <a:prstGeom prst="rect">
            <a:avLst/>
          </a:prstGeom>
          <a:noFill/>
        </p:spPr>
        <p:txBody>
          <a:bodyPr wrap="square" lIns="45720" tIns="27432" rIns="45720" bIns="27432" anchor="t">
            <a:spAutoFit/>
          </a:bodyPr>
          <a:lstStyle/>
          <a:p>
            <a:pPr algn="l"/>
            <a:r>
              <a:rPr sz="1600">
                <a:solidFill>
                  <a:srgbClr val="262626"/>
                </a:solidFill>
                <a:latin typeface="+mj-lt"/>
              </a:rPr>
              <a:t>The risk model</a:t>
            </a:r>
          </a:p>
        </p:txBody>
      </p:sp>
      <p:sp>
        <p:nvSpPr>
          <p:cNvPr id="24" name="TextBox 23"/>
          <p:cNvSpPr txBox="1"/>
          <p:nvPr/>
        </p:nvSpPr>
        <p:spPr>
          <a:xfrm>
            <a:off x="7086600" y="6071616"/>
            <a:ext cx="4754880" cy="685800"/>
          </a:xfrm>
          <a:prstGeom prst="rect">
            <a:avLst/>
          </a:prstGeom>
          <a:noFill/>
        </p:spPr>
        <p:txBody>
          <a:bodyPr wrap="square" lIns="45720" tIns="27432" rIns="45720" bIns="27432" anchor="t">
            <a:spAutoFit/>
          </a:bodyPr>
          <a:lstStyle/>
          <a:p>
            <a:pPr algn="l"/>
            <a:r>
              <a:rPr sz="1200">
                <a:solidFill>
                  <a:srgbClr val="262626"/>
                </a:solidFill>
              </a:rPr>
              <a:t>Scores that group so the clinic sees the riskiest first.</a:t>
            </a:r>
          </a:p>
        </p:txBody>
      </p:sp>
      <p:sp>
        <p:nvSpPr>
          <p:cNvPr id="25" name="Rounded Rectangle 24"/>
          <p:cNvSpPr/>
          <p:nvPr/>
        </p:nvSpPr>
        <p:spPr>
          <a:xfrm>
            <a:off x="5897880" y="7004304"/>
            <a:ext cx="6126480" cy="1207008"/>
          </a:xfrm>
          <a:prstGeom prst="roundRect">
            <a:avLst>
              <a:gd name="adj" fmla="val 2121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199632" y="7269480"/>
            <a:ext cx="676656" cy="676656"/>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rules_w.png"/>
          <p:cNvPicPr>
            <a:picLocks noChangeAspect="1"/>
          </p:cNvPicPr>
          <p:nvPr/>
        </p:nvPicPr>
        <p:blipFill>
          <a:blip r:embed="rId6"/>
          <a:stretch>
            <a:fillRect/>
          </a:stretch>
        </p:blipFill>
        <p:spPr>
          <a:xfrm>
            <a:off x="6351879" y="7421727"/>
            <a:ext cx="372160" cy="372160"/>
          </a:xfrm>
          <a:prstGeom prst="rect">
            <a:avLst/>
          </a:prstGeom>
        </p:spPr>
      </p:pic>
      <p:sp>
        <p:nvSpPr>
          <p:cNvPr id="28" name="TextBox 27"/>
          <p:cNvSpPr txBox="1"/>
          <p:nvPr/>
        </p:nvSpPr>
        <p:spPr>
          <a:xfrm>
            <a:off x="7086600" y="7095744"/>
            <a:ext cx="4754880" cy="411480"/>
          </a:xfrm>
          <a:prstGeom prst="rect">
            <a:avLst/>
          </a:prstGeom>
          <a:noFill/>
        </p:spPr>
        <p:txBody>
          <a:bodyPr wrap="square" lIns="45720" tIns="27432" rIns="45720" bIns="27432" anchor="t">
            <a:spAutoFit/>
          </a:bodyPr>
          <a:lstStyle/>
          <a:p>
            <a:pPr algn="l"/>
            <a:r>
              <a:rPr sz="1600">
                <a:solidFill>
                  <a:srgbClr val="262626"/>
                </a:solidFill>
                <a:latin typeface="+mj-lt"/>
              </a:rPr>
              <a:t>The rules</a:t>
            </a:r>
          </a:p>
        </p:txBody>
      </p:sp>
      <p:sp>
        <p:nvSpPr>
          <p:cNvPr id="29" name="TextBox 28"/>
          <p:cNvSpPr txBox="1"/>
          <p:nvPr/>
        </p:nvSpPr>
        <p:spPr>
          <a:xfrm>
            <a:off x="7086600" y="7507224"/>
            <a:ext cx="4754880" cy="685800"/>
          </a:xfrm>
          <a:prstGeom prst="rect">
            <a:avLst/>
          </a:prstGeom>
          <a:noFill/>
        </p:spPr>
        <p:txBody>
          <a:bodyPr wrap="square" lIns="45720" tIns="27432" rIns="45720" bIns="27432" anchor="t">
            <a:spAutoFit/>
          </a:bodyPr>
          <a:lstStyle/>
          <a:p>
            <a:pPr algn="l"/>
            <a:r>
              <a:rPr sz="1200">
                <a:solidFill>
                  <a:srgbClr val="262626"/>
                </a:solidFill>
              </a:rPr>
              <a:t>Restricted-consent patients stay out of the list. A clinician signs off (§7).</a:t>
            </a:r>
          </a:p>
        </p:txBody>
      </p:sp>
      <p:sp>
        <p:nvSpPr>
          <p:cNvPr id="30" name="Right Arrow 29"/>
          <p:cNvSpPr/>
          <p:nvPr/>
        </p:nvSpPr>
        <p:spPr>
          <a:xfrm>
            <a:off x="5413248" y="5029200"/>
            <a:ext cx="347471" cy="457200"/>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ight Arrow 30"/>
          <p:cNvSpPr/>
          <p:nvPr/>
        </p:nvSpPr>
        <p:spPr>
          <a:xfrm>
            <a:off x="12161520" y="5029200"/>
            <a:ext cx="594359" cy="457200"/>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2893040" y="2697480"/>
            <a:ext cx="4133088" cy="5715000"/>
          </a:xfrm>
          <a:prstGeom prst="roundRect">
            <a:avLst>
              <a:gd name="adj" fmla="val 6194"/>
            </a:avLst>
          </a:prstGeom>
          <a:solidFill>
            <a:srgbClr val="EAF3FE"/>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4456663" y="2194560"/>
            <a:ext cx="1005840" cy="10058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cite_w.png"/>
          <p:cNvPicPr>
            <a:picLocks noChangeAspect="1"/>
          </p:cNvPicPr>
          <p:nvPr/>
        </p:nvPicPr>
        <p:blipFill>
          <a:blip r:embed="rId7"/>
          <a:stretch>
            <a:fillRect/>
          </a:stretch>
        </p:blipFill>
        <p:spPr>
          <a:xfrm>
            <a:off x="14698065" y="2435961"/>
            <a:ext cx="523036" cy="523036"/>
          </a:xfrm>
          <a:prstGeom prst="rect">
            <a:avLst/>
          </a:prstGeom>
        </p:spPr>
      </p:pic>
      <p:sp>
        <p:nvSpPr>
          <p:cNvPr id="35" name="TextBox 34"/>
          <p:cNvSpPr txBox="1"/>
          <p:nvPr/>
        </p:nvSpPr>
        <p:spPr>
          <a:xfrm>
            <a:off x="13167360" y="3429000"/>
            <a:ext cx="3584448" cy="457200"/>
          </a:xfrm>
          <a:prstGeom prst="rect">
            <a:avLst/>
          </a:prstGeom>
          <a:noFill/>
        </p:spPr>
        <p:txBody>
          <a:bodyPr wrap="square" lIns="45720" tIns="27432" rIns="45720" bIns="27432" anchor="t">
            <a:spAutoFit/>
          </a:bodyPr>
          <a:lstStyle/>
          <a:p>
            <a:pPr algn="ctr"/>
            <a:r>
              <a:rPr sz="1800">
                <a:solidFill>
                  <a:srgbClr val="262626"/>
                </a:solidFill>
                <a:latin typeface="+mj-lt"/>
              </a:rPr>
              <a:t>The answer</a:t>
            </a:r>
          </a:p>
        </p:txBody>
      </p:sp>
      <p:sp>
        <p:nvSpPr>
          <p:cNvPr id="36" name="TextBox 35"/>
          <p:cNvSpPr txBox="1"/>
          <p:nvPr/>
        </p:nvSpPr>
        <p:spPr>
          <a:xfrm>
            <a:off x="13213080" y="3977639"/>
            <a:ext cx="3493008" cy="4297680"/>
          </a:xfrm>
          <a:prstGeom prst="rect">
            <a:avLst/>
          </a:prstGeom>
          <a:noFill/>
        </p:spPr>
        <p:txBody>
          <a:bodyPr wrap="square" lIns="45720" tIns="27432" rIns="45720" bIns="27432" anchor="t">
            <a:spAutoFit/>
          </a:bodyPr>
          <a:lstStyle/>
          <a:p>
            <a:pPr algn="l" marL="237744" indent="-237744">
              <a:spcAft>
                <a:spcPts val="700"/>
              </a:spcAft>
              <a:buClr>
                <a:srgbClr val="0766D1"/>
              </a:buClr>
              <a:buFont typeface="Arial"/>
              <a:buChar char="•"/>
            </a:pPr>
            <a:r>
              <a:rPr sz="1400">
                <a:solidFill>
                  <a:srgbClr val="032954"/>
                </a:solidFill>
              </a:rPr>
              <a:t>Type 2, HbA1c 9% or more, BMI over 30: </a:t>
            </a:r>
            <a:r>
              <a:rPr sz="1400">
                <a:solidFill>
                  <a:srgbClr val="032954"/>
                </a:solidFill>
                <a:latin typeface="+mj-lt"/>
              </a:rPr>
              <a:t>399 patients</a:t>
            </a:r>
          </a:p>
          <a:p>
            <a:pPr algn="l" marL="237744" indent="-237744">
              <a:spcAft>
                <a:spcPts val="700"/>
              </a:spcAft>
              <a:buClr>
                <a:srgbClr val="0766D1"/>
              </a:buClr>
              <a:buFont typeface="Arial"/>
              <a:buChar char="•"/>
            </a:pPr>
            <a:r>
              <a:rPr sz="1400">
                <a:solidFill>
                  <a:srgbClr val="032954"/>
                </a:solidFill>
                <a:latin typeface="+mj-lt"/>
              </a:rPr>
              <a:t>373</a:t>
            </a:r>
            <a:r>
              <a:rPr sz="1400">
                <a:solidFill>
                  <a:srgbClr val="032954"/>
                </a:solidFill>
              </a:rPr>
              <a:t> of them not yet on an SGLT2i or GLP-1 RA</a:t>
            </a:r>
          </a:p>
          <a:p>
            <a:pPr algn="l" marL="237744" indent="-237744">
              <a:spcAft>
                <a:spcPts val="700"/>
              </a:spcAft>
              <a:buClr>
                <a:srgbClr val="0766D1"/>
              </a:buClr>
              <a:buFont typeface="Arial"/>
              <a:buChar char="•"/>
            </a:pPr>
            <a:r>
              <a:rPr sz="1400">
                <a:solidFill>
                  <a:srgbClr val="032954"/>
                </a:solidFill>
              </a:rPr>
              <a:t>The guideline says consider a GLP-1 RA, </a:t>
            </a:r>
            <a:r>
              <a:rPr sz="1400">
                <a:solidFill>
                  <a:srgbClr val="032954"/>
                </a:solidFill>
                <a:latin typeface="+mj-lt"/>
              </a:rPr>
              <a:t>NHA-CG-01 §4</a:t>
            </a:r>
          </a:p>
          <a:p>
            <a:pPr algn="l" marL="237744" indent="-237744">
              <a:spcAft>
                <a:spcPts val="700"/>
              </a:spcAft>
              <a:buClr>
                <a:srgbClr val="0766D1"/>
              </a:buClr>
              <a:buFont typeface="Arial"/>
              <a:buChar char="•"/>
            </a:pPr>
            <a:r>
              <a:rPr sz="1400">
                <a:solidFill>
                  <a:srgbClr val="032954"/>
                </a:solidFill>
              </a:rPr>
              <a:t>Ten names for the clinic to look at first, by model risk</a:t>
            </a:r>
          </a:p>
          <a:p>
            <a:pPr algn="l" marL="237744" indent="-237744">
              <a:spcAft>
                <a:spcPts val="700"/>
              </a:spcAft>
              <a:buClr>
                <a:srgbClr val="0766D1"/>
              </a:buClr>
              <a:buFont typeface="Arial"/>
              <a:buChar char="•"/>
            </a:pPr>
            <a:r>
              <a:rPr sz="1400">
                <a:solidFill>
                  <a:srgbClr val="032954"/>
                </a:solidFill>
              </a:rPr>
              <a:t>A draft. </a:t>
            </a:r>
            <a:r>
              <a:rPr sz="1400">
                <a:solidFill>
                  <a:srgbClr val="032954"/>
                </a:solidFill>
                <a:latin typeface="+mj-lt"/>
              </a:rPr>
              <a:t>The clinician decides.</a:t>
            </a:r>
          </a:p>
          <a:p>
            <a:pPr algn="l" marL="237744" indent="-237744">
              <a:spcAft>
                <a:spcPts val="700"/>
              </a:spcAft>
              <a:buClr>
                <a:srgbClr val="0766D1"/>
              </a:buClr>
              <a:buFont typeface="Arial"/>
              <a:buChar char="•"/>
            </a:pPr>
            <a:r>
              <a:rPr sz="1400">
                <a:solidFill>
                  <a:srgbClr val="032954"/>
                </a:solidFill>
              </a:rPr>
              <a:t>Last line: the query it ran and the sections it used</a:t>
            </a:r>
          </a:p>
        </p:txBody>
      </p:sp>
      <p:sp>
        <p:nvSpPr>
          <p:cNvPr id="37" name="TextBox 36"/>
          <p:cNvSpPr txBox="1"/>
          <p:nvPr/>
        </p:nvSpPr>
        <p:spPr>
          <a:xfrm>
            <a:off x="1252728" y="8732520"/>
            <a:ext cx="15773400" cy="457200"/>
          </a:xfrm>
          <a:prstGeom prst="rect">
            <a:avLst/>
          </a:prstGeom>
          <a:noFill/>
        </p:spPr>
        <p:txBody>
          <a:bodyPr wrap="square" lIns="45720" tIns="27432" rIns="45720" bIns="27432" anchor="t">
            <a:spAutoFit/>
          </a:bodyPr>
          <a:lstStyle/>
          <a:p>
            <a:pPr algn="l"/>
            <a:r>
              <a:rPr sz="1400">
                <a:solidFill>
                  <a:srgbClr val="7E889A"/>
                </a:solidFill>
              </a:rPr>
              <a:t>The LLM did not count anything or invent a threshold. It chose the engines and wrote up what came 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400"/>
              <a:t>Live demo: the Population Health Agent</a:t>
            </a:r>
          </a:p>
        </p:txBody>
      </p:sp>
      <p:sp>
        <p:nvSpPr>
          <p:cNvPr id="3" name="Text Placeholder 2"/>
          <p:cNvSpPr>
            <a:spLocks noGrp="1"/>
          </p:cNvSpPr>
          <p:nvPr>
            <p:ph type="body" idx="10" sz="quarter"/>
          </p:nvPr>
        </p:nvSpPr>
        <p:spPr/>
        <p:txBody>
          <a:bodyPr/>
          <a:lstStyle/>
          <a:p>
            <a:r>
              <a:rPr sz="3600"/>
              <a:t>Real questions, on the same data you will work with</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tethoscope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4600"/>
              <a:t>The scenario: diabetes across five emirates</a:t>
            </a:r>
          </a:p>
        </p:txBody>
      </p:sp>
      <p:sp>
        <p:nvSpPr>
          <p:cNvPr id="3" name="Text Placeholder 2"/>
          <p:cNvSpPr>
            <a:spLocks noGrp="1"/>
          </p:cNvSpPr>
          <p:nvPr>
            <p:ph type="body" idx="10" sz="quarter"/>
          </p:nvPr>
        </p:nvSpPr>
        <p:spPr/>
        <p:txBody>
          <a:bodyPr/>
          <a:lstStyle/>
          <a:p>
            <a:r>
              <a:rPr sz="3000"/>
              <a:t>A programme lead, 4,000 patients, 18 facilities, and the same questions every Monday</a:t>
            </a:r>
          </a:p>
        </p:txBody>
      </p:sp>
      <p:sp>
        <p:nvSpPr>
          <p:cNvPr id="5" name="Rounded Rectangle 4"/>
          <p:cNvSpPr/>
          <p:nvPr/>
        </p:nvSpPr>
        <p:spPr>
          <a:xfrm>
            <a:off x="1252728" y="3200400"/>
            <a:ext cx="4983480" cy="4343400"/>
          </a:xfrm>
          <a:prstGeom prst="roundRect">
            <a:avLst>
              <a:gd name="adj" fmla="val 589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218688" y="2674620"/>
            <a:ext cx="1051560" cy="105156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tabase_w.png"/>
          <p:cNvPicPr>
            <a:picLocks noChangeAspect="1"/>
          </p:cNvPicPr>
          <p:nvPr/>
        </p:nvPicPr>
        <p:blipFill>
          <a:blip r:embed="rId2"/>
          <a:stretch>
            <a:fillRect/>
          </a:stretch>
        </p:blipFill>
        <p:spPr>
          <a:xfrm>
            <a:off x="3471062" y="2926994"/>
            <a:ext cx="546811" cy="546811"/>
          </a:xfrm>
          <a:prstGeom prst="rect">
            <a:avLst/>
          </a:prstGeom>
        </p:spPr>
      </p:pic>
      <p:sp>
        <p:nvSpPr>
          <p:cNvPr id="8" name="TextBox 7"/>
          <p:cNvSpPr txBox="1"/>
          <p:nvPr/>
        </p:nvSpPr>
        <p:spPr>
          <a:xfrm>
            <a:off x="1527048" y="3957523"/>
            <a:ext cx="4434840" cy="594360"/>
          </a:xfrm>
          <a:prstGeom prst="rect">
            <a:avLst/>
          </a:prstGeom>
          <a:noFill/>
        </p:spPr>
        <p:txBody>
          <a:bodyPr wrap="square" lIns="45720" tIns="27432" rIns="45720" bIns="27432" anchor="t">
            <a:spAutoFit/>
          </a:bodyPr>
          <a:lstStyle/>
          <a:p>
            <a:pPr algn="ctr"/>
            <a:r>
              <a:rPr sz="2100">
                <a:solidFill>
                  <a:srgbClr val="262626"/>
                </a:solidFill>
                <a:latin typeface="+mj-lt"/>
              </a:rPr>
              <a:t>The registry</a:t>
            </a:r>
          </a:p>
        </p:txBody>
      </p:sp>
      <p:sp>
        <p:nvSpPr>
          <p:cNvPr id="9" name="TextBox 8"/>
          <p:cNvSpPr txBox="1"/>
          <p:nvPr/>
        </p:nvSpPr>
        <p:spPr>
          <a:xfrm>
            <a:off x="1572768" y="4643323"/>
            <a:ext cx="4343400" cy="1803196"/>
          </a:xfrm>
          <a:prstGeom prst="rect">
            <a:avLst/>
          </a:prstGeom>
          <a:noFill/>
        </p:spPr>
        <p:txBody>
          <a:bodyPr wrap="square" lIns="45720" tIns="27432" rIns="45720" bIns="27432" anchor="t">
            <a:spAutoFit/>
          </a:bodyPr>
          <a:lstStyle/>
          <a:p>
            <a:pPr algn="l"/>
            <a:r>
              <a:rPr sz="1400">
                <a:solidFill>
                  <a:srgbClr val="262626"/>
                </a:solidFill>
              </a:rPr>
              <a:t>One row per patient, modelled on the national HIE. 4,000 people with diabetes across 18 hospitals and health centres in five emirates. 54 columns: HbA1c, blood pressure, lipids, kidney function, therapy, open care gaps, visits, cost.</a:t>
            </a:r>
          </a:p>
        </p:txBody>
      </p:sp>
      <p:sp>
        <p:nvSpPr>
          <p:cNvPr id="10" name="TextBox 9"/>
          <p:cNvSpPr txBox="1"/>
          <p:nvPr/>
        </p:nvSpPr>
        <p:spPr>
          <a:xfrm>
            <a:off x="1572768" y="6492240"/>
            <a:ext cx="4343400" cy="868680"/>
          </a:xfrm>
          <a:prstGeom prst="rect">
            <a:avLst/>
          </a:prstGeom>
          <a:noFill/>
        </p:spPr>
        <p:txBody>
          <a:bodyPr wrap="square" lIns="45720" tIns="27432" rIns="45720" bIns="27432" anchor="b">
            <a:spAutoFit/>
          </a:bodyPr>
          <a:lstStyle/>
          <a:p>
            <a:pPr algn="l"/>
            <a:r>
              <a:rPr sz="1300">
                <a:solidFill>
                  <a:srgbClr val="0766D1"/>
                </a:solidFill>
                <a:latin typeface="+mj-lt"/>
              </a:rPr>
              <a:t>Lives in SAS Viya as a CAS table</a:t>
            </a:r>
          </a:p>
        </p:txBody>
      </p:sp>
      <p:sp>
        <p:nvSpPr>
          <p:cNvPr id="11" name="Rounded Rectangle 10"/>
          <p:cNvSpPr/>
          <p:nvPr/>
        </p:nvSpPr>
        <p:spPr>
          <a:xfrm>
            <a:off x="6647688" y="3200400"/>
            <a:ext cx="4983480" cy="4343400"/>
          </a:xfrm>
          <a:prstGeom prst="roundRect">
            <a:avLst>
              <a:gd name="adj" fmla="val 589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13648" y="2674620"/>
            <a:ext cx="1051560" cy="105156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les_w.png"/>
          <p:cNvPicPr>
            <a:picLocks noChangeAspect="1"/>
          </p:cNvPicPr>
          <p:nvPr/>
        </p:nvPicPr>
        <p:blipFill>
          <a:blip r:embed="rId3"/>
          <a:stretch>
            <a:fillRect/>
          </a:stretch>
        </p:blipFill>
        <p:spPr>
          <a:xfrm>
            <a:off x="8866022" y="2926994"/>
            <a:ext cx="546811" cy="546811"/>
          </a:xfrm>
          <a:prstGeom prst="rect">
            <a:avLst/>
          </a:prstGeom>
        </p:spPr>
      </p:pic>
      <p:sp>
        <p:nvSpPr>
          <p:cNvPr id="14" name="TextBox 13"/>
          <p:cNvSpPr txBox="1"/>
          <p:nvPr/>
        </p:nvSpPr>
        <p:spPr>
          <a:xfrm>
            <a:off x="6922008" y="3957523"/>
            <a:ext cx="4434840" cy="594360"/>
          </a:xfrm>
          <a:prstGeom prst="rect">
            <a:avLst/>
          </a:prstGeom>
          <a:noFill/>
        </p:spPr>
        <p:txBody>
          <a:bodyPr wrap="square" lIns="45720" tIns="27432" rIns="45720" bIns="27432" anchor="t">
            <a:spAutoFit/>
          </a:bodyPr>
          <a:lstStyle/>
          <a:p>
            <a:pPr algn="ctr"/>
            <a:r>
              <a:rPr sz="2100">
                <a:solidFill>
                  <a:srgbClr val="262626"/>
                </a:solidFill>
                <a:latin typeface="+mj-lt"/>
              </a:rPr>
              <a:t>The guidelines</a:t>
            </a:r>
          </a:p>
        </p:txBody>
      </p:sp>
      <p:sp>
        <p:nvSpPr>
          <p:cNvPr id="15" name="TextBox 14"/>
          <p:cNvSpPr txBox="1"/>
          <p:nvPr/>
        </p:nvSpPr>
        <p:spPr>
          <a:xfrm>
            <a:off x="6967728" y="4643323"/>
            <a:ext cx="4343400" cy="1803196"/>
          </a:xfrm>
          <a:prstGeom prst="rect">
            <a:avLst/>
          </a:prstGeom>
          <a:noFill/>
        </p:spPr>
        <p:txBody>
          <a:bodyPr wrap="square" lIns="45720" tIns="27432" rIns="45720" bIns="27432" anchor="t">
            <a:spAutoFit/>
          </a:bodyPr>
          <a:lstStyle/>
          <a:p>
            <a:pPr algn="l"/>
            <a:r>
              <a:rPr sz="1400">
                <a:solidFill>
                  <a:srgbClr val="262626"/>
                </a:solidFill>
              </a:rPr>
              <a:t>Four national documents with numbered sections: type 2 diabetes (NHA-CG-01), cardiovascular risk and lipids (CG-02), hypertension (CG-03), screening and recall (PP-01).</a:t>
            </a:r>
          </a:p>
        </p:txBody>
      </p:sp>
      <p:sp>
        <p:nvSpPr>
          <p:cNvPr id="16" name="TextBox 15"/>
          <p:cNvSpPr txBox="1"/>
          <p:nvPr/>
        </p:nvSpPr>
        <p:spPr>
          <a:xfrm>
            <a:off x="6967728" y="6492240"/>
            <a:ext cx="4343400" cy="868680"/>
          </a:xfrm>
          <a:prstGeom prst="rect">
            <a:avLst/>
          </a:prstGeom>
          <a:noFill/>
        </p:spPr>
        <p:txBody>
          <a:bodyPr wrap="square" lIns="45720" tIns="27432" rIns="45720" bIns="27432" anchor="b">
            <a:spAutoFit/>
          </a:bodyPr>
          <a:lstStyle/>
          <a:p>
            <a:pPr algn="l"/>
            <a:r>
              <a:rPr sz="1300">
                <a:solidFill>
                  <a:srgbClr val="0766D1"/>
                </a:solidFill>
                <a:latin typeface="+mj-lt"/>
              </a:rPr>
              <a:t>Lives in SAS RAM as a collection</a:t>
            </a:r>
          </a:p>
        </p:txBody>
      </p:sp>
      <p:sp>
        <p:nvSpPr>
          <p:cNvPr id="17" name="Rounded Rectangle 16"/>
          <p:cNvSpPr/>
          <p:nvPr/>
        </p:nvSpPr>
        <p:spPr>
          <a:xfrm>
            <a:off x="12042648" y="3200400"/>
            <a:ext cx="4983480" cy="4343400"/>
          </a:xfrm>
          <a:prstGeom prst="roundRect">
            <a:avLst>
              <a:gd name="adj" fmla="val 589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008608" y="2674620"/>
            <a:ext cx="1051560" cy="1051560"/>
          </a:xfrm>
          <a:prstGeom prst="ellipse">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odel_w.png"/>
          <p:cNvPicPr>
            <a:picLocks noChangeAspect="1"/>
          </p:cNvPicPr>
          <p:nvPr/>
        </p:nvPicPr>
        <p:blipFill>
          <a:blip r:embed="rId4"/>
          <a:stretch>
            <a:fillRect/>
          </a:stretch>
        </p:blipFill>
        <p:spPr>
          <a:xfrm>
            <a:off x="14260982" y="2926994"/>
            <a:ext cx="546811" cy="546811"/>
          </a:xfrm>
          <a:prstGeom prst="rect">
            <a:avLst/>
          </a:prstGeom>
        </p:spPr>
      </p:pic>
      <p:sp>
        <p:nvSpPr>
          <p:cNvPr id="20" name="TextBox 19"/>
          <p:cNvSpPr txBox="1"/>
          <p:nvPr/>
        </p:nvSpPr>
        <p:spPr>
          <a:xfrm>
            <a:off x="12316968" y="3957523"/>
            <a:ext cx="4434840" cy="594360"/>
          </a:xfrm>
          <a:prstGeom prst="rect">
            <a:avLst/>
          </a:prstGeom>
          <a:noFill/>
        </p:spPr>
        <p:txBody>
          <a:bodyPr wrap="square" lIns="45720" tIns="27432" rIns="45720" bIns="27432" anchor="t">
            <a:spAutoFit/>
          </a:bodyPr>
          <a:lstStyle/>
          <a:p>
            <a:pPr algn="ctr"/>
            <a:r>
              <a:rPr sz="2100">
                <a:solidFill>
                  <a:srgbClr val="262626"/>
                </a:solidFill>
                <a:latin typeface="+mj-lt"/>
              </a:rPr>
              <a:t>The risk model</a:t>
            </a:r>
          </a:p>
        </p:txBody>
      </p:sp>
      <p:sp>
        <p:nvSpPr>
          <p:cNvPr id="21" name="TextBox 20"/>
          <p:cNvSpPr txBox="1"/>
          <p:nvPr/>
        </p:nvSpPr>
        <p:spPr>
          <a:xfrm>
            <a:off x="12362688" y="4643323"/>
            <a:ext cx="4343400" cy="1803196"/>
          </a:xfrm>
          <a:prstGeom prst="rect">
            <a:avLst/>
          </a:prstGeom>
          <a:noFill/>
        </p:spPr>
        <p:txBody>
          <a:bodyPr wrap="square" lIns="45720" tIns="27432" rIns="45720" bIns="27432" anchor="t">
            <a:spAutoFit/>
          </a:bodyPr>
          <a:lstStyle/>
          <a:p>
            <a:pPr algn="l"/>
            <a:r>
              <a:rPr sz="1400">
                <a:solidFill>
                  <a:srgbClr val="262626"/>
                </a:solidFill>
              </a:rPr>
              <a:t>Who is likely to deteriorate in the next 12 months: an admission for a glucose crisis, a foot infection, kidney injury, or HbA1c climbing past 10%. It happens to one patient in ten.</a:t>
            </a:r>
          </a:p>
        </p:txBody>
      </p:sp>
      <p:sp>
        <p:nvSpPr>
          <p:cNvPr id="22" name="TextBox 21"/>
          <p:cNvSpPr txBox="1"/>
          <p:nvPr/>
        </p:nvSpPr>
        <p:spPr>
          <a:xfrm>
            <a:off x="12362688" y="6492240"/>
            <a:ext cx="4343400" cy="868680"/>
          </a:xfrm>
          <a:prstGeom prst="rect">
            <a:avLst/>
          </a:prstGeom>
          <a:noFill/>
        </p:spPr>
        <p:txBody>
          <a:bodyPr wrap="square" lIns="45720" tIns="27432" rIns="45720" bIns="27432" anchor="b">
            <a:spAutoFit/>
          </a:bodyPr>
          <a:lstStyle/>
          <a:p>
            <a:pPr algn="l"/>
            <a:r>
              <a:rPr sz="1300">
                <a:solidFill>
                  <a:srgbClr val="0766D1"/>
                </a:solidFill>
                <a:latin typeface="+mj-lt"/>
              </a:rPr>
              <a:t>Built in Model Studio, published for scoring</a:t>
            </a:r>
          </a:p>
        </p:txBody>
      </p:sp>
      <p:sp>
        <p:nvSpPr>
          <p:cNvPr id="23" name="Rounded Rectangle 22"/>
          <p:cNvSpPr/>
          <p:nvPr/>
        </p:nvSpPr>
        <p:spPr>
          <a:xfrm>
            <a:off x="1252728" y="7818120"/>
            <a:ext cx="3669030" cy="914400"/>
          </a:xfrm>
          <a:prstGeom prst="roundRect">
            <a:avLst>
              <a:gd name="adj" fmla="val 20000"/>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81328" y="7891272"/>
            <a:ext cx="3211830" cy="457200"/>
          </a:xfrm>
          <a:prstGeom prst="rect">
            <a:avLst/>
          </a:prstGeom>
          <a:noFill/>
        </p:spPr>
        <p:txBody>
          <a:bodyPr wrap="square" lIns="45720" tIns="27432" rIns="45720" bIns="27432" anchor="t">
            <a:spAutoFit/>
          </a:bodyPr>
          <a:lstStyle/>
          <a:p>
            <a:pPr algn="l"/>
            <a:r>
              <a:rPr sz="2400">
                <a:solidFill>
                  <a:srgbClr val="032954"/>
                </a:solidFill>
                <a:latin typeface="+mj-lt"/>
              </a:rPr>
              <a:t>4,000</a:t>
            </a:r>
          </a:p>
        </p:txBody>
      </p:sp>
      <p:sp>
        <p:nvSpPr>
          <p:cNvPr id="25" name="TextBox 24"/>
          <p:cNvSpPr txBox="1"/>
          <p:nvPr/>
        </p:nvSpPr>
        <p:spPr>
          <a:xfrm>
            <a:off x="1481328" y="8348472"/>
            <a:ext cx="3211830" cy="347472"/>
          </a:xfrm>
          <a:prstGeom prst="rect">
            <a:avLst/>
          </a:prstGeom>
          <a:noFill/>
        </p:spPr>
        <p:txBody>
          <a:bodyPr wrap="square" lIns="45720" tIns="27432" rIns="45720" bIns="27432" anchor="t">
            <a:spAutoFit/>
          </a:bodyPr>
          <a:lstStyle/>
          <a:p>
            <a:pPr algn="l"/>
            <a:r>
              <a:rPr sz="1200">
                <a:solidFill>
                  <a:srgbClr val="7E889A"/>
                </a:solidFill>
              </a:rPr>
              <a:t>patients in the registry</a:t>
            </a:r>
          </a:p>
        </p:txBody>
      </p:sp>
      <p:sp>
        <p:nvSpPr>
          <p:cNvPr id="26" name="Rounded Rectangle 25"/>
          <p:cNvSpPr/>
          <p:nvPr/>
        </p:nvSpPr>
        <p:spPr>
          <a:xfrm>
            <a:off x="5287518" y="7818120"/>
            <a:ext cx="3669030" cy="914400"/>
          </a:xfrm>
          <a:prstGeom prst="roundRect">
            <a:avLst>
              <a:gd name="adj" fmla="val 20000"/>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16118" y="7891272"/>
            <a:ext cx="3211830" cy="457200"/>
          </a:xfrm>
          <a:prstGeom prst="rect">
            <a:avLst/>
          </a:prstGeom>
          <a:noFill/>
        </p:spPr>
        <p:txBody>
          <a:bodyPr wrap="square" lIns="45720" tIns="27432" rIns="45720" bIns="27432" anchor="t">
            <a:spAutoFit/>
          </a:bodyPr>
          <a:lstStyle/>
          <a:p>
            <a:pPr algn="l"/>
            <a:r>
              <a:rPr sz="2400">
                <a:solidFill>
                  <a:srgbClr val="032954"/>
                </a:solidFill>
                <a:latin typeface="+mj-lt"/>
              </a:rPr>
              <a:t>34.9%</a:t>
            </a:r>
          </a:p>
        </p:txBody>
      </p:sp>
      <p:sp>
        <p:nvSpPr>
          <p:cNvPr id="28" name="TextBox 27"/>
          <p:cNvSpPr txBox="1"/>
          <p:nvPr/>
        </p:nvSpPr>
        <p:spPr>
          <a:xfrm>
            <a:off x="5516118" y="8348472"/>
            <a:ext cx="3211830" cy="347472"/>
          </a:xfrm>
          <a:prstGeom prst="rect">
            <a:avLst/>
          </a:prstGeom>
          <a:noFill/>
        </p:spPr>
        <p:txBody>
          <a:bodyPr wrap="square" lIns="45720" tIns="27432" rIns="45720" bIns="27432" anchor="t">
            <a:spAutoFit/>
          </a:bodyPr>
          <a:lstStyle/>
          <a:p>
            <a:pPr algn="l"/>
            <a:r>
              <a:rPr sz="1200">
                <a:solidFill>
                  <a:srgbClr val="7E889A"/>
                </a:solidFill>
              </a:rPr>
              <a:t>well controlled (HbA1c below 7%)</a:t>
            </a:r>
          </a:p>
        </p:txBody>
      </p:sp>
      <p:sp>
        <p:nvSpPr>
          <p:cNvPr id="29" name="Rounded Rectangle 28"/>
          <p:cNvSpPr/>
          <p:nvPr/>
        </p:nvSpPr>
        <p:spPr>
          <a:xfrm>
            <a:off x="9322308" y="7818120"/>
            <a:ext cx="3669030" cy="914400"/>
          </a:xfrm>
          <a:prstGeom prst="roundRect">
            <a:avLst>
              <a:gd name="adj" fmla="val 20000"/>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50908" y="7891272"/>
            <a:ext cx="3211830" cy="457200"/>
          </a:xfrm>
          <a:prstGeom prst="rect">
            <a:avLst/>
          </a:prstGeom>
          <a:noFill/>
        </p:spPr>
        <p:txBody>
          <a:bodyPr wrap="square" lIns="45720" tIns="27432" rIns="45720" bIns="27432" anchor="t">
            <a:spAutoFit/>
          </a:bodyPr>
          <a:lstStyle/>
          <a:p>
            <a:pPr algn="l"/>
            <a:r>
              <a:rPr sz="2400">
                <a:solidFill>
                  <a:srgbClr val="032954"/>
                </a:solidFill>
                <a:latin typeface="+mj-lt"/>
              </a:rPr>
              <a:t>AED 64.0M</a:t>
            </a:r>
          </a:p>
        </p:txBody>
      </p:sp>
      <p:sp>
        <p:nvSpPr>
          <p:cNvPr id="31" name="TextBox 30"/>
          <p:cNvSpPr txBox="1"/>
          <p:nvPr/>
        </p:nvSpPr>
        <p:spPr>
          <a:xfrm>
            <a:off x="9550908" y="8348472"/>
            <a:ext cx="3211830" cy="347472"/>
          </a:xfrm>
          <a:prstGeom prst="rect">
            <a:avLst/>
          </a:prstGeom>
          <a:noFill/>
        </p:spPr>
        <p:txBody>
          <a:bodyPr wrap="square" lIns="45720" tIns="27432" rIns="45720" bIns="27432" anchor="t">
            <a:spAutoFit/>
          </a:bodyPr>
          <a:lstStyle/>
          <a:p>
            <a:pPr algn="l"/>
            <a:r>
              <a:rPr sz="1200">
                <a:solidFill>
                  <a:srgbClr val="7E889A"/>
                </a:solidFill>
              </a:rPr>
              <a:t>annual cost, last 12 months</a:t>
            </a:r>
          </a:p>
        </p:txBody>
      </p:sp>
      <p:sp>
        <p:nvSpPr>
          <p:cNvPr id="32" name="Rounded Rectangle 31"/>
          <p:cNvSpPr/>
          <p:nvPr/>
        </p:nvSpPr>
        <p:spPr>
          <a:xfrm>
            <a:off x="13357098" y="7818120"/>
            <a:ext cx="3669030" cy="914400"/>
          </a:xfrm>
          <a:prstGeom prst="roundRect">
            <a:avLst>
              <a:gd name="adj" fmla="val 20000"/>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585698" y="7891272"/>
            <a:ext cx="3211830" cy="457200"/>
          </a:xfrm>
          <a:prstGeom prst="rect">
            <a:avLst/>
          </a:prstGeom>
          <a:noFill/>
        </p:spPr>
        <p:txBody>
          <a:bodyPr wrap="square" lIns="45720" tIns="27432" rIns="45720" bIns="27432" anchor="t">
            <a:spAutoFit/>
          </a:bodyPr>
          <a:lstStyle/>
          <a:p>
            <a:pPr algn="l"/>
            <a:r>
              <a:rPr sz="2400">
                <a:solidFill>
                  <a:srgbClr val="032954"/>
                </a:solidFill>
                <a:latin typeface="+mj-lt"/>
              </a:rPr>
              <a:t>10.4%</a:t>
            </a:r>
          </a:p>
        </p:txBody>
      </p:sp>
      <p:sp>
        <p:nvSpPr>
          <p:cNvPr id="34" name="TextBox 33"/>
          <p:cNvSpPr txBox="1"/>
          <p:nvPr/>
        </p:nvSpPr>
        <p:spPr>
          <a:xfrm>
            <a:off x="13585698" y="8348472"/>
            <a:ext cx="3211830" cy="347472"/>
          </a:xfrm>
          <a:prstGeom prst="rect">
            <a:avLst/>
          </a:prstGeom>
          <a:noFill/>
        </p:spPr>
        <p:txBody>
          <a:bodyPr wrap="square" lIns="45720" tIns="27432" rIns="45720" bIns="27432" anchor="t">
            <a:spAutoFit/>
          </a:bodyPr>
          <a:lstStyle/>
          <a:p>
            <a:pPr algn="l"/>
            <a:r>
              <a:rPr sz="1200">
                <a:solidFill>
                  <a:srgbClr val="7E889A"/>
                </a:solidFill>
              </a:rPr>
              <a:t>had a deterioration event in 12 months</a:t>
            </a:r>
          </a:p>
        </p:txBody>
      </p:sp>
      <p:sp>
        <p:nvSpPr>
          <p:cNvPr id="35" name="TextBox 34"/>
          <p:cNvSpPr txBox="1"/>
          <p:nvPr/>
        </p:nvSpPr>
        <p:spPr>
          <a:xfrm>
            <a:off x="1252728" y="8915400"/>
            <a:ext cx="15773400" cy="411480"/>
          </a:xfrm>
          <a:prstGeom prst="rect">
            <a:avLst/>
          </a:prstGeom>
          <a:noFill/>
        </p:spPr>
        <p:txBody>
          <a:bodyPr wrap="square" lIns="45720" tIns="27432" rIns="45720" bIns="27432" anchor="t">
            <a:spAutoFit/>
          </a:bodyPr>
          <a:lstStyle/>
          <a:p>
            <a:pPr algn="l"/>
            <a:r>
              <a:rPr sz="1300">
                <a:solidFill>
                  <a:srgbClr val="7E889A"/>
                </a:solidFill>
              </a:rPr>
              <a:t>Synthetic patients and teaching guidelines. The numbers are real for this data, not for EHS. Not for clinical use.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600"/>
              <a:t>Solution overview</a:t>
            </a:r>
          </a:p>
        </p:txBody>
      </p:sp>
      <p:sp>
        <p:nvSpPr>
          <p:cNvPr id="3" name="Text Placeholder 2"/>
          <p:cNvSpPr>
            <a:spLocks noGrp="1"/>
          </p:cNvSpPr>
          <p:nvPr>
            <p:ph type="body" idx="10" sz="quarter"/>
          </p:nvPr>
        </p:nvSpPr>
        <p:spPr/>
        <p:txBody>
          <a:bodyPr/>
          <a:lstStyle/>
          <a:p>
            <a:r>
              <a:rPr sz="3000"/>
              <a:t>How the pieces fit: data, agent, MCP server and tools</a:t>
            </a:r>
          </a:p>
        </p:txBody>
      </p:sp>
      <p:sp>
        <p:nvSpPr>
          <p:cNvPr id="5" name="TextBox 4"/>
          <p:cNvSpPr txBox="1"/>
          <p:nvPr/>
        </p:nvSpPr>
        <p:spPr>
          <a:xfrm>
            <a:off x="1252728" y="2651760"/>
            <a:ext cx="3931920" cy="365760"/>
          </a:xfrm>
          <a:prstGeom prst="rect">
            <a:avLst/>
          </a:prstGeom>
          <a:noFill/>
        </p:spPr>
        <p:txBody>
          <a:bodyPr wrap="square" lIns="45720" tIns="27432" rIns="45720" bIns="27432" anchor="t">
            <a:spAutoFit/>
          </a:bodyPr>
          <a:lstStyle/>
          <a:p>
            <a:pPr algn="ctr"/>
            <a:r>
              <a:rPr sz="1600">
                <a:solidFill>
                  <a:srgbClr val="0766D1"/>
                </a:solidFill>
                <a:latin typeface="+mj-lt"/>
              </a:rPr>
              <a:t>Unstructured data</a:t>
            </a:r>
          </a:p>
        </p:txBody>
      </p:sp>
      <p:sp>
        <p:nvSpPr>
          <p:cNvPr id="6" name="Rounded Rectangle 5"/>
          <p:cNvSpPr/>
          <p:nvPr/>
        </p:nvSpPr>
        <p:spPr>
          <a:xfrm>
            <a:off x="1252728" y="3017520"/>
            <a:ext cx="3931920" cy="2926080"/>
          </a:xfrm>
          <a:prstGeom prst="roundRect">
            <a:avLst>
              <a:gd name="adj" fmla="val 7812"/>
            </a:avLst>
          </a:prstGeom>
          <a:noFill/>
          <a:ln w="15875">
            <a:solidFill>
              <a:srgbClr val="0766D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27048" y="3200400"/>
            <a:ext cx="3383280" cy="640080"/>
          </a:xfrm>
          <a:prstGeom prst="roundRect">
            <a:avLst>
              <a:gd name="adj" fmla="val 17142"/>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300">
                <a:solidFill>
                  <a:srgbClr val="262626"/>
                </a:solidFill>
                <a:latin typeface="+mj-lt"/>
              </a:rPr>
              <a:t>Clinical guidelines &amp; policy documents</a:t>
            </a:r>
          </a:p>
        </p:txBody>
      </p:sp>
      <p:sp>
        <p:nvSpPr>
          <p:cNvPr id="8" name="TextBox 7"/>
          <p:cNvSpPr txBox="1"/>
          <p:nvPr/>
        </p:nvSpPr>
        <p:spPr>
          <a:xfrm>
            <a:off x="1527048" y="3858768"/>
            <a:ext cx="3383280" cy="457200"/>
          </a:xfrm>
          <a:prstGeom prst="rect">
            <a:avLst/>
          </a:prstGeom>
          <a:noFill/>
        </p:spPr>
        <p:txBody>
          <a:bodyPr wrap="square" lIns="45720" tIns="27432" rIns="45720" bIns="27432" anchor="t">
            <a:spAutoFit/>
          </a:bodyPr>
          <a:lstStyle/>
          <a:p>
            <a:pPr algn="ctr"/>
            <a:r>
              <a:rPr sz="1100">
                <a:solidFill>
                  <a:srgbClr val="7E889A"/>
                </a:solidFill>
              </a:rPr>
              <a:t>National clinical guidelines, care protocols, policy frameworks</a:t>
            </a:r>
          </a:p>
        </p:txBody>
      </p:sp>
      <p:sp>
        <p:nvSpPr>
          <p:cNvPr id="9" name="Down Arrow 8"/>
          <p:cNvSpPr/>
          <p:nvPr/>
        </p:nvSpPr>
        <p:spPr>
          <a:xfrm>
            <a:off x="3063240" y="4315968"/>
            <a:ext cx="310896" cy="292608"/>
          </a:xfrm>
          <a:prstGeom prst="down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801368" y="4645152"/>
            <a:ext cx="2834640" cy="475488"/>
          </a:xfrm>
          <a:prstGeom prst="roundRect">
            <a:avLst>
              <a:gd name="adj" fmla="val 1923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300">
                <a:solidFill>
                  <a:srgbClr val="032954"/>
                </a:solidFill>
                <a:latin typeface="+mj-lt"/>
              </a:rPr>
              <a:t>Embedding model</a:t>
            </a:r>
          </a:p>
        </p:txBody>
      </p:sp>
      <p:sp>
        <p:nvSpPr>
          <p:cNvPr id="11" name="Down Arrow 10"/>
          <p:cNvSpPr/>
          <p:nvPr/>
        </p:nvSpPr>
        <p:spPr>
          <a:xfrm>
            <a:off x="3063240" y="5157216"/>
            <a:ext cx="310896" cy="274320"/>
          </a:xfrm>
          <a:prstGeom prst="down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27048" y="5449824"/>
            <a:ext cx="3383280" cy="457200"/>
          </a:xfrm>
          <a:prstGeom prst="roundRect">
            <a:avLst>
              <a:gd name="adj" fmla="val 20000"/>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300">
                <a:solidFill>
                  <a:srgbClr val="FFFFFF"/>
                </a:solidFill>
                <a:latin typeface="+mj-lt"/>
              </a:rPr>
              <a:t>Vector store (RAG)</a:t>
            </a:r>
          </a:p>
        </p:txBody>
      </p:sp>
      <p:sp>
        <p:nvSpPr>
          <p:cNvPr id="13" name="TextBox 12"/>
          <p:cNvSpPr txBox="1"/>
          <p:nvPr/>
        </p:nvSpPr>
        <p:spPr>
          <a:xfrm>
            <a:off x="1252728" y="6126480"/>
            <a:ext cx="3931920" cy="365760"/>
          </a:xfrm>
          <a:prstGeom prst="rect">
            <a:avLst/>
          </a:prstGeom>
          <a:noFill/>
        </p:spPr>
        <p:txBody>
          <a:bodyPr wrap="square" lIns="45720" tIns="27432" rIns="45720" bIns="27432" anchor="t">
            <a:spAutoFit/>
          </a:bodyPr>
          <a:lstStyle/>
          <a:p>
            <a:pPr algn="ctr"/>
            <a:r>
              <a:rPr sz="1600">
                <a:solidFill>
                  <a:srgbClr val="0766D1"/>
                </a:solidFill>
                <a:latin typeface="+mj-lt"/>
              </a:rPr>
              <a:t>Structured data</a:t>
            </a:r>
          </a:p>
        </p:txBody>
      </p:sp>
      <p:sp>
        <p:nvSpPr>
          <p:cNvPr id="14" name="Rounded Rectangle 13"/>
          <p:cNvSpPr/>
          <p:nvPr/>
        </p:nvSpPr>
        <p:spPr>
          <a:xfrm>
            <a:off x="1252728" y="6492240"/>
            <a:ext cx="3931920" cy="1783080"/>
          </a:xfrm>
          <a:prstGeom prst="roundRect">
            <a:avLst>
              <a:gd name="adj" fmla="val 12820"/>
            </a:avLst>
          </a:prstGeom>
          <a:noFill/>
          <a:ln w="15875">
            <a:solidFill>
              <a:srgbClr val="0766D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27048" y="6675120"/>
            <a:ext cx="3383280" cy="640080"/>
          </a:xfrm>
          <a:prstGeom prst="roundRect">
            <a:avLst>
              <a:gd name="adj" fmla="val 17142"/>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300">
                <a:solidFill>
                  <a:srgbClr val="262626"/>
                </a:solidFill>
                <a:latin typeface="+mj-lt"/>
              </a:rPr>
              <a:t>National HIE  ·  diabetes registry</a:t>
            </a:r>
          </a:p>
        </p:txBody>
      </p:sp>
      <p:sp>
        <p:nvSpPr>
          <p:cNvPr id="16" name="TextBox 15"/>
          <p:cNvSpPr txBox="1"/>
          <p:nvPr/>
        </p:nvSpPr>
        <p:spPr>
          <a:xfrm>
            <a:off x="1527048" y="7360920"/>
            <a:ext cx="3383280" cy="685800"/>
          </a:xfrm>
          <a:prstGeom prst="rect">
            <a:avLst/>
          </a:prstGeom>
          <a:noFill/>
        </p:spPr>
        <p:txBody>
          <a:bodyPr wrap="square" lIns="45720" tIns="27432" rIns="45720" bIns="27432" anchor="t">
            <a:spAutoFit/>
          </a:bodyPr>
          <a:lstStyle/>
          <a:p>
            <a:pPr algn="ctr"/>
            <a:r>
              <a:rPr sz="1100">
                <a:solidFill>
                  <a:srgbClr val="7E889A"/>
                </a:solidFill>
              </a:rPr>
              <a:t>Structured tabular data: patients, encounters, diagnoses, facilities</a:t>
            </a:r>
          </a:p>
        </p:txBody>
      </p:sp>
      <p:sp>
        <p:nvSpPr>
          <p:cNvPr id="17" name="TextBox 16"/>
          <p:cNvSpPr txBox="1"/>
          <p:nvPr/>
        </p:nvSpPr>
        <p:spPr>
          <a:xfrm>
            <a:off x="5184648" y="4069080"/>
            <a:ext cx="1216152" cy="365760"/>
          </a:xfrm>
          <a:prstGeom prst="rect">
            <a:avLst/>
          </a:prstGeom>
          <a:noFill/>
        </p:spPr>
        <p:txBody>
          <a:bodyPr wrap="square" lIns="45720" tIns="27432" rIns="45720" bIns="27432" anchor="t">
            <a:spAutoFit/>
          </a:bodyPr>
          <a:lstStyle/>
          <a:p>
            <a:pPr algn="ctr"/>
            <a:r>
              <a:rPr sz="1200">
                <a:solidFill>
                  <a:srgbClr val="0766D1"/>
                </a:solidFill>
                <a:latin typeface="+mj-lt"/>
              </a:rPr>
              <a:t>Agentic retrieval</a:t>
            </a:r>
          </a:p>
        </p:txBody>
      </p:sp>
      <p:sp>
        <p:nvSpPr>
          <p:cNvPr id="18" name="Right Arrow 17"/>
          <p:cNvSpPr/>
          <p:nvPr/>
        </p:nvSpPr>
        <p:spPr>
          <a:xfrm>
            <a:off x="5257800" y="4434840"/>
            <a:ext cx="1069848" cy="329184"/>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2743200"/>
            <a:ext cx="4023360" cy="4892040"/>
          </a:xfrm>
          <a:prstGeom prst="roundRect">
            <a:avLst>
              <a:gd name="adj" fmla="val 6363"/>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2971800"/>
            <a:ext cx="3474720" cy="502920"/>
          </a:xfrm>
          <a:prstGeom prst="rect">
            <a:avLst/>
          </a:prstGeom>
          <a:noFill/>
        </p:spPr>
        <p:txBody>
          <a:bodyPr wrap="square" lIns="45720" tIns="27432" rIns="45720" bIns="27432" anchor="t">
            <a:spAutoFit/>
          </a:bodyPr>
          <a:lstStyle/>
          <a:p>
            <a:pPr algn="ctr"/>
            <a:r>
              <a:rPr sz="2000">
                <a:solidFill>
                  <a:srgbClr val="FFFFFF"/>
                </a:solidFill>
                <a:latin typeface="+mj-lt"/>
              </a:rPr>
              <a:t>Population Health Agent</a:t>
            </a:r>
          </a:p>
        </p:txBody>
      </p:sp>
      <p:sp>
        <p:nvSpPr>
          <p:cNvPr id="21" name="Rectangle 20"/>
          <p:cNvSpPr/>
          <p:nvPr/>
        </p:nvSpPr>
        <p:spPr>
          <a:xfrm>
            <a:off x="7223760" y="3520440"/>
            <a:ext cx="2377440" cy="27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3657600"/>
            <a:ext cx="3474720" cy="1325880"/>
          </a:xfrm>
          <a:prstGeom prst="rect">
            <a:avLst/>
          </a:prstGeom>
          <a:noFill/>
        </p:spPr>
        <p:txBody>
          <a:bodyPr wrap="square" lIns="45720" tIns="27432" rIns="45720" bIns="27432" anchor="t">
            <a:spAutoFit/>
          </a:bodyPr>
          <a:lstStyle/>
          <a:p>
            <a:pPr algn="ctr"/>
            <a:r>
              <a:rPr sz="1400">
                <a:solidFill>
                  <a:srgbClr val="FFFFFF"/>
                </a:solidFill>
              </a:rPr>
              <a:t>Answers questions about patients, cohorts, cost and policy, and shows where every answer came from</a:t>
            </a:r>
          </a:p>
        </p:txBody>
      </p:sp>
      <p:sp>
        <p:nvSpPr>
          <p:cNvPr id="23" name="Rounded Rectangle 22"/>
          <p:cNvSpPr/>
          <p:nvPr/>
        </p:nvSpPr>
        <p:spPr>
          <a:xfrm>
            <a:off x="6675120" y="5120640"/>
            <a:ext cx="3474720" cy="2286000"/>
          </a:xfrm>
          <a:prstGeom prst="roundRect">
            <a:avLst>
              <a:gd name="adj" fmla="val 7199"/>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5257800"/>
            <a:ext cx="3108960" cy="2057400"/>
          </a:xfrm>
          <a:prstGeom prst="rect">
            <a:avLst/>
          </a:prstGeom>
          <a:noFill/>
        </p:spPr>
        <p:txBody>
          <a:bodyPr wrap="square" lIns="45720" tIns="27432" rIns="45720" bIns="27432" anchor="ctr">
            <a:spAutoFit/>
          </a:bodyPr>
          <a:lstStyle/>
          <a:p>
            <a:pPr algn="l" marL="237744" indent="-237744">
              <a:buClr>
                <a:srgbClr val="0766D1"/>
              </a:buClr>
              <a:buFont typeface="Arial"/>
              <a:buChar char="•"/>
            </a:pPr>
            <a:r>
              <a:rPr sz="1300">
                <a:solidFill>
                  <a:srgbClr val="032954"/>
                </a:solidFill>
                <a:latin typeface="+mj-lt"/>
              </a:rPr>
              <a:t>Orchestrator</a:t>
            </a:r>
            <a:r>
              <a:rPr sz="1300">
                <a:solidFill>
                  <a:srgbClr val="032954"/>
                </a:solidFill>
              </a:rPr>
              <a:t>  ·  picks the next tool</a:t>
            </a:r>
          </a:p>
          <a:p>
            <a:pPr algn="l" marL="237744" indent="-237744">
              <a:spcBef>
                <a:spcPts val="400"/>
              </a:spcBef>
              <a:buClr>
                <a:srgbClr val="0766D1"/>
              </a:buClr>
              <a:buFont typeface="Arial"/>
              <a:buChar char="•"/>
            </a:pPr>
            <a:r>
              <a:rPr sz="1300">
                <a:solidFill>
                  <a:srgbClr val="032954"/>
                </a:solidFill>
                <a:latin typeface="+mj-lt"/>
              </a:rPr>
              <a:t>Guideline grounding</a:t>
            </a:r>
            <a:r>
              <a:rPr sz="1300">
                <a:solidFill>
                  <a:srgbClr val="032954"/>
                </a:solidFill>
              </a:rPr>
              <a:t>  ·  quotes the section</a:t>
            </a:r>
          </a:p>
          <a:p>
            <a:pPr algn="l" marL="237744" indent="-237744">
              <a:spcBef>
                <a:spcPts val="400"/>
              </a:spcBef>
              <a:buClr>
                <a:srgbClr val="0766D1"/>
              </a:buClr>
              <a:buFont typeface="Arial"/>
              <a:buChar char="•"/>
            </a:pPr>
            <a:r>
              <a:rPr sz="1300">
                <a:solidFill>
                  <a:srgbClr val="032954"/>
                </a:solidFill>
                <a:latin typeface="+mj-lt"/>
              </a:rPr>
              <a:t>Audit log</a:t>
            </a:r>
            <a:r>
              <a:rPr sz="1300">
                <a:solidFill>
                  <a:srgbClr val="032954"/>
                </a:solidFill>
              </a:rPr>
              <a:t>  ·  every call on record</a:t>
            </a:r>
          </a:p>
        </p:txBody>
      </p:sp>
      <p:sp>
        <p:nvSpPr>
          <p:cNvPr id="25" name="Right Arrow 24"/>
          <p:cNvSpPr/>
          <p:nvPr/>
        </p:nvSpPr>
        <p:spPr>
          <a:xfrm>
            <a:off x="10497312" y="4434840"/>
            <a:ext cx="676656" cy="329184"/>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1247120" y="3520440"/>
            <a:ext cx="2103120" cy="2103120"/>
          </a:xfrm>
          <a:prstGeom prst="roundRect">
            <a:avLst>
              <a:gd name="adj" fmla="val 13043"/>
            </a:avLst>
          </a:prstGeom>
          <a:solidFill>
            <a:srgbClr val="C4DEFD"/>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usb_n.png"/>
          <p:cNvPicPr>
            <a:picLocks noChangeAspect="1"/>
          </p:cNvPicPr>
          <p:nvPr/>
        </p:nvPicPr>
        <p:blipFill>
          <a:blip r:embed="rId2"/>
          <a:stretch>
            <a:fillRect/>
          </a:stretch>
        </p:blipFill>
        <p:spPr>
          <a:xfrm>
            <a:off x="11932920" y="3794760"/>
            <a:ext cx="731520" cy="731520"/>
          </a:xfrm>
          <a:prstGeom prst="rect">
            <a:avLst/>
          </a:prstGeom>
        </p:spPr>
      </p:pic>
      <p:sp>
        <p:nvSpPr>
          <p:cNvPr id="28" name="TextBox 27"/>
          <p:cNvSpPr txBox="1"/>
          <p:nvPr/>
        </p:nvSpPr>
        <p:spPr>
          <a:xfrm>
            <a:off x="11247120" y="4617720"/>
            <a:ext cx="2103120" cy="822960"/>
          </a:xfrm>
          <a:prstGeom prst="rect">
            <a:avLst/>
          </a:prstGeom>
          <a:noFill/>
        </p:spPr>
        <p:txBody>
          <a:bodyPr wrap="square" lIns="45720" tIns="27432" rIns="45720" bIns="27432" anchor="t">
            <a:spAutoFit/>
          </a:bodyPr>
          <a:lstStyle/>
          <a:p>
            <a:pPr algn="ctr"/>
            <a:r>
              <a:rPr sz="1800">
                <a:solidFill>
                  <a:srgbClr val="032954"/>
                </a:solidFill>
                <a:latin typeface="+mj-lt"/>
              </a:rPr>
              <a:t>MCP server</a:t>
            </a:r>
          </a:p>
          <a:p>
            <a:pPr algn="ctr"/>
            <a:r>
              <a:rPr sz="1100">
                <a:solidFill>
                  <a:srgbClr val="032954"/>
                </a:solidFill>
              </a:rPr>
              <a:t>one plug, every tool</a:t>
            </a:r>
          </a:p>
        </p:txBody>
      </p:sp>
      <p:sp>
        <p:nvSpPr>
          <p:cNvPr id="29" name="TextBox 28"/>
          <p:cNvSpPr txBox="1"/>
          <p:nvPr/>
        </p:nvSpPr>
        <p:spPr>
          <a:xfrm>
            <a:off x="14081760" y="2651760"/>
            <a:ext cx="2944368" cy="365760"/>
          </a:xfrm>
          <a:prstGeom prst="rect">
            <a:avLst/>
          </a:prstGeom>
          <a:noFill/>
        </p:spPr>
        <p:txBody>
          <a:bodyPr wrap="square" lIns="45720" tIns="27432" rIns="45720" bIns="27432" anchor="t">
            <a:spAutoFit/>
          </a:bodyPr>
          <a:lstStyle/>
          <a:p>
            <a:pPr algn="ctr"/>
            <a:r>
              <a:rPr sz="1600">
                <a:solidFill>
                  <a:srgbClr val="0766D1"/>
                </a:solidFill>
                <a:latin typeface="+mj-lt"/>
              </a:rPr>
              <a:t>Tools</a:t>
            </a:r>
          </a:p>
        </p:txBody>
      </p:sp>
      <p:sp>
        <p:nvSpPr>
          <p:cNvPr id="30" name="Rounded Rectangle 29"/>
          <p:cNvSpPr/>
          <p:nvPr/>
        </p:nvSpPr>
        <p:spPr>
          <a:xfrm>
            <a:off x="14081760" y="3108960"/>
            <a:ext cx="2944368" cy="658368"/>
          </a:xfrm>
          <a:prstGeom prst="roundRect">
            <a:avLst>
              <a:gd name="adj" fmla="val 13888"/>
            </a:avLst>
          </a:prstGeom>
          <a:solidFill>
            <a:srgbClr val="7E889A"/>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1200">
                <a:solidFill>
                  <a:srgbClr val="FFFFFF"/>
                </a:solidFill>
                <a:latin typeface="+mj-lt"/>
              </a:rPr>
              <a:t>Run &amp; build ML model (forecasting, simulation)</a:t>
            </a:r>
          </a:p>
        </p:txBody>
      </p:sp>
      <p:cxnSp>
        <p:nvCxnSpPr>
          <p:cNvPr id="31" name="Connector 30"/>
          <p:cNvCxnSpPr/>
          <p:nvPr/>
        </p:nvCxnSpPr>
        <p:spPr>
          <a:xfrm flipV="1">
            <a:off x="13386816" y="3438144"/>
            <a:ext cx="649224" cy="1133856"/>
          </a:xfrm>
          <a:prstGeom prst="line">
            <a:avLst/>
          </a:prstGeom>
          <a:ln w="19050">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4081760" y="3968496"/>
            <a:ext cx="2944368" cy="658368"/>
          </a:xfrm>
          <a:prstGeom prst="roundRect">
            <a:avLst>
              <a:gd name="adj" fmla="val 13888"/>
            </a:avLst>
          </a:prstGeom>
          <a:solidFill>
            <a:srgbClr val="C4DEFD"/>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1200">
                <a:solidFill>
                  <a:srgbClr val="032954"/>
                </a:solidFill>
                <a:latin typeface="+mj-lt"/>
              </a:rPr>
              <a:t>Run decision flow (SAS Intelligent Decisioning)</a:t>
            </a:r>
          </a:p>
        </p:txBody>
      </p:sp>
      <p:cxnSp>
        <p:nvCxnSpPr>
          <p:cNvPr id="33" name="Connector 32"/>
          <p:cNvCxnSpPr/>
          <p:nvPr/>
        </p:nvCxnSpPr>
        <p:spPr>
          <a:xfrm flipV="1">
            <a:off x="13386816" y="4297680"/>
            <a:ext cx="649224" cy="274320"/>
          </a:xfrm>
          <a:prstGeom prst="line">
            <a:avLst/>
          </a:prstGeom>
          <a:ln w="19050">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4081760" y="4828031"/>
            <a:ext cx="2944368" cy="658368"/>
          </a:xfrm>
          <a:prstGeom prst="roundRect">
            <a:avLst>
              <a:gd name="adj" fmla="val 13888"/>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1200">
                <a:solidFill>
                  <a:srgbClr val="FFFFFF"/>
                </a:solidFill>
                <a:latin typeface="+mj-lt"/>
              </a:rPr>
              <a:t>Generate charts</a:t>
            </a:r>
          </a:p>
        </p:txBody>
      </p:sp>
      <p:cxnSp>
        <p:nvCxnSpPr>
          <p:cNvPr id="35" name="Connector 34"/>
          <p:cNvCxnSpPr/>
          <p:nvPr/>
        </p:nvCxnSpPr>
        <p:spPr>
          <a:xfrm>
            <a:off x="13386816" y="4572000"/>
            <a:ext cx="649224" cy="585216"/>
          </a:xfrm>
          <a:prstGeom prst="line">
            <a:avLst/>
          </a:prstGeom>
          <a:ln w="19050">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4081760" y="5687568"/>
            <a:ext cx="2944368" cy="658368"/>
          </a:xfrm>
          <a:prstGeom prst="roundRect">
            <a:avLst>
              <a:gd name="adj" fmla="val 13888"/>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1200">
                <a:solidFill>
                  <a:srgbClr val="FFFFFF"/>
                </a:solidFill>
                <a:latin typeface="+mj-lt"/>
              </a:rPr>
              <a:t>Query data (SQL)</a:t>
            </a:r>
          </a:p>
        </p:txBody>
      </p:sp>
      <p:cxnSp>
        <p:nvCxnSpPr>
          <p:cNvPr id="37" name="Connector 36"/>
          <p:cNvCxnSpPr/>
          <p:nvPr/>
        </p:nvCxnSpPr>
        <p:spPr>
          <a:xfrm>
            <a:off x="13386816" y="4572000"/>
            <a:ext cx="649224" cy="1444752"/>
          </a:xfrm>
          <a:prstGeom prst="line">
            <a:avLst/>
          </a:prstGeom>
          <a:ln w="19050">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38" name="Picture 37" descr="table_b.png"/>
          <p:cNvPicPr>
            <a:picLocks noChangeAspect="1"/>
          </p:cNvPicPr>
          <p:nvPr/>
        </p:nvPicPr>
        <p:blipFill>
          <a:blip r:embed="rId3"/>
          <a:stretch>
            <a:fillRect/>
          </a:stretch>
        </p:blipFill>
        <p:spPr>
          <a:xfrm>
            <a:off x="6720840" y="7790688"/>
            <a:ext cx="457200" cy="457200"/>
          </a:xfrm>
          <a:prstGeom prst="rect">
            <a:avLst/>
          </a:prstGeom>
        </p:spPr>
      </p:pic>
      <p:sp>
        <p:nvSpPr>
          <p:cNvPr id="39" name="TextBox 38"/>
          <p:cNvSpPr txBox="1"/>
          <p:nvPr/>
        </p:nvSpPr>
        <p:spPr>
          <a:xfrm>
            <a:off x="7269480" y="7772400"/>
            <a:ext cx="3291840" cy="457200"/>
          </a:xfrm>
          <a:prstGeom prst="rect">
            <a:avLst/>
          </a:prstGeom>
          <a:noFill/>
        </p:spPr>
        <p:txBody>
          <a:bodyPr wrap="square" lIns="45720" tIns="27432" rIns="45720" bIns="27432" anchor="ctr">
            <a:spAutoFit/>
          </a:bodyPr>
          <a:lstStyle/>
          <a:p>
            <a:pPr algn="l"/>
            <a:r>
              <a:rPr sz="1600">
                <a:solidFill>
                  <a:srgbClr val="0766D1"/>
                </a:solidFill>
                <a:latin typeface="+mj-lt"/>
              </a:rPr>
              <a:t>CAS table (SAS Viya)</a:t>
            </a:r>
          </a:p>
        </p:txBody>
      </p:sp>
      <p:cxnSp>
        <p:nvCxnSpPr>
          <p:cNvPr id="40" name="Connector 39"/>
          <p:cNvCxnSpPr/>
          <p:nvPr/>
        </p:nvCxnSpPr>
        <p:spPr>
          <a:xfrm>
            <a:off x="5184648" y="7315200"/>
            <a:ext cx="1490472" cy="685800"/>
          </a:xfrm>
          <a:prstGeom prst="line">
            <a:avLst/>
          </a:prstGeom>
          <a:ln w="19050">
            <a:solidFill>
              <a:srgbClr val="0766D1"/>
            </a:solidFill>
            <a:prstDash val="sysDot"/>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9966960" y="6364223"/>
            <a:ext cx="5586984" cy="1636777"/>
          </a:xfrm>
          <a:prstGeom prst="line">
            <a:avLst/>
          </a:prstGeom>
          <a:ln w="19050">
            <a:solidFill>
              <a:srgbClr val="0766D1"/>
            </a:solidFill>
            <a:prstDash val="sysDot"/>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42" name="Picture 41" descr="check_b.png"/>
          <p:cNvPicPr>
            <a:picLocks noChangeAspect="1"/>
          </p:cNvPicPr>
          <p:nvPr/>
        </p:nvPicPr>
        <p:blipFill>
          <a:blip r:embed="rId4"/>
          <a:stretch>
            <a:fillRect/>
          </a:stretch>
        </p:blipFill>
        <p:spPr>
          <a:xfrm>
            <a:off x="1252728" y="8613648"/>
            <a:ext cx="365760" cy="365760"/>
          </a:xfrm>
          <a:prstGeom prst="rect">
            <a:avLst/>
          </a:prstGeom>
        </p:spPr>
      </p:pic>
      <p:sp>
        <p:nvSpPr>
          <p:cNvPr id="43" name="TextBox 42"/>
          <p:cNvSpPr txBox="1"/>
          <p:nvPr/>
        </p:nvSpPr>
        <p:spPr>
          <a:xfrm>
            <a:off x="1755648" y="8503920"/>
            <a:ext cx="4511040" cy="685800"/>
          </a:xfrm>
          <a:prstGeom prst="rect">
            <a:avLst/>
          </a:prstGeom>
          <a:noFill/>
        </p:spPr>
        <p:txBody>
          <a:bodyPr wrap="square" lIns="45720" tIns="27432" rIns="45720" bIns="27432" anchor="ctr">
            <a:spAutoFit/>
          </a:bodyPr>
          <a:lstStyle/>
          <a:p>
            <a:pPr algn="l"/>
            <a:r>
              <a:rPr sz="1300">
                <a:solidFill>
                  <a:srgbClr val="262626"/>
                </a:solidFill>
              </a:rPr>
              <a:t>Ask in plain English or Arabic; get governed numbers, cohorts and charts</a:t>
            </a:r>
          </a:p>
        </p:txBody>
      </p:sp>
      <p:pic>
        <p:nvPicPr>
          <p:cNvPr id="44" name="Picture 43" descr="check_b.png"/>
          <p:cNvPicPr>
            <a:picLocks noChangeAspect="1"/>
          </p:cNvPicPr>
          <p:nvPr/>
        </p:nvPicPr>
        <p:blipFill>
          <a:blip r:embed="rId4"/>
          <a:stretch>
            <a:fillRect/>
          </a:stretch>
        </p:blipFill>
        <p:spPr>
          <a:xfrm>
            <a:off x="6632448" y="8613648"/>
            <a:ext cx="365760" cy="365760"/>
          </a:xfrm>
          <a:prstGeom prst="rect">
            <a:avLst/>
          </a:prstGeom>
        </p:spPr>
      </p:pic>
      <p:sp>
        <p:nvSpPr>
          <p:cNvPr id="45" name="TextBox 44"/>
          <p:cNvSpPr txBox="1"/>
          <p:nvPr/>
        </p:nvSpPr>
        <p:spPr>
          <a:xfrm>
            <a:off x="7135368" y="8503920"/>
            <a:ext cx="4511040" cy="685800"/>
          </a:xfrm>
          <a:prstGeom prst="rect">
            <a:avLst/>
          </a:prstGeom>
          <a:noFill/>
        </p:spPr>
        <p:txBody>
          <a:bodyPr wrap="square" lIns="45720" tIns="27432" rIns="45720" bIns="27432" anchor="ctr">
            <a:spAutoFit/>
          </a:bodyPr>
          <a:lstStyle/>
          <a:p>
            <a:pPr algn="l"/>
            <a:r>
              <a:rPr sz="1300">
                <a:solidFill>
                  <a:srgbClr val="262626"/>
                </a:solidFill>
              </a:rPr>
              <a:t>Score, forecast and test a policy on demand</a:t>
            </a:r>
          </a:p>
        </p:txBody>
      </p:sp>
      <p:pic>
        <p:nvPicPr>
          <p:cNvPr id="46" name="Picture 45" descr="check_b.png"/>
          <p:cNvPicPr>
            <a:picLocks noChangeAspect="1"/>
          </p:cNvPicPr>
          <p:nvPr/>
        </p:nvPicPr>
        <p:blipFill>
          <a:blip r:embed="rId4"/>
          <a:stretch>
            <a:fillRect/>
          </a:stretch>
        </p:blipFill>
        <p:spPr>
          <a:xfrm>
            <a:off x="12012168" y="8613648"/>
            <a:ext cx="365760" cy="365760"/>
          </a:xfrm>
          <a:prstGeom prst="rect">
            <a:avLst/>
          </a:prstGeom>
        </p:spPr>
      </p:pic>
      <p:sp>
        <p:nvSpPr>
          <p:cNvPr id="47" name="TextBox 46"/>
          <p:cNvSpPr txBox="1"/>
          <p:nvPr/>
        </p:nvSpPr>
        <p:spPr>
          <a:xfrm>
            <a:off x="12515088" y="8503920"/>
            <a:ext cx="4511040" cy="685800"/>
          </a:xfrm>
          <a:prstGeom prst="rect">
            <a:avLst/>
          </a:prstGeom>
          <a:noFill/>
        </p:spPr>
        <p:txBody>
          <a:bodyPr wrap="square" lIns="45720" tIns="27432" rIns="45720" bIns="27432" anchor="ctr">
            <a:spAutoFit/>
          </a:bodyPr>
          <a:lstStyle/>
          <a:p>
            <a:pPr algn="l"/>
            <a:r>
              <a:rPr sz="1300">
                <a:solidFill>
                  <a:srgbClr val="262626"/>
                </a:solidFill>
              </a:rPr>
              <a:t>Every answer cites the guideline and shows the tools it used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600"/>
              <a:t>The demo: five questions</a:t>
            </a:r>
          </a:p>
        </p:txBody>
      </p:sp>
      <p:sp>
        <p:nvSpPr>
          <p:cNvPr id="3" name="Text Placeholder 2"/>
          <p:cNvSpPr>
            <a:spLocks noGrp="1"/>
          </p:cNvSpPr>
          <p:nvPr>
            <p:ph type="body" idx="10" sz="quarter"/>
          </p:nvPr>
        </p:nvSpPr>
        <p:spPr/>
        <p:txBody>
          <a:bodyPr/>
          <a:lstStyle/>
          <a:p>
            <a:r>
              <a:rPr sz="3000"/>
              <a:t>What I will ask, what happens underneath, and what to watch for</a:t>
            </a:r>
          </a:p>
        </p:txBody>
      </p:sp>
      <p:graphicFrame>
        <p:nvGraphicFramePr>
          <p:cNvPr id="5" name="Table 4"/>
          <p:cNvGraphicFramePr>
            <a:graphicFrameLocks noGrp="1"/>
          </p:cNvGraphicFramePr>
          <p:nvPr/>
        </p:nvGraphicFramePr>
        <p:xfrm>
          <a:off x="1252728" y="2743200"/>
          <a:ext cx="15773400" cy="5577840"/>
        </p:xfrm>
        <a:graphic>
          <a:graphicData uri="http://schemas.openxmlformats.org/drawingml/2006/table">
            <a:tbl>
              <a:tblPr firstRow="1" bandRow="0">
                <a:tableStyleId>{5C22544A-7EE6-4342-B048-85BDC9FD1C3A}</a:tableStyleId>
              </a:tblPr>
              <a:tblGrid>
                <a:gridCol w="685800"/>
                <a:gridCol w="5760720"/>
                <a:gridCol w="5120640"/>
                <a:gridCol w="4206240"/>
              </a:tblGrid>
              <a:tr h="548640">
                <a:tc>
                  <a:txBody>
                    <a:bodyPr wrap="square"/>
                    <a:lstStyle/>
                    <a:p>
                      <a:pPr algn="ctr"/>
                      <a:r>
                        <a:rPr sz="1500">
                          <a:solidFill>
                            <a:srgbClr val="FFFFFF"/>
                          </a:solidFill>
                          <a:latin typeface="+mj-lt"/>
                        </a:rPr>
                        <a:t>#</a:t>
                      </a:r>
                    </a:p>
                  </a:txBody>
                  <a:tcPr marL="164592" marR="164592" marT="54864" marB="54864" anchor="ctr">
                    <a:solidFill>
                      <a:srgbClr val="032954"/>
                    </a:solidFill>
                  </a:tcPr>
                </a:tc>
                <a:tc>
                  <a:txBody>
                    <a:bodyPr wrap="square"/>
                    <a:lstStyle/>
                    <a:p>
                      <a:pPr algn="l"/>
                      <a:r>
                        <a:rPr sz="1500">
                          <a:solidFill>
                            <a:srgbClr val="FFFFFF"/>
                          </a:solidFill>
                          <a:latin typeface="+mj-lt"/>
                        </a:rPr>
                        <a:t>I will ask</a:t>
                      </a:r>
                    </a:p>
                  </a:txBody>
                  <a:tcPr marL="164592" marR="164592" marT="54864" marB="54864" anchor="ctr">
                    <a:solidFill>
                      <a:srgbClr val="032954"/>
                    </a:solidFill>
                  </a:tcPr>
                </a:tc>
                <a:tc>
                  <a:txBody>
                    <a:bodyPr wrap="square"/>
                    <a:lstStyle/>
                    <a:p>
                      <a:pPr algn="l"/>
                      <a:r>
                        <a:rPr sz="1500">
                          <a:solidFill>
                            <a:srgbClr val="FFFFFF"/>
                          </a:solidFill>
                          <a:latin typeface="+mj-lt"/>
                        </a:rPr>
                        <a:t>What happens underneath</a:t>
                      </a:r>
                    </a:p>
                  </a:txBody>
                  <a:tcPr marL="164592" marR="164592" marT="54864" marB="54864" anchor="ctr">
                    <a:solidFill>
                      <a:srgbClr val="032954"/>
                    </a:solidFill>
                  </a:tcPr>
                </a:tc>
                <a:tc>
                  <a:txBody>
                    <a:bodyPr wrap="square"/>
                    <a:lstStyle/>
                    <a:p>
                      <a:pPr algn="l"/>
                      <a:r>
                        <a:rPr sz="1500">
                          <a:solidFill>
                            <a:srgbClr val="FFFFFF"/>
                          </a:solidFill>
                          <a:latin typeface="+mj-lt"/>
                        </a:rPr>
                        <a:t>Watch for</a:t>
                      </a:r>
                    </a:p>
                  </a:txBody>
                  <a:tcPr marL="164592" marR="164592" marT="54864" marB="54864" anchor="ctr">
                    <a:solidFill>
                      <a:srgbClr val="032954"/>
                    </a:solidFill>
                  </a:tcPr>
                </a:tc>
              </a:tr>
              <a:tr h="1005840">
                <a:tc>
                  <a:txBody>
                    <a:bodyPr wrap="square"/>
                    <a:lstStyle/>
                    <a:p>
                      <a:pPr algn="ctr"/>
                      <a:r>
                        <a:rPr sz="1300">
                          <a:solidFill>
                            <a:srgbClr val="0766D1"/>
                          </a:solidFill>
                          <a:latin typeface="+mj-lt"/>
                        </a:rPr>
                        <a:t>1</a:t>
                      </a:r>
                    </a:p>
                  </a:txBody>
                  <a:tcPr marL="164592" marR="164592" marT="54864" marB="54864" anchor="ctr">
                    <a:solidFill>
                      <a:srgbClr val="FFFFFF"/>
                    </a:solidFill>
                  </a:tcPr>
                </a:tc>
                <a:tc>
                  <a:txBody>
                    <a:bodyPr wrap="square"/>
                    <a:lstStyle/>
                    <a:p>
                      <a:pPr algn="l"/>
                      <a:r>
                        <a:rPr sz="1300">
                          <a:solidFill>
                            <a:srgbClr val="032954"/>
                          </a:solidFill>
                          <a:latin typeface="+mj-lt"/>
                        </a:rPr>
                        <a:t>How many patients do we have, and how many are well controlled?</a:t>
                      </a:r>
                    </a:p>
                  </a:txBody>
                  <a:tcPr marL="164592" marR="164592" marT="54864" marB="54864" anchor="ctr">
                    <a:solidFill>
                      <a:srgbClr val="FFFFFF"/>
                    </a:solidFill>
                  </a:tcPr>
                </a:tc>
                <a:tc>
                  <a:txBody>
                    <a:bodyPr wrap="square"/>
                    <a:lstStyle/>
                    <a:p>
                      <a:pPr algn="l"/>
                      <a:r>
                        <a:rPr sz="1300">
                          <a:solidFill>
                            <a:srgbClr val="262626"/>
                          </a:solidFill>
                        </a:rPr>
                        <a:t>One query. The HbA1c bands come from NHA-CG-01 §2.</a:t>
                      </a:r>
                    </a:p>
                  </a:txBody>
                  <a:tcPr marL="164592" marR="164592" marT="54864" marB="54864" anchor="ctr">
                    <a:solidFill>
                      <a:srgbClr val="FFFFFF"/>
                    </a:solidFill>
                  </a:tcPr>
                </a:tc>
                <a:tc>
                  <a:txBody>
                    <a:bodyPr wrap="square"/>
                    <a:lstStyle/>
                    <a:p>
                      <a:pPr algn="l"/>
                      <a:r>
                        <a:rPr sz="1300">
                          <a:solidFill>
                            <a:srgbClr val="262626"/>
                          </a:solidFill>
                        </a:rPr>
                        <a:t>The query in the trace. Every number has its cohort next to it.</a:t>
                      </a:r>
                    </a:p>
                  </a:txBody>
                  <a:tcPr marL="164592" marR="164592" marT="54864" marB="54864" anchor="ctr">
                    <a:solidFill>
                      <a:srgbClr val="FFFFFF"/>
                    </a:solidFill>
                  </a:tcPr>
                </a:tc>
              </a:tr>
              <a:tr h="1005840">
                <a:tc>
                  <a:txBody>
                    <a:bodyPr wrap="square"/>
                    <a:lstStyle/>
                    <a:p>
                      <a:pPr algn="ctr"/>
                      <a:r>
                        <a:rPr sz="1300">
                          <a:solidFill>
                            <a:srgbClr val="0766D1"/>
                          </a:solidFill>
                          <a:latin typeface="+mj-lt"/>
                        </a:rPr>
                        <a:t>2</a:t>
                      </a:r>
                    </a:p>
                  </a:txBody>
                  <a:tcPr marL="164592" marR="164592" marT="54864" marB="54864" anchor="ctr">
                    <a:solidFill>
                      <a:srgbClr val="F0F1F3"/>
                    </a:solidFill>
                  </a:tcPr>
                </a:tc>
                <a:tc>
                  <a:txBody>
                    <a:bodyPr wrap="square"/>
                    <a:lstStyle/>
                    <a:p>
                      <a:pPr algn="l"/>
                      <a:r>
                        <a:rPr sz="1300">
                          <a:solidFill>
                            <a:srgbClr val="032954"/>
                          </a:solidFill>
                          <a:latin typeface="+mj-lt"/>
                        </a:rPr>
                        <a:t>Compare control across the emirates.</a:t>
                      </a:r>
                    </a:p>
                  </a:txBody>
                  <a:tcPr marL="164592" marR="164592" marT="54864" marB="54864" anchor="ctr">
                    <a:solidFill>
                      <a:srgbClr val="F0F1F3"/>
                    </a:solidFill>
                  </a:tcPr>
                </a:tc>
                <a:tc>
                  <a:txBody>
                    <a:bodyPr wrap="square"/>
                    <a:lstStyle/>
                    <a:p>
                      <a:pPr algn="l"/>
                      <a:r>
                        <a:rPr sz="1300">
                          <a:solidFill>
                            <a:srgbClr val="262626"/>
                          </a:solidFill>
                        </a:rPr>
                        <a:t>A group-by query and a chart. Then it checks the gap against NHA-PP-01 §4.</a:t>
                      </a:r>
                    </a:p>
                  </a:txBody>
                  <a:tcPr marL="164592" marR="164592" marT="54864" marB="54864" anchor="ctr">
                    <a:solidFill>
                      <a:srgbClr val="F0F1F3"/>
                    </a:solidFill>
                  </a:tcPr>
                </a:tc>
                <a:tc>
                  <a:txBody>
                    <a:bodyPr wrap="square"/>
                    <a:lstStyle/>
                    <a:p>
                      <a:pPr algn="l"/>
                      <a:r>
                        <a:rPr sz="1300">
                          <a:solidFill>
                            <a:srgbClr val="262626"/>
                          </a:solidFill>
                        </a:rPr>
                        <a:t>It names the equity trigger on its own. Nobody asked.</a:t>
                      </a:r>
                    </a:p>
                  </a:txBody>
                  <a:tcPr marL="164592" marR="164592" marT="54864" marB="54864" anchor="ctr">
                    <a:solidFill>
                      <a:srgbClr val="F0F1F3"/>
                    </a:solidFill>
                  </a:tcPr>
                </a:tc>
              </a:tr>
              <a:tr h="1005840">
                <a:tc>
                  <a:txBody>
                    <a:bodyPr wrap="square"/>
                    <a:lstStyle/>
                    <a:p>
                      <a:pPr algn="ctr"/>
                      <a:r>
                        <a:rPr sz="1300">
                          <a:solidFill>
                            <a:srgbClr val="0766D1"/>
                          </a:solidFill>
                          <a:latin typeface="+mj-lt"/>
                        </a:rPr>
                        <a:t>3</a:t>
                      </a:r>
                    </a:p>
                  </a:txBody>
                  <a:tcPr marL="164592" marR="164592" marT="54864" marB="54864" anchor="ctr">
                    <a:solidFill>
                      <a:srgbClr val="FFFFFF"/>
                    </a:solidFill>
                  </a:tcPr>
                </a:tc>
                <a:tc>
                  <a:txBody>
                    <a:bodyPr wrap="square"/>
                    <a:lstStyle/>
                    <a:p>
                      <a:pPr algn="l"/>
                      <a:r>
                        <a:rPr sz="1300">
                          <a:solidFill>
                            <a:srgbClr val="032954"/>
                          </a:solidFill>
                          <a:latin typeface="+mj-lt"/>
                        </a:rPr>
                        <a:t>What is the LDL target for a very-high-risk patient?</a:t>
                      </a:r>
                    </a:p>
                  </a:txBody>
                  <a:tcPr marL="164592" marR="164592" marT="54864" marB="54864" anchor="ctr">
                    <a:solidFill>
                      <a:srgbClr val="FFFFFF"/>
                    </a:solidFill>
                  </a:tcPr>
                </a:tc>
                <a:tc>
                  <a:txBody>
                    <a:bodyPr wrap="square"/>
                    <a:lstStyle/>
                    <a:p>
                      <a:pPr algn="l"/>
                      <a:r>
                        <a:rPr sz="1300">
                          <a:solidFill>
                            <a:srgbClr val="262626"/>
                          </a:solidFill>
                        </a:rPr>
                        <a:t>No query at all. Pure retrieval, NHA-CG-02 §3.</a:t>
                      </a:r>
                    </a:p>
                  </a:txBody>
                  <a:tcPr marL="164592" marR="164592" marT="54864" marB="54864" anchor="ctr">
                    <a:solidFill>
                      <a:srgbClr val="FFFFFF"/>
                    </a:solidFill>
                  </a:tcPr>
                </a:tc>
                <a:tc>
                  <a:txBody>
                    <a:bodyPr wrap="square"/>
                    <a:lstStyle/>
                    <a:p>
                      <a:pPr algn="l"/>
                      <a:r>
                        <a:rPr sz="1300">
                          <a:solidFill>
                            <a:srgbClr val="262626"/>
                          </a:solidFill>
                        </a:rPr>
                        <a:t>The citation. And what it says when the documents are silent.</a:t>
                      </a:r>
                    </a:p>
                  </a:txBody>
                  <a:tcPr marL="164592" marR="164592" marT="54864" marB="54864" anchor="ctr">
                    <a:solidFill>
                      <a:srgbClr val="FFFFFF"/>
                    </a:solidFill>
                  </a:tcPr>
                </a:tc>
              </a:tr>
              <a:tr h="1005840">
                <a:tc>
                  <a:txBody>
                    <a:bodyPr wrap="square"/>
                    <a:lstStyle/>
                    <a:p>
                      <a:pPr algn="ctr"/>
                      <a:r>
                        <a:rPr sz="1300">
                          <a:solidFill>
                            <a:srgbClr val="0766D1"/>
                          </a:solidFill>
                          <a:latin typeface="+mj-lt"/>
                        </a:rPr>
                        <a:t>4</a:t>
                      </a:r>
                    </a:p>
                  </a:txBody>
                  <a:tcPr marL="164592" marR="164592" marT="54864" marB="54864" anchor="ctr">
                    <a:solidFill>
                      <a:srgbClr val="F0F1F3"/>
                    </a:solidFill>
                  </a:tcPr>
                </a:tc>
                <a:tc>
                  <a:txBody>
                    <a:bodyPr wrap="square"/>
                    <a:lstStyle/>
                    <a:p>
                      <a:pPr algn="l"/>
                      <a:r>
                        <a:rPr sz="1300">
                          <a:solidFill>
                            <a:srgbClr val="032954"/>
                          </a:solidFill>
                          <a:latin typeface="+mj-lt"/>
                        </a:rPr>
                        <a:t>Who would qualify for a GLP-1 RA, and how many are already on one?</a:t>
                      </a:r>
                    </a:p>
                  </a:txBody>
                  <a:tcPr marL="164592" marR="164592" marT="54864" marB="54864" anchor="ctr">
                    <a:solidFill>
                      <a:srgbClr val="F0F1F3"/>
                    </a:solidFill>
                  </a:tcPr>
                </a:tc>
                <a:tc>
                  <a:txBody>
                    <a:bodyPr wrap="square"/>
                    <a:lstStyle/>
                    <a:p>
                      <a:pPr algn="l"/>
                      <a:r>
                        <a:rPr sz="1300">
                          <a:solidFill>
                            <a:srgbClr val="262626"/>
                          </a:solidFill>
                        </a:rPr>
                        <a:t>Guideline first, then two queries: who qualifies, who is not yet treated.</a:t>
                      </a:r>
                    </a:p>
                  </a:txBody>
                  <a:tcPr marL="164592" marR="164592" marT="54864" marB="54864" anchor="ctr">
                    <a:solidFill>
                      <a:srgbClr val="F0F1F3"/>
                    </a:solidFill>
                  </a:tcPr>
                </a:tc>
                <a:tc>
                  <a:txBody>
                    <a:bodyPr wrap="square"/>
                    <a:lstStyle/>
                    <a:p>
                      <a:pPr algn="l"/>
                      <a:r>
                        <a:rPr sz="1300">
                          <a:solidFill>
                            <a:srgbClr val="262626"/>
                          </a:solidFill>
                        </a:rPr>
                        <a:t>RAG and SQL in one answer. It hands the decision to the clinician.</a:t>
                      </a:r>
                    </a:p>
                  </a:txBody>
                  <a:tcPr marL="164592" marR="164592" marT="54864" marB="54864" anchor="ctr">
                    <a:solidFill>
                      <a:srgbClr val="F0F1F3"/>
                    </a:solidFill>
                  </a:tcPr>
                </a:tc>
              </a:tr>
              <a:tr h="1005840">
                <a:tc>
                  <a:txBody>
                    <a:bodyPr wrap="square"/>
                    <a:lstStyle/>
                    <a:p>
                      <a:pPr algn="ctr"/>
                      <a:r>
                        <a:rPr sz="1300">
                          <a:solidFill>
                            <a:srgbClr val="0766D1"/>
                          </a:solidFill>
                          <a:latin typeface="+mj-lt"/>
                        </a:rPr>
                        <a:t>5</a:t>
                      </a:r>
                    </a:p>
                  </a:txBody>
                  <a:tcPr marL="164592" marR="164592" marT="54864" marB="54864" anchor="ctr">
                    <a:solidFill>
                      <a:srgbClr val="FFFFFF"/>
                    </a:solidFill>
                  </a:tcPr>
                </a:tc>
                <a:tc>
                  <a:txBody>
                    <a:bodyPr wrap="square"/>
                    <a:lstStyle/>
                    <a:p>
                      <a:pPr algn="l"/>
                      <a:r>
                        <a:rPr sz="1300">
                          <a:solidFill>
                            <a:srgbClr val="032954"/>
                          </a:solidFill>
                          <a:latin typeface="+mj-lt"/>
                        </a:rPr>
                        <a:t>How likely is patient EHS-100092 to deteriorate this year?</a:t>
                      </a:r>
                    </a:p>
                  </a:txBody>
                  <a:tcPr marL="164592" marR="164592" marT="54864" marB="54864" anchor="ctr">
                    <a:solidFill>
                      <a:srgbClr val="FFFFFF"/>
                    </a:solidFill>
                  </a:tcPr>
                </a:tc>
                <a:tc>
                  <a:txBody>
                    <a:bodyPr wrap="square"/>
                    <a:lstStyle/>
                    <a:p>
                      <a:pPr algn="l"/>
                      <a:r>
                        <a:rPr sz="1300">
                          <a:solidFill>
                            <a:srgbClr val="262626"/>
                          </a:solidFill>
                        </a:rPr>
                        <a:t>Calls the published model for that patient and compares with the registry tier.</a:t>
                      </a:r>
                    </a:p>
                  </a:txBody>
                  <a:tcPr marL="164592" marR="164592" marT="54864" marB="54864" anchor="ctr">
                    <a:solidFill>
                      <a:srgbClr val="FFFFFF"/>
                    </a:solidFill>
                  </a:tcPr>
                </a:tc>
                <a:tc>
                  <a:txBody>
                    <a:bodyPr wrap="square"/>
                    <a:lstStyle/>
                    <a:p>
                      <a:pPr algn="l"/>
                      <a:r>
                        <a:rPr sz="1300">
                          <a:solidFill>
                            <a:srgbClr val="262626"/>
                          </a:solidFill>
                        </a:rPr>
                        <a:t>The model call in the trace. Restricted-consent patients never appear by name.</a:t>
                      </a:r>
                    </a:p>
                  </a:txBody>
                  <a:tcPr marL="164592" marR="164592" marT="54864" marB="54864" anchor="ctr">
                    <a:solidFill>
                      <a:srgbClr val="FFFFFF"/>
                    </a:solidFill>
                  </a:tcPr>
                </a:tc>
              </a:tr>
            </a:tbl>
          </a:graphicData>
        </a:graphic>
      </p:graphicFrame>
      <p:sp>
        <p:nvSpPr>
          <p:cNvPr id="6" name="TextBox 5"/>
          <p:cNvSpPr txBox="1"/>
          <p:nvPr/>
        </p:nvSpPr>
        <p:spPr>
          <a:xfrm>
            <a:off x="1252728" y="8503920"/>
            <a:ext cx="15773400" cy="822960"/>
          </a:xfrm>
          <a:prstGeom prst="rect">
            <a:avLst/>
          </a:prstGeom>
          <a:noFill/>
        </p:spPr>
        <p:txBody>
          <a:bodyPr wrap="square" lIns="45720" tIns="27432" rIns="45720" bIns="27432" anchor="t">
            <a:spAutoFit/>
          </a:bodyPr>
          <a:lstStyle/>
          <a:p>
            <a:pPr algn="l"/>
            <a:r>
              <a:rPr sz="1300">
                <a:solidFill>
                  <a:srgbClr val="7E889A"/>
                </a:solidFill>
              </a:rPr>
              <a:t>If there is time, a sixth: “If we put every eligible patient on a GLP-1 RA and closed the statin gap, what would it save?” The agent takes the measured effects from NHA-PP-01 §5, scales them to the cohorts it counted, and shows the arithmetic.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600"/>
              <a:t>One answer, step by step</a:t>
            </a:r>
          </a:p>
        </p:txBody>
      </p:sp>
      <p:sp>
        <p:nvSpPr>
          <p:cNvPr id="3" name="Text Placeholder 2"/>
          <p:cNvSpPr>
            <a:spLocks noGrp="1"/>
          </p:cNvSpPr>
          <p:nvPr>
            <p:ph type="body" idx="10" sz="quarter"/>
          </p:nvPr>
        </p:nvSpPr>
        <p:spPr/>
        <p:txBody>
          <a:bodyPr/>
          <a:lstStyle/>
          <a:p>
            <a:r>
              <a:rPr sz="3000"/>
              <a:t>Question 4, exactly as the agent did it</a:t>
            </a:r>
          </a:p>
        </p:txBody>
      </p:sp>
      <p:sp>
        <p:nvSpPr>
          <p:cNvPr id="5" name="Rounded Rectangle 4"/>
          <p:cNvSpPr/>
          <p:nvPr/>
        </p:nvSpPr>
        <p:spPr>
          <a:xfrm>
            <a:off x="1252728" y="2606040"/>
            <a:ext cx="15773400" cy="6812280"/>
          </a:xfrm>
          <a:prstGeom prst="roundRect">
            <a:avLst>
              <a:gd name="adj" fmla="val 4697"/>
            </a:avLst>
          </a:prstGeom>
          <a:solidFill>
            <a:srgbClr val="E4E7EA"/>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09928" y="333756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29968" y="3063240"/>
            <a:ext cx="3977639" cy="548640"/>
          </a:xfrm>
          <a:prstGeom prst="roundRect">
            <a:avLst>
              <a:gd name="adj" fmla="val 50000"/>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1 · Retrieve</a:t>
            </a:r>
          </a:p>
        </p:txBody>
      </p:sp>
      <p:sp>
        <p:nvSpPr>
          <p:cNvPr id="8" name="TextBox 7"/>
          <p:cNvSpPr txBox="1"/>
          <p:nvPr/>
        </p:nvSpPr>
        <p:spPr>
          <a:xfrm>
            <a:off x="2029968" y="3794760"/>
            <a:ext cx="3977639" cy="1920240"/>
          </a:xfrm>
          <a:prstGeom prst="rect">
            <a:avLst/>
          </a:prstGeom>
          <a:noFill/>
        </p:spPr>
        <p:txBody>
          <a:bodyPr wrap="square" lIns="45720" tIns="27432" rIns="45720" bIns="27432" anchor="ctr">
            <a:spAutoFit/>
          </a:bodyPr>
          <a:lstStyle/>
          <a:p>
            <a:pPr algn="ctr"/>
            <a:r>
              <a:rPr sz="1400">
                <a:solidFill>
                  <a:srgbClr val="262626"/>
                </a:solidFill>
              </a:rPr>
              <a:t>Opens the collection. NHA-CG-01 §4: consider a GLP-1 RA when HbA1c stays high and BMI is over 30.</a:t>
            </a:r>
          </a:p>
        </p:txBody>
      </p:sp>
      <p:sp>
        <p:nvSpPr>
          <p:cNvPr id="9" name="Right Arrow 8"/>
          <p:cNvSpPr/>
          <p:nvPr/>
        </p:nvSpPr>
        <p:spPr>
          <a:xfrm>
            <a:off x="6437376" y="4393692"/>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940296" y="333756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60336" y="306324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2 · Query</a:t>
            </a:r>
          </a:p>
        </p:txBody>
      </p:sp>
      <p:sp>
        <p:nvSpPr>
          <p:cNvPr id="12" name="TextBox 11"/>
          <p:cNvSpPr txBox="1"/>
          <p:nvPr/>
        </p:nvSpPr>
        <p:spPr>
          <a:xfrm>
            <a:off x="7260336" y="3794760"/>
            <a:ext cx="3977639" cy="1920240"/>
          </a:xfrm>
          <a:prstGeom prst="rect">
            <a:avLst/>
          </a:prstGeom>
          <a:noFill/>
        </p:spPr>
        <p:txBody>
          <a:bodyPr wrap="square" lIns="45720" tIns="27432" rIns="45720" bIns="27432" anchor="ctr">
            <a:spAutoFit/>
          </a:bodyPr>
          <a:lstStyle/>
          <a:p>
            <a:pPr algn="ctr"/>
            <a:r>
              <a:rPr sz="1400">
                <a:solidFill>
                  <a:srgbClr val="262626"/>
                </a:solidFill>
              </a:rPr>
              <a:t>Asks the registry: type 2, HbA1c 9% or more, BMI over 30. Answer: 399 patients.</a:t>
            </a:r>
          </a:p>
        </p:txBody>
      </p:sp>
      <p:sp>
        <p:nvSpPr>
          <p:cNvPr id="13" name="Right Arrow 12"/>
          <p:cNvSpPr/>
          <p:nvPr/>
        </p:nvSpPr>
        <p:spPr>
          <a:xfrm>
            <a:off x="11667744" y="4393692"/>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2170663" y="333756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490703" y="306324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3 · Query again</a:t>
            </a:r>
          </a:p>
        </p:txBody>
      </p:sp>
      <p:sp>
        <p:nvSpPr>
          <p:cNvPr id="16" name="TextBox 15"/>
          <p:cNvSpPr txBox="1"/>
          <p:nvPr/>
        </p:nvSpPr>
        <p:spPr>
          <a:xfrm>
            <a:off x="12490703" y="3794760"/>
            <a:ext cx="3977639" cy="1920240"/>
          </a:xfrm>
          <a:prstGeom prst="rect">
            <a:avLst/>
          </a:prstGeom>
          <a:noFill/>
        </p:spPr>
        <p:txBody>
          <a:bodyPr wrap="square" lIns="45720" tIns="27432" rIns="45720" bIns="27432" anchor="ctr">
            <a:spAutoFit/>
          </a:bodyPr>
          <a:lstStyle/>
          <a:p>
            <a:pPr algn="ctr"/>
            <a:r>
              <a:rPr sz="1400">
                <a:solidFill>
                  <a:srgbClr val="262626"/>
                </a:solidFill>
              </a:rPr>
              <a:t>Same group, not on an SGLT2i or GLP-1 RA. Answer: 373. Restricted-consent patients are counted, never listed.</a:t>
            </a:r>
          </a:p>
        </p:txBody>
      </p:sp>
      <p:sp>
        <p:nvSpPr>
          <p:cNvPr id="17" name="Rounded Rectangle 16"/>
          <p:cNvSpPr/>
          <p:nvPr/>
        </p:nvSpPr>
        <p:spPr>
          <a:xfrm>
            <a:off x="1709928" y="67208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029968" y="6446520"/>
            <a:ext cx="3977639" cy="548640"/>
          </a:xfrm>
          <a:prstGeom prst="roundRect">
            <a:avLst>
              <a:gd name="adj" fmla="val 50000"/>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4 · Score</a:t>
            </a:r>
          </a:p>
        </p:txBody>
      </p:sp>
      <p:sp>
        <p:nvSpPr>
          <p:cNvPr id="19" name="TextBox 18"/>
          <p:cNvSpPr txBox="1"/>
          <p:nvPr/>
        </p:nvSpPr>
        <p:spPr>
          <a:xfrm>
            <a:off x="2029968" y="7178040"/>
            <a:ext cx="3977639" cy="1920240"/>
          </a:xfrm>
          <a:prstGeom prst="rect">
            <a:avLst/>
          </a:prstGeom>
          <a:noFill/>
        </p:spPr>
        <p:txBody>
          <a:bodyPr wrap="square" lIns="45720" tIns="27432" rIns="45720" bIns="27432" anchor="ctr">
            <a:spAutoFit/>
          </a:bodyPr>
          <a:lstStyle/>
          <a:p>
            <a:pPr algn="ctr"/>
            <a:r>
              <a:rPr sz="1400">
                <a:solidFill>
                  <a:srgbClr val="262626"/>
                </a:solidFill>
              </a:rPr>
              <a:t>Runs the risk model on the ten highest-cost of them. A probability, and the drivers behind it, for each.</a:t>
            </a:r>
          </a:p>
        </p:txBody>
      </p:sp>
      <p:sp>
        <p:nvSpPr>
          <p:cNvPr id="20" name="Right Arrow 19"/>
          <p:cNvSpPr/>
          <p:nvPr/>
        </p:nvSpPr>
        <p:spPr>
          <a:xfrm>
            <a:off x="6437376" y="7776971"/>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940296" y="67208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60336" y="6446520"/>
            <a:ext cx="3977639" cy="548640"/>
          </a:xfrm>
          <a:prstGeom prst="roundRect">
            <a:avLst>
              <a:gd name="adj" fmla="val 50000"/>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5 · Write</a:t>
            </a:r>
          </a:p>
        </p:txBody>
      </p:sp>
      <p:sp>
        <p:nvSpPr>
          <p:cNvPr id="23" name="TextBox 22"/>
          <p:cNvSpPr txBox="1"/>
          <p:nvPr/>
        </p:nvSpPr>
        <p:spPr>
          <a:xfrm>
            <a:off x="7260336" y="7178040"/>
            <a:ext cx="3977639" cy="1920240"/>
          </a:xfrm>
          <a:prstGeom prst="rect">
            <a:avLst/>
          </a:prstGeom>
          <a:noFill/>
        </p:spPr>
        <p:txBody>
          <a:bodyPr wrap="square" lIns="45720" tIns="27432" rIns="45720" bIns="27432" anchor="ctr">
            <a:spAutoFit/>
          </a:bodyPr>
          <a:lstStyle/>
          <a:p>
            <a:pPr algn="ctr"/>
            <a:r>
              <a:rPr sz="1400">
                <a:solidFill>
                  <a:srgbClr val="262626"/>
                </a:solidFill>
              </a:rPr>
              <a:t>Puts it together: the group in words, both numbers with their base, the section, and a last line saying what it ran.</a:t>
            </a:r>
          </a:p>
        </p:txBody>
      </p:sp>
      <p:sp>
        <p:nvSpPr>
          <p:cNvPr id="24" name="Right Arrow 23"/>
          <p:cNvSpPr/>
          <p:nvPr/>
        </p:nvSpPr>
        <p:spPr>
          <a:xfrm>
            <a:off x="11667744" y="7776971"/>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2170663" y="67208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2490703" y="6446520"/>
            <a:ext cx="3977639" cy="548640"/>
          </a:xfrm>
          <a:prstGeom prst="roundRect">
            <a:avLst>
              <a:gd name="adj" fmla="val 50000"/>
            </a:avLst>
          </a:prstGeom>
          <a:solidFill>
            <a:srgbClr val="009242"/>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6 · Hand over</a:t>
            </a:r>
          </a:p>
        </p:txBody>
      </p:sp>
      <p:sp>
        <p:nvSpPr>
          <p:cNvPr id="27" name="TextBox 26"/>
          <p:cNvSpPr txBox="1"/>
          <p:nvPr/>
        </p:nvSpPr>
        <p:spPr>
          <a:xfrm>
            <a:off x="12490703" y="7178040"/>
            <a:ext cx="3977639" cy="1920240"/>
          </a:xfrm>
          <a:prstGeom prst="rect">
            <a:avLst/>
          </a:prstGeom>
          <a:noFill/>
        </p:spPr>
        <p:txBody>
          <a:bodyPr wrap="square" lIns="45720" tIns="27432" rIns="45720" bIns="27432" anchor="ctr">
            <a:spAutoFit/>
          </a:bodyPr>
          <a:lstStyle/>
          <a:p>
            <a:pPr algn="ctr"/>
            <a:r>
              <a:rPr sz="1400">
                <a:solidFill>
                  <a:srgbClr val="262626"/>
                </a:solidFill>
              </a:rPr>
              <a:t>A list for the clinic to review. Section 7 and the agent's own rules: a clinician decides, the agent never prescribes.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600"/>
              <a:t>The rules it was playing by</a:t>
            </a:r>
          </a:p>
        </p:txBody>
      </p:sp>
      <p:sp>
        <p:nvSpPr>
          <p:cNvPr id="3" name="Text Placeholder 2"/>
          <p:cNvSpPr>
            <a:spLocks noGrp="1"/>
          </p:cNvSpPr>
          <p:nvPr>
            <p:ph type="body" idx="10" sz="quarter"/>
          </p:nvPr>
        </p:nvSpPr>
        <p:spPr/>
        <p:txBody>
          <a:bodyPr/>
          <a:lstStyle/>
          <a:p>
            <a:r>
              <a:rPr sz="3000"/>
              <a:t>Written into its instructions and enforced by the tools. Not left to its judgement.</a:t>
            </a:r>
          </a:p>
        </p:txBody>
      </p:sp>
      <p:sp>
        <p:nvSpPr>
          <p:cNvPr id="5" name="Rounded Rectangle 4"/>
          <p:cNvSpPr/>
          <p:nvPr/>
        </p:nvSpPr>
        <p:spPr>
          <a:xfrm>
            <a:off x="1252728" y="2697480"/>
            <a:ext cx="5013960" cy="3017520"/>
          </a:xfrm>
          <a:prstGeom prst="roundRect">
            <a:avLst>
              <a:gd name="adj" fmla="val 848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17904" y="2935224"/>
            <a:ext cx="658368" cy="65836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alculator_w.png"/>
          <p:cNvPicPr>
            <a:picLocks noChangeAspect="1"/>
          </p:cNvPicPr>
          <p:nvPr/>
        </p:nvPicPr>
        <p:blipFill>
          <a:blip r:embed="rId2"/>
          <a:stretch>
            <a:fillRect/>
          </a:stretch>
        </p:blipFill>
        <p:spPr>
          <a:xfrm>
            <a:off x="1666036" y="3083356"/>
            <a:ext cx="362102" cy="362102"/>
          </a:xfrm>
          <a:prstGeom prst="rect">
            <a:avLst/>
          </a:prstGeom>
        </p:spPr>
      </p:pic>
      <p:sp>
        <p:nvSpPr>
          <p:cNvPr id="8" name="TextBox 7"/>
          <p:cNvSpPr txBox="1"/>
          <p:nvPr/>
        </p:nvSpPr>
        <p:spPr>
          <a:xfrm>
            <a:off x="2350008" y="3017520"/>
            <a:ext cx="3688080" cy="502920"/>
          </a:xfrm>
          <a:prstGeom prst="rect">
            <a:avLst/>
          </a:prstGeom>
          <a:noFill/>
        </p:spPr>
        <p:txBody>
          <a:bodyPr wrap="square" lIns="45720" tIns="27432" rIns="45720" bIns="27432" anchor="t">
            <a:spAutoFit/>
          </a:bodyPr>
          <a:lstStyle/>
          <a:p>
            <a:pPr algn="l"/>
            <a:r>
              <a:rPr sz="1800">
                <a:solidFill>
                  <a:srgbClr val="262626"/>
                </a:solidFill>
                <a:latin typeface="+mj-lt"/>
              </a:rPr>
              <a:t>No number without a query</a:t>
            </a:r>
          </a:p>
        </p:txBody>
      </p:sp>
      <p:sp>
        <p:nvSpPr>
          <p:cNvPr id="9" name="TextBox 8"/>
          <p:cNvSpPr txBox="1"/>
          <p:nvPr/>
        </p:nvSpPr>
        <p:spPr>
          <a:xfrm>
            <a:off x="1618488" y="3794760"/>
            <a:ext cx="4282440" cy="1280160"/>
          </a:xfrm>
          <a:prstGeom prst="rect">
            <a:avLst/>
          </a:prstGeom>
          <a:noFill/>
        </p:spPr>
        <p:txBody>
          <a:bodyPr wrap="square" lIns="45720" tIns="27432" rIns="45720" bIns="27432" anchor="t">
            <a:spAutoFit/>
          </a:bodyPr>
          <a:lstStyle/>
          <a:p>
            <a:pPr algn="l"/>
            <a:r>
              <a:rPr sz="1400">
                <a:solidFill>
                  <a:srgbClr val="262626"/>
                </a:solidFill>
              </a:rPr>
              <a:t>It runs the query first, every time. No estimates, no recycling last week's figure for a new cohort.</a:t>
            </a:r>
          </a:p>
        </p:txBody>
      </p:sp>
      <p:sp>
        <p:nvSpPr>
          <p:cNvPr id="10" name="TextBox 9"/>
          <p:cNvSpPr txBox="1"/>
          <p:nvPr/>
        </p:nvSpPr>
        <p:spPr>
          <a:xfrm>
            <a:off x="1618488" y="5029200"/>
            <a:ext cx="4282440" cy="457200"/>
          </a:xfrm>
          <a:prstGeom prst="rect">
            <a:avLst/>
          </a:prstGeom>
          <a:noFill/>
        </p:spPr>
        <p:txBody>
          <a:bodyPr wrap="square" lIns="45720" tIns="27432" rIns="45720" bIns="27432" anchor="b">
            <a:spAutoFit/>
          </a:bodyPr>
          <a:lstStyle/>
          <a:p>
            <a:pPr algn="l"/>
            <a:r>
              <a:rPr sz="1300">
                <a:solidFill>
                  <a:srgbClr val="0766D1"/>
                </a:solidFill>
                <a:latin typeface="+mj-lt"/>
              </a:rPr>
              <a:t>In the instructions, rule 1</a:t>
            </a:r>
          </a:p>
        </p:txBody>
      </p:sp>
      <p:sp>
        <p:nvSpPr>
          <p:cNvPr id="11" name="Rounded Rectangle 10"/>
          <p:cNvSpPr/>
          <p:nvPr/>
        </p:nvSpPr>
        <p:spPr>
          <a:xfrm>
            <a:off x="6632448" y="2697480"/>
            <a:ext cx="5013960" cy="3017520"/>
          </a:xfrm>
          <a:prstGeom prst="roundRect">
            <a:avLst>
              <a:gd name="adj" fmla="val 848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97624" y="2935224"/>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ite_w.png"/>
          <p:cNvPicPr>
            <a:picLocks noChangeAspect="1"/>
          </p:cNvPicPr>
          <p:nvPr/>
        </p:nvPicPr>
        <p:blipFill>
          <a:blip r:embed="rId3"/>
          <a:stretch>
            <a:fillRect/>
          </a:stretch>
        </p:blipFill>
        <p:spPr>
          <a:xfrm>
            <a:off x="7045756" y="3083356"/>
            <a:ext cx="362102" cy="362102"/>
          </a:xfrm>
          <a:prstGeom prst="rect">
            <a:avLst/>
          </a:prstGeom>
        </p:spPr>
      </p:pic>
      <p:sp>
        <p:nvSpPr>
          <p:cNvPr id="14" name="TextBox 13"/>
          <p:cNvSpPr txBox="1"/>
          <p:nvPr/>
        </p:nvSpPr>
        <p:spPr>
          <a:xfrm>
            <a:off x="7729728" y="3017520"/>
            <a:ext cx="3688080" cy="502920"/>
          </a:xfrm>
          <a:prstGeom prst="rect">
            <a:avLst/>
          </a:prstGeom>
          <a:noFill/>
        </p:spPr>
        <p:txBody>
          <a:bodyPr wrap="square" lIns="45720" tIns="27432" rIns="45720" bIns="27432" anchor="t">
            <a:spAutoFit/>
          </a:bodyPr>
          <a:lstStyle/>
          <a:p>
            <a:pPr algn="l"/>
            <a:r>
              <a:rPr sz="1800">
                <a:solidFill>
                  <a:srgbClr val="262626"/>
                </a:solidFill>
                <a:latin typeface="+mj-lt"/>
              </a:rPr>
              <a:t>No clinical claim without a section</a:t>
            </a:r>
          </a:p>
        </p:txBody>
      </p:sp>
      <p:sp>
        <p:nvSpPr>
          <p:cNvPr id="15" name="TextBox 14"/>
          <p:cNvSpPr txBox="1"/>
          <p:nvPr/>
        </p:nvSpPr>
        <p:spPr>
          <a:xfrm>
            <a:off x="6998208" y="3794760"/>
            <a:ext cx="4282440" cy="1280160"/>
          </a:xfrm>
          <a:prstGeom prst="rect">
            <a:avLst/>
          </a:prstGeom>
          <a:noFill/>
        </p:spPr>
        <p:txBody>
          <a:bodyPr wrap="square" lIns="45720" tIns="27432" rIns="45720" bIns="27432" anchor="t">
            <a:spAutoFit/>
          </a:bodyPr>
          <a:lstStyle/>
          <a:p>
            <a:pPr algn="l"/>
            <a:r>
              <a:rPr sz="1400">
                <a:solidFill>
                  <a:srgbClr val="262626"/>
                </a:solidFill>
              </a:rPr>
              <a:t>Document and section, or “the guidelines in my collection do not cover this”.</a:t>
            </a:r>
          </a:p>
        </p:txBody>
      </p:sp>
      <p:sp>
        <p:nvSpPr>
          <p:cNvPr id="16" name="TextBox 15"/>
          <p:cNvSpPr txBox="1"/>
          <p:nvPr/>
        </p:nvSpPr>
        <p:spPr>
          <a:xfrm>
            <a:off x="6998208" y="5029200"/>
            <a:ext cx="4282440" cy="457200"/>
          </a:xfrm>
          <a:prstGeom prst="rect">
            <a:avLst/>
          </a:prstGeom>
          <a:noFill/>
        </p:spPr>
        <p:txBody>
          <a:bodyPr wrap="square" lIns="45720" tIns="27432" rIns="45720" bIns="27432" anchor="b">
            <a:spAutoFit/>
          </a:bodyPr>
          <a:lstStyle/>
          <a:p>
            <a:pPr algn="l"/>
            <a:r>
              <a:rPr sz="1300">
                <a:solidFill>
                  <a:srgbClr val="0766D1"/>
                </a:solidFill>
                <a:latin typeface="+mj-lt"/>
              </a:rPr>
              <a:t>In the instructions, rule 3</a:t>
            </a:r>
          </a:p>
        </p:txBody>
      </p:sp>
      <p:sp>
        <p:nvSpPr>
          <p:cNvPr id="17" name="Rounded Rectangle 16"/>
          <p:cNvSpPr/>
          <p:nvPr/>
        </p:nvSpPr>
        <p:spPr>
          <a:xfrm>
            <a:off x="12012168" y="2697480"/>
            <a:ext cx="5013960" cy="3017520"/>
          </a:xfrm>
          <a:prstGeom prst="roundRect">
            <a:avLst>
              <a:gd name="adj" fmla="val 848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2277344" y="2935224"/>
            <a:ext cx="658368" cy="658368"/>
          </a:xfrm>
          <a:prstGeom prst="ellipse">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ock_w.png"/>
          <p:cNvPicPr>
            <a:picLocks noChangeAspect="1"/>
          </p:cNvPicPr>
          <p:nvPr/>
        </p:nvPicPr>
        <p:blipFill>
          <a:blip r:embed="rId4"/>
          <a:stretch>
            <a:fillRect/>
          </a:stretch>
        </p:blipFill>
        <p:spPr>
          <a:xfrm>
            <a:off x="12425476" y="3083356"/>
            <a:ext cx="362102" cy="362102"/>
          </a:xfrm>
          <a:prstGeom prst="rect">
            <a:avLst/>
          </a:prstGeom>
        </p:spPr>
      </p:pic>
      <p:sp>
        <p:nvSpPr>
          <p:cNvPr id="20" name="TextBox 19"/>
          <p:cNvSpPr txBox="1"/>
          <p:nvPr/>
        </p:nvSpPr>
        <p:spPr>
          <a:xfrm>
            <a:off x="13109448" y="3017520"/>
            <a:ext cx="3688080" cy="502920"/>
          </a:xfrm>
          <a:prstGeom prst="rect">
            <a:avLst/>
          </a:prstGeom>
          <a:noFill/>
        </p:spPr>
        <p:txBody>
          <a:bodyPr wrap="square" lIns="45720" tIns="27432" rIns="45720" bIns="27432" anchor="t">
            <a:spAutoFit/>
          </a:bodyPr>
          <a:lstStyle/>
          <a:p>
            <a:pPr algn="l"/>
            <a:r>
              <a:rPr sz="1800">
                <a:solidFill>
                  <a:srgbClr val="262626"/>
                </a:solidFill>
                <a:latin typeface="+mj-lt"/>
              </a:rPr>
              <a:t>Consent comes first</a:t>
            </a:r>
          </a:p>
        </p:txBody>
      </p:sp>
      <p:sp>
        <p:nvSpPr>
          <p:cNvPr id="21" name="TextBox 20"/>
          <p:cNvSpPr txBox="1"/>
          <p:nvPr/>
        </p:nvSpPr>
        <p:spPr>
          <a:xfrm>
            <a:off x="12377928" y="3794760"/>
            <a:ext cx="4282440" cy="1280160"/>
          </a:xfrm>
          <a:prstGeom prst="rect">
            <a:avLst/>
          </a:prstGeom>
          <a:noFill/>
        </p:spPr>
        <p:txBody>
          <a:bodyPr wrap="square" lIns="45720" tIns="27432" rIns="45720" bIns="27432" anchor="t">
            <a:spAutoFit/>
          </a:bodyPr>
          <a:lstStyle/>
          <a:p>
            <a:pPr algn="l"/>
            <a:r>
              <a:rPr sz="1400">
                <a:solidFill>
                  <a:srgbClr val="262626"/>
                </a:solidFill>
              </a:rPr>
              <a:t>Patients with restricted consent are counted, never named, listed or scored. NHA-PP-01 §6.</a:t>
            </a:r>
          </a:p>
        </p:txBody>
      </p:sp>
      <p:sp>
        <p:nvSpPr>
          <p:cNvPr id="22" name="TextBox 21"/>
          <p:cNvSpPr txBox="1"/>
          <p:nvPr/>
        </p:nvSpPr>
        <p:spPr>
          <a:xfrm>
            <a:off x="12377928" y="5029200"/>
            <a:ext cx="4282440" cy="457200"/>
          </a:xfrm>
          <a:prstGeom prst="rect">
            <a:avLst/>
          </a:prstGeom>
          <a:noFill/>
        </p:spPr>
        <p:txBody>
          <a:bodyPr wrap="square" lIns="45720" tIns="27432" rIns="45720" bIns="27432" anchor="b">
            <a:spAutoFit/>
          </a:bodyPr>
          <a:lstStyle/>
          <a:p>
            <a:pPr algn="l"/>
            <a:r>
              <a:rPr sz="1300">
                <a:solidFill>
                  <a:srgbClr val="0766D1"/>
                </a:solidFill>
                <a:latin typeface="+mj-lt"/>
              </a:rPr>
              <a:t>In the instructions, and in the query itself</a:t>
            </a:r>
          </a:p>
        </p:txBody>
      </p:sp>
      <p:sp>
        <p:nvSpPr>
          <p:cNvPr id="23" name="Rounded Rectangle 22"/>
          <p:cNvSpPr/>
          <p:nvPr/>
        </p:nvSpPr>
        <p:spPr>
          <a:xfrm>
            <a:off x="1252728" y="6080760"/>
            <a:ext cx="5013960" cy="3017520"/>
          </a:xfrm>
          <a:prstGeom prst="roundRect">
            <a:avLst>
              <a:gd name="adj" fmla="val 848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517904" y="6318504"/>
            <a:ext cx="658368" cy="65836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users_w.png"/>
          <p:cNvPicPr>
            <a:picLocks noChangeAspect="1"/>
          </p:cNvPicPr>
          <p:nvPr/>
        </p:nvPicPr>
        <p:blipFill>
          <a:blip r:embed="rId5"/>
          <a:stretch>
            <a:fillRect/>
          </a:stretch>
        </p:blipFill>
        <p:spPr>
          <a:xfrm>
            <a:off x="1666036" y="6466636"/>
            <a:ext cx="362102" cy="362102"/>
          </a:xfrm>
          <a:prstGeom prst="rect">
            <a:avLst/>
          </a:prstGeom>
        </p:spPr>
      </p:pic>
      <p:sp>
        <p:nvSpPr>
          <p:cNvPr id="26" name="TextBox 25"/>
          <p:cNvSpPr txBox="1"/>
          <p:nvPr/>
        </p:nvSpPr>
        <p:spPr>
          <a:xfrm>
            <a:off x="2350008" y="6400800"/>
            <a:ext cx="3688080" cy="502920"/>
          </a:xfrm>
          <a:prstGeom prst="rect">
            <a:avLst/>
          </a:prstGeom>
          <a:noFill/>
        </p:spPr>
        <p:txBody>
          <a:bodyPr wrap="square" lIns="45720" tIns="27432" rIns="45720" bIns="27432" anchor="t">
            <a:spAutoFit/>
          </a:bodyPr>
          <a:lstStyle/>
          <a:p>
            <a:pPr algn="l"/>
            <a:r>
              <a:rPr sz="1800">
                <a:solidFill>
                  <a:srgbClr val="262626"/>
                </a:solidFill>
                <a:latin typeface="+mj-lt"/>
              </a:rPr>
              <a:t>People decide</a:t>
            </a:r>
          </a:p>
        </p:txBody>
      </p:sp>
      <p:sp>
        <p:nvSpPr>
          <p:cNvPr id="27" name="TextBox 26"/>
          <p:cNvSpPr txBox="1"/>
          <p:nvPr/>
        </p:nvSpPr>
        <p:spPr>
          <a:xfrm>
            <a:off x="1618488" y="7178040"/>
            <a:ext cx="4282440" cy="1280160"/>
          </a:xfrm>
          <a:prstGeom prst="rect">
            <a:avLst/>
          </a:prstGeom>
          <a:noFill/>
        </p:spPr>
        <p:txBody>
          <a:bodyPr wrap="square" lIns="45720" tIns="27432" rIns="45720" bIns="27432" anchor="t">
            <a:spAutoFit/>
          </a:bodyPr>
          <a:lstStyle/>
          <a:p>
            <a:pPr algn="l"/>
            <a:r>
              <a:rPr sz="1400">
                <a:solidFill>
                  <a:srgbClr val="262626"/>
                </a:solidFill>
              </a:rPr>
              <a:t>It drafts recall lists and suggestions. A clinician or the programme lead approves. NHA-CG-01 §7.</a:t>
            </a:r>
          </a:p>
        </p:txBody>
      </p:sp>
      <p:sp>
        <p:nvSpPr>
          <p:cNvPr id="28" name="TextBox 27"/>
          <p:cNvSpPr txBox="1"/>
          <p:nvPr/>
        </p:nvSpPr>
        <p:spPr>
          <a:xfrm>
            <a:off x="1618488" y="8412480"/>
            <a:ext cx="4282440" cy="457200"/>
          </a:xfrm>
          <a:prstGeom prst="rect">
            <a:avLst/>
          </a:prstGeom>
          <a:noFill/>
        </p:spPr>
        <p:txBody>
          <a:bodyPr wrap="square" lIns="45720" tIns="27432" rIns="45720" bIns="27432" anchor="b">
            <a:spAutoFit/>
          </a:bodyPr>
          <a:lstStyle/>
          <a:p>
            <a:pPr algn="l"/>
            <a:r>
              <a:rPr sz="1300">
                <a:solidFill>
                  <a:srgbClr val="0766D1"/>
                </a:solidFill>
                <a:latin typeface="+mj-lt"/>
              </a:rPr>
              <a:t>In the instructions, rule 5</a:t>
            </a:r>
          </a:p>
        </p:txBody>
      </p:sp>
      <p:sp>
        <p:nvSpPr>
          <p:cNvPr id="29" name="Rounded Rectangle 28"/>
          <p:cNvSpPr/>
          <p:nvPr/>
        </p:nvSpPr>
        <p:spPr>
          <a:xfrm>
            <a:off x="6632448" y="6080760"/>
            <a:ext cx="5013960" cy="3017520"/>
          </a:xfrm>
          <a:prstGeom prst="roundRect">
            <a:avLst>
              <a:gd name="adj" fmla="val 848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897624" y="6318504"/>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key_w.png"/>
          <p:cNvPicPr>
            <a:picLocks noChangeAspect="1"/>
          </p:cNvPicPr>
          <p:nvPr/>
        </p:nvPicPr>
        <p:blipFill>
          <a:blip r:embed="rId6"/>
          <a:stretch>
            <a:fillRect/>
          </a:stretch>
        </p:blipFill>
        <p:spPr>
          <a:xfrm>
            <a:off x="7045756" y="6466636"/>
            <a:ext cx="362102" cy="362102"/>
          </a:xfrm>
          <a:prstGeom prst="rect">
            <a:avLst/>
          </a:prstGeom>
        </p:spPr>
      </p:pic>
      <p:sp>
        <p:nvSpPr>
          <p:cNvPr id="32" name="TextBox 31"/>
          <p:cNvSpPr txBox="1"/>
          <p:nvPr/>
        </p:nvSpPr>
        <p:spPr>
          <a:xfrm>
            <a:off x="7729728" y="6400800"/>
            <a:ext cx="3688080" cy="502920"/>
          </a:xfrm>
          <a:prstGeom prst="rect">
            <a:avLst/>
          </a:prstGeom>
          <a:noFill/>
        </p:spPr>
        <p:txBody>
          <a:bodyPr wrap="square" lIns="45720" tIns="27432" rIns="45720" bIns="27432" anchor="t">
            <a:spAutoFit/>
          </a:bodyPr>
          <a:lstStyle/>
          <a:p>
            <a:pPr algn="l"/>
            <a:r>
              <a:rPr sz="1800">
                <a:solidFill>
                  <a:srgbClr val="262626"/>
                </a:solidFill>
                <a:latin typeface="+mj-lt"/>
              </a:rPr>
              <a:t>It sees only its own tables</a:t>
            </a:r>
          </a:p>
        </p:txBody>
      </p:sp>
      <p:sp>
        <p:nvSpPr>
          <p:cNvPr id="33" name="TextBox 32"/>
          <p:cNvSpPr txBox="1"/>
          <p:nvPr/>
        </p:nvSpPr>
        <p:spPr>
          <a:xfrm>
            <a:off x="6998208" y="7178040"/>
            <a:ext cx="4282440" cy="1280160"/>
          </a:xfrm>
          <a:prstGeom prst="rect">
            <a:avLst/>
          </a:prstGeom>
          <a:noFill/>
        </p:spPr>
        <p:txBody>
          <a:bodyPr wrap="square" lIns="45720" tIns="27432" rIns="45720" bIns="27432" anchor="t">
            <a:spAutoFit/>
          </a:bodyPr>
          <a:lstStyle/>
          <a:p>
            <a:pPr algn="l"/>
            <a:r>
              <a:rPr sz="1400">
                <a:solidFill>
                  <a:srgbClr val="262626"/>
                </a:solidFill>
              </a:rPr>
              <a:t>The MCP server is scoped to the team's registry and model. Ask for anything else and it says “out of scope”.</a:t>
            </a:r>
          </a:p>
        </p:txBody>
      </p:sp>
      <p:sp>
        <p:nvSpPr>
          <p:cNvPr id="34" name="TextBox 33"/>
          <p:cNvSpPr txBox="1"/>
          <p:nvPr/>
        </p:nvSpPr>
        <p:spPr>
          <a:xfrm>
            <a:off x="6998208" y="8412480"/>
            <a:ext cx="4282440" cy="457200"/>
          </a:xfrm>
          <a:prstGeom prst="rect">
            <a:avLst/>
          </a:prstGeom>
          <a:noFill/>
        </p:spPr>
        <p:txBody>
          <a:bodyPr wrap="square" lIns="45720" tIns="27432" rIns="45720" bIns="27432" anchor="b">
            <a:spAutoFit/>
          </a:bodyPr>
          <a:lstStyle/>
          <a:p>
            <a:pPr algn="l"/>
            <a:r>
              <a:rPr sz="1300">
                <a:solidFill>
                  <a:srgbClr val="0766D1"/>
                </a:solidFill>
                <a:latin typeface="+mj-lt"/>
              </a:rPr>
              <a:t>In the MCP server configuration</a:t>
            </a:r>
          </a:p>
        </p:txBody>
      </p:sp>
      <p:sp>
        <p:nvSpPr>
          <p:cNvPr id="35" name="Rounded Rectangle 34"/>
          <p:cNvSpPr/>
          <p:nvPr/>
        </p:nvSpPr>
        <p:spPr>
          <a:xfrm>
            <a:off x="12012168" y="6080760"/>
            <a:ext cx="5013960" cy="3017520"/>
          </a:xfrm>
          <a:prstGeom prst="roundRect">
            <a:avLst>
              <a:gd name="adj" fmla="val 848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2277344" y="6318504"/>
            <a:ext cx="658368" cy="658368"/>
          </a:xfrm>
          <a:prstGeom prst="ellipse">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og_w.png"/>
          <p:cNvPicPr>
            <a:picLocks noChangeAspect="1"/>
          </p:cNvPicPr>
          <p:nvPr/>
        </p:nvPicPr>
        <p:blipFill>
          <a:blip r:embed="rId7"/>
          <a:stretch>
            <a:fillRect/>
          </a:stretch>
        </p:blipFill>
        <p:spPr>
          <a:xfrm>
            <a:off x="12425476" y="6466636"/>
            <a:ext cx="362102" cy="362102"/>
          </a:xfrm>
          <a:prstGeom prst="rect">
            <a:avLst/>
          </a:prstGeom>
        </p:spPr>
      </p:pic>
      <p:sp>
        <p:nvSpPr>
          <p:cNvPr id="38" name="TextBox 37"/>
          <p:cNvSpPr txBox="1"/>
          <p:nvPr/>
        </p:nvSpPr>
        <p:spPr>
          <a:xfrm>
            <a:off x="13109448" y="6400800"/>
            <a:ext cx="3688080" cy="502920"/>
          </a:xfrm>
          <a:prstGeom prst="rect">
            <a:avLst/>
          </a:prstGeom>
          <a:noFill/>
        </p:spPr>
        <p:txBody>
          <a:bodyPr wrap="square" lIns="45720" tIns="27432" rIns="45720" bIns="27432" anchor="t">
            <a:spAutoFit/>
          </a:bodyPr>
          <a:lstStyle/>
          <a:p>
            <a:pPr algn="l"/>
            <a:r>
              <a:rPr sz="1800">
                <a:solidFill>
                  <a:srgbClr val="262626"/>
                </a:solidFill>
                <a:latin typeface="+mj-lt"/>
              </a:rPr>
              <a:t>Everything is on the record</a:t>
            </a:r>
          </a:p>
        </p:txBody>
      </p:sp>
      <p:sp>
        <p:nvSpPr>
          <p:cNvPr id="39" name="TextBox 38"/>
          <p:cNvSpPr txBox="1"/>
          <p:nvPr/>
        </p:nvSpPr>
        <p:spPr>
          <a:xfrm>
            <a:off x="12377928" y="7178040"/>
            <a:ext cx="4282440" cy="1280160"/>
          </a:xfrm>
          <a:prstGeom prst="rect">
            <a:avLst/>
          </a:prstGeom>
          <a:noFill/>
        </p:spPr>
        <p:txBody>
          <a:bodyPr wrap="square" lIns="45720" tIns="27432" rIns="45720" bIns="27432" anchor="t">
            <a:spAutoFit/>
          </a:bodyPr>
          <a:lstStyle/>
          <a:p>
            <a:pPr algn="l"/>
            <a:r>
              <a:rPr sz="1400">
                <a:solidFill>
                  <a:srgbClr val="262626"/>
                </a:solidFill>
              </a:rPr>
              <a:t>Every retrieval, query and model call sits next to the answer. That is your audit trail.</a:t>
            </a:r>
          </a:p>
        </p:txBody>
      </p:sp>
      <p:sp>
        <p:nvSpPr>
          <p:cNvPr id="40" name="TextBox 39"/>
          <p:cNvSpPr txBox="1"/>
          <p:nvPr/>
        </p:nvSpPr>
        <p:spPr>
          <a:xfrm>
            <a:off x="12377928" y="8412480"/>
            <a:ext cx="4282440" cy="457200"/>
          </a:xfrm>
          <a:prstGeom prst="rect">
            <a:avLst/>
          </a:prstGeom>
          <a:noFill/>
        </p:spPr>
        <p:txBody>
          <a:bodyPr wrap="square" lIns="45720" tIns="27432" rIns="45720" bIns="27432" anchor="b">
            <a:spAutoFit/>
          </a:bodyPr>
          <a:lstStyle/>
          <a:p>
            <a:pPr algn="l"/>
            <a:r>
              <a:rPr sz="1300">
                <a:solidFill>
                  <a:srgbClr val="0766D1"/>
                </a:solidFill>
                <a:latin typeface="+mj-lt"/>
              </a:rPr>
              <a:t>In SAS RAM, on every answer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000"/>
              <a:t>Now you build one</a:t>
            </a:r>
          </a:p>
        </p:txBody>
      </p:sp>
      <p:sp>
        <p:nvSpPr>
          <p:cNvPr id="3" name="Text Placeholder 2"/>
          <p:cNvSpPr>
            <a:spLocks noGrp="1"/>
          </p:cNvSpPr>
          <p:nvPr>
            <p:ph type="body" idx="10" sz="quarter"/>
          </p:nvPr>
        </p:nvSpPr>
        <p:spPr/>
        <p:txBody>
          <a:bodyPr/>
          <a:lstStyle/>
          <a:p>
            <a:r>
              <a:rPr sz="3600"/>
              <a:t>The same agent, step by step, no code</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ocket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600"/>
              <a:t>Five steps to your own agent</a:t>
            </a:r>
          </a:p>
        </p:txBody>
      </p:sp>
      <p:sp>
        <p:nvSpPr>
          <p:cNvPr id="3" name="Text Placeholder 2"/>
          <p:cNvSpPr>
            <a:spLocks noGrp="1"/>
          </p:cNvSpPr>
          <p:nvPr>
            <p:ph type="body" idx="10" sz="quarter"/>
          </p:nvPr>
        </p:nvSpPr>
        <p:spPr/>
        <p:txBody>
          <a:bodyPr/>
          <a:lstStyle/>
          <a:p>
            <a:r>
              <a:rPr sz="3000"/>
              <a:t>From a CSV and four PDFs to a working agent in SAS Viya and SAS RAM</a:t>
            </a:r>
          </a:p>
        </p:txBody>
      </p:sp>
      <p:sp>
        <p:nvSpPr>
          <p:cNvPr id="5" name="Rounded Rectangle 4"/>
          <p:cNvSpPr/>
          <p:nvPr/>
        </p:nvSpPr>
        <p:spPr>
          <a:xfrm>
            <a:off x="1252728" y="3246120"/>
            <a:ext cx="2847441" cy="4572000"/>
          </a:xfrm>
          <a:prstGeom prst="roundRect">
            <a:avLst>
              <a:gd name="adj" fmla="val 8991"/>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196388" y="2766060"/>
            <a:ext cx="960120" cy="96012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pload_w.png"/>
          <p:cNvPicPr>
            <a:picLocks noChangeAspect="1"/>
          </p:cNvPicPr>
          <p:nvPr/>
        </p:nvPicPr>
        <p:blipFill>
          <a:blip r:embed="rId2"/>
          <a:stretch>
            <a:fillRect/>
          </a:stretch>
        </p:blipFill>
        <p:spPr>
          <a:xfrm>
            <a:off x="2426817" y="2996488"/>
            <a:ext cx="499262" cy="499262"/>
          </a:xfrm>
          <a:prstGeom prst="rect">
            <a:avLst/>
          </a:prstGeom>
        </p:spPr>
      </p:pic>
      <p:sp>
        <p:nvSpPr>
          <p:cNvPr id="8" name="Oval 7"/>
          <p:cNvSpPr/>
          <p:nvPr/>
        </p:nvSpPr>
        <p:spPr>
          <a:xfrm>
            <a:off x="1435608" y="3429000"/>
            <a:ext cx="457200" cy="457200"/>
          </a:xfrm>
          <a:prstGeom prst="ellipse">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a:solidFill>
                  <a:srgbClr val="032954"/>
                </a:solidFill>
                <a:latin typeface="+mj-lt"/>
              </a:rPr>
              <a:t>1</a:t>
            </a:r>
          </a:p>
        </p:txBody>
      </p:sp>
      <p:sp>
        <p:nvSpPr>
          <p:cNvPr id="9" name="TextBox 8"/>
          <p:cNvSpPr txBox="1"/>
          <p:nvPr/>
        </p:nvSpPr>
        <p:spPr>
          <a:xfrm>
            <a:off x="1481328" y="4023359"/>
            <a:ext cx="2390241" cy="868680"/>
          </a:xfrm>
          <a:prstGeom prst="rect">
            <a:avLst/>
          </a:prstGeom>
          <a:noFill/>
        </p:spPr>
        <p:txBody>
          <a:bodyPr wrap="square" lIns="45720" tIns="27432" rIns="45720" bIns="27432" anchor="t">
            <a:spAutoFit/>
          </a:bodyPr>
          <a:lstStyle/>
          <a:p>
            <a:pPr algn="ctr"/>
            <a:r>
              <a:rPr sz="1700">
                <a:solidFill>
                  <a:srgbClr val="262626"/>
                </a:solidFill>
                <a:latin typeface="+mj-lt"/>
              </a:rPr>
              <a:t>Load the data</a:t>
            </a:r>
          </a:p>
        </p:txBody>
      </p:sp>
      <p:sp>
        <p:nvSpPr>
          <p:cNvPr id="10" name="TextBox 9"/>
          <p:cNvSpPr txBox="1"/>
          <p:nvPr/>
        </p:nvSpPr>
        <p:spPr>
          <a:xfrm>
            <a:off x="1527048" y="4937760"/>
            <a:ext cx="2298801" cy="2011680"/>
          </a:xfrm>
          <a:prstGeom prst="rect">
            <a:avLst/>
          </a:prstGeom>
          <a:noFill/>
        </p:spPr>
        <p:txBody>
          <a:bodyPr wrap="square" lIns="45720" tIns="27432" rIns="45720" bIns="27432" anchor="t">
            <a:spAutoFit/>
          </a:bodyPr>
          <a:lstStyle/>
          <a:p>
            <a:pPr algn="l"/>
            <a:r>
              <a:rPr sz="1400">
                <a:solidFill>
                  <a:srgbClr val="262626"/>
                </a:solidFill>
              </a:rPr>
              <a:t>Import the registry CSV through Manage Data. It lands in CAS, where the tools can query it.</a:t>
            </a:r>
          </a:p>
        </p:txBody>
      </p:sp>
      <p:sp>
        <p:nvSpPr>
          <p:cNvPr id="11" name="Rounded Rectangle 10"/>
          <p:cNvSpPr/>
          <p:nvPr/>
        </p:nvSpPr>
        <p:spPr>
          <a:xfrm>
            <a:off x="1527048" y="7040880"/>
            <a:ext cx="2298801" cy="457200"/>
          </a:xfrm>
          <a:prstGeom prst="roundRect">
            <a:avLst>
              <a:gd name="adj" fmla="val 5000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100">
                <a:solidFill>
                  <a:srgbClr val="032954"/>
                </a:solidFill>
                <a:latin typeface="+mj-lt"/>
              </a:rPr>
              <a:t>SAS Viya  ·  data</a:t>
            </a:r>
          </a:p>
        </p:txBody>
      </p:sp>
      <p:sp>
        <p:nvSpPr>
          <p:cNvPr id="12" name="Chevron 11"/>
          <p:cNvSpPr/>
          <p:nvPr/>
        </p:nvSpPr>
        <p:spPr>
          <a:xfrm>
            <a:off x="4155033" y="5330952"/>
            <a:ext cx="274320" cy="402336"/>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84217" y="3246120"/>
            <a:ext cx="2847441" cy="4572000"/>
          </a:xfrm>
          <a:prstGeom prst="roundRect">
            <a:avLst>
              <a:gd name="adj" fmla="val 8991"/>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427878" y="2766060"/>
            <a:ext cx="960120" cy="96012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model_w.png"/>
          <p:cNvPicPr>
            <a:picLocks noChangeAspect="1"/>
          </p:cNvPicPr>
          <p:nvPr/>
        </p:nvPicPr>
        <p:blipFill>
          <a:blip r:embed="rId3"/>
          <a:stretch>
            <a:fillRect/>
          </a:stretch>
        </p:blipFill>
        <p:spPr>
          <a:xfrm>
            <a:off x="5658307" y="2996488"/>
            <a:ext cx="499262" cy="499262"/>
          </a:xfrm>
          <a:prstGeom prst="rect">
            <a:avLst/>
          </a:prstGeom>
        </p:spPr>
      </p:pic>
      <p:sp>
        <p:nvSpPr>
          <p:cNvPr id="16" name="Oval 15"/>
          <p:cNvSpPr/>
          <p:nvPr/>
        </p:nvSpPr>
        <p:spPr>
          <a:xfrm>
            <a:off x="4667097" y="3429000"/>
            <a:ext cx="457200" cy="457200"/>
          </a:xfrm>
          <a:prstGeom prst="ellipse">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a:solidFill>
                  <a:srgbClr val="032954"/>
                </a:solidFill>
                <a:latin typeface="+mj-lt"/>
              </a:rPr>
              <a:t>2</a:t>
            </a:r>
          </a:p>
        </p:txBody>
      </p:sp>
      <p:sp>
        <p:nvSpPr>
          <p:cNvPr id="17" name="TextBox 16"/>
          <p:cNvSpPr txBox="1"/>
          <p:nvPr/>
        </p:nvSpPr>
        <p:spPr>
          <a:xfrm>
            <a:off x="4712817" y="4023359"/>
            <a:ext cx="2390241" cy="868680"/>
          </a:xfrm>
          <a:prstGeom prst="rect">
            <a:avLst/>
          </a:prstGeom>
          <a:noFill/>
        </p:spPr>
        <p:txBody>
          <a:bodyPr wrap="square" lIns="45720" tIns="27432" rIns="45720" bIns="27432" anchor="t">
            <a:spAutoFit/>
          </a:bodyPr>
          <a:lstStyle/>
          <a:p>
            <a:pPr algn="ctr"/>
            <a:r>
              <a:rPr sz="1700">
                <a:solidFill>
                  <a:srgbClr val="262626"/>
                </a:solidFill>
                <a:latin typeface="+mj-lt"/>
              </a:rPr>
              <a:t>Build the model</a:t>
            </a:r>
          </a:p>
        </p:txBody>
      </p:sp>
      <p:sp>
        <p:nvSpPr>
          <p:cNvPr id="18" name="TextBox 17"/>
          <p:cNvSpPr txBox="1"/>
          <p:nvPr/>
        </p:nvSpPr>
        <p:spPr>
          <a:xfrm>
            <a:off x="4758537" y="4937760"/>
            <a:ext cx="2298801" cy="2011680"/>
          </a:xfrm>
          <a:prstGeom prst="rect">
            <a:avLst/>
          </a:prstGeom>
          <a:noFill/>
        </p:spPr>
        <p:txBody>
          <a:bodyPr wrap="square" lIns="45720" tIns="27432" rIns="45720" bIns="27432" anchor="t">
            <a:spAutoFit/>
          </a:bodyPr>
          <a:lstStyle/>
          <a:p>
            <a:pPr algn="l"/>
            <a:r>
              <a:rPr sz="1400">
                <a:solidFill>
                  <a:srgbClr val="262626"/>
                </a:solidFill>
              </a:rPr>
              <a:t>Model Studio trains the pipeline and picks a champion. Publish it so the agent can score with it.</a:t>
            </a:r>
          </a:p>
        </p:txBody>
      </p:sp>
      <p:sp>
        <p:nvSpPr>
          <p:cNvPr id="19" name="Rounded Rectangle 18"/>
          <p:cNvSpPr/>
          <p:nvPr/>
        </p:nvSpPr>
        <p:spPr>
          <a:xfrm>
            <a:off x="4758537" y="7040880"/>
            <a:ext cx="2298801" cy="457200"/>
          </a:xfrm>
          <a:prstGeom prst="roundRect">
            <a:avLst>
              <a:gd name="adj" fmla="val 5000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100">
                <a:solidFill>
                  <a:srgbClr val="032954"/>
                </a:solidFill>
                <a:latin typeface="+mj-lt"/>
              </a:rPr>
              <a:t>SAS Viya  ·  model</a:t>
            </a:r>
          </a:p>
        </p:txBody>
      </p:sp>
      <p:sp>
        <p:nvSpPr>
          <p:cNvPr id="20" name="Chevron 19"/>
          <p:cNvSpPr/>
          <p:nvPr/>
        </p:nvSpPr>
        <p:spPr>
          <a:xfrm>
            <a:off x="7386523" y="5330952"/>
            <a:ext cx="274320" cy="402336"/>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15707" y="3246120"/>
            <a:ext cx="2847441" cy="4572000"/>
          </a:xfrm>
          <a:prstGeom prst="roundRect">
            <a:avLst>
              <a:gd name="adj" fmla="val 8991"/>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59367" y="2766060"/>
            <a:ext cx="960120" cy="960120"/>
          </a:xfrm>
          <a:prstGeom prst="ellipse">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iles_w.png"/>
          <p:cNvPicPr>
            <a:picLocks noChangeAspect="1"/>
          </p:cNvPicPr>
          <p:nvPr/>
        </p:nvPicPr>
        <p:blipFill>
          <a:blip r:embed="rId4"/>
          <a:stretch>
            <a:fillRect/>
          </a:stretch>
        </p:blipFill>
        <p:spPr>
          <a:xfrm>
            <a:off x="8889796" y="2996488"/>
            <a:ext cx="499262" cy="499262"/>
          </a:xfrm>
          <a:prstGeom prst="rect">
            <a:avLst/>
          </a:prstGeom>
        </p:spPr>
      </p:pic>
      <p:sp>
        <p:nvSpPr>
          <p:cNvPr id="24" name="Oval 23"/>
          <p:cNvSpPr/>
          <p:nvPr/>
        </p:nvSpPr>
        <p:spPr>
          <a:xfrm>
            <a:off x="7898587" y="3429000"/>
            <a:ext cx="457200" cy="457200"/>
          </a:xfrm>
          <a:prstGeom prst="ellipse">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a:solidFill>
                  <a:srgbClr val="032954"/>
                </a:solidFill>
                <a:latin typeface="+mj-lt"/>
              </a:rPr>
              <a:t>3</a:t>
            </a:r>
          </a:p>
        </p:txBody>
      </p:sp>
      <p:sp>
        <p:nvSpPr>
          <p:cNvPr id="25" name="TextBox 24"/>
          <p:cNvSpPr txBox="1"/>
          <p:nvPr/>
        </p:nvSpPr>
        <p:spPr>
          <a:xfrm>
            <a:off x="7944307" y="4023359"/>
            <a:ext cx="2390241" cy="868680"/>
          </a:xfrm>
          <a:prstGeom prst="rect">
            <a:avLst/>
          </a:prstGeom>
          <a:noFill/>
        </p:spPr>
        <p:txBody>
          <a:bodyPr wrap="square" lIns="45720" tIns="27432" rIns="45720" bIns="27432" anchor="t">
            <a:spAutoFit/>
          </a:bodyPr>
          <a:lstStyle/>
          <a:p>
            <a:pPr algn="ctr"/>
            <a:r>
              <a:rPr sz="1700">
                <a:solidFill>
                  <a:srgbClr val="262626"/>
                </a:solidFill>
                <a:latin typeface="+mj-lt"/>
              </a:rPr>
              <a:t>Index the guidelines</a:t>
            </a:r>
          </a:p>
        </p:txBody>
      </p:sp>
      <p:sp>
        <p:nvSpPr>
          <p:cNvPr id="26" name="TextBox 25"/>
          <p:cNvSpPr txBox="1"/>
          <p:nvPr/>
        </p:nvSpPr>
        <p:spPr>
          <a:xfrm>
            <a:off x="7990027" y="4937760"/>
            <a:ext cx="2298801" cy="2011680"/>
          </a:xfrm>
          <a:prstGeom prst="rect">
            <a:avLst/>
          </a:prstGeom>
          <a:noFill/>
        </p:spPr>
        <p:txBody>
          <a:bodyPr wrap="square" lIns="45720" tIns="27432" rIns="45720" bIns="27432" anchor="t">
            <a:spAutoFit/>
          </a:bodyPr>
          <a:lstStyle/>
          <a:p>
            <a:pPr algn="l"/>
            <a:r>
              <a:rPr sz="1400">
                <a:solidFill>
                  <a:srgbClr val="262626"/>
                </a:solidFill>
              </a:rPr>
              <a:t>Create a collection in RAM from the four PDFs. Chunk, embed, store. Write the retrieval instructions.</a:t>
            </a:r>
          </a:p>
        </p:txBody>
      </p:sp>
      <p:sp>
        <p:nvSpPr>
          <p:cNvPr id="27" name="Rounded Rectangle 26"/>
          <p:cNvSpPr/>
          <p:nvPr/>
        </p:nvSpPr>
        <p:spPr>
          <a:xfrm>
            <a:off x="7990027" y="7040880"/>
            <a:ext cx="2298801" cy="457200"/>
          </a:xfrm>
          <a:prstGeom prst="roundRect">
            <a:avLst>
              <a:gd name="adj" fmla="val 5000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100">
                <a:solidFill>
                  <a:srgbClr val="032954"/>
                </a:solidFill>
                <a:latin typeface="+mj-lt"/>
              </a:rPr>
              <a:t>SAS RAM  ·  RAG</a:t>
            </a:r>
          </a:p>
        </p:txBody>
      </p:sp>
      <p:sp>
        <p:nvSpPr>
          <p:cNvPr id="28" name="Chevron 27"/>
          <p:cNvSpPr/>
          <p:nvPr/>
        </p:nvSpPr>
        <p:spPr>
          <a:xfrm>
            <a:off x="10618012" y="5330952"/>
            <a:ext cx="274320" cy="402336"/>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947196" y="3246120"/>
            <a:ext cx="2847441" cy="4572000"/>
          </a:xfrm>
          <a:prstGeom prst="roundRect">
            <a:avLst>
              <a:gd name="adj" fmla="val 8991"/>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890857" y="2766060"/>
            <a:ext cx="960120" cy="96012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api_w.png"/>
          <p:cNvPicPr>
            <a:picLocks noChangeAspect="1"/>
          </p:cNvPicPr>
          <p:nvPr/>
        </p:nvPicPr>
        <p:blipFill>
          <a:blip r:embed="rId5"/>
          <a:stretch>
            <a:fillRect/>
          </a:stretch>
        </p:blipFill>
        <p:spPr>
          <a:xfrm>
            <a:off x="12121286" y="2996488"/>
            <a:ext cx="499262" cy="499262"/>
          </a:xfrm>
          <a:prstGeom prst="rect">
            <a:avLst/>
          </a:prstGeom>
        </p:spPr>
      </p:pic>
      <p:sp>
        <p:nvSpPr>
          <p:cNvPr id="32" name="Oval 31"/>
          <p:cNvSpPr/>
          <p:nvPr/>
        </p:nvSpPr>
        <p:spPr>
          <a:xfrm>
            <a:off x="11130076" y="3429000"/>
            <a:ext cx="457200" cy="457200"/>
          </a:xfrm>
          <a:prstGeom prst="ellipse">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a:solidFill>
                  <a:srgbClr val="032954"/>
                </a:solidFill>
                <a:latin typeface="+mj-lt"/>
              </a:rPr>
              <a:t>4</a:t>
            </a:r>
          </a:p>
        </p:txBody>
      </p:sp>
      <p:sp>
        <p:nvSpPr>
          <p:cNvPr id="33" name="TextBox 32"/>
          <p:cNvSpPr txBox="1"/>
          <p:nvPr/>
        </p:nvSpPr>
        <p:spPr>
          <a:xfrm>
            <a:off x="11175796" y="4023359"/>
            <a:ext cx="2390241" cy="868680"/>
          </a:xfrm>
          <a:prstGeom prst="rect">
            <a:avLst/>
          </a:prstGeom>
          <a:noFill/>
        </p:spPr>
        <p:txBody>
          <a:bodyPr wrap="square" lIns="45720" tIns="27432" rIns="45720" bIns="27432" anchor="t">
            <a:spAutoFit/>
          </a:bodyPr>
          <a:lstStyle/>
          <a:p>
            <a:pPr algn="ctr"/>
            <a:r>
              <a:rPr sz="1700">
                <a:solidFill>
                  <a:srgbClr val="262626"/>
                </a:solidFill>
                <a:latin typeface="+mj-lt"/>
              </a:rPr>
              <a:t>Connect the tools</a:t>
            </a:r>
          </a:p>
        </p:txBody>
      </p:sp>
      <p:sp>
        <p:nvSpPr>
          <p:cNvPr id="34" name="TextBox 33"/>
          <p:cNvSpPr txBox="1"/>
          <p:nvPr/>
        </p:nvSpPr>
        <p:spPr>
          <a:xfrm>
            <a:off x="11221516" y="4937760"/>
            <a:ext cx="2298801" cy="2011680"/>
          </a:xfrm>
          <a:prstGeom prst="rect">
            <a:avLst/>
          </a:prstGeom>
          <a:noFill/>
        </p:spPr>
        <p:txBody>
          <a:bodyPr wrap="square" lIns="45720" tIns="27432" rIns="45720" bIns="27432" anchor="t">
            <a:spAutoFit/>
          </a:bodyPr>
          <a:lstStyle/>
          <a:p>
            <a:pPr algn="l"/>
            <a:r>
              <a:rPr sz="1400">
                <a:solidFill>
                  <a:srgbClr val="262626"/>
                </a:solidFill>
              </a:rPr>
              <a:t>Add the MCP tool server, scoped to your table and your model.</a:t>
            </a:r>
          </a:p>
        </p:txBody>
      </p:sp>
      <p:sp>
        <p:nvSpPr>
          <p:cNvPr id="35" name="Rounded Rectangle 34"/>
          <p:cNvSpPr/>
          <p:nvPr/>
        </p:nvSpPr>
        <p:spPr>
          <a:xfrm>
            <a:off x="11221516" y="7040880"/>
            <a:ext cx="2298801" cy="457200"/>
          </a:xfrm>
          <a:prstGeom prst="roundRect">
            <a:avLst>
              <a:gd name="adj" fmla="val 5000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100">
                <a:solidFill>
                  <a:srgbClr val="032954"/>
                </a:solidFill>
                <a:latin typeface="+mj-lt"/>
              </a:rPr>
              <a:t>SAS RAM  ·  MCP</a:t>
            </a:r>
          </a:p>
        </p:txBody>
      </p:sp>
      <p:sp>
        <p:nvSpPr>
          <p:cNvPr id="36" name="Chevron 35"/>
          <p:cNvSpPr/>
          <p:nvPr/>
        </p:nvSpPr>
        <p:spPr>
          <a:xfrm>
            <a:off x="13849502" y="5330952"/>
            <a:ext cx="274320" cy="402336"/>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4178686" y="3246120"/>
            <a:ext cx="2847441" cy="4572000"/>
          </a:xfrm>
          <a:prstGeom prst="roundRect">
            <a:avLst>
              <a:gd name="adj" fmla="val 8991"/>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122347" y="2766060"/>
            <a:ext cx="960120" cy="96012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robot_w.png"/>
          <p:cNvPicPr>
            <a:picLocks noChangeAspect="1"/>
          </p:cNvPicPr>
          <p:nvPr/>
        </p:nvPicPr>
        <p:blipFill>
          <a:blip r:embed="rId6"/>
          <a:stretch>
            <a:fillRect/>
          </a:stretch>
        </p:blipFill>
        <p:spPr>
          <a:xfrm>
            <a:off x="15352776" y="2996488"/>
            <a:ext cx="499262" cy="499262"/>
          </a:xfrm>
          <a:prstGeom prst="rect">
            <a:avLst/>
          </a:prstGeom>
        </p:spPr>
      </p:pic>
      <p:sp>
        <p:nvSpPr>
          <p:cNvPr id="40" name="Oval 39"/>
          <p:cNvSpPr/>
          <p:nvPr/>
        </p:nvSpPr>
        <p:spPr>
          <a:xfrm>
            <a:off x="14361566" y="3429000"/>
            <a:ext cx="457200" cy="457200"/>
          </a:xfrm>
          <a:prstGeom prst="ellipse">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a:solidFill>
                  <a:srgbClr val="032954"/>
                </a:solidFill>
                <a:latin typeface="+mj-lt"/>
              </a:rPr>
              <a:t>5</a:t>
            </a:r>
          </a:p>
        </p:txBody>
      </p:sp>
      <p:sp>
        <p:nvSpPr>
          <p:cNvPr id="41" name="TextBox 40"/>
          <p:cNvSpPr txBox="1"/>
          <p:nvPr/>
        </p:nvSpPr>
        <p:spPr>
          <a:xfrm>
            <a:off x="14407286" y="4023359"/>
            <a:ext cx="2390241" cy="868680"/>
          </a:xfrm>
          <a:prstGeom prst="rect">
            <a:avLst/>
          </a:prstGeom>
          <a:noFill/>
        </p:spPr>
        <p:txBody>
          <a:bodyPr wrap="square" lIns="45720" tIns="27432" rIns="45720" bIns="27432" anchor="t">
            <a:spAutoFit/>
          </a:bodyPr>
          <a:lstStyle/>
          <a:p>
            <a:pPr algn="ctr"/>
            <a:r>
              <a:rPr sz="1700">
                <a:solidFill>
                  <a:srgbClr val="262626"/>
                </a:solidFill>
                <a:latin typeface="+mj-lt"/>
              </a:rPr>
              <a:t>Assemble and test</a:t>
            </a:r>
          </a:p>
        </p:txBody>
      </p:sp>
      <p:sp>
        <p:nvSpPr>
          <p:cNvPr id="42" name="TextBox 41"/>
          <p:cNvSpPr txBox="1"/>
          <p:nvPr/>
        </p:nvSpPr>
        <p:spPr>
          <a:xfrm>
            <a:off x="14453006" y="4937760"/>
            <a:ext cx="2298801" cy="2011680"/>
          </a:xfrm>
          <a:prstGeom prst="rect">
            <a:avLst/>
          </a:prstGeom>
          <a:noFill/>
        </p:spPr>
        <p:txBody>
          <a:bodyPr wrap="square" lIns="45720" tIns="27432" rIns="45720" bIns="27432" anchor="t">
            <a:spAutoFit/>
          </a:bodyPr>
          <a:lstStyle/>
          <a:p>
            <a:pPr algn="l"/>
            <a:r>
              <a:rPr sz="1400">
                <a:solidFill>
                  <a:srgbClr val="262626"/>
                </a:solidFill>
              </a:rPr>
              <a:t>Instructions, collection, tools. Then ask it the test questions and read the trace.</a:t>
            </a:r>
          </a:p>
        </p:txBody>
      </p:sp>
      <p:sp>
        <p:nvSpPr>
          <p:cNvPr id="43" name="Rounded Rectangle 42"/>
          <p:cNvSpPr/>
          <p:nvPr/>
        </p:nvSpPr>
        <p:spPr>
          <a:xfrm>
            <a:off x="14453006" y="7040880"/>
            <a:ext cx="2298801" cy="457200"/>
          </a:xfrm>
          <a:prstGeom prst="roundRect">
            <a:avLst>
              <a:gd name="adj" fmla="val 5000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100">
                <a:solidFill>
                  <a:srgbClr val="032954"/>
                </a:solidFill>
                <a:latin typeface="+mj-lt"/>
              </a:rPr>
              <a:t>SAS RAM  ·  agent</a:t>
            </a:r>
          </a:p>
        </p:txBody>
      </p:sp>
      <p:sp>
        <p:nvSpPr>
          <p:cNvPr id="44" name="TextBox 43"/>
          <p:cNvSpPr txBox="1"/>
          <p:nvPr/>
        </p:nvSpPr>
        <p:spPr>
          <a:xfrm>
            <a:off x="1252728" y="8183879"/>
            <a:ext cx="15773400" cy="457200"/>
          </a:xfrm>
          <a:prstGeom prst="rect">
            <a:avLst/>
          </a:prstGeom>
          <a:noFill/>
        </p:spPr>
        <p:txBody>
          <a:bodyPr wrap="square" lIns="45720" tIns="27432" rIns="45720" bIns="27432" anchor="t">
            <a:spAutoFit/>
          </a:bodyPr>
          <a:lstStyle/>
          <a:p>
            <a:pPr algn="l"/>
            <a:r>
              <a:rPr sz="1400">
                <a:solidFill>
                  <a:srgbClr val="7E889A"/>
                </a:solidFill>
              </a:rPr>
              <a:t>Steps 1 and 2 can be done by talking to the copilot agent in RAM, which drives SAS Viya through MCP. Steps 3 to 5 are yours.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600"/>
              <a:t>The agent on one page</a:t>
            </a:r>
          </a:p>
        </p:txBody>
      </p:sp>
      <p:sp>
        <p:nvSpPr>
          <p:cNvPr id="3" name="Text Placeholder 2"/>
          <p:cNvSpPr>
            <a:spLocks noGrp="1"/>
          </p:cNvSpPr>
          <p:nvPr>
            <p:ph type="body" idx="10" sz="quarter"/>
          </p:nvPr>
        </p:nvSpPr>
        <p:spPr/>
        <p:txBody>
          <a:bodyPr/>
          <a:lstStyle/>
          <a:p>
            <a:r>
              <a:rPr sz="3000"/>
              <a:t>Each part, what it does, where it lives, and what is in the kit</a:t>
            </a:r>
          </a:p>
        </p:txBody>
      </p:sp>
      <p:graphicFrame>
        <p:nvGraphicFramePr>
          <p:cNvPr id="5" name="Table 4"/>
          <p:cNvGraphicFramePr>
            <a:graphicFrameLocks noGrp="1"/>
          </p:cNvGraphicFramePr>
          <p:nvPr/>
        </p:nvGraphicFramePr>
        <p:xfrm>
          <a:off x="1252728" y="2743200"/>
          <a:ext cx="15773400" cy="6309360"/>
        </p:xfrm>
        <a:graphic>
          <a:graphicData uri="http://schemas.openxmlformats.org/drawingml/2006/table">
            <a:tbl>
              <a:tblPr firstRow="1" bandRow="0">
                <a:tableStyleId>{5C22544A-7EE6-4342-B048-85BDC9FD1C3A}</a:tableStyleId>
              </a:tblPr>
              <a:tblGrid>
                <a:gridCol w="2651760"/>
                <a:gridCol w="4572000"/>
                <a:gridCol w="4343400"/>
                <a:gridCol w="4206240"/>
              </a:tblGrid>
              <a:tr h="594360">
                <a:tc>
                  <a:txBody>
                    <a:bodyPr wrap="square"/>
                    <a:lstStyle/>
                    <a:p>
                      <a:pPr algn="l"/>
                      <a:r>
                        <a:rPr sz="1500">
                          <a:solidFill>
                            <a:srgbClr val="FFFFFF"/>
                          </a:solidFill>
                          <a:latin typeface="+mj-lt"/>
                        </a:rPr>
                        <a:t>Part</a:t>
                      </a:r>
                    </a:p>
                  </a:txBody>
                  <a:tcPr marL="182880" marR="182880" marT="73152" marB="73152" anchor="ctr">
                    <a:solidFill>
                      <a:srgbClr val="032954"/>
                    </a:solidFill>
                  </a:tcPr>
                </a:tc>
                <a:tc>
                  <a:txBody>
                    <a:bodyPr wrap="square"/>
                    <a:lstStyle/>
                    <a:p>
                      <a:pPr algn="l"/>
                      <a:r>
                        <a:rPr sz="1500">
                          <a:solidFill>
                            <a:srgbClr val="FFFFFF"/>
                          </a:solidFill>
                          <a:latin typeface="+mj-lt"/>
                        </a:rPr>
                        <a:t>What it does for the agent</a:t>
                      </a:r>
                    </a:p>
                  </a:txBody>
                  <a:tcPr marL="182880" marR="182880" marT="73152" marB="73152" anchor="ctr">
                    <a:solidFill>
                      <a:srgbClr val="032954"/>
                    </a:solidFill>
                  </a:tcPr>
                </a:tc>
                <a:tc>
                  <a:txBody>
                    <a:bodyPr wrap="square"/>
                    <a:lstStyle/>
                    <a:p>
                      <a:pPr algn="l"/>
                      <a:r>
                        <a:rPr sz="1500">
                          <a:solidFill>
                            <a:srgbClr val="FFFFFF"/>
                          </a:solidFill>
                          <a:latin typeface="+mj-lt"/>
                        </a:rPr>
                        <a:t>Where it lives</a:t>
                      </a:r>
                    </a:p>
                  </a:txBody>
                  <a:tcPr marL="182880" marR="182880" marT="73152" marB="73152" anchor="ctr">
                    <a:solidFill>
                      <a:srgbClr val="032954"/>
                    </a:solidFill>
                  </a:tcPr>
                </a:tc>
                <a:tc>
                  <a:txBody>
                    <a:bodyPr wrap="square"/>
                    <a:lstStyle/>
                    <a:p>
                      <a:pPr algn="l"/>
                      <a:r>
                        <a:rPr sz="1500">
                          <a:solidFill>
                            <a:srgbClr val="FFFFFF"/>
                          </a:solidFill>
                          <a:latin typeface="+mj-lt"/>
                        </a:rPr>
                        <a:t>What is in the kit</a:t>
                      </a:r>
                    </a:p>
                  </a:txBody>
                  <a:tcPr marL="182880" marR="182880" marT="73152" marB="73152" anchor="ctr">
                    <a:solidFill>
                      <a:srgbClr val="032954"/>
                    </a:solidFill>
                  </a:tcPr>
                </a:tc>
              </a:tr>
              <a:tr h="1143000">
                <a:tc>
                  <a:txBody>
                    <a:bodyPr wrap="square"/>
                    <a:lstStyle/>
                    <a:p>
                      <a:pPr algn="l"/>
                      <a:r>
                        <a:rPr sz="1300">
                          <a:solidFill>
                            <a:srgbClr val="262626"/>
                          </a:solidFill>
                          <a:latin typeface="+mj-lt"/>
                        </a:rPr>
                        <a:t>The registry</a:t>
                      </a:r>
                    </a:p>
                  </a:txBody>
                  <a:tcPr marL="182880" marR="182880" marT="73152" marB="73152" anchor="ctr">
                    <a:solidFill>
                      <a:srgbClr val="FFFFFF"/>
                    </a:solidFill>
                  </a:tcPr>
                </a:tc>
                <a:tc>
                  <a:txBody>
                    <a:bodyPr wrap="square"/>
                    <a:lstStyle/>
                    <a:p>
                      <a:pPr algn="l"/>
                      <a:r>
                        <a:rPr sz="1300">
                          <a:solidFill>
                            <a:srgbClr val="262626"/>
                          </a:solidFill>
                        </a:rPr>
                        <a:t>All the numbers: cohorts, rates, costs, and one patient when a clinician asks</a:t>
                      </a:r>
                    </a:p>
                  </a:txBody>
                  <a:tcPr marL="182880" marR="182880" marT="73152" marB="73152" anchor="ctr">
                    <a:solidFill>
                      <a:srgbClr val="FFFFFF"/>
                    </a:solidFill>
                  </a:tcPr>
                </a:tc>
                <a:tc>
                  <a:txBody>
                    <a:bodyPr wrap="square"/>
                    <a:lstStyle/>
                    <a:p>
                      <a:pPr algn="l"/>
                      <a:r>
                        <a:rPr sz="1300">
                          <a:solidFill>
                            <a:srgbClr val="0766D1"/>
                          </a:solidFill>
                        </a:rPr>
                        <a:t>SAS Viya, CAS table Public.EHS_DIABETES</a:t>
                      </a:r>
                    </a:p>
                  </a:txBody>
                  <a:tcPr marL="182880" marR="182880" marT="73152" marB="73152" anchor="ctr">
                    <a:solidFill>
                      <a:srgbClr val="FFFFFF"/>
                    </a:solidFill>
                  </a:tcPr>
                </a:tc>
                <a:tc>
                  <a:txBody>
                    <a:bodyPr wrap="square"/>
                    <a:lstStyle/>
                    <a:p>
                      <a:pPr algn="l"/>
                      <a:r>
                        <a:rPr sz="1300">
                          <a:solidFill>
                            <a:srgbClr val="262626"/>
                          </a:solidFill>
                        </a:rPr>
                        <a:t>ehs_diabetes_registry.csv (4,000 rows, 54 columns), ehs_facilities.csv, the data dictionary</a:t>
                      </a:r>
                    </a:p>
                  </a:txBody>
                  <a:tcPr marL="182880" marR="182880" marT="73152" marB="73152" anchor="ctr">
                    <a:solidFill>
                      <a:srgbClr val="FFFFFF"/>
                    </a:solidFill>
                  </a:tcPr>
                </a:tc>
              </a:tr>
              <a:tr h="1143000">
                <a:tc>
                  <a:txBody>
                    <a:bodyPr wrap="square"/>
                    <a:lstStyle/>
                    <a:p>
                      <a:pPr algn="l"/>
                      <a:r>
                        <a:rPr sz="1300">
                          <a:solidFill>
                            <a:srgbClr val="262626"/>
                          </a:solidFill>
                          <a:latin typeface="+mj-lt"/>
                        </a:rPr>
                        <a:t>The risk model</a:t>
                      </a:r>
                    </a:p>
                  </a:txBody>
                  <a:tcPr marL="182880" marR="182880" marT="73152" marB="73152" anchor="ctr">
                    <a:solidFill>
                      <a:srgbClr val="F0F1F3"/>
                    </a:solidFill>
                  </a:tcPr>
                </a:tc>
                <a:tc>
                  <a:txBody>
                    <a:bodyPr wrap="square"/>
                    <a:lstStyle/>
                    <a:p>
                      <a:pPr algn="l"/>
                      <a:r>
                        <a:rPr sz="1300">
                          <a:solidFill>
                            <a:srgbClr val="262626"/>
                          </a:solidFill>
                        </a:rPr>
                        <a:t>How likely each patient is to deteriorate in the next 12 months, and why</a:t>
                      </a:r>
                    </a:p>
                  </a:txBody>
                  <a:tcPr marL="182880" marR="182880" marT="73152" marB="73152" anchor="ctr">
                    <a:solidFill>
                      <a:srgbClr val="F0F1F3"/>
                    </a:solidFill>
                  </a:tcPr>
                </a:tc>
                <a:tc>
                  <a:txBody>
                    <a:bodyPr wrap="square"/>
                    <a:lstStyle/>
                    <a:p>
                      <a:pPr algn="l"/>
                      <a:r>
                        <a:rPr sz="1300">
                          <a:solidFill>
                            <a:srgbClr val="0766D1"/>
                          </a:solidFill>
                        </a:rPr>
                        <a:t>SAS Viya, Model Studio; champion published to SAS Micro Analytic Service</a:t>
                      </a:r>
                    </a:p>
                  </a:txBody>
                  <a:tcPr marL="182880" marR="182880" marT="73152" marB="73152" anchor="ctr">
                    <a:solidFill>
                      <a:srgbClr val="F0F1F3"/>
                    </a:solidFill>
                  </a:tcPr>
                </a:tc>
                <a:tc>
                  <a:txBody>
                    <a:bodyPr wrap="square"/>
                    <a:lstStyle/>
                    <a:p>
                      <a:pPr algn="l"/>
                      <a:r>
                        <a:rPr sz="1300">
                          <a:solidFill>
                            <a:srgbClr val="262626"/>
                          </a:solidFill>
                        </a:rPr>
                        <a:t>Target column deterioration_next_12m; the columns to leave out are listed in the data dictionary</a:t>
                      </a:r>
                    </a:p>
                  </a:txBody>
                  <a:tcPr marL="182880" marR="182880" marT="73152" marB="73152" anchor="ctr">
                    <a:solidFill>
                      <a:srgbClr val="F0F1F3"/>
                    </a:solidFill>
                  </a:tcPr>
                </a:tc>
              </a:tr>
              <a:tr h="1143000">
                <a:tc>
                  <a:txBody>
                    <a:bodyPr wrap="square"/>
                    <a:lstStyle/>
                    <a:p>
                      <a:pPr algn="l"/>
                      <a:r>
                        <a:rPr sz="1300">
                          <a:solidFill>
                            <a:srgbClr val="262626"/>
                          </a:solidFill>
                          <a:latin typeface="+mj-lt"/>
                        </a:rPr>
                        <a:t>The guidelines (RAG)</a:t>
                      </a:r>
                    </a:p>
                  </a:txBody>
                  <a:tcPr marL="182880" marR="182880" marT="73152" marB="73152" anchor="ctr">
                    <a:solidFill>
                      <a:srgbClr val="FFFFFF"/>
                    </a:solidFill>
                  </a:tcPr>
                </a:tc>
                <a:tc>
                  <a:txBody>
                    <a:bodyPr wrap="square"/>
                    <a:lstStyle/>
                    <a:p>
                      <a:pPr algn="l"/>
                      <a:r>
                        <a:rPr sz="1300">
                          <a:solidFill>
                            <a:srgbClr val="262626"/>
                          </a:solidFill>
                        </a:rPr>
                        <a:t>Answers with document and section, or “not covered”</a:t>
                      </a:r>
                    </a:p>
                  </a:txBody>
                  <a:tcPr marL="182880" marR="182880" marT="73152" marB="73152" anchor="ctr">
                    <a:solidFill>
                      <a:srgbClr val="FFFFFF"/>
                    </a:solidFill>
                  </a:tcPr>
                </a:tc>
                <a:tc>
                  <a:txBody>
                    <a:bodyPr wrap="square"/>
                    <a:lstStyle/>
                    <a:p>
                      <a:pPr algn="l"/>
                      <a:r>
                        <a:rPr sz="1300">
                          <a:solidFill>
                            <a:srgbClr val="0766D1"/>
                          </a:solidFill>
                        </a:rPr>
                        <a:t>SAS RAM, a collection plus retrieval settings</a:t>
                      </a:r>
                    </a:p>
                  </a:txBody>
                  <a:tcPr marL="182880" marR="182880" marT="73152" marB="73152" anchor="ctr">
                    <a:solidFill>
                      <a:srgbClr val="FFFFFF"/>
                    </a:solidFill>
                  </a:tcPr>
                </a:tc>
                <a:tc>
                  <a:txBody>
                    <a:bodyPr wrap="square"/>
                    <a:lstStyle/>
                    <a:p>
                      <a:pPr algn="l"/>
                      <a:r>
                        <a:rPr sz="1300">
                          <a:solidFill>
                            <a:srgbClr val="262626"/>
                          </a:solidFill>
                        </a:rPr>
                        <a:t>NHA-CG-01, CG-02, CG-03 and PP-01 as PDFs</a:t>
                      </a:r>
                    </a:p>
                  </a:txBody>
                  <a:tcPr marL="182880" marR="182880" marT="73152" marB="73152" anchor="ctr">
                    <a:solidFill>
                      <a:srgbClr val="FFFFFF"/>
                    </a:solidFill>
                  </a:tcPr>
                </a:tc>
              </a:tr>
              <a:tr h="1143000">
                <a:tc>
                  <a:txBody>
                    <a:bodyPr wrap="square"/>
                    <a:lstStyle/>
                    <a:p>
                      <a:pPr algn="l"/>
                      <a:r>
                        <a:rPr sz="1300">
                          <a:solidFill>
                            <a:srgbClr val="262626"/>
                          </a:solidFill>
                          <a:latin typeface="+mj-lt"/>
                        </a:rPr>
                        <a:t>The tools (MCP)</a:t>
                      </a:r>
                    </a:p>
                  </a:txBody>
                  <a:tcPr marL="182880" marR="182880" marT="73152" marB="73152" anchor="ctr">
                    <a:solidFill>
                      <a:srgbClr val="F0F1F3"/>
                    </a:solidFill>
                  </a:tcPr>
                </a:tc>
                <a:tc>
                  <a:txBody>
                    <a:bodyPr wrap="square"/>
                    <a:lstStyle/>
                    <a:p>
                      <a:pPr algn="l"/>
                      <a:r>
                        <a:rPr sz="1300">
                          <a:solidFill>
                            <a:srgbClr val="262626"/>
                          </a:solidFill>
                        </a:rPr>
                        <a:t>List, describe and preview tables; query; list and describe models; score</a:t>
                      </a:r>
                    </a:p>
                  </a:txBody>
                  <a:tcPr marL="182880" marR="182880" marT="73152" marB="73152" anchor="ctr">
                    <a:solidFill>
                      <a:srgbClr val="F0F1F3"/>
                    </a:solidFill>
                  </a:tcPr>
                </a:tc>
                <a:tc>
                  <a:txBody>
                    <a:bodyPr wrap="square"/>
                    <a:lstStyle/>
                    <a:p>
                      <a:pPr algn="l"/>
                      <a:r>
                        <a:rPr sz="1300">
                          <a:solidFill>
                            <a:srgbClr val="0766D1"/>
                          </a:solidFill>
                        </a:rPr>
                        <a:t>SAS RAM, an MCP tool source scoped to your table and model</a:t>
                      </a:r>
                    </a:p>
                  </a:txBody>
                  <a:tcPr marL="182880" marR="182880" marT="73152" marB="73152" anchor="ctr">
                    <a:solidFill>
                      <a:srgbClr val="F0F1F3"/>
                    </a:solidFill>
                  </a:tcPr>
                </a:tc>
                <a:tc>
                  <a:txBody>
                    <a:bodyPr wrap="square"/>
                    <a:lstStyle/>
                    <a:p>
                      <a:pPr algn="l"/>
                      <a:r>
                        <a:rPr sz="1300">
                          <a:solidFill>
                            <a:srgbClr val="262626"/>
                          </a:solidFill>
                        </a:rPr>
                        <a:t>The Bootcamp MCP server (8 tools), or the SAS Viya MCP server</a:t>
                      </a:r>
                    </a:p>
                  </a:txBody>
                  <a:tcPr marL="182880" marR="182880" marT="73152" marB="73152" anchor="ctr">
                    <a:solidFill>
                      <a:srgbClr val="F0F1F3"/>
                    </a:solidFill>
                  </a:tcPr>
                </a:tc>
              </a:tr>
              <a:tr h="1143000">
                <a:tc>
                  <a:txBody>
                    <a:bodyPr wrap="square"/>
                    <a:lstStyle/>
                    <a:p>
                      <a:pPr algn="l"/>
                      <a:r>
                        <a:rPr sz="1300">
                          <a:solidFill>
                            <a:srgbClr val="262626"/>
                          </a:solidFill>
                          <a:latin typeface="+mj-lt"/>
                        </a:rPr>
                        <a:t>The agent</a:t>
                      </a:r>
                    </a:p>
                  </a:txBody>
                  <a:tcPr marL="182880" marR="182880" marT="73152" marB="73152" anchor="ctr">
                    <a:solidFill>
                      <a:srgbClr val="FFFFFF"/>
                    </a:solidFill>
                  </a:tcPr>
                </a:tc>
                <a:tc>
                  <a:txBody>
                    <a:bodyPr wrap="square"/>
                    <a:lstStyle/>
                    <a:p>
                      <a:pPr algn="l"/>
                      <a:r>
                        <a:rPr sz="1300">
                          <a:solidFill>
                            <a:srgbClr val="262626"/>
                          </a:solidFill>
                        </a:rPr>
                        <a:t>Reads the question, picks the tool, writes the cited answer</a:t>
                      </a:r>
                    </a:p>
                  </a:txBody>
                  <a:tcPr marL="182880" marR="182880" marT="73152" marB="73152" anchor="ctr">
                    <a:solidFill>
                      <a:srgbClr val="FFFFFF"/>
                    </a:solidFill>
                  </a:tcPr>
                </a:tc>
                <a:tc>
                  <a:txBody>
                    <a:bodyPr wrap="square"/>
                    <a:lstStyle/>
                    <a:p>
                      <a:pPr algn="l"/>
                      <a:r>
                        <a:rPr sz="1300">
                          <a:solidFill>
                            <a:srgbClr val="0766D1"/>
                          </a:solidFill>
                        </a:rPr>
                        <a:t>SAS RAM: instructions + collection + tools</a:t>
                      </a:r>
                    </a:p>
                  </a:txBody>
                  <a:tcPr marL="182880" marR="182880" marT="73152" marB="73152" anchor="ctr">
                    <a:solidFill>
                      <a:srgbClr val="FFFFFF"/>
                    </a:solidFill>
                  </a:tcPr>
                </a:tc>
                <a:tc>
                  <a:txBody>
                    <a:bodyPr wrap="square"/>
                    <a:lstStyle/>
                    <a:p>
                      <a:pPr algn="l"/>
                      <a:r>
                        <a:rPr sz="1300">
                          <a:solidFill>
                            <a:srgbClr val="262626"/>
                          </a:solidFill>
                        </a:rPr>
                        <a:t>The prompt template and 20 test questions with their expected answers</a:t>
                      </a:r>
                    </a:p>
                  </a:txBody>
                  <a:tcPr marL="182880" marR="182880" marT="73152" marB="73152"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984480" y="0"/>
            <a:ext cx="5303520" cy="10287000"/>
          </a:xfrm>
          <a:prstGeom prst="rect">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52728" y="777240"/>
            <a:ext cx="10972800" cy="914400"/>
          </a:xfrm>
          <a:prstGeom prst="rect">
            <a:avLst/>
          </a:prstGeom>
          <a:noFill/>
        </p:spPr>
        <p:txBody>
          <a:bodyPr wrap="square" lIns="45720" tIns="27432" rIns="45720" bIns="27432" anchor="ctr">
            <a:spAutoFit/>
          </a:bodyPr>
          <a:lstStyle/>
          <a:p>
            <a:pPr algn="l"/>
            <a:r>
              <a:rPr sz="5600">
                <a:solidFill>
                  <a:srgbClr val="FFFFFF"/>
                </a:solidFill>
                <a:latin typeface="+mj-lt"/>
              </a:rPr>
              <a:t>Takeaways</a:t>
            </a:r>
          </a:p>
        </p:txBody>
      </p:sp>
      <p:sp>
        <p:nvSpPr>
          <p:cNvPr id="5" name="TextBox 4"/>
          <p:cNvSpPr txBox="1"/>
          <p:nvPr/>
        </p:nvSpPr>
        <p:spPr>
          <a:xfrm>
            <a:off x="1252728" y="2514600"/>
            <a:ext cx="2011680" cy="1280160"/>
          </a:xfrm>
          <a:prstGeom prst="rect">
            <a:avLst/>
          </a:prstGeom>
          <a:noFill/>
        </p:spPr>
        <p:txBody>
          <a:bodyPr wrap="square" lIns="45720" tIns="27432" rIns="45720" bIns="27432" anchor="t">
            <a:spAutoFit/>
          </a:bodyPr>
          <a:lstStyle/>
          <a:p>
            <a:pPr algn="l"/>
            <a:r>
              <a:rPr sz="6000">
                <a:solidFill>
                  <a:srgbClr val="C4DEFD"/>
                </a:solidFill>
                <a:latin typeface="+mj-lt"/>
              </a:rPr>
              <a:t>01</a:t>
            </a:r>
          </a:p>
        </p:txBody>
      </p:sp>
      <p:sp>
        <p:nvSpPr>
          <p:cNvPr id="6" name="TextBox 5"/>
          <p:cNvSpPr txBox="1"/>
          <p:nvPr/>
        </p:nvSpPr>
        <p:spPr>
          <a:xfrm>
            <a:off x="3383280" y="2651760"/>
            <a:ext cx="9052560" cy="640080"/>
          </a:xfrm>
          <a:prstGeom prst="rect">
            <a:avLst/>
          </a:prstGeom>
          <a:noFill/>
        </p:spPr>
        <p:txBody>
          <a:bodyPr wrap="square" lIns="45720" tIns="27432" rIns="45720" bIns="27432" anchor="t">
            <a:spAutoFit/>
          </a:bodyPr>
          <a:lstStyle/>
          <a:p>
            <a:pPr algn="l"/>
            <a:r>
              <a:rPr sz="2400">
                <a:solidFill>
                  <a:srgbClr val="FFFFFF"/>
                </a:solidFill>
                <a:latin typeface="+mj-lt"/>
              </a:rPr>
              <a:t>An agent chases a goal, not a question</a:t>
            </a:r>
          </a:p>
        </p:txBody>
      </p:sp>
      <p:sp>
        <p:nvSpPr>
          <p:cNvPr id="7" name="TextBox 6"/>
          <p:cNvSpPr txBox="1"/>
          <p:nvPr/>
        </p:nvSpPr>
        <p:spPr>
          <a:xfrm>
            <a:off x="3383280" y="3291839"/>
            <a:ext cx="9052560" cy="1097280"/>
          </a:xfrm>
          <a:prstGeom prst="rect">
            <a:avLst/>
          </a:prstGeom>
          <a:noFill/>
        </p:spPr>
        <p:txBody>
          <a:bodyPr wrap="square" lIns="45720" tIns="27432" rIns="45720" bIns="27432" anchor="t">
            <a:spAutoFit/>
          </a:bodyPr>
          <a:lstStyle/>
          <a:p>
            <a:pPr algn="l"/>
            <a:r>
              <a:rPr sz="1700">
                <a:solidFill>
                  <a:srgbClr val="C4DEFD"/>
                </a:solidFill>
              </a:rPr>
              <a:t>It uses tools, checks its own work, and stops when the job is done or a person needs to step in.</a:t>
            </a:r>
          </a:p>
        </p:txBody>
      </p:sp>
      <p:sp>
        <p:nvSpPr>
          <p:cNvPr id="8" name="TextBox 7"/>
          <p:cNvSpPr txBox="1"/>
          <p:nvPr/>
        </p:nvSpPr>
        <p:spPr>
          <a:xfrm>
            <a:off x="1252728" y="4663440"/>
            <a:ext cx="2011680" cy="1280160"/>
          </a:xfrm>
          <a:prstGeom prst="rect">
            <a:avLst/>
          </a:prstGeom>
          <a:noFill/>
        </p:spPr>
        <p:txBody>
          <a:bodyPr wrap="square" lIns="45720" tIns="27432" rIns="45720" bIns="27432" anchor="t">
            <a:spAutoFit/>
          </a:bodyPr>
          <a:lstStyle/>
          <a:p>
            <a:pPr algn="l"/>
            <a:r>
              <a:rPr sz="6000">
                <a:solidFill>
                  <a:srgbClr val="C4DEFD"/>
                </a:solidFill>
                <a:latin typeface="+mj-lt"/>
              </a:rPr>
              <a:t>02</a:t>
            </a:r>
          </a:p>
        </p:txBody>
      </p:sp>
      <p:sp>
        <p:nvSpPr>
          <p:cNvPr id="9" name="TextBox 8"/>
          <p:cNvSpPr txBox="1"/>
          <p:nvPr/>
        </p:nvSpPr>
        <p:spPr>
          <a:xfrm>
            <a:off x="3383280" y="4800600"/>
            <a:ext cx="9052560" cy="640080"/>
          </a:xfrm>
          <a:prstGeom prst="rect">
            <a:avLst/>
          </a:prstGeom>
          <a:noFill/>
        </p:spPr>
        <p:txBody>
          <a:bodyPr wrap="square" lIns="45720" tIns="27432" rIns="45720" bIns="27432" anchor="t">
            <a:spAutoFit/>
          </a:bodyPr>
          <a:lstStyle/>
          <a:p>
            <a:pPr algn="l"/>
            <a:r>
              <a:rPr sz="2400">
                <a:solidFill>
                  <a:srgbClr val="FFFFFF"/>
                </a:solidFill>
                <a:latin typeface="+mj-lt"/>
              </a:rPr>
              <a:t>The LLM thinks. Everything else keeps it honest.</a:t>
            </a:r>
          </a:p>
        </p:txBody>
      </p:sp>
      <p:sp>
        <p:nvSpPr>
          <p:cNvPr id="10" name="TextBox 9"/>
          <p:cNvSpPr txBox="1"/>
          <p:nvPr/>
        </p:nvSpPr>
        <p:spPr>
          <a:xfrm>
            <a:off x="3383280" y="5440680"/>
            <a:ext cx="9052560" cy="1097280"/>
          </a:xfrm>
          <a:prstGeom prst="rect">
            <a:avLst/>
          </a:prstGeom>
          <a:noFill/>
        </p:spPr>
        <p:txBody>
          <a:bodyPr wrap="square" lIns="45720" tIns="27432" rIns="45720" bIns="27432" anchor="t">
            <a:spAutoFit/>
          </a:bodyPr>
          <a:lstStyle/>
          <a:p>
            <a:pPr algn="l"/>
            <a:r>
              <a:rPr sz="1700">
                <a:solidFill>
                  <a:srgbClr val="C4DEFD"/>
                </a:solidFill>
              </a:rPr>
              <a:t>Your documents for the quotes, your queries and models for the numbers, MCP to connect them, a trace to prove it.</a:t>
            </a:r>
          </a:p>
        </p:txBody>
      </p:sp>
      <p:sp>
        <p:nvSpPr>
          <p:cNvPr id="11" name="TextBox 10"/>
          <p:cNvSpPr txBox="1"/>
          <p:nvPr/>
        </p:nvSpPr>
        <p:spPr>
          <a:xfrm>
            <a:off x="1252728" y="6812279"/>
            <a:ext cx="2011680" cy="1280160"/>
          </a:xfrm>
          <a:prstGeom prst="rect">
            <a:avLst/>
          </a:prstGeom>
          <a:noFill/>
        </p:spPr>
        <p:txBody>
          <a:bodyPr wrap="square" lIns="45720" tIns="27432" rIns="45720" bIns="27432" anchor="t">
            <a:spAutoFit/>
          </a:bodyPr>
          <a:lstStyle/>
          <a:p>
            <a:pPr algn="l"/>
            <a:r>
              <a:rPr sz="6000">
                <a:solidFill>
                  <a:srgbClr val="C4DEFD"/>
                </a:solidFill>
                <a:latin typeface="+mj-lt"/>
              </a:rPr>
              <a:t>03</a:t>
            </a:r>
          </a:p>
        </p:txBody>
      </p:sp>
      <p:sp>
        <p:nvSpPr>
          <p:cNvPr id="12" name="TextBox 11"/>
          <p:cNvSpPr txBox="1"/>
          <p:nvPr/>
        </p:nvSpPr>
        <p:spPr>
          <a:xfrm>
            <a:off x="3383280" y="6949440"/>
            <a:ext cx="9052560" cy="640080"/>
          </a:xfrm>
          <a:prstGeom prst="rect">
            <a:avLst/>
          </a:prstGeom>
          <a:noFill/>
        </p:spPr>
        <p:txBody>
          <a:bodyPr wrap="square" lIns="45720" tIns="27432" rIns="45720" bIns="27432" anchor="t">
            <a:spAutoFit/>
          </a:bodyPr>
          <a:lstStyle/>
          <a:p>
            <a:pPr algn="l"/>
            <a:r>
              <a:rPr sz="2400">
                <a:solidFill>
                  <a:srgbClr val="FFFFFF"/>
                </a:solidFill>
                <a:latin typeface="+mj-lt"/>
              </a:rPr>
              <a:t>In the hands-on, you build one</a:t>
            </a:r>
          </a:p>
        </p:txBody>
      </p:sp>
      <p:sp>
        <p:nvSpPr>
          <p:cNvPr id="13" name="TextBox 12"/>
          <p:cNvSpPr txBox="1"/>
          <p:nvPr/>
        </p:nvSpPr>
        <p:spPr>
          <a:xfrm>
            <a:off x="3383280" y="7589519"/>
            <a:ext cx="9052560" cy="1097280"/>
          </a:xfrm>
          <a:prstGeom prst="rect">
            <a:avLst/>
          </a:prstGeom>
          <a:noFill/>
        </p:spPr>
        <p:txBody>
          <a:bodyPr wrap="square" lIns="45720" tIns="27432" rIns="45720" bIns="27432" anchor="t">
            <a:spAutoFit/>
          </a:bodyPr>
          <a:lstStyle/>
          <a:p>
            <a:pPr algn="l"/>
            <a:r>
              <a:rPr sz="1700">
                <a:solidFill>
                  <a:srgbClr val="C4DEFD"/>
                </a:solidFill>
              </a:rPr>
              <a:t>Data, model, guidelines, tools, agent. Five steps, no code.</a:t>
            </a:r>
          </a:p>
        </p:txBody>
      </p:sp>
      <p:pic>
        <p:nvPicPr>
          <p:cNvPr id="14" name="Picture 13" descr="arrowRight_w.png"/>
          <p:cNvPicPr>
            <a:picLocks noChangeAspect="1"/>
          </p:cNvPicPr>
          <p:nvPr/>
        </p:nvPicPr>
        <p:blipFill>
          <a:blip r:embed="rId2"/>
          <a:stretch>
            <a:fillRect/>
          </a:stretch>
        </p:blipFill>
        <p:spPr>
          <a:xfrm>
            <a:off x="13898880" y="3291840"/>
            <a:ext cx="822960" cy="822960"/>
          </a:xfrm>
          <a:prstGeom prst="rect">
            <a:avLst/>
          </a:prstGeom>
        </p:spPr>
      </p:pic>
      <p:sp>
        <p:nvSpPr>
          <p:cNvPr id="15" name="TextBox 14"/>
          <p:cNvSpPr txBox="1"/>
          <p:nvPr/>
        </p:nvSpPr>
        <p:spPr>
          <a:xfrm>
            <a:off x="13898880" y="4297680"/>
            <a:ext cx="3840480" cy="548640"/>
          </a:xfrm>
          <a:prstGeom prst="rect">
            <a:avLst/>
          </a:prstGeom>
          <a:noFill/>
        </p:spPr>
        <p:txBody>
          <a:bodyPr wrap="square" lIns="45720" tIns="27432" rIns="45720" bIns="27432" anchor="t">
            <a:spAutoFit/>
          </a:bodyPr>
          <a:lstStyle/>
          <a:p>
            <a:pPr algn="l"/>
            <a:r>
              <a:rPr sz="1600">
                <a:solidFill>
                  <a:srgbClr val="C4DEFD"/>
                </a:solidFill>
                <a:latin typeface="+mj-lt"/>
              </a:rPr>
              <a:t>Up next  ·  hands-on</a:t>
            </a:r>
          </a:p>
        </p:txBody>
      </p:sp>
      <p:sp>
        <p:nvSpPr>
          <p:cNvPr id="16" name="TextBox 15"/>
          <p:cNvSpPr txBox="1"/>
          <p:nvPr/>
        </p:nvSpPr>
        <p:spPr>
          <a:xfrm>
            <a:off x="13898880" y="4846320"/>
            <a:ext cx="3840480" cy="2011680"/>
          </a:xfrm>
          <a:prstGeom prst="rect">
            <a:avLst/>
          </a:prstGeom>
          <a:noFill/>
        </p:spPr>
        <p:txBody>
          <a:bodyPr wrap="square" lIns="45720" tIns="27432" rIns="45720" bIns="27432" anchor="t">
            <a:spAutoFit/>
          </a:bodyPr>
          <a:lstStyle/>
          <a:p>
            <a:pPr algn="l"/>
            <a:r>
              <a:rPr sz="2600">
                <a:solidFill>
                  <a:srgbClr val="FFFFFF"/>
                </a:solidFill>
                <a:latin typeface="+mj-lt"/>
              </a:rPr>
              <a:t>Build your own Population Health Agent</a:t>
            </a:r>
          </a:p>
        </p:txBody>
      </p:sp>
      <p:sp>
        <p:nvSpPr>
          <p:cNvPr id="17" name="TextBox 16"/>
          <p:cNvSpPr txBox="1"/>
          <p:nvPr/>
        </p:nvSpPr>
        <p:spPr>
          <a:xfrm>
            <a:off x="13898880" y="6766560"/>
            <a:ext cx="3840480" cy="1463040"/>
          </a:xfrm>
          <a:prstGeom prst="rect">
            <a:avLst/>
          </a:prstGeom>
          <a:noFill/>
        </p:spPr>
        <p:txBody>
          <a:bodyPr wrap="square" lIns="45720" tIns="27432" rIns="45720" bIns="27432" anchor="t">
            <a:spAutoFit/>
          </a:bodyPr>
          <a:lstStyle/>
          <a:p>
            <a:pPr algn="l"/>
            <a:r>
              <a:rPr sz="1500">
                <a:solidFill>
                  <a:srgbClr val="C4DEFD"/>
                </a:solidFill>
              </a:rPr>
              <a:t>You will need the registry CSV, the four NHA PDFs and the test questions.</a:t>
            </a:r>
          </a:p>
        </p:txBody>
      </p:sp>
      <p:sp>
        <p:nvSpPr>
          <p:cNvPr id="18" name="TextBox 17"/>
          <p:cNvSpPr txBox="1"/>
          <p:nvPr/>
        </p:nvSpPr>
        <p:spPr>
          <a:xfrm>
            <a:off x="1252728" y="9857232"/>
            <a:ext cx="5486400" cy="246888"/>
          </a:xfrm>
          <a:prstGeom prst="rect">
            <a:avLst/>
          </a:prstGeom>
          <a:noFill/>
        </p:spPr>
        <p:txBody>
          <a:bodyPr wrap="square" lIns="45720" tIns="27432" rIns="45720" bIns="27432" anchor="b">
            <a:spAutoFit/>
          </a:bodyPr>
          <a:lstStyle/>
          <a:p>
            <a:pPr algn="l"/>
            <a:r>
              <a:rPr sz="1000">
                <a:solidFill>
                  <a:srgbClr val="C4DEFD"/>
                </a:solidFill>
              </a:rPr>
              <a:t>Copyright © SAS Institute Inc.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Thank you!</a:t>
            </a:r>
          </a:p>
        </p:txBody>
      </p:sp>
      <p:sp>
        <p:nvSpPr>
          <p:cNvPr id="3" name="Text Placeholder 2"/>
          <p:cNvSpPr>
            <a:spLocks noGrp="1"/>
          </p:cNvSpPr>
          <p:nvPr>
            <p:ph type="body" idx="11" sz="quarter"/>
          </p:nvPr>
        </p:nvSpPr>
        <p:spPr/>
        <p:txBody>
          <a:bodyPr/>
          <a:lstStyle/>
          <a:p>
            <a:r>
              <a:rPr sz="2800"/>
              <a:t>Questions?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2020-TEMPLATE-EXTERNAL" val="pdtUH84H"/>
  <p:tag name="ARTICULATE_DESIGN_ID_SAS-EXTERNAL-16X9-2023" val="CJxW6PTk"/>
  <p:tag name="ARTICULATE_DESIGN_ID_1_NDA" val="5KPCLKMf"/>
  <p:tag name="ARTICULATE_DESIGN_ID_1_SAS-EXTERNAL-16X9-2023" val="OvZPFYIY"/>
  <p:tag name="ARTICULATE_DESIGN_ID_SAS - EXTERNAL - 16X9 - 2023" val="iju6vBOG"/>
  <p:tag name="ARTICULATE_DESIGN_ID_SAS - EXTERNAL" val="IZ9bNYet"/>
  <p:tag name="ARTICULATE_DESIGN_ID_SAS - EXTERNAL - NDA" val="RR4fBfJW"/>
  <p:tag name="ARTICULATE_SLIDE_THUMBNAIL_REFRESH" val="1"/>
  <p:tag name="ARTICULATE_DESIGN_ID_CUSTOM DESIGN" val="WASRYxhz"/>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AS - EXTERNAL">
  <a:themeElements>
    <a:clrScheme name="Custom 4">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_2023.potx" id="{2EA8CE33-CC8D-491A-8407-3C6ED769A2DD}" vid="{4D26F06B-4A77-4C47-863E-04711AA87A0D}"/>
    </a:ext>
  </a:extLst>
</a:theme>
</file>

<file path=ppt/theme/theme4.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customXsn xmlns="http://schemas.microsoft.com/office/2006/metadata/customXsn">
  <xsnLocation/>
  <cached>True</cached>
  <openByDefault>True</openByDefault>
  <xsnScope/>
</customXsn>
</file>

<file path=customXml/item3.xml><?xml version="1.0" encoding="utf-8"?>
<p:properties xmlns:p="http://schemas.microsoft.com/office/2006/metadata/properties" xmlns:xsi="http://www.w3.org/2001/XMLSchema-instance" xmlns:pc="http://schemas.microsoft.com/office/infopath/2007/PartnerControls">
  <documentManagement>
    <TaxCatchAll xmlns="53acc77d-4382-4413-8c2d-408a8e2a5705">
      <Value>297</Value>
      <Value>303</Value>
      <Value>1142</Value>
    </TaxCatchAll>
    <SharedWithUsers xmlns="53acc77d-4382-4413-8c2d-408a8e2a5705">
      <UserInfo>
        <DisplayName>Elisabeth Peter</DisplayName>
        <AccountId>228</AccountId>
        <AccountType/>
      </UserInfo>
      <UserInfo>
        <DisplayName>Cameron McLauchlin</DisplayName>
        <AccountId>43</AccountId>
        <AccountType/>
      </UserInfo>
      <UserInfo>
        <DisplayName>Jocelyn Kline</DisplayName>
        <AccountId>144</AccountId>
        <AccountType/>
      </UserInfo>
      <UserInfo>
        <DisplayName>Emily Baranello</DisplayName>
        <AccountId>147</AccountId>
        <AccountType/>
      </UserInfo>
      <UserInfo>
        <DisplayName>Mari Nilsson Björkman</DisplayName>
        <AccountId>28</AccountId>
        <AccountType/>
      </UserInfo>
      <UserInfo>
        <DisplayName>Claire-Juliette Beale</DisplayName>
        <AccountId>17</AccountId>
        <AccountType/>
      </UserInfo>
      <UserInfo>
        <DisplayName>Amanda Wise</DisplayName>
        <AccountId>233</AccountId>
        <AccountType/>
      </UserInfo>
      <UserInfo>
        <DisplayName>Jennifer Olson</DisplayName>
        <AccountId>248</AccountId>
        <AccountType/>
      </UserInfo>
      <UserInfo>
        <DisplayName>Greg Heidrick</DisplayName>
        <AccountId>30</AccountId>
        <AccountType/>
      </UserInfo>
      <UserInfo>
        <DisplayName>Albert Qian</DisplayName>
        <AccountId>964</AccountId>
        <AccountType/>
      </UserInfo>
      <UserInfo>
        <DisplayName>Ali Ricke</DisplayName>
        <AccountId>271</AccountId>
        <AccountType/>
      </UserInfo>
      <UserInfo>
        <DisplayName>Alice McClure</DisplayName>
        <AccountId>255</AccountId>
        <AccountType/>
      </UserInfo>
      <UserInfo>
        <DisplayName>Ashley Danahy</DisplayName>
        <AccountId>965</AccountId>
        <AccountType/>
      </UserInfo>
      <UserInfo>
        <DisplayName>Augusta Zhang</DisplayName>
        <AccountId>247</AccountId>
        <AccountType/>
      </UserInfo>
      <UserInfo>
        <DisplayName>Briana Ullman</DisplayName>
        <AccountId>167</AccountId>
        <AccountType/>
      </UserInfo>
      <UserInfo>
        <DisplayName>Erin McCarthy</DisplayName>
        <AccountId>966</AccountId>
        <AccountType/>
      </UserInfo>
      <UserInfo>
        <DisplayName>Heather Williams</DisplayName>
        <AccountId>967</AccountId>
        <AccountType/>
      </UserInfo>
      <UserInfo>
        <DisplayName>Kunal Shah</DisplayName>
        <AccountId>245</AccountId>
        <AccountType/>
      </UserInfo>
      <UserInfo>
        <DisplayName>Lindsay Marshall</DisplayName>
        <AccountId>183</AccountId>
        <AccountType/>
      </UserInfo>
      <UserInfo>
        <DisplayName>Luis Flynn</DisplayName>
        <AccountId>968</AccountId>
        <AccountType/>
      </UserInfo>
      <UserInfo>
        <DisplayName>Marinela Profi</DisplayName>
        <AccountId>55</AccountId>
        <AccountType/>
      </UserInfo>
      <UserInfo>
        <DisplayName>Michelle France</DisplayName>
        <AccountId>610</AccountId>
        <AccountType/>
      </UserInfo>
      <UserInfo>
        <DisplayName>Spiros Potamitis</DisplayName>
        <AccountId>969</AccountId>
        <AccountType/>
      </UserInfo>
      <UserInfo>
        <DisplayName>Apurva More</DisplayName>
        <AccountId>174</AccountId>
        <AccountType/>
      </UserInfo>
      <UserInfo>
        <DisplayName>Bill Roberts</DisplayName>
        <AccountId>246</AccountId>
        <AccountType/>
      </UserInfo>
      <UserInfo>
        <DisplayName>Brooke Huckabee</DisplayName>
        <AccountId>173</AccountId>
        <AccountType/>
      </UserInfo>
      <UserInfo>
        <DisplayName>Dan Mitchell</DisplayName>
        <AccountId>50</AccountId>
        <AccountType/>
      </UserInfo>
      <UserInfo>
        <DisplayName>David Rogers</DisplayName>
        <AccountId>434</AccountId>
        <AccountType/>
      </UserInfo>
      <UserInfo>
        <DisplayName>Diana Rothfuss</DisplayName>
        <AccountId>180</AccountId>
        <AccountType/>
      </UserInfo>
      <UserInfo>
        <DisplayName>Ellen Roberson</DisplayName>
        <AccountId>177</AccountId>
        <AccountType/>
      </UserInfo>
      <UserInfo>
        <DisplayName>Jane Howell</DisplayName>
        <AccountId>51</AccountId>
        <AccountType/>
      </UserInfo>
      <UserInfo>
        <DisplayName>Jennifer Pearson</DisplayName>
        <AccountId>904</AccountId>
        <AccountType/>
      </UserInfo>
      <UserInfo>
        <DisplayName>Jonathan Moran</DisplayName>
        <AccountId>172</AccountId>
        <AccountType/>
      </UserInfo>
      <UserInfo>
        <DisplayName>Lisa Loftis</DisplayName>
        <AccountId>171</AccountId>
        <AccountType/>
      </UserInfo>
      <UserInfo>
        <DisplayName>Liz Goldberg</DisplayName>
        <AccountId>120</AccountId>
        <AccountType/>
      </UserInfo>
      <UserInfo>
        <DisplayName>Loren Byrd</DisplayName>
        <AccountId>619</AccountId>
        <AccountType/>
      </UserInfo>
      <UserInfo>
        <DisplayName>Paola Csirke-Juliano</DisplayName>
        <AccountId>608</AccountId>
        <AccountType/>
      </UserInfo>
      <UserInfo>
        <DisplayName>Thorsten Hein</DisplayName>
        <AccountId>137</AccountId>
        <AccountType/>
      </UserInfo>
      <UserInfo>
        <DisplayName>Vashinta Dickens</DisplayName>
        <AccountId>182</AccountId>
        <AccountType/>
      </UserInfo>
      <UserInfo>
        <DisplayName>Katy Salamati</DisplayName>
        <AccountId>392</AccountId>
        <AccountType/>
      </UserInfo>
      <UserInfo>
        <DisplayName>Colby Hoke</DisplayName>
        <AccountId>970</AccountId>
        <AccountType/>
      </UserInfo>
      <UserInfo>
        <DisplayName>Mark Demers</DisplayName>
        <AccountId>6</AccountId>
        <AccountType/>
      </UserInfo>
      <UserInfo>
        <DisplayName>Michelle Wells</DisplayName>
        <AccountId>23</AccountId>
        <AccountType/>
      </UserInfo>
      <UserInfo>
        <DisplayName>Alyssa Farrell</DisplayName>
        <AccountId>42</AccountId>
        <AccountType/>
      </UserInfo>
      <UserInfo>
        <DisplayName>Alex Kwiatkowski</DisplayName>
        <AccountId>25</AccountId>
        <AccountType/>
      </UserInfo>
      <UserInfo>
        <DisplayName>Lee Ann Dietz</DisplayName>
        <AccountId>14</AccountId>
        <AccountType/>
      </UserInfo>
      <UserInfo>
        <DisplayName>Patrick Homer</DisplayName>
        <AccountId>32</AccountId>
        <AccountType/>
      </UserInfo>
      <UserInfo>
        <DisplayName>Sydney Chicurel</DisplayName>
        <AccountId>278</AccountId>
        <AccountType/>
      </UserInfo>
      <UserInfo>
        <DisplayName>Robert Montgomery</DisplayName>
        <AccountId>881</AccountId>
        <AccountType/>
      </UserInfo>
      <UserInfo>
        <DisplayName>Alex Maiersperger</DisplayName>
        <AccountId>239</AccountId>
        <AccountType/>
      </UserInfo>
      <UserInfo>
        <DisplayName>Georgia Mariani</DisplayName>
        <AccountId>15</AccountId>
        <AccountType/>
      </UserInfo>
      <UserInfo>
        <DisplayName>Global Technology Product Marketing Members</DisplayName>
        <AccountId>971</AccountId>
        <AccountType/>
      </UserInfo>
      <UserInfo>
        <DisplayName>Kate Parker</DisplayName>
        <AccountId>69</AccountId>
        <AccountType/>
      </UserInfo>
    </SharedWithUsers>
    <Updated xmlns="53acc77d-4382-4413-8c2d-408a8e2a5705" xsi:nil="true"/>
    <a5eaf523e06a49de8d79f6acc451673f xmlns="53acc77d-4382-4413-8c2d-408a8e2a5705">
      <Terms xmlns="http://schemas.microsoft.com/office/infopath/2007/PartnerControls"/>
    </a5eaf523e06a49de8d79f6acc451673f>
    <IconOverlay xmlns="http://schemas.microsoft.com/sharepoint/v4" xsi:nil="true"/>
    <g1556e91db324706a2d96877947f44a1 xmlns="53acc77d-4382-4413-8c2d-408a8e2a5705">
      <Terms xmlns="http://schemas.microsoft.com/office/infopath/2007/PartnerControls">
        <TermInfo xmlns="http://schemas.microsoft.com/office/infopath/2007/PartnerControls">
          <TermName xmlns="http://schemas.microsoft.com/office/infopath/2007/PartnerControls">Application and Identity Fraud</TermName>
          <TermId xmlns="http://schemas.microsoft.com/office/infopath/2007/PartnerControls">40c05cd4-be95-4caf-8451-1dc26fa7f19f</TermId>
        </TermInfo>
        <TermInfo xmlns="http://schemas.microsoft.com/office/infopath/2007/PartnerControls">
          <TermName xmlns="http://schemas.microsoft.com/office/infopath/2007/PartnerControls">Payments Fraud</TermName>
          <TermId xmlns="http://schemas.microsoft.com/office/infopath/2007/PartnerControls">85715592-c0d5-4db6-a49b-e9cd7b557fd0</TermId>
        </TermInfo>
        <TermInfo xmlns="http://schemas.microsoft.com/office/infopath/2007/PartnerControls">
          <TermName xmlns="http://schemas.microsoft.com/office/infopath/2007/PartnerControls">Banking Fraud and Financial Crimes Compliance</TermName>
          <TermId xmlns="http://schemas.microsoft.com/office/infopath/2007/PartnerControls">45b62d14-9032-43d0-998f-4b424fe0f613</TermId>
        </TermInfo>
      </Terms>
    </g1556e91db324706a2d96877947f44a1>
    <Asset_x0020_Status xmlns="53acc77d-4382-4413-8c2d-408a8e2a5705">Publish</Asset_x0020_Status>
    <pc8465657618468292594f9ab4689c33 xmlns="53acc77d-4382-4413-8c2d-408a8e2a5705">
      <Terms xmlns="http://schemas.microsoft.com/office/infopath/2007/PartnerControls"/>
    </pc8465657618468292594f9ab4689c33>
    <Demo_x0020_ID xmlns="53acc77d-4382-4413-8c2d-408a8e2a5705" xsi:nil="true"/>
    <Value_x0020_Proposition xmlns="f6ce49f0-2995-48df-a9c9-3a6b87ac555a">Not Set</Value_x0020_Proposition>
    <PublishingContact xmlns="f6ce49f0-2995-48df-a9c9-3a6b87ac555a">
      <UserInfo>
        <DisplayName/>
        <AccountId xsi:nil="true"/>
        <AccountType/>
      </UserInfo>
    </PublishingContact>
    <Portal_x0020_Content_x0020_Asset_x0020_Type xmlns="53acc77d-4382-4413-8c2d-408a8e2a5705">Overview Presentation</Portal_x0020_Content_x0020_Asset_x0020_Type>
  </documentManagement>
</p:properties>
</file>

<file path=customXml/item4.xml><?xml version="1.0" encoding="utf-8"?>
<ct:contentTypeSchema xmlns:ct="http://schemas.microsoft.com/office/2006/metadata/contentType" xmlns:ma="http://schemas.microsoft.com/office/2006/metadata/properties/metaAttributes" ct:_="" ma:_="" ma:contentTypeName="SAS Portal Document" ma:contentTypeID="0x0101006BE659B9BD46644CB3C6870C03978025002CC455ACD93CE545B750EA5F55C04BF6" ma:contentTypeVersion="47" ma:contentTypeDescription="Custom content type used for content that is surfaced on the Sales &amp; Marketing Portal.." ma:contentTypeScope="" ma:versionID="c117b22ede2bb8718e6234b331348844">
  <xsd:schema xmlns:xsd="http://www.w3.org/2001/XMLSchema" xmlns:xs="http://www.w3.org/2001/XMLSchema" xmlns:p="http://schemas.microsoft.com/office/2006/metadata/properties" xmlns:ns2="53acc77d-4382-4413-8c2d-408a8e2a5705" xmlns:ns4="f6ce49f0-2995-48df-a9c9-3a6b87ac555a" xmlns:ns5="http://schemas.microsoft.com/sharepoint/v4" targetNamespace="http://schemas.microsoft.com/office/2006/metadata/properties" ma:root="true" ma:fieldsID="fcae80220d5a355a2e03199195f972c7" ns2:_="" ns4:_="" ns5:_="">
    <xsd:import namespace="53acc77d-4382-4413-8c2d-408a8e2a5705"/>
    <xsd:import namespace="f6ce49f0-2995-48df-a9c9-3a6b87ac555a"/>
    <xsd:import namespace="http://schemas.microsoft.com/sharepoint/v4"/>
    <xsd:element name="properties">
      <xsd:complexType>
        <xsd:sequence>
          <xsd:element name="documentManagement">
            <xsd:complexType>
              <xsd:all>
                <xsd:element ref="ns2:Portal_x0020_Content_x0020_Asset_x0020_Type"/>
                <xsd:element ref="ns2:Asset_x0020_Status"/>
                <xsd:element ref="ns2:Demo_x0020_ID" minOccurs="0"/>
                <xsd:element ref="ns4:Value_x0020_Proposition" minOccurs="0"/>
                <xsd:element ref="ns2:pc8465657618468292594f9ab4689c33" minOccurs="0"/>
                <xsd:element ref="ns2:Updated" minOccurs="0"/>
                <xsd:element ref="ns2:g1556e91db324706a2d96877947f44a1" minOccurs="0"/>
                <xsd:element ref="ns2:TaxCatchAll" minOccurs="0"/>
                <xsd:element ref="ns2:a5eaf523e06a49de8d79f6acc451673f" minOccurs="0"/>
                <xsd:element ref="ns2:TaxCatchAllLabel"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5:IconOverlay" minOccurs="0"/>
                <xsd:element ref="ns4:PublishingContact" minOccurs="0"/>
                <xsd:element ref="ns2:SharedWithUsers" minOccurs="0"/>
                <xsd:element ref="ns2:SharedWithDetails" minOccurs="0"/>
                <xsd:element ref="ns4:MediaLengthInSeconds" minOccurs="0"/>
                <xsd:element ref="ns4:MediaServiceObjectDetectorVersions" minOccurs="0"/>
                <xsd:element ref="ns4:MediaServiceGenerationTime" minOccurs="0"/>
                <xsd:element ref="ns4:MediaServiceEventHashCode"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acc77d-4382-4413-8c2d-408a8e2a5705" elementFormDefault="qualified">
    <xsd:import namespace="http://schemas.microsoft.com/office/2006/documentManagement/types"/>
    <xsd:import namespace="http://schemas.microsoft.com/office/infopath/2007/PartnerControls"/>
    <xsd:element name="Portal_x0020_Content_x0020_Asset_x0020_Type" ma:index="2" ma:displayName="Asset Type" ma:description="Types of assets available for publishing in Portal Content Libraries." ma:format="Dropdown" ma:internalName="Portal_x0020_Content_x0020_Asset_x0020_Type" ma:readOnly="false">
      <xsd:simpleType>
        <xsd:restriction base="dms:Choice">
          <xsd:enumeration value="Battle Card"/>
          <xsd:enumeration value="Competitive Research"/>
          <xsd:enumeration value="Customer Challenge &amp; What SAS Offers"/>
          <xsd:enumeration value="Customer Introduction Letter"/>
          <xsd:enumeration value="Demo Recording (Customer Ready)"/>
          <xsd:enumeration value="Demo Recording (Internal)"/>
          <xsd:enumeration value="Demo Resource"/>
          <xsd:enumeration value="Demo Script"/>
          <xsd:enumeration value="Discovery Questions"/>
          <xsd:enumeration value="External Video"/>
          <xsd:enumeration value="FAQ"/>
          <xsd:enumeration value="Industry Overview Presentation"/>
          <xsd:enumeration value="Initiate Conversations"/>
          <xsd:enumeration value="Impact Brief"/>
          <xsd:enumeration value="Know Your Buyer"/>
          <xsd:enumeration value="Know Your User"/>
          <xsd:enumeration value="Overview Presentation"/>
          <xsd:enumeration value="Presentation - Internal"/>
          <xsd:enumeration value="Product Roadmap"/>
          <xsd:enumeration value="Product Vision"/>
          <xsd:enumeration value="Qualification Criteria"/>
          <xsd:enumeration value="ROI Calculator"/>
          <xsd:enumeration value="Sales Strategy"/>
          <xsd:enumeration value="Sales Tools - Other"/>
          <xsd:enumeration value="Self-Directed Learning"/>
          <xsd:enumeration value="Shark Finesse ROI Model"/>
          <xsd:enumeration value="Social Selling QuickStart Guide"/>
          <xsd:enumeration value="Solution Brief"/>
          <xsd:enumeration value="Technical - Other"/>
          <xsd:enumeration value="Use Cases"/>
        </xsd:restriction>
      </xsd:simpleType>
    </xsd:element>
    <xsd:element name="Asset_x0020_Status" ma:index="5" ma:displayName="Asset Status" ma:default="Draft" ma:description="Publishing status of asset.  Select &quot;Publish&quot; for asset to be available in Mercury / Sales &amp; Marketing Portal." ma:format="Dropdown" ma:internalName="Asset_x0020_Status" ma:readOnly="false">
      <xsd:simpleType>
        <xsd:restriction base="dms:Choice">
          <xsd:enumeration value="Draft"/>
          <xsd:enumeration value="Under Review"/>
          <xsd:enumeration value="Publish"/>
          <xsd:enumeration value="Archive"/>
        </xsd:restriction>
      </xsd:simpleType>
    </xsd:element>
    <xsd:element name="Demo_x0020_ID" ma:index="9" nillable="true" ma:displayName="Demo ID" ma:description="For demo resources only" ma:internalName="Demo_x0020_ID" ma:readOnly="false">
      <xsd:simpleType>
        <xsd:restriction base="dms:Text">
          <xsd:maxLength value="255"/>
        </xsd:restriction>
      </xsd:simpleType>
    </xsd:element>
    <xsd:element name="pc8465657618468292594f9ab4689c33" ma:index="11" nillable="true" ma:taxonomy="true" ma:internalName="pc8465657618468292594f9ab4689c33" ma:taxonomyFieldName="SAS_x0020_Offering" ma:displayName="SAS Offering" ma:readOnly="false" ma:default="" ma:fieldId="{9c846565-7618-4682-9259-4f9ab4689c33}" ma:taxonomyMulti="true" ma:sspId="7fd0e135-c9ac-4e89-9c36-fb2929ad0f0a" ma:termSetId="13b43256-b3b3-4bff-80b2-57e1064dbe9a" ma:anchorId="00000000-0000-0000-0000-000000000000" ma:open="false" ma:isKeyword="false">
      <xsd:complexType>
        <xsd:sequence>
          <xsd:element ref="pc:Terms" minOccurs="0" maxOccurs="1"/>
        </xsd:sequence>
      </xsd:complexType>
    </xsd:element>
    <xsd:element name="Updated" ma:index="12" nillable="true" ma:displayName="Updated" ma:description="This field MUST include the date of last update.  Asset expiration rules are based on this date, and assets will expire if they have not been recently updated (after 550 days for many asset types). See the Asset Lifecycle List at http://sww.sas.com/gobot/assets" ma:format="DateOnly" ma:hidden="true" ma:internalName="Updated" ma:readOnly="false">
      <xsd:simpleType>
        <xsd:restriction base="dms:DateTime"/>
      </xsd:simpleType>
    </xsd:element>
    <xsd:element name="g1556e91db324706a2d96877947f44a1" ma:index="15" nillable="true" ma:taxonomy="true" ma:internalName="g1556e91db324706a2d96877947f44a1" ma:taxonomyFieldName="SAS_x0020_CBO" ma:displayName="SAS CBO" ma:readOnly="false" ma:default="" ma:fieldId="{01556e91-db32-4706-a2d9-6877947f44a1}" ma:taxonomyMulti="true" ma:sspId="7fd0e135-c9ac-4e89-9c36-fb2929ad0f0a" ma:termSetId="ca7520f6-ccfb-4624-b7c3-7e078f59c263" ma:anchorId="00000000-0000-0000-0000-000000000000" ma:open="false" ma:isKeyword="false">
      <xsd:complexType>
        <xsd:sequence>
          <xsd:element ref="pc:Terms" minOccurs="0" maxOccurs="1"/>
        </xsd:sequence>
      </xsd:complexType>
    </xsd:element>
    <xsd:element name="TaxCatchAll" ma:index="17" nillable="true" ma:displayName="Taxonomy Catch All Column" ma:hidden="true" ma:list="{acba37b5-229d-48b1-a098-788030c8aec9}" ma:internalName="TaxCatchAll" ma:readOnly="false" ma:showField="CatchAllData" ma:web="53acc77d-4382-4413-8c2d-408a8e2a5705">
      <xsd:complexType>
        <xsd:complexContent>
          <xsd:extension base="dms:MultiChoiceLookup">
            <xsd:sequence>
              <xsd:element name="Value" type="dms:Lookup" maxOccurs="unbounded" minOccurs="0" nillable="true"/>
            </xsd:sequence>
          </xsd:extension>
        </xsd:complexContent>
      </xsd:complexType>
    </xsd:element>
    <xsd:element name="a5eaf523e06a49de8d79f6acc451673f" ma:index="18" nillable="true" ma:taxonomy="true" ma:internalName="a5eaf523e06a49de8d79f6acc451673f" ma:taxonomyFieldName="SAS_x0020_Industry" ma:displayName="SAS Industry" ma:readOnly="false" ma:default="" ma:fieldId="{a5eaf523-e06a-49de-8d79-f6acc451673f}" ma:taxonomyMulti="true" ma:sspId="7fd0e135-c9ac-4e89-9c36-fb2929ad0f0a" ma:termSetId="05306096-4b6f-4ef3-835e-901537768b2c" ma:anchorId="00000000-0000-0000-0000-000000000000" ma:open="false" ma:isKeyword="false">
      <xsd:complexType>
        <xsd:sequence>
          <xsd:element ref="pc:Terms" minOccurs="0" maxOccurs="1"/>
        </xsd:sequence>
      </xsd:complexType>
    </xsd:element>
    <xsd:element name="TaxCatchAllLabel" ma:index="19" nillable="true" ma:displayName="Taxonomy Catch All Column1" ma:hidden="true" ma:list="{acba37b5-229d-48b1-a098-788030c8aec9}" ma:internalName="TaxCatchAllLabel" ma:readOnly="true" ma:showField="CatchAllDataLabel" ma:web="53acc77d-4382-4413-8c2d-408a8e2a5705">
      <xsd:complexType>
        <xsd:complexContent>
          <xsd:extension base="dms:MultiChoiceLookup">
            <xsd:sequence>
              <xsd:element name="Value" type="dms:Lookup" maxOccurs="unbounded" minOccurs="0" nillable="true"/>
            </xsd:sequence>
          </xsd:extension>
        </xsd:complexContent>
      </xsd:complexType>
    </xsd:element>
    <xsd:element name="SharedWithUsers" ma:index="3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6ce49f0-2995-48df-a9c9-3a6b87ac555a" elementFormDefault="qualified">
    <xsd:import namespace="http://schemas.microsoft.com/office/2006/documentManagement/types"/>
    <xsd:import namespace="http://schemas.microsoft.com/office/infopath/2007/PartnerControls"/>
    <xsd:element name="Value_x0020_Proposition" ma:index="10" nillable="true" ma:displayName="Library VP Filter" ma:default="Not Set" ma:description="Used for library views ONLY, for grouping and filtering assets. These values do NOT impact Mercury or Quick Find tagging.  Use SAS CBO for official content tagging." ma:format="Dropdown" ma:hidden="true" ma:internalName="Value_x0020_Proposition" ma:readOnly="false">
      <xsd:simpleType>
        <xsd:restriction base="dms:Choice">
          <xsd:enumeration value="N/A - Demo"/>
          <xsd:enumeration value="N/A - Focus Area"/>
          <xsd:enumeration value="Anti-Money Laundering (Banking)"/>
          <xsd:enumeration value="Anti-Money Laundering for Insurance"/>
          <xsd:enumeration value="Cyber Security"/>
          <xsd:enumeration value="Financial Crimes Analytics"/>
          <xsd:enumeration value="Identity and Digital Fraud"/>
          <xsd:enumeration value="Insurance Claims Fraud"/>
          <xsd:enumeration value="Payments Fraud"/>
          <xsd:enumeration value="Procurement Integrity"/>
          <xsd:enumeration value="N/A - Industry"/>
          <xsd:enumeration value="N/A - Roadmap"/>
          <xsd:enumeration value="N/A - Product &amp; Solution"/>
          <xsd:enumeration value="N/A - Retired VP Content"/>
          <xsd:enumeration value="Not Set"/>
        </xsd:restriction>
      </xsd:simpleType>
    </xsd:element>
    <xsd:element name="MediaServiceMetadata" ma:index="22" nillable="true" ma:displayName="MediaServiceMetadata" ma:hidden="true" ma:internalName="MediaServiceMetadata" ma:readOnly="true">
      <xsd:simpleType>
        <xsd:restriction base="dms:Note"/>
      </xsd:simpleType>
    </xsd:element>
    <xsd:element name="MediaServiceFastMetadata" ma:index="23" nillable="true" ma:displayName="MediaServiceFastMetadata" ma:hidden="true" ma:internalName="MediaServiceFastMetadata" ma:readOnly="true">
      <xsd:simpleType>
        <xsd:restriction base="dms:Note"/>
      </xsd:simpleType>
    </xsd:element>
    <xsd:element name="MediaServiceAutoKeyPoints" ma:index="24" nillable="true" ma:displayName="MediaServiceAutoKeyPoints" ma:hidden="true" ma:internalName="MediaServiceAutoKeyPoints" ma:readOnly="true">
      <xsd:simpleType>
        <xsd:restriction base="dms:Note"/>
      </xsd:simpleType>
    </xsd:element>
    <xsd:element name="MediaServiceKeyPoints" ma:index="25" nillable="true" ma:displayName="KeyPoints" ma:hidden="true" ma:internalName="MediaServiceKeyPoints" ma:readOnly="true">
      <xsd:simpleType>
        <xsd:restriction base="dms:Note"/>
      </xsd:simpleType>
    </xsd:element>
    <xsd:element name="MediaServiceDateTaken" ma:index="26" nillable="true" ma:displayName="MediaServiceDateTaken" ma:hidden="true" ma:internalName="MediaServiceDateTaken" ma:readOnly="true">
      <xsd:simpleType>
        <xsd:restriction base="dms:Text"/>
      </xsd:simpleType>
    </xsd:element>
    <xsd:element name="PublishingContact" ma:index="30" nillable="true" ma:displayName="Contact" ma:description="Populates Author field in Mercury." ma:hidden="true" ma:list="UserInfo" ma:SearchPeopleOnly="false" ma:SharePointGroup="0" ma:internalName="PublishingContact"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LengthInSeconds" ma:index="33" nillable="true" ma:displayName="MediaLengthInSeconds" ma:hidden="true" ma:internalName="MediaLengthInSeconds" ma:readOnly="true">
      <xsd:simpleType>
        <xsd:restriction base="dms:Unknown"/>
      </xsd:simpleType>
    </xsd:element>
    <xsd:element name="MediaServiceObjectDetectorVersions" ma:index="34" nillable="true" ma:displayName="MediaServiceObjectDetectorVersions" ma:hidden="true" ma:indexed="true" ma:internalName="MediaServiceObjectDetectorVersions" ma:readOnly="true">
      <xsd:simpleType>
        <xsd:restriction base="dms:Text"/>
      </xsd:simpleType>
    </xsd:element>
    <xsd:element name="MediaServiceGenerationTime" ma:index="35" nillable="true" ma:displayName="MediaServiceGenerationTime" ma:hidden="true" ma:internalName="MediaServiceGenerationTime" ma:readOnly="true">
      <xsd:simpleType>
        <xsd:restriction base="dms:Text"/>
      </xsd:simpleType>
    </xsd:element>
    <xsd:element name="MediaServiceEventHashCode" ma:index="36" nillable="true" ma:displayName="MediaServiceEventHashCode" ma:hidden="true" ma:internalName="MediaServiceEventHashCode"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7" nillable="true" ma:displayName="IconOverlay" ma:hidden="true" ma:internalName="IconOverlay"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axOccurs="1" ma:index="4" ma:displayName="Author"/>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axOccurs="1" ma:index="3" ma:displayName="Description"/>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E925E4-5239-4639-A029-07B3CFD6A3F1}">
  <ds:schemaRefs>
    <ds:schemaRef ds:uri="http://schemas.microsoft.com/sharepoint/v3/contenttype/forms"/>
  </ds:schemaRefs>
</ds:datastoreItem>
</file>

<file path=customXml/itemProps2.xml><?xml version="1.0" encoding="utf-8"?>
<ds:datastoreItem xmlns:ds="http://schemas.openxmlformats.org/officeDocument/2006/customXml" ds:itemID="{303C9089-9DA5-45ED-8193-FB522D1384FB}">
  <ds:schemaRefs>
    <ds:schemaRef ds:uri="http://schemas.microsoft.com/office/2006/metadata/customXsn"/>
  </ds:schemaRefs>
</ds:datastoreItem>
</file>

<file path=customXml/itemProps3.xml><?xml version="1.0" encoding="utf-8"?>
<ds:datastoreItem xmlns:ds="http://schemas.openxmlformats.org/officeDocument/2006/customXml" ds:itemID="{E2663518-7548-4643-8219-608BFF0DFA0C}">
  <ds:schemaRefs>
    <ds:schemaRef ds:uri="http://purl.org/dc/elements/1.1/"/>
    <ds:schemaRef ds:uri="http://purl.org/dc/terms/"/>
    <ds:schemaRef ds:uri="http://schemas.microsoft.com/office/infopath/2007/PartnerControls"/>
    <ds:schemaRef ds:uri="53acc77d-4382-4413-8c2d-408a8e2a5705"/>
    <ds:schemaRef ds:uri="http://schemas.microsoft.com/office/2006/metadata/properties"/>
    <ds:schemaRef ds:uri="http://purl.org/dc/dcmitype/"/>
    <ds:schemaRef ds:uri="http://schemas.microsoft.com/sharepoint/v4"/>
    <ds:schemaRef ds:uri="http://schemas.microsoft.com/office/2006/documentManagement/types"/>
    <ds:schemaRef ds:uri="http://schemas.openxmlformats.org/package/2006/metadata/core-properties"/>
    <ds:schemaRef ds:uri="f6ce49f0-2995-48df-a9c9-3a6b87ac555a"/>
    <ds:schemaRef ds:uri="http://www.w3.org/XML/1998/namespace"/>
  </ds:schemaRefs>
</ds:datastoreItem>
</file>

<file path=customXml/itemProps4.xml><?xml version="1.0" encoding="utf-8"?>
<ds:datastoreItem xmlns:ds="http://schemas.openxmlformats.org/officeDocument/2006/customXml" ds:itemID="{6B7B042F-9E6C-45C7-9C43-A250F3E13A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acc77d-4382-4413-8c2d-408a8e2a5705"/>
    <ds:schemaRef ds:uri="f6ce49f0-2995-48df-a9c9-3a6b87ac555a"/>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74a3ff5-3dcb-4075-8703-f74a393618ec}" enabled="0" method="" siteId="{b74a3ff5-3dcb-4075-8703-f74a393618ec}" removed="1"/>
  <clbl:label id="{e1c8c91a-c872-4000-818b-3383c70fafcf}" enabled="1" method="Privileged" siteId="{b1c14d5c-3625-45b3-a430-9552373a0c2f}" contentBits="0" removed="0"/>
</clbl:labelList>
</file>

<file path=docProps/app.xml><?xml version="1.0" encoding="utf-8"?>
<Properties xmlns="http://schemas.openxmlformats.org/officeDocument/2006/extended-properties" xmlns:vt="http://schemas.openxmlformats.org/officeDocument/2006/docPropsVTypes">
  <Template>EXTERNAL_Template_2023</Template>
  <TotalTime>656</TotalTime>
  <Words>597</Words>
  <Application>Microsoft Office PowerPoint</Application>
  <PresentationFormat>Custom</PresentationFormat>
  <Paragraphs>130</Paragraphs>
  <Slides>3</Slides>
  <Notes>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vt:i4>
      </vt:variant>
    </vt:vector>
  </HeadingPairs>
  <TitlesOfParts>
    <vt:vector size="12" baseType="lpstr">
      <vt:lpstr>Anova Light</vt:lpstr>
      <vt:lpstr>Anova</vt:lpstr>
      <vt:lpstr>Arial</vt:lpstr>
      <vt:lpstr>Calibri</vt:lpstr>
      <vt:lpstr>Calibri Light</vt:lpstr>
      <vt:lpstr>Anova Bold</vt:lpstr>
      <vt:lpstr>SAS - EXTERNAL</vt:lpstr>
      <vt:lpstr>1_SAS - EXTERNAL</vt:lpstr>
      <vt:lpstr>1_2020-Template-External</vt:lpstr>
      <vt:lpstr>MOHAP Agent 1</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SAS Fraud Decisioning - Customer Presentation</dc:title>
  <dc:creator>Jocelyn Kline</dc:creator>
  <dc:description>Customer presentation for SAS Fraud Decisioning</dc:description>
  <cp:lastModifiedBy>Raed Aldweik</cp:lastModifiedBy>
  <cp:revision>12</cp:revision>
  <dcterms:created xsi:type="dcterms:W3CDTF">2023-10-17T15:08:00Z</dcterms:created>
  <dcterms:modified xsi:type="dcterms:W3CDTF">2026-08-12T06:09:28Z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451006F2-8E20-4D4E-B05C-4B5D02827FD6</vt:lpwstr>
  </property>
  <property fmtid="{D5CDD505-2E9C-101B-9397-08002B2CF9AE}" pid="3" name="ArticulatePath">
    <vt:lpwstr>2020-Template-External</vt:lpwstr>
  </property>
  <property fmtid="{D5CDD505-2E9C-101B-9397-08002B2CF9AE}" pid="4" name="ContentTypeId">
    <vt:lpwstr>0x0101006BE659B9BD46644CB3C6870C03978025002CC455ACD93CE545B750EA5F55C04BF6</vt:lpwstr>
  </property>
  <property fmtid="{D5CDD505-2E9C-101B-9397-08002B2CF9AE}" pid="5" name="MediaServiceImageTags">
    <vt:lpwstr/>
  </property>
  <property fmtid="{D5CDD505-2E9C-101B-9397-08002B2CF9AE}" pid="6" name="SAS CBO">
    <vt:lpwstr>1142;#Application and Identity Fraud|40c05cd4-be95-4caf-8451-1dc26fa7f19f;#297;#Payments Fraud|85715592-c0d5-4db6-a49b-e9cd7b557fd0;#303;#Banking Fraud and Financial Crimes Compliance|45b62d14-9032-43d0-998f-4b424fe0f613</vt:lpwstr>
  </property>
  <property fmtid="{D5CDD505-2E9C-101B-9397-08002B2CF9AE}" pid="7" name="SAS Industry">
    <vt:lpwstr/>
  </property>
  <property fmtid="{D5CDD505-2E9C-101B-9397-08002B2CF9AE}" pid="8" name="SAS Offering">
    <vt:lpwstr/>
  </property>
  <property fmtid="{D5CDD505-2E9C-101B-9397-08002B2CF9AE}" pid="9" name="SAS_x0020_CBO">
    <vt:lpwstr>1142;#Application and Identity Fraud|40c05cd4-be95-4caf-8451-1dc26fa7f19f;#297;#Payments Fraud|85715592-c0d5-4db6-a49b-e9cd7b557fd0;#303;#Banking Fraud and Financial Crimes Compliance|45b62d14-9032-43d0-998f-4b424fe0f613</vt:lpwstr>
  </property>
  <property fmtid="{D5CDD505-2E9C-101B-9397-08002B2CF9AE}" pid="10" name="SAS_x0020_Industry">
    <vt:lpwstr/>
  </property>
  <property fmtid="{D5CDD505-2E9C-101B-9397-08002B2CF9AE}" pid="11" name="SAS_x0020_Offering">
    <vt:lpwstr/>
  </property>
</Properties>
</file>