
<file path=[Content_Types].xml><?xml version="1.0" encoding="utf-8"?>
<Types xmlns="http://schemas.openxmlformats.org/package/2006/content-types">
  <Default Extension="emf" ContentType="image/x-emf"/>
  <Default Extension="fntdata" ContentType="application/x-fontdata"/>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handoutMasters/handoutMaster1.xml" ContentType="application/vnd.openxmlformats-officedocument.presentationml.handoutMaster+xml"/>
  <Override PartName="/ppt/media/image2.svg" ContentType="image/svg+xml"/>
  <Override PartName="/ppt/media/image3.svg" ContentType="image/svg+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42.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816" r:id="rId5"/>
  </p:sldMasterIdLst>
  <p:notesMasterIdLst>
    <p:notesMasterId r:id="rId11"/>
  </p:notesMasterIdLst>
  <p:handoutMasterIdLst>
    <p:handoutMasterId r:id="rId12"/>
  </p:handoutMasterIdLst>
  <p:sldIdLst>
    <p:sldId id="256" r:id="rId10"/>
    <p:sldId id="257" r:id="rId9"/>
    <p:sldId id="258" r:id="rId8"/>
    <p:sldId id="259" r:id="rId7"/>
    <p:sldId id="260" r:id="rId6"/>
    <p:sldId id="261" r:id="rId32"/>
    <p:sldId id="262" r:id="rId33"/>
    <p:sldId id="263" r:id="rId34"/>
    <p:sldId id="264" r:id="rId35"/>
    <p:sldId id="265" r:id="rId36"/>
    <p:sldId id="266" r:id="rId37"/>
    <p:sldId id="267" r:id="rId38"/>
    <p:sldId id="268" r:id="rId39"/>
    <p:sldId id="269" r:id="rId40"/>
    <p:sldId id="270" r:id="rId41"/>
    <p:sldId id="271" r:id="rId42"/>
    <p:sldId id="272" r:id="rId43"/>
    <p:sldId id="273" r:id="rId44"/>
    <p:sldId id="274" r:id="rId45"/>
    <p:sldId id="275" r:id="rId46"/>
    <p:sldId id="276" r:id="rId47"/>
    <p:sldId id="277" r:id="rId48"/>
    <p:sldId id="278" r:id="rId49"/>
  </p:sldIdLst>
  <p:sldSz cx="18288000" cy="10287000"/>
  <p:notesSz cx="6858000" cy="9144000"/>
  <p:embeddedFontLst>
    <p:embeddedFont>
      <p:font typeface="Anova" panose="020B0604020202020204" charset="0"/>
      <p:regular r:id="rId13"/>
      <p:bold r:id="rId14"/>
      <p:italic r:id="rId15"/>
      <p:boldItalic r:id="rId16"/>
    </p:embeddedFont>
    <p:embeddedFont>
      <p:font typeface="Anova Bold" panose="020B0604020202020204" charset="0"/>
      <p:regular r:id="rId17"/>
      <p:bold r:id="rId18"/>
      <p:italic r:id="rId19"/>
      <p:boldItalic r:id="rId20"/>
    </p:embeddedFont>
    <p:embeddedFont>
      <p:font typeface="Anova Light" panose="020B0604020202020204" charset="0"/>
      <p:regular r:id="rId21"/>
      <p:bold r:id="rId22"/>
      <p:italic r:id="rId23"/>
      <p:boldItalic r:id="rId24"/>
    </p:embeddedFont>
  </p:embeddedFontLst>
  <p:custDataLst>
    <p:tags r:id="rId25"/>
  </p:custDataLst>
  <p:defaultTextStyle>
    <a:defPPr>
      <a:defRPr lang="en-US"/>
    </a:defPPr>
    <a:lvl1pPr marL="0" algn="l" defTabSz="914400" rtl="0" eaLnBrk="1" latinLnBrk="0" hangingPunct="1">
      <a:defRPr sz="3600" kern="1200">
        <a:solidFill>
          <a:schemeClr val="tx1"/>
        </a:solidFill>
        <a:latin typeface="+mn-lt"/>
        <a:ea typeface="+mn-ea"/>
        <a:cs typeface="+mn-cs"/>
      </a:defRPr>
    </a:lvl1pPr>
    <a:lvl2pPr marL="914400" algn="l" defTabSz="914400" rtl="0" eaLnBrk="1" latinLnBrk="0" hangingPunct="1">
      <a:defRPr sz="3600" kern="1200">
        <a:solidFill>
          <a:schemeClr val="tx1"/>
        </a:solidFill>
        <a:latin typeface="+mn-lt"/>
        <a:ea typeface="+mn-ea"/>
        <a:cs typeface="+mn-cs"/>
      </a:defRPr>
    </a:lvl2pPr>
    <a:lvl3pPr marL="1828800" algn="l" defTabSz="914400" rtl="0" eaLnBrk="1" latinLnBrk="0" hangingPunct="1">
      <a:defRPr sz="3600" kern="1200">
        <a:solidFill>
          <a:schemeClr val="tx1"/>
        </a:solidFill>
        <a:latin typeface="+mn-lt"/>
        <a:ea typeface="+mn-ea"/>
        <a:cs typeface="+mn-cs"/>
      </a:defRPr>
    </a:lvl3pPr>
    <a:lvl4pPr marL="2743200" algn="l" defTabSz="914400" rtl="0" eaLnBrk="1" latinLnBrk="0" hangingPunct="1">
      <a:defRPr sz="3600" kern="1200">
        <a:solidFill>
          <a:schemeClr val="tx1"/>
        </a:solidFill>
        <a:latin typeface="+mn-lt"/>
        <a:ea typeface="+mn-ea"/>
        <a:cs typeface="+mn-cs"/>
      </a:defRPr>
    </a:lvl4pPr>
    <a:lvl5pPr marL="3657600" algn="l" defTabSz="914400" rtl="0" eaLnBrk="1" latinLnBrk="0" hangingPunct="1">
      <a:defRPr sz="3600" kern="1200">
        <a:solidFill>
          <a:schemeClr val="tx1"/>
        </a:solidFill>
        <a:latin typeface="+mn-lt"/>
        <a:ea typeface="+mn-ea"/>
        <a:cs typeface="+mn-cs"/>
      </a:defRPr>
    </a:lvl5pPr>
    <a:lvl6pPr marL="4572000" algn="l" defTabSz="914400" rtl="0" eaLnBrk="1" latinLnBrk="0" hangingPunct="1">
      <a:defRPr sz="3600" kern="1200">
        <a:solidFill>
          <a:schemeClr val="tx1"/>
        </a:solidFill>
        <a:latin typeface="+mn-lt"/>
        <a:ea typeface="+mn-ea"/>
        <a:cs typeface="+mn-cs"/>
      </a:defRPr>
    </a:lvl6pPr>
    <a:lvl7pPr marL="5486400" algn="l" defTabSz="914400" rtl="0" eaLnBrk="1" latinLnBrk="0" hangingPunct="1">
      <a:defRPr sz="3600" kern="1200">
        <a:solidFill>
          <a:schemeClr val="tx1"/>
        </a:solidFill>
        <a:latin typeface="+mn-lt"/>
        <a:ea typeface="+mn-ea"/>
        <a:cs typeface="+mn-cs"/>
      </a:defRPr>
    </a:lvl7pPr>
    <a:lvl8pPr marL="6400800" algn="l" defTabSz="914400" rtl="0" eaLnBrk="1" latinLnBrk="0" hangingPunct="1">
      <a:defRPr sz="3600" kern="1200">
        <a:solidFill>
          <a:schemeClr val="tx1"/>
        </a:solidFill>
        <a:latin typeface="+mn-lt"/>
        <a:ea typeface="+mn-ea"/>
        <a:cs typeface="+mn-cs"/>
      </a:defRPr>
    </a:lvl8pPr>
    <a:lvl9pPr marL="7315200" algn="l" defTabSz="914400" rtl="0" eaLnBrk="1" latinLnBrk="0" hangingPunct="1">
      <a:defRPr sz="36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044DA096-A44F-4CB2-86A9-989C8567BC99}">
          <p14:sldIdLst>
            <p14:sldId id="2147477438"/>
            <p14:sldId id="256"/>
            <p14:sldId id="2147483544"/>
          </p14:sldIdLst>
        </p14:section>
      </p14:sectionLst>
    </p:ext>
    <p:ext uri="{EFAFB233-063F-42B5-8137-9DF3F51BA10A}">
      <p15:sldGuideLst xmlns:p15="http://schemas.microsoft.com/office/powerpoint/2012/main">
        <p15:guide id="1" orient="horz" pos="3240" userDrawn="1">
          <p15:clr>
            <a:srgbClr val="A4A3A4"/>
          </p15:clr>
        </p15:guide>
        <p15:guide id="2" pos="576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 id="{4B708D14-BD54-920F-18BB-8395E60AE589}" name="Alice McClure" initials="AM" userId="S::alice.mcclure@sas.com::6210c489-566a-4639-8da1-84bcfd842f43" providerId="AD"/>
  <p188:author id="{7FD95D2A-4CAA-4E28-14CF-F6755ACD491D}" name="Mark Demers" initials="MD" userId="S::mark.demers@sas.com::a6c1815c-a07e-4ad8-b99d-835bfaf5b59a" providerId="AD"/>
  <p188:author id="{6DFEA739-C4EE-3CDE-94E6-A95954A908DE}" name="Tine Haaber" initials="TH" userId="S::Tine.Haaber@SAS.COM::b28dffea-6139-4081-9090-e82e8f843744" providerId="AD"/>
  <p188:author id="{9966B73D-F5BE-20D5-13EF-9EE7F32E485F}" name="Mark Demers" initials="MD" userId="S::Mark.Demers@sas.com::a6c1815c-a07e-4ad8-b99d-835bfaf5b59a" providerId="AD"/>
  <p188:author id="{8589D845-7987-B917-DB5A-8124C69673B1}" name="Ian Holmes" initials="IH" userId="S::Ian.Holmes@sas.com::be136b62-8947-4791-afb4-a71e75240925" providerId="AD"/>
  <p188:author id="{2809CD54-2E0F-B50C-4978-852C5F801C91}" name="Robert Montgomery" initials="RM" userId="S::robert.montgomery@SAS.com::28d4c29f-64b2-4ffd-8efa-fc826a00016a" providerId="AD"/>
  <p188:author id="{4711F45D-9A4C-C270-559F-E09685DD1391}" name="Elisabeth Peter" initials="EP" userId="S::Elisabeth.Peter@sas.com::e2c5cfb3-f426-4aa6-8c12-a369aa668627" providerId="AD"/>
  <p188:author id="{B039347D-3557-F9F0-E474-D5F325AD51B6}" name="Jocelyn Kline" initials="JK" userId="S::Jocelyn.Kline@sas.com::7590ce6a-d436-43a4-bfea-4908ec3bbc47" providerId="AD"/>
  <p188:author id="{D07952DD-C253-29C0-A67B-3D937B579047}" name="Cameron McLauchlin" initials="CM" userId="S::Cameron.McLauchlin@SAS.com::770c9921-c5b5-47cb-ae7c-d35ee10112a8" providerId="AD"/>
  <p188:author id="{20FD69E9-C4AD-FE04-2F1E-8C20C926D278}" name="Cameron McLauchlin" initials="CM" userId="S::cameron.mclauchlin@sas.com::770c9921-c5b5-47cb-ae7c-d35ee10112a8"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A78DE"/>
    <a:srgbClr val="FF66B2"/>
    <a:srgbClr val="64234B"/>
    <a:srgbClr val="69224C"/>
    <a:srgbClr val="850D4A"/>
    <a:srgbClr val="DB127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A089F89-7270-4661-92E8-8375F411D5B4}" v="4" dt="2026-08-10T10:39:47.28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23"/>
    <p:restoredTop sz="89922" autoAdjust="0"/>
  </p:normalViewPr>
  <p:slideViewPr>
    <p:cSldViewPr snapToGrid="0">
      <p:cViewPr varScale="1">
        <p:scale>
          <a:sx n="96" d="100"/>
          <a:sy n="96" d="100"/>
        </p:scale>
        <p:origin x="3030" y="96"/>
      </p:cViewPr>
      <p:guideLst>
        <p:guide orient="horz" pos="3240"/>
        <p:guide pos="576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 Target="slides/slide5.xml"/><Relationship Id="rId7" Type="http://schemas.openxmlformats.org/officeDocument/2006/relationships/slide" Target="slides/slide4.xml"/><Relationship Id="rId8" Type="http://schemas.openxmlformats.org/officeDocument/2006/relationships/slide" Target="slides/slide3.xml"/><Relationship Id="rId9" Type="http://schemas.openxmlformats.org/officeDocument/2006/relationships/slide" Target="slides/slide2.xml"/><Relationship Id="rId10" Type="http://schemas.openxmlformats.org/officeDocument/2006/relationships/slide" Target="slides/slide1.xml"/><Relationship Id="rId11" Type="http://schemas.openxmlformats.org/officeDocument/2006/relationships/notesMaster" Target="notesMasters/notesMaster1.xml"/><Relationship Id="rId12" Type="http://schemas.openxmlformats.org/officeDocument/2006/relationships/handoutMaster" Target="handoutMasters/handoutMaster1.xml"/><Relationship Id="rId13" Type="http://schemas.openxmlformats.org/officeDocument/2006/relationships/font" Target="fonts/font1.fntdata"/><Relationship Id="rId14" Type="http://schemas.openxmlformats.org/officeDocument/2006/relationships/font" Target="fonts/font2.fntdata"/><Relationship Id="rId15" Type="http://schemas.openxmlformats.org/officeDocument/2006/relationships/font" Target="fonts/font3.fntdata"/><Relationship Id="rId16" Type="http://schemas.openxmlformats.org/officeDocument/2006/relationships/font" Target="fonts/font4.fntdata"/><Relationship Id="rId17" Type="http://schemas.openxmlformats.org/officeDocument/2006/relationships/font" Target="fonts/font5.fntdata"/><Relationship Id="rId18" Type="http://schemas.openxmlformats.org/officeDocument/2006/relationships/font" Target="fonts/font6.fntdata"/><Relationship Id="rId19" Type="http://schemas.openxmlformats.org/officeDocument/2006/relationships/font" Target="fonts/font7.fntdata"/><Relationship Id="rId20" Type="http://schemas.openxmlformats.org/officeDocument/2006/relationships/font" Target="fonts/font8.fntdata"/><Relationship Id="rId21" Type="http://schemas.openxmlformats.org/officeDocument/2006/relationships/font" Target="fonts/font9.fntdata"/><Relationship Id="rId22" Type="http://schemas.openxmlformats.org/officeDocument/2006/relationships/font" Target="fonts/font10.fntdata"/><Relationship Id="rId23" Type="http://schemas.openxmlformats.org/officeDocument/2006/relationships/font" Target="fonts/font11.fntdata"/><Relationship Id="rId24" Type="http://schemas.openxmlformats.org/officeDocument/2006/relationships/font" Target="fonts/font12.fntdata"/><Relationship Id="rId25" Type="http://schemas.openxmlformats.org/officeDocument/2006/relationships/tags" Target="tags/tag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5/10/relationships/revisionInfo" Target="revisionInfo.xml"/><Relationship Id="rId31" Type="http://schemas.microsoft.com/office/2018/10/relationships/authors" Target="authors.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36" Type="http://schemas.openxmlformats.org/officeDocument/2006/relationships/slide" Target="slides/slide10.xml"/><Relationship Id="rId37" Type="http://schemas.openxmlformats.org/officeDocument/2006/relationships/slide" Target="slides/slide11.xml"/><Relationship Id="rId38" Type="http://schemas.openxmlformats.org/officeDocument/2006/relationships/slide" Target="slides/slide12.xml"/><Relationship Id="rId39" Type="http://schemas.openxmlformats.org/officeDocument/2006/relationships/slide" Target="slides/slide13.xml"/><Relationship Id="rId40" Type="http://schemas.openxmlformats.org/officeDocument/2006/relationships/slide" Target="slides/slide14.xml"/><Relationship Id="rId41" Type="http://schemas.openxmlformats.org/officeDocument/2006/relationships/slide" Target="slides/slide15.xml"/><Relationship Id="rId42" Type="http://schemas.openxmlformats.org/officeDocument/2006/relationships/slide" Target="slides/slide16.xml"/><Relationship Id="rId43" Type="http://schemas.openxmlformats.org/officeDocument/2006/relationships/slide" Target="slides/slide17.xml"/><Relationship Id="rId44" Type="http://schemas.openxmlformats.org/officeDocument/2006/relationships/slide" Target="slides/slide18.xml"/><Relationship Id="rId45" Type="http://schemas.openxmlformats.org/officeDocument/2006/relationships/slide" Target="slides/slide19.xml"/><Relationship Id="rId46" Type="http://schemas.openxmlformats.org/officeDocument/2006/relationships/slide" Target="slides/slide20.xml"/><Relationship Id="rId47" Type="http://schemas.openxmlformats.org/officeDocument/2006/relationships/slide" Target="slides/slide21.xml"/><Relationship Id="rId48" Type="http://schemas.openxmlformats.org/officeDocument/2006/relationships/slide" Target="slides/slide22.xml"/><Relationship Id="rId49" Type="http://schemas.openxmlformats.org/officeDocument/2006/relationships/slide" Target="slides/slide2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 Id="rId2" Type="http://schemas.openxmlformats.org/officeDocument/2006/relationships/tags" Target="../tags/tag42.xml"/><Relationship Id="rId3" Type="http://schemas.openxmlformats.org/officeDocument/2006/relationships/image" Target="../media/image4.svg"/></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E01A56FA-0DF4-15B7-A216-DB01CF5CEB6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5CE34E3-7E5C-436A-9E6D-2FFC8FFCFCBF}" type="datetimeFigureOut">
              <a:rPr lang="en-US" smtClean="0">
                <a:latin typeface="Anova Light" panose="020B0403020203020204" pitchFamily="34" charset="0"/>
              </a:rPr>
              <a:t>8/12/2026</a:t>
            </a:fld>
            <a:endParaRPr lang="en-US">
              <a:latin typeface="Anova Light" panose="020B0403020203020204" pitchFamily="34" charset="0"/>
            </a:endParaRPr>
          </a:p>
        </p:txBody>
      </p:sp>
      <p:sp>
        <p:nvSpPr>
          <p:cNvPr id="5" name="Slide Number Placeholder 4">
            <a:extLst>
              <a:ext uri="{FF2B5EF4-FFF2-40B4-BE49-F238E27FC236}">
                <a16:creationId xmlns:a16="http://schemas.microsoft.com/office/drawing/2014/main" id="{BA52EC1A-046B-DC8F-4AAC-4BB03667CCC0}"/>
              </a:ext>
            </a:extLst>
          </p:cNvPr>
          <p:cNvSpPr>
            <a:spLocks noGrp="1"/>
          </p:cNvSpPr>
          <p:nvPr>
            <p:ph type="sldNum" sz="quarter" idx="3"/>
          </p:nvPr>
        </p:nvSpPr>
        <p:spPr>
          <a:xfrm>
            <a:off x="0" y="0"/>
            <a:ext cx="2971800" cy="458787"/>
          </a:xfrm>
          <a:prstGeom prst="rect">
            <a:avLst/>
          </a:prstGeom>
        </p:spPr>
        <p:txBody>
          <a:bodyPr vert="horz" lIns="91440" tIns="45720" rIns="91440" bIns="45720" rtlCol="0" anchor="b"/>
          <a:lstStyle>
            <a:lvl1pPr algn="r">
              <a:defRPr sz="1200"/>
            </a:lvl1pPr>
          </a:lstStyle>
          <a:p>
            <a:pPr algn="l"/>
            <a:fld id="{C4EF46A2-9381-4C51-8277-3C7F2938E9F9}" type="slidenum">
              <a:rPr lang="en-US" smtClean="0">
                <a:latin typeface="Anova Light" panose="020B0403020203020204" pitchFamily="34" charset="0"/>
              </a:rPr>
              <a:pPr algn="l"/>
              <a:t>‹#›</a:t>
            </a:fld>
            <a:endParaRPr lang="en-US">
              <a:latin typeface="Anova Light" panose="020B0403020203020204" pitchFamily="34" charset="0"/>
            </a:endParaRPr>
          </a:p>
        </p:txBody>
      </p:sp>
      <p:sp>
        <p:nvSpPr>
          <p:cNvPr id="2" name="TextBox 4">
            <a:extLst>
              <a:ext uri="{FF2B5EF4-FFF2-40B4-BE49-F238E27FC236}">
                <a16:creationId xmlns:a16="http://schemas.microsoft.com/office/drawing/2014/main" id="{7A8A3785-BF0E-6C8B-8B7B-0521D7696A29}"/>
              </a:ext>
            </a:extLst>
          </p:cNvPr>
          <p:cNvSpPr txBox="1"/>
          <p:nvPr/>
        </p:nvSpPr>
        <p:spPr>
          <a:xfrm>
            <a:off x="685800" y="8879554"/>
            <a:ext cx="2514600" cy="169277"/>
          </a:xfrm>
          <a:prstGeom prst="rect">
            <a:avLst/>
          </a:prstGeom>
          <a:noFill/>
        </p:spPr>
        <p:txBody>
          <a:bodyPr wrap="square" lIns="0" anchor="b" anchorCtr="0">
            <a:spAutoFit/>
          </a:bodyPr>
          <a:lstStyle/>
          <a:p>
            <a:pPr marL="0" marR="0" lvl="0" indent="0" algn="l" defTabSz="274313" rtl="0" eaLnBrk="0" fontAlgn="auto" latinLnBrk="0" hangingPunct="0">
              <a:lnSpc>
                <a:spcPct val="100000"/>
              </a:lnSpc>
              <a:spcBef>
                <a:spcPts val="0"/>
              </a:spcBef>
              <a:spcAft>
                <a:spcPts val="0"/>
              </a:spcAft>
              <a:buClrTx/>
              <a:buSzTx/>
              <a:buFontTx/>
              <a:buNone/>
              <a:tabLst/>
              <a:defRPr/>
            </a:pPr>
            <a:r>
              <a:rPr kumimoji="0" lang="en-US" sz="500" b="0" i="0" u="none" strike="noStrike" kern="300" cap="none" spc="50" normalizeH="0" baseline="0" noProof="0">
                <a:ln>
                  <a:noFill/>
                </a:ln>
                <a:solidFill>
                  <a:schemeClr val="accent5">
                    <a:lumMod val="60000"/>
                    <a:lumOff val="40000"/>
                  </a:schemeClr>
                </a:solidFill>
                <a:effectLst/>
                <a:uLnTx/>
                <a:uFillTx/>
                <a:latin typeface="Anova Light" panose="020B0403020203020204" pitchFamily="34" charset="0"/>
                <a:ea typeface="Anova Bold" panose="020B0703020203020204" pitchFamily="34" charset="0"/>
                <a:cs typeface="Anova Light" panose="020B0403020203020204" pitchFamily="34" charset="0"/>
              </a:rPr>
              <a:t>Copyright © SAS Institute Inc. All rights reserved.</a:t>
            </a:r>
          </a:p>
        </p:txBody>
      </p:sp>
      <p:pic>
        <p:nvPicPr>
          <p:cNvPr id="4" name="Picture 6">
            <a:extLst>
              <a:ext uri="{FF2B5EF4-FFF2-40B4-BE49-F238E27FC236}">
                <a16:creationId xmlns:a16="http://schemas.microsoft.com/office/drawing/2014/main" id="{3F6C63C1-B02C-0586-DDA1-7B0EB003F6D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5992336" y="8788172"/>
            <a:ext cx="627951" cy="260659"/>
          </a:xfrm>
          <a:prstGeom prst="rect">
            <a:avLst/>
          </a:prstGeom>
        </p:spPr>
      </p:pic>
      <p:sp>
        <p:nvSpPr>
          <p:cNvPr id="6" name="TextBox 2">
            <a:extLst>
              <a:ext uri="{FF2B5EF4-FFF2-40B4-BE49-F238E27FC236}">
                <a16:creationId xmlns:a16="http://schemas.microsoft.com/office/drawing/2014/main" id="{FDEF6B2A-6211-F846-C47F-DC10CAA8C891}"/>
              </a:ext>
            </a:extLst>
          </p:cNvPr>
          <p:cNvSpPr txBox="1"/>
          <p:nvPr/>
        </p:nvSpPr>
        <p:spPr>
          <a:xfrm>
            <a:off x="2493335" y="8732520"/>
            <a:ext cx="1871330" cy="215444"/>
          </a:xfrm>
          <a:prstGeom prst="rect">
            <a:avLst/>
          </a:prstGeom>
          <a:noFill/>
        </p:spPr>
        <p:txBody>
          <a:bodyPr wrap="square" rtlCol="0" anchor="ctr">
            <a:spAutoFit/>
          </a:bodyPr>
          <a:lstStyle/>
          <a:p>
            <a:pPr algn="ctr" defTabSz="182880"/>
            <a:r>
              <a:rPr lang="en-US" sz="800">
                <a:solidFill>
                  <a:schemeClr val="accent4"/>
                </a:solidFill>
                <a:latin typeface="Anova Light" panose="020B0403020203020204" pitchFamily="34" charset="0"/>
              </a:rPr>
              <a:t>sas.com</a:t>
            </a:r>
          </a:p>
        </p:txBody>
      </p:sp>
    </p:spTree>
    <p:custDataLst>
      <p:tags r:id="rId2"/>
    </p:custDataLst>
    <p:extLst>
      <p:ext uri="{BB962C8B-B14F-4D97-AF65-F5344CB8AC3E}">
        <p14:creationId xmlns:p14="http://schemas.microsoft.com/office/powerpoint/2010/main" val="26268924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 Id="rId2" Type="http://schemas.openxmlformats.org/officeDocument/2006/relationships/image" Target="../media/image4.svg"/></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solidFill>
                  <a:schemeClr val="tx1"/>
                </a:solidFill>
                <a:latin typeface="Anova Light" panose="020B0403020203020204" pitchFamily="34" charset="0"/>
              </a:defRPr>
            </a:lvl1pPr>
          </a:lstStyle>
          <a:p>
            <a:fld id="{D46682E9-A1D3-F04F-A14F-ABAA4D2618F2}" type="datetimeFigureOut">
              <a:rPr lang="en-US" smtClean="0"/>
              <a:pPr/>
              <a:t>8/12/2026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Box 4">
            <a:extLst>
              <a:ext uri="{FF2B5EF4-FFF2-40B4-BE49-F238E27FC236}">
                <a16:creationId xmlns:a16="http://schemas.microsoft.com/office/drawing/2014/main" id="{CFAEC8D7-15A6-6F9F-E0B7-CB248431A52A}"/>
              </a:ext>
            </a:extLst>
          </p:cNvPr>
          <p:cNvSpPr txBox="1"/>
          <p:nvPr/>
        </p:nvSpPr>
        <p:spPr>
          <a:xfrm>
            <a:off x="685800" y="8879554"/>
            <a:ext cx="2514600" cy="169277"/>
          </a:xfrm>
          <a:prstGeom prst="rect">
            <a:avLst/>
          </a:prstGeom>
          <a:noFill/>
        </p:spPr>
        <p:txBody>
          <a:bodyPr wrap="square" lIns="0" anchor="b" anchorCtr="0">
            <a:spAutoFit/>
          </a:bodyPr>
          <a:lstStyle/>
          <a:p>
            <a:pPr marL="0" marR="0" lvl="0" indent="0" algn="l" defTabSz="274313" rtl="0" eaLnBrk="0" fontAlgn="auto" latinLnBrk="0" hangingPunct="0">
              <a:lnSpc>
                <a:spcPct val="100000"/>
              </a:lnSpc>
              <a:spcBef>
                <a:spcPts val="0"/>
              </a:spcBef>
              <a:spcAft>
                <a:spcPts val="0"/>
              </a:spcAft>
              <a:buClrTx/>
              <a:buSzTx/>
              <a:buFontTx/>
              <a:buNone/>
              <a:tabLst/>
              <a:defRPr/>
            </a:pPr>
            <a:r>
              <a:rPr kumimoji="0" lang="en-US" sz="500" b="0" i="0" u="none" strike="noStrike" kern="300" cap="none" spc="50" normalizeH="0" baseline="0" noProof="0">
                <a:ln>
                  <a:noFill/>
                </a:ln>
                <a:solidFill>
                  <a:schemeClr val="accent5">
                    <a:lumMod val="60000"/>
                    <a:lumOff val="40000"/>
                  </a:schemeClr>
                </a:solidFill>
                <a:effectLst/>
                <a:uLnTx/>
                <a:uFillTx/>
                <a:latin typeface="Anova Light" panose="020B0403020203020204" pitchFamily="34" charset="0"/>
                <a:ea typeface="Anova Bold" panose="020B0703020203020204" pitchFamily="34" charset="0"/>
                <a:cs typeface="Anova Light" panose="020B0403020203020204" pitchFamily="34" charset="0"/>
              </a:rPr>
              <a:t>Copyright © SAS Institute Inc. All rights reserved.</a:t>
            </a:r>
          </a:p>
        </p:txBody>
      </p:sp>
      <p:sp>
        <p:nvSpPr>
          <p:cNvPr id="10" name="Slide Number Placeholder 4">
            <a:extLst>
              <a:ext uri="{FF2B5EF4-FFF2-40B4-BE49-F238E27FC236}">
                <a16:creationId xmlns:a16="http://schemas.microsoft.com/office/drawing/2014/main" id="{9DE3AD8C-AE96-943C-8DAF-3D5594863A36}"/>
              </a:ext>
            </a:extLst>
          </p:cNvPr>
          <p:cNvSpPr>
            <a:spLocks noGrp="1"/>
          </p:cNvSpPr>
          <p:nvPr>
            <p:ph type="sldNum" sz="quarter" idx="5"/>
          </p:nvPr>
        </p:nvSpPr>
        <p:spPr>
          <a:xfrm>
            <a:off x="0" y="0"/>
            <a:ext cx="2971800" cy="458787"/>
          </a:xfrm>
          <a:prstGeom prst="rect">
            <a:avLst/>
          </a:prstGeom>
        </p:spPr>
        <p:txBody>
          <a:bodyPr vert="horz" lIns="91440" tIns="45720" rIns="91440" bIns="45720" rtlCol="0" anchor="b"/>
          <a:lstStyle>
            <a:lvl1pPr algn="r">
              <a:defRPr sz="1200" b="0" i="0">
                <a:solidFill>
                  <a:schemeClr val="tx1"/>
                </a:solidFill>
                <a:latin typeface="Anova Light" panose="020B0403020203020204" pitchFamily="34" charset="0"/>
              </a:defRPr>
            </a:lvl1pPr>
          </a:lstStyle>
          <a:p>
            <a:pPr algn="l"/>
            <a:fld id="{C4EF46A2-9381-4C51-8277-3C7F2938E9F9}" type="slidenum">
              <a:rPr lang="en-US" smtClean="0"/>
              <a:pPr algn="l"/>
              <a:t>‹#›</a:t>
            </a:fld>
            <a:endParaRPr lang="en-US"/>
          </a:p>
        </p:txBody>
      </p:sp>
      <p:pic>
        <p:nvPicPr>
          <p:cNvPr id="2" name="Picture 6">
            <a:extLst>
              <a:ext uri="{FF2B5EF4-FFF2-40B4-BE49-F238E27FC236}">
                <a16:creationId xmlns:a16="http://schemas.microsoft.com/office/drawing/2014/main" id="{D7A2D390-EEAD-C632-F276-85D15BA57F0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p:blipFill>
        <p:spPr>
          <a:xfrm>
            <a:off x="5992336" y="8788172"/>
            <a:ext cx="627951" cy="260659"/>
          </a:xfrm>
          <a:prstGeom prst="rect">
            <a:avLst/>
          </a:prstGeom>
        </p:spPr>
      </p:pic>
      <p:sp>
        <p:nvSpPr>
          <p:cNvPr id="6" name="TextBox 2">
            <a:extLst>
              <a:ext uri="{FF2B5EF4-FFF2-40B4-BE49-F238E27FC236}">
                <a16:creationId xmlns:a16="http://schemas.microsoft.com/office/drawing/2014/main" id="{F607DE50-086C-7432-5C71-ADF401D86D53}"/>
              </a:ext>
            </a:extLst>
          </p:cNvPr>
          <p:cNvSpPr txBox="1"/>
          <p:nvPr/>
        </p:nvSpPr>
        <p:spPr>
          <a:xfrm>
            <a:off x="2493335" y="8732520"/>
            <a:ext cx="1871330" cy="215444"/>
          </a:xfrm>
          <a:prstGeom prst="rect">
            <a:avLst/>
          </a:prstGeom>
          <a:noFill/>
        </p:spPr>
        <p:txBody>
          <a:bodyPr wrap="square" rtlCol="0" anchor="ctr">
            <a:spAutoFit/>
          </a:bodyPr>
          <a:lstStyle/>
          <a:p>
            <a:pPr algn="ctr" defTabSz="182880"/>
            <a:r>
              <a:rPr lang="en-US" sz="800">
                <a:solidFill>
                  <a:schemeClr val="tx1"/>
                </a:solidFill>
                <a:latin typeface="Anova Light" panose="020B0403020203020204" pitchFamily="34" charset="0"/>
              </a:rPr>
              <a:t>sas.com</a:t>
            </a:r>
          </a:p>
        </p:txBody>
      </p:sp>
    </p:spTree>
    <p:extLst>
      <p:ext uri="{BB962C8B-B14F-4D97-AF65-F5344CB8AC3E}">
        <p14:creationId xmlns:p14="http://schemas.microsoft.com/office/powerpoint/2010/main" val="3625376775"/>
      </p:ext>
    </p:extLst>
  </p:cSld>
  <p:clrMap bg1="lt1" tx1="dk1" bg2="lt2" tx2="dk2" accent1="accent1" accent2="accent2" accent3="accent3" accent4="accent4" accent5="accent5" accent6="accent6" hlink="hlink" folHlink="folHlink"/>
  <p:notesStyle>
    <a:lvl1pPr marL="342900" indent="-342900" algn="l" defTabSz="1828800" rtl="0" eaLnBrk="1" latinLnBrk="0" hangingPunct="1">
      <a:buClr>
        <a:schemeClr val="accent5"/>
      </a:buClr>
      <a:buFont typeface="Anova Light" panose="020B0403020203020204" pitchFamily="34" charset="0"/>
      <a:buChar char="•"/>
      <a:defRPr sz="2400" b="0" i="0" kern="1200">
        <a:solidFill>
          <a:schemeClr val="tx1"/>
        </a:solidFill>
        <a:latin typeface="+mn-lt"/>
        <a:ea typeface="+mn-ea"/>
        <a:cs typeface="+mn-cs"/>
      </a:defRPr>
    </a:lvl1pPr>
    <a:lvl2pPr marL="1257300" indent="-342900" algn="l" defTabSz="1828800" rtl="0" eaLnBrk="1" latinLnBrk="0" hangingPunct="1">
      <a:buClr>
        <a:schemeClr val="accent5"/>
      </a:buClr>
      <a:buFont typeface="Anova Light" panose="020B0403020203020204" pitchFamily="34" charset="0"/>
      <a:buChar char="–"/>
      <a:defRPr sz="2000" b="0" i="0" kern="1200">
        <a:solidFill>
          <a:schemeClr val="tx1"/>
        </a:solidFill>
        <a:latin typeface="+mn-lt"/>
        <a:ea typeface="+mn-ea"/>
        <a:cs typeface="+mn-cs"/>
      </a:defRPr>
    </a:lvl2pPr>
    <a:lvl3pPr marL="2171700" indent="-342900" algn="l" defTabSz="1828800" rtl="0" eaLnBrk="1" latinLnBrk="0" hangingPunct="1">
      <a:buClr>
        <a:schemeClr val="accent5"/>
      </a:buClr>
      <a:buFont typeface="Anova Light" panose="020B0403020203020204" pitchFamily="34" charset="0"/>
      <a:buChar char="•"/>
      <a:defRPr sz="1800" b="0" i="0" kern="1200">
        <a:solidFill>
          <a:schemeClr val="tx1"/>
        </a:solidFill>
        <a:latin typeface="+mn-lt"/>
        <a:ea typeface="+mn-ea"/>
        <a:cs typeface="+mn-cs"/>
      </a:defRPr>
    </a:lvl3pPr>
    <a:lvl4pPr marL="3086100" indent="-342900" algn="l" defTabSz="1828800" rtl="0" eaLnBrk="1" latinLnBrk="0" hangingPunct="1">
      <a:buClr>
        <a:schemeClr val="accent5"/>
      </a:buClr>
      <a:buFont typeface="Anova Light" panose="020B0403020203020204" pitchFamily="34" charset="0"/>
      <a:buChar char="–"/>
      <a:defRPr sz="1600" b="0" i="0" kern="1200">
        <a:solidFill>
          <a:schemeClr val="tx1"/>
        </a:solidFill>
        <a:latin typeface="+mn-lt"/>
        <a:ea typeface="+mn-ea"/>
        <a:cs typeface="+mn-cs"/>
      </a:defRPr>
    </a:lvl4pPr>
    <a:lvl5pPr marL="4000500" indent="-342900" algn="l" defTabSz="1828800" rtl="0" eaLnBrk="1" latinLnBrk="0" hangingPunct="1">
      <a:buClr>
        <a:schemeClr val="accent5"/>
      </a:buClr>
      <a:buFont typeface="Anova Light" panose="020B0403020203020204" pitchFamily="34" charset="0"/>
      <a:buChar char="•"/>
      <a:defRPr sz="1400" b="0" i="0" kern="1200">
        <a:solidFill>
          <a:schemeClr val="tx1"/>
        </a:solidFill>
        <a:latin typeface="+mn-lt"/>
        <a:ea typeface="+mn-ea"/>
        <a:cs typeface="+mn-cs"/>
      </a:defRPr>
    </a:lvl5pPr>
    <a:lvl6pPr marL="4572000" algn="l" defTabSz="1828800" rtl="0" eaLnBrk="1" latinLnBrk="0" hangingPunct="1">
      <a:defRPr sz="2400" kern="1200">
        <a:solidFill>
          <a:schemeClr val="tx1"/>
        </a:solidFill>
        <a:latin typeface="+mn-lt"/>
        <a:ea typeface="+mn-ea"/>
        <a:cs typeface="+mn-cs"/>
      </a:defRPr>
    </a:lvl6pPr>
    <a:lvl7pPr marL="5486400" algn="l" defTabSz="1828800" rtl="0" eaLnBrk="1" latinLnBrk="0" hangingPunct="1">
      <a:defRPr sz="2400" kern="1200">
        <a:solidFill>
          <a:schemeClr val="tx1"/>
        </a:solidFill>
        <a:latin typeface="+mn-lt"/>
        <a:ea typeface="+mn-ea"/>
        <a:cs typeface="+mn-cs"/>
      </a:defRPr>
    </a:lvl7pPr>
    <a:lvl8pPr marL="6400800" algn="l" defTabSz="1828800" rtl="0" eaLnBrk="1" latinLnBrk="0" hangingPunct="1">
      <a:defRPr sz="2400" kern="1200">
        <a:solidFill>
          <a:schemeClr val="tx1"/>
        </a:solidFill>
        <a:latin typeface="+mn-lt"/>
        <a:ea typeface="+mn-ea"/>
        <a:cs typeface="+mn-cs"/>
      </a:defRPr>
    </a:lvl8pPr>
    <a:lvl9pPr marL="7315200" algn="l" defTabSz="1828800" rtl="0" eaLnBrk="1" latinLnBrk="0" hangingPunct="1">
      <a:defRPr sz="2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session does two things in 45 minutes: it gives the room a shared vocabulary for Agentic AI (what an agent</a:t>
            </a:r>
          </a:p>
          <a:p>
            <a:r>
              <a:t>is, what RAG, MCP and composite AI add to it), and it shows a real agent at work on a population-health problem, the</a:t>
            </a:r>
          </a:p>
          <a:p>
            <a:r>
              <a:t>same agent the participants will build themselves in the hands-on part of the bootcamp. No code, no maths; every</a:t>
            </a:r>
          </a:p>
          <a:p>
            <a:r>
              <a:t>concept is shown once in plain words and once live in the demo.</a:t>
            </a:r>
          </a:p>
          <a:p>
            <a:r>
              <a:t>Timing guide: intro 3 min (slides 1-2), what is Agentic AI 8 min (3-6), the building blocks 10 min (7-12), live demo</a:t>
            </a:r>
          </a:p>
          <a:p>
            <a:r>
              <a:t>18 min (13-18, of which about 12 min live in SAS Retrieval Agent Manager), what you will build 4 min (19-21), wrap-up</a:t>
            </a:r>
          </a:p>
          <a:p>
            <a:r>
              <a:t>2 min (22-23). About 45 minutes. If you are short on time, skip slide 6 (healthcare examples) and slide 21 (the</a:t>
            </a:r>
          </a:p>
          <a:p>
            <a:r>
              <a:t>component table). If the live environment misbehaves, slide 17 is the backup walk-through of one answer.</a:t>
            </a:r>
          </a:p>
          <a:p>
            <a:r>
              <a:t>Before the session: sign in to RAM, open the Population Health Agent, run question 1 once so the compute session is</a:t>
            </a:r>
          </a:p>
          <a:p>
            <a:r>
              <a:t>warm, and keep the app's SAS RAM tab open on the second screen for the trace.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four parts quickly (about 8, 10, 18 and 4 minutes). Say up front that the demo agent and the agent they will</a:t>
            </a:r>
          </a:p>
          <a:p>
            <a:r>
              <a:t>build are the same agent: same registry, same guidelines, same model, same tools. Everything in parts 1 and 2 is there</a:t>
            </a:r>
          </a:p>
          <a:p>
            <a:r>
              <a:t>so that the demo makes sense, and everything in the demo is there so that the build makes sense. The card on the right</a:t>
            </a:r>
          </a:p>
          <a:p>
            <a:r>
              <a:t>is the contract with the room: three things they will be able to do.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of 4. About 8 minutes: three generations of AI, the agent loop, and where agents fit in healthcare.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generations, one sentence each. Analytical AI predicts: EHS already runs this (risk scores, forecasts). Generative</a:t>
            </a:r>
          </a:p>
          <a:p>
            <a:r>
              <a:t>AI creates language: most of the room has used a chatbot. Agentic AI acts: it is given a goal, and it works through the</a:t>
            </a:r>
          </a:p>
          <a:p>
            <a:r>
              <a:t>steps itself, calling the other two as tools. The callout is the point of the whole session: the agent is not a better</a:t>
            </a:r>
          </a:p>
          <a:p>
            <a:r>
              <a:t>chatbot, it is an orchestrator of things you already have. The third card is blue on purpose: it is the one we build.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loop is the definition of 'agentic'. Four beats: perceive, reason and plan, act, observe, then round again. A</a:t>
            </a:r>
          </a:p>
          <a:p>
            <a:r>
              <a:t>chatbot runs the loop once; an agent runs it until the goal is met or a boundary stops it. Three words carry the rest</a:t>
            </a:r>
          </a:p>
          <a:p>
            <a:r>
              <a:t>of the session: goal, tools, boundaries. If people ask 'where is the LLM?', point to Reason &amp; plan: that is where it</a:t>
            </a:r>
          </a:p>
          <a:p>
            <a:r>
              <a:t>lives, and only there. Everything else in the loop is ordinary software that we control. You will see this loop in the</a:t>
            </a:r>
          </a:p>
          <a:p>
            <a:r>
              <a:t>demo as the trace: every turn shows up as a retrieval, a query or a model call.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patterns, all real, all the same shape: the agent reads, reasons and drafts; a person decides. Read the blue foot</a:t>
            </a:r>
          </a:p>
          <a:p>
            <a:r>
              <a:t>line of each card aloud, because that is what makes them acceptable in a hospital. The first card is today's demo and</a:t>
            </a:r>
          </a:p>
          <a:p>
            <a:r>
              <a:t>the bootcamp's build. Invite the room to map their own process onto one of the six; most back-office and</a:t>
            </a:r>
          </a:p>
          <a:p>
            <a:r>
              <a:t>programme-management work fits. Skip this slide if you are behind.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of 4. About 10 minutes: the map, then one slide each for the language model, RAG, MCP, and composite AI with one question flowing through all of them.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 for the next four slides. The language model is in the middle because it reasons, plans and writes, and only</a:t>
            </a:r>
          </a:p>
          <a:p>
            <a:r>
              <a:t>that. Knowledge is what it can quote (RAG). Tools are what it can call (MCP). Models and rules are the analytics you</a:t>
            </a:r>
          </a:p>
          <a:p>
            <a:r>
              <a:t>already own, exposed as tools (composite AI). People set the goal and the boundaries and take the decisions. Say the</a:t>
            </a:r>
          </a:p>
          <a:p>
            <a:r>
              <a:t>footer sentence slowly: the model never touches your data or systems directly. That is the sentence that makes the</a:t>
            </a:r>
          </a:p>
          <a:p>
            <a:r>
              <a:t>security people in the room relax.</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language model its due and its limits. Good at language, planning and faithful summarising. Cannot know your</a:t>
            </a:r>
          </a:p>
          <a:p>
            <a:r>
              <a:t>data or your current guideline, cannot count reliably, cannot run anything. When none of its sources contains the</a:t>
            </a:r>
          </a:p>
          <a:p>
            <a:r>
              <a:t>answer it produces a plausible guess: that is the hallucination problem, and the cure is design, not hope. The callout</a:t>
            </a:r>
          </a:p>
          <a:p>
            <a:r>
              <a:t>is the structure of the next three slides: RAG, tools and models, people. Ask the room which of the four 'cannot'</a:t>
            </a:r>
          </a:p>
          <a:p>
            <a:r>
              <a:t>items worries them most; the answer is usually the guideline, which is exactly what RAG fixes.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in two rows. Row one happens once, when you build the knowledge base: documents are chunked, each chunk is turned</a:t>
            </a:r>
          </a:p>
          <a:p>
            <a:r>
              <a:t>into a vector (a fingerprint of its meaning) and stored. Row two happens at every question: the question is turned</a:t>
            </a:r>
          </a:p>
          <a:p>
            <a:r>
              <a:t>into a vector, the closest passages are fetched, and the model writes from those passages only, with the citation.</a:t>
            </a:r>
          </a:p>
          <a:p>
            <a:r>
              <a:t>The last card matters most for healthcare: when the collection does not cover the question, the agent says so instead</a:t>
            </a:r>
          </a:p>
          <a:p>
            <a:r>
              <a:t>of guessing. In SAS this whole slide is a Retrieval Agent Manager 'collection'; the participants create one from the</a:t>
            </a:r>
          </a:p>
          <a:p>
            <a:r>
              <a:t>four PDFs in the hands-on part, and in the demo you will see the retrieved passages in the trace.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 is the standard that lets any agent talk to any tool through one plug: the USB-C of agents. The agent on the left</a:t>
            </a:r>
          </a:p>
          <a:p>
            <a:r>
              <a:t>never reaches a database or a model directly. It sends a request ('score patient EHS-100092') to the MCP server, which</a:t>
            </a:r>
          </a:p>
          <a:p>
            <a:r>
              <a:t>knows what the agent is allowed to call, executes it, logs it, and returns the result. Three things for a non-technical</a:t>
            </a:r>
          </a:p>
          <a:p>
            <a:r>
              <a:t>audience: tools are described in plain language, so a business owner can read the tool list; the model asks and the</a:t>
            </a:r>
          </a:p>
          <a:p>
            <a:r>
              <a:t>runtime executes, which is where permissions live; and everything is logged, which is the trace you will see in the</a:t>
            </a:r>
          </a:p>
          <a:p>
            <a:r>
              <a:t>demo. In the bootcamp each team gets an MCP server scoped to its own table and model.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Composite AI is the reason the agent is trustworthy: each kind of fact comes from the engine that is good at it. One</a:t>
            </a:r>
          </a:p>
          <a:p>
            <a:r>
              <a:t>real question from the demo flows left to right. The retrieval engine finds the section; SQL counts the cohort; the</a:t>
            </a:r>
          </a:p>
          <a:p>
            <a:r>
              <a:t>model ranks it; the rules say who may see what and who decides; the language model only orchestrates and writes.</a:t>
            </a:r>
          </a:p>
          <a:p>
            <a:r>
              <a:t>Read the answer card: every number has a cohort, every clinical statement has a section, and the last line hands the</a:t>
            </a:r>
          </a:p>
          <a:p>
            <a:r>
              <a:t>decision to the clinician. This is the slide to come back to when someone asks 'but can we trust what it says?'.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3 of 4. About 18 minutes: the scenario and the solution overview (3 min), the demo plan (1 min), the live demo in SAS Retrieval Agent Manager (12 min), then the backup walk-through and the guardrails (2 min).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scene in 90 seconds. The programme lead runs the diabetes registry across the Northern Emirates and asks the</a:t>
            </a:r>
          </a:p>
          <a:p>
            <a:r>
              <a:t>same questions every week: how many are uncontrolled, where are the gaps, who is at risk, what does the guideline</a:t>
            </a:r>
          </a:p>
          <a:p>
            <a:r>
              <a:t>say, what would a programme intervention save. Three ingredients, one per card: the registry (structured, in CAS),</a:t>
            </a:r>
          </a:p>
          <a:p>
            <a:r>
              <a:t>the guidelines (unstructured, in a RAM collection), and the model (built in Model Studio, published for scoring).</a:t>
            </a:r>
          </a:p>
          <a:p>
            <a:r>
              <a:t>Say clearly that the data is synthetic and the guidelines are a teaching set: the numbers are real for this data, not</a:t>
            </a:r>
          </a:p>
          <a:p>
            <a:r>
              <a:t>for EHS. These three cards are exactly the three things the participants will create.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picture to remember, and the one to copy for your own use case. Left: two kinds of data. The guidelines are</a:t>
            </a:r>
          </a:p>
          <a:p>
            <a:r>
              <a:t>chunked, embedded and stored as vectors (the RAG knowledge base); the registry is loaded as a CAS table in SAS Viya.</a:t>
            </a:r>
          </a:p>
          <a:p>
            <a:r>
              <a:t>Middle: the agent, with its orchestrator, its guideline grounding and its audit log. Right: the MCP server and the</a:t>
            </a:r>
          </a:p>
          <a:p>
            <a:r>
              <a:t>tools it exposes: query the data, score the model, run a decision flow, draw a chart. Follow the dotted line: the</a:t>
            </a:r>
          </a:p>
          <a:p>
            <a:r>
              <a:t>registry becomes a CAS table, and the SQL tool reads it; the agent itself never touches the table. The strip at the</a:t>
            </a:r>
          </a:p>
          <a:p>
            <a:r>
              <a:t>bottom is what the solution delivers. Everything on this slide is what the participants assemble in the hands-on.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on this slide, then switch to SAS Retrieval Agent Manager. Five questions in a deliberate order: a plain</a:t>
            </a:r>
          </a:p>
          <a:p>
            <a:r>
              <a:t>count (so the room sees a query and a cohort), a comparison (a chart and the equity rule firing on its own), a pure</a:t>
            </a:r>
          </a:p>
          <a:p>
            <a:r>
              <a:t>guideline question (no query at all, just the citation), a question that needs RAG and SQL together, and a model</a:t>
            </a:r>
          </a:p>
          <a:p>
            <a:r>
              <a:t>score for one patient. For each question, show the answer first, then open the trace and point at the tool call or</a:t>
            </a:r>
          </a:p>
          <a:p>
            <a:r>
              <a:t>the retrieved passage. Expected answers are in the kit (agents/population_health_agent.md): 4,000 patients, 34.9% well</a:t>
            </a:r>
          </a:p>
          <a:p>
            <a:r>
              <a:t>controlled; Ajman 46.3% to Umm Al Quwain 22.0%; LDL below 1.4 mmol/L; 399 eligible, 373 not yet treated; EHS-100092</a:t>
            </a:r>
          </a:p>
          <a:p>
            <a:r>
              <a:t>well above the 10.4% base rate. If the environment is slow, drop question 2; if it fails, use slide 17.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in one of two ways. After a successful demo: replay question 4 as six beats and point out that this is</a:t>
            </a:r>
          </a:p>
          <a:p>
            <a:r>
              <a:t>the loop from slide 5, two full turns plus the close. If the live environment failed: this is the demo, told as a</a:t>
            </a:r>
          </a:p>
          <a:p>
            <a:r>
              <a:t>story, with the real numbers. Three design decisions hide in it: the guideline was retrieved before any number was</a:t>
            </a:r>
          </a:p>
          <a:p>
            <a:r>
              <a:t>produced (grounding), restricted-consent patients were counted but never listed (a rule the tool enforces), and the</a:t>
            </a:r>
          </a:p>
          <a:p>
            <a:r>
              <a:t>output is a draft for a clinician (human oversight). Ask: where could this have gone wrong without those three?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guardrails, and the point is where they live: in the agent's written instructions (the system prompt the</a:t>
            </a:r>
          </a:p>
          <a:p>
            <a:r>
              <a:t>participants will paste) and in the tools (the MCP server's scope, the consent filter), not in the model's good</a:t>
            </a:r>
          </a:p>
          <a:p>
            <a:r>
              <a:t>judgement. Numbers from queries, citations or silence, consent, humans decide, scoped tools, a visible trace. These</a:t>
            </a:r>
          </a:p>
          <a:p>
            <a:r>
              <a:t>six are also the answer to 'how do we audit an agent?': the trace shows every call, the scope shows what it could</a:t>
            </a:r>
          </a:p>
          <a:p>
            <a:r>
              <a:t>reach, and the instructions show what it was told. Carry this list into the hands-on: each team writes these rules</a:t>
            </a:r>
          </a:p>
          <a:p>
            <a:r>
              <a:t>into its own agent.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4 of 4. About 4 minutes: the five build steps and the component table, then the takeaways.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steps, in the order the participants will do them. Steps 1 and 2 live in SAS Viya: load the registry, build and</a:t>
            </a:r>
          </a:p>
          <a:p>
            <a:r>
              <a:t>publish the model. Steps 3 to 5 live in SAS Retrieval Agent Manager: the collection (RAG), the MCP tool source, and</a:t>
            </a:r>
          </a:p>
          <a:p>
            <a:r>
              <a:t>the agent itself. Point at the coloured tags: the colours match the building blocks from part 2. Mention the copilot:</a:t>
            </a:r>
          </a:p>
          <a:p>
            <a:r>
              <a:t>a pre-built agent in RAM can do the data loading and the model build through MCP on request, which is itself a nice</a:t>
            </a:r>
          </a:p>
          <a:p>
            <a:r>
              <a:t>demonstration of an agent at work. The hands-on guide has a screenshot for every click.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reference slide for the hands-on: one row per component, what it gives the agent, where it is built, and the</a:t>
            </a:r>
          </a:p>
          <a:p>
            <a:r>
              <a:t>material in the kit. Skippable if you are behind; the hands-on guide repeats all of it with screenshots. If you keep</a:t>
            </a:r>
          </a:p>
          <a:p>
            <a:r>
              <a:t>it, read only the third column: everything in SAS Viya is data and model, everything in RAM is knowledge, tools and</a:t>
            </a:r>
          </a:p>
          <a:p>
            <a:r>
              <a:t>the agent.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sentences to remember. If they remember only one: the LLM reasons, and everything around it keeps it honest.</a:t>
            </a:r>
          </a:p>
          <a:p>
            <a:r>
              <a:t>Then hand over to the hands-on part: the participants build exactly the agent they have just seen, step by step, with</a:t>
            </a:r>
          </a:p>
          <a:p>
            <a:r>
              <a:t>the materials in the kit.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questions for two or three minutes, then move to the hands-on build.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 Id="rId3" Type="http://schemas.openxmlformats.org/officeDocument/2006/relationships/image" Target="../media/image1.emf"/></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xml"/><Relationship Id="rId3"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0.xml"/><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slideMaster" Target="../slideMasters/slideMaster1.xml"/><Relationship Id="rId3" Type="http://schemas.openxmlformats.org/officeDocument/2006/relationships/image" Target="../media/image1.emf"/></Relationships>
</file>

<file path=ppt/slideLayouts/_rels/slideLayout10.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tags" Target="../tags/tag13.xml"/><Relationship Id="rId2" Type="http://schemas.openxmlformats.org/officeDocument/2006/relationships/slideMaster" Target="../slideMasters/slideMaster1.xml"/><Relationship Id="rId3" Type="http://schemas.openxmlformats.org/officeDocument/2006/relationships/image" Target="../media/image3.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SAS - Title">
    <p:bg>
      <p:bgPr>
        <a:solidFill>
          <a:schemeClr val="bg2"/>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1F1FD6A3-53F9-5AA7-7099-CFD8CF29E43C}"/>
              </a:ext>
            </a:extLst>
          </p:cNvPr>
          <p:cNvPicPr>
            <a:picLocks noChangeAspect="1"/>
          </p:cNvPicPr>
          <p:nvPr userDrawn="1"/>
        </p:nvPicPr>
        <p:blipFill>
          <a:blip r:embed="rId3"/>
          <a:stretch>
            <a:fillRect/>
          </a:stretch>
        </p:blipFill>
        <p:spPr>
          <a:xfrm>
            <a:off x="14463799" y="8276976"/>
            <a:ext cx="2566902" cy="1057524"/>
          </a:xfrm>
          <a:prstGeom prst="rect">
            <a:avLst/>
          </a:prstGeom>
        </p:spPr>
      </p:pic>
      <p:sp>
        <p:nvSpPr>
          <p:cNvPr id="7" name="Title Placeholder 1">
            <a:extLst>
              <a:ext uri="{FF2B5EF4-FFF2-40B4-BE49-F238E27FC236}">
                <a16:creationId xmlns:a16="http://schemas.microsoft.com/office/drawing/2014/main" id="{0B679E91-B2F1-7013-ED34-D7763B653081}"/>
              </a:ext>
            </a:extLst>
          </p:cNvPr>
          <p:cNvSpPr>
            <a:spLocks noGrp="1"/>
          </p:cNvSpPr>
          <p:nvPr>
            <p:ph type="title" hasCustomPrompt="1"/>
          </p:nvPr>
        </p:nvSpPr>
        <p:spPr>
          <a:xfrm>
            <a:off x="1252433" y="2927508"/>
            <a:ext cx="15778270" cy="1292662"/>
          </a:xfrm>
          <a:prstGeom prst="rect">
            <a:avLst/>
          </a:prstGeom>
        </p:spPr>
        <p:txBody>
          <a:bodyPr vert="horz" wrap="square" lIns="0" tIns="0" rIns="0" bIns="182880" rtlCol="0" anchor="b" anchorCtr="0">
            <a:spAutoFit/>
          </a:bodyPr>
          <a:lstStyle>
            <a:lvl1pPr>
              <a:lnSpc>
                <a:spcPct val="100000"/>
              </a:lnSpc>
              <a:spcBef>
                <a:spcPts val="600"/>
              </a:spcBef>
              <a:defRPr sz="7200">
                <a:solidFill>
                  <a:schemeClr val="bg1"/>
                </a:solidFill>
              </a:defRPr>
            </a:lvl1pPr>
          </a:lstStyle>
          <a:p>
            <a:r>
              <a:rPr lang="en-US"/>
              <a:t>Click to Add Slideshow Title</a:t>
            </a:r>
          </a:p>
        </p:txBody>
      </p:sp>
      <p:sp>
        <p:nvSpPr>
          <p:cNvPr id="14" name="Text Placeholder 13">
            <a:extLst>
              <a:ext uri="{FF2B5EF4-FFF2-40B4-BE49-F238E27FC236}">
                <a16:creationId xmlns:a16="http://schemas.microsoft.com/office/drawing/2014/main" id="{2A390F57-72E5-BAC5-624C-175BE96B8516}"/>
              </a:ext>
            </a:extLst>
          </p:cNvPr>
          <p:cNvSpPr>
            <a:spLocks noGrp="1"/>
          </p:cNvSpPr>
          <p:nvPr>
            <p:ph type="body" sz="quarter" idx="10" hasCustomPrompt="1"/>
          </p:nvPr>
        </p:nvSpPr>
        <p:spPr>
          <a:xfrm>
            <a:off x="1252433" y="4220171"/>
            <a:ext cx="15778270" cy="923330"/>
          </a:xfrm>
        </p:spPr>
        <p:txBody>
          <a:bodyPr wrap="square">
            <a:noAutofit/>
          </a:bodyPr>
          <a:lstStyle>
            <a:lvl1pPr marL="0" indent="0">
              <a:lnSpc>
                <a:spcPct val="100000"/>
              </a:lnSpc>
              <a:spcBef>
                <a:spcPts val="600"/>
              </a:spcBef>
              <a:buNone/>
              <a:defRPr sz="4800">
                <a:solidFill>
                  <a:schemeClr val="accent3"/>
                </a:solidFill>
              </a:defRPr>
            </a:lvl1pPr>
            <a:lvl2pPr marL="365760" indent="0">
              <a:buNone/>
              <a:defRPr>
                <a:solidFill>
                  <a:schemeClr val="accent3"/>
                </a:solidFill>
              </a:defRPr>
            </a:lvl2pPr>
            <a:lvl3pPr marL="731520" indent="0">
              <a:buNone/>
              <a:defRPr>
                <a:solidFill>
                  <a:schemeClr val="accent3"/>
                </a:solidFill>
              </a:defRPr>
            </a:lvl3pPr>
            <a:lvl4pPr marL="2057400" indent="0">
              <a:buNone/>
              <a:defRPr>
                <a:solidFill>
                  <a:schemeClr val="accent3"/>
                </a:solidFill>
              </a:defRPr>
            </a:lvl4pPr>
            <a:lvl5pPr marL="2743200" indent="0">
              <a:buNone/>
              <a:defRPr>
                <a:solidFill>
                  <a:schemeClr val="accent3"/>
                </a:solidFill>
              </a:defRPr>
            </a:lvl5pPr>
          </a:lstStyle>
          <a:p>
            <a:pPr lvl="0"/>
            <a:r>
              <a:rPr lang="en-US"/>
              <a:t>Click to Add Slideshow Subtitle</a:t>
            </a:r>
          </a:p>
        </p:txBody>
      </p:sp>
      <p:sp>
        <p:nvSpPr>
          <p:cNvPr id="16" name="Text Placeholder 15">
            <a:extLst>
              <a:ext uri="{FF2B5EF4-FFF2-40B4-BE49-F238E27FC236}">
                <a16:creationId xmlns:a16="http://schemas.microsoft.com/office/drawing/2014/main" id="{30273A50-3E84-0E24-0D4A-64F939D590FA}"/>
              </a:ext>
            </a:extLst>
          </p:cNvPr>
          <p:cNvSpPr>
            <a:spLocks noGrp="1"/>
          </p:cNvSpPr>
          <p:nvPr>
            <p:ph type="body" sz="quarter" idx="11" hasCustomPrompt="1"/>
          </p:nvPr>
        </p:nvSpPr>
        <p:spPr>
          <a:xfrm>
            <a:off x="1252433" y="8276979"/>
            <a:ext cx="12123722" cy="1057522"/>
          </a:xfrm>
        </p:spPr>
        <p:txBody>
          <a:bodyPr wrap="square" anchor="ctr" anchorCtr="0">
            <a:noAutofit/>
          </a:bodyPr>
          <a:lstStyle>
            <a:lvl1pPr marL="0" indent="0">
              <a:lnSpc>
                <a:spcPct val="100000"/>
              </a:lnSpc>
              <a:spcBef>
                <a:spcPts val="600"/>
              </a:spcBef>
              <a:buNone/>
              <a:defRPr sz="2800">
                <a:solidFill>
                  <a:schemeClr val="accent3"/>
                </a:solidFill>
              </a:defRPr>
            </a:lvl1pPr>
            <a:lvl2pPr marL="365760" indent="0">
              <a:buNone/>
              <a:defRPr sz="2200">
                <a:solidFill>
                  <a:schemeClr val="accent3"/>
                </a:solidFill>
              </a:defRPr>
            </a:lvl2pPr>
            <a:lvl3pPr marL="731520" indent="0">
              <a:buNone/>
              <a:defRPr sz="2100">
                <a:solidFill>
                  <a:schemeClr val="accent3"/>
                </a:solidFill>
              </a:defRPr>
            </a:lvl3pPr>
            <a:lvl4pPr marL="2057400" indent="0">
              <a:buNone/>
              <a:defRPr sz="2000">
                <a:solidFill>
                  <a:schemeClr val="accent3"/>
                </a:solidFill>
              </a:defRPr>
            </a:lvl4pPr>
            <a:lvl5pPr marL="2743200" indent="0">
              <a:buNone/>
              <a:defRPr sz="2000">
                <a:solidFill>
                  <a:schemeClr val="accent3"/>
                </a:solidFill>
              </a:defRPr>
            </a:lvl5pPr>
          </a:lstStyle>
          <a:p>
            <a:pPr lvl="0"/>
            <a:r>
              <a:rPr lang="en-US"/>
              <a:t>Click to Add Presenter Info</a:t>
            </a:r>
          </a:p>
        </p:txBody>
      </p:sp>
      <p:sp>
        <p:nvSpPr>
          <p:cNvPr id="2" name="TextBox 4">
            <a:extLst>
              <a:ext uri="{FF2B5EF4-FFF2-40B4-BE49-F238E27FC236}">
                <a16:creationId xmlns:a16="http://schemas.microsoft.com/office/drawing/2014/main" id="{7F487846-7C90-09E0-AF50-CA2DB82BFEFD}"/>
              </a:ext>
            </a:extLst>
          </p:cNvPr>
          <p:cNvSpPr txBox="1"/>
          <p:nvPr userDrawn="1"/>
        </p:nvSpPr>
        <p:spPr>
          <a:xfrm>
            <a:off x="1252432" y="9855355"/>
            <a:ext cx="5029200" cy="246221"/>
          </a:xfrm>
          <a:prstGeom prst="rect">
            <a:avLst/>
          </a:prstGeom>
          <a:noFill/>
        </p:spPr>
        <p:txBody>
          <a:bodyPr wrap="square" lIns="0" anchor="b" anchorCtr="0">
            <a:spAutoFit/>
          </a:bodyPr>
          <a:lstStyle/>
          <a:p>
            <a:pPr marL="0" marR="0" lvl="0" indent="0" algn="l" defTabSz="548626" rtl="0" eaLnBrk="0" fontAlgn="auto" latinLnBrk="0" hangingPunct="0">
              <a:lnSpc>
                <a:spcPct val="100000"/>
              </a:lnSpc>
              <a:spcBef>
                <a:spcPts val="0"/>
              </a:spcBef>
              <a:spcAft>
                <a:spcPts val="0"/>
              </a:spcAft>
              <a:buClrTx/>
              <a:buSzTx/>
              <a:buFontTx/>
              <a:buNone/>
              <a:tabLst/>
              <a:defRPr/>
            </a:pPr>
            <a:r>
              <a:rPr kumimoji="0" lang="en-US" sz="1000" b="0" i="0" u="none" strike="noStrike" kern="300" cap="none" spc="100" normalizeH="0" baseline="0" noProof="0">
                <a:ln>
                  <a:noFill/>
                </a:ln>
                <a:solidFill>
                  <a:schemeClr val="accent3"/>
                </a:solidFill>
                <a:effectLst/>
                <a:uLnTx/>
                <a:uFillTx/>
                <a:latin typeface="Anova Light" panose="020B0403020203020204" pitchFamily="34" charset="0"/>
                <a:ea typeface="Anova Bold" panose="020B0703020203020204" pitchFamily="34" charset="0"/>
                <a:cs typeface="Anova Light" panose="020B0403020203020204" pitchFamily="34" charset="0"/>
              </a:rPr>
              <a:t>Copyright © SAS Institute Inc. All rights reserved.</a:t>
            </a:r>
          </a:p>
        </p:txBody>
      </p:sp>
    </p:spTree>
    <p:custDataLst>
      <p:tags r:id="rId1"/>
    </p:custDataLst>
    <p:extLst>
      <p:ext uri="{BB962C8B-B14F-4D97-AF65-F5344CB8AC3E}">
        <p14:creationId xmlns:p14="http://schemas.microsoft.com/office/powerpoint/2010/main" val="3284189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AS - Section">
    <p:bg>
      <p:bgPr>
        <a:solidFill>
          <a:schemeClr val="accent5"/>
        </a:solidFill>
        <a:effectLst/>
      </p:bgPr>
    </p:bg>
    <p:spTree>
      <p:nvGrpSpPr>
        <p:cNvPr id="1" name=""/>
        <p:cNvGrpSpPr/>
        <p:nvPr/>
      </p:nvGrpSpPr>
      <p:grpSpPr>
        <a:xfrm>
          <a:off x="0" y="0"/>
          <a:ext cx="0" cy="0"/>
          <a:chOff x="0" y="0"/>
          <a:chExt cx="0" cy="0"/>
        </a:xfrm>
      </p:grpSpPr>
      <p:sp>
        <p:nvSpPr>
          <p:cNvPr id="7" name="Title Placeholder 1">
            <a:extLst>
              <a:ext uri="{FF2B5EF4-FFF2-40B4-BE49-F238E27FC236}">
                <a16:creationId xmlns:a16="http://schemas.microsoft.com/office/drawing/2014/main" id="{0B679E91-B2F1-7013-ED34-D7763B653081}"/>
              </a:ext>
            </a:extLst>
          </p:cNvPr>
          <p:cNvSpPr>
            <a:spLocks noGrp="1"/>
          </p:cNvSpPr>
          <p:nvPr>
            <p:ph type="title" hasCustomPrompt="1"/>
          </p:nvPr>
        </p:nvSpPr>
        <p:spPr>
          <a:xfrm>
            <a:off x="1252433" y="3850838"/>
            <a:ext cx="12123722" cy="1292662"/>
          </a:xfrm>
          <a:prstGeom prst="rect">
            <a:avLst/>
          </a:prstGeom>
        </p:spPr>
        <p:txBody>
          <a:bodyPr vert="horz" wrap="square" lIns="0" tIns="0" rIns="0" bIns="182880" rtlCol="0" anchor="b" anchorCtr="0">
            <a:spAutoFit/>
          </a:bodyPr>
          <a:lstStyle>
            <a:lvl1pPr>
              <a:lnSpc>
                <a:spcPct val="100000"/>
              </a:lnSpc>
              <a:spcBef>
                <a:spcPts val="600"/>
              </a:spcBef>
              <a:defRPr sz="7200">
                <a:solidFill>
                  <a:schemeClr val="bg1"/>
                </a:solidFill>
              </a:defRPr>
            </a:lvl1pPr>
          </a:lstStyle>
          <a:p>
            <a:r>
              <a:rPr lang="en-US"/>
              <a:t>Click to Add Section Title</a:t>
            </a:r>
          </a:p>
        </p:txBody>
      </p:sp>
      <p:sp>
        <p:nvSpPr>
          <p:cNvPr id="14" name="Text Placeholder 13">
            <a:extLst>
              <a:ext uri="{FF2B5EF4-FFF2-40B4-BE49-F238E27FC236}">
                <a16:creationId xmlns:a16="http://schemas.microsoft.com/office/drawing/2014/main" id="{2A390F57-72E5-BAC5-624C-175BE96B8516}"/>
              </a:ext>
            </a:extLst>
          </p:cNvPr>
          <p:cNvSpPr>
            <a:spLocks noGrp="1"/>
          </p:cNvSpPr>
          <p:nvPr>
            <p:ph type="body" sz="quarter" idx="10" hasCustomPrompt="1"/>
          </p:nvPr>
        </p:nvSpPr>
        <p:spPr>
          <a:xfrm>
            <a:off x="1252433" y="5342755"/>
            <a:ext cx="12123722" cy="923330"/>
          </a:xfrm>
        </p:spPr>
        <p:txBody>
          <a:bodyPr wrap="square" anchor="t" anchorCtr="0">
            <a:noAutofit/>
          </a:bodyPr>
          <a:lstStyle>
            <a:lvl1pPr marL="0" indent="0">
              <a:lnSpc>
                <a:spcPct val="100000"/>
              </a:lnSpc>
              <a:spcBef>
                <a:spcPts val="600"/>
              </a:spcBef>
              <a:buNone/>
              <a:defRPr sz="4800">
                <a:solidFill>
                  <a:schemeClr val="bg1"/>
                </a:solidFill>
              </a:defRPr>
            </a:lvl1pPr>
            <a:lvl2pPr marL="365760" indent="0">
              <a:buNone/>
              <a:defRPr>
                <a:solidFill>
                  <a:schemeClr val="accent3"/>
                </a:solidFill>
              </a:defRPr>
            </a:lvl2pPr>
            <a:lvl3pPr marL="731520" indent="0">
              <a:buNone/>
              <a:defRPr>
                <a:solidFill>
                  <a:schemeClr val="accent3"/>
                </a:solidFill>
              </a:defRPr>
            </a:lvl3pPr>
            <a:lvl4pPr marL="2057400" indent="0">
              <a:buNone/>
              <a:defRPr>
                <a:solidFill>
                  <a:schemeClr val="accent3"/>
                </a:solidFill>
              </a:defRPr>
            </a:lvl4pPr>
            <a:lvl5pPr marL="2743200" indent="0">
              <a:buNone/>
              <a:defRPr>
                <a:solidFill>
                  <a:schemeClr val="accent3"/>
                </a:solidFill>
              </a:defRPr>
            </a:lvl5pPr>
          </a:lstStyle>
          <a:p>
            <a:pPr lvl="0"/>
            <a:r>
              <a:rPr lang="en-US"/>
              <a:t>Click to Add Section Subtitle</a:t>
            </a:r>
          </a:p>
        </p:txBody>
      </p:sp>
      <p:sp>
        <p:nvSpPr>
          <p:cNvPr id="2" name="TextBox 4">
            <a:extLst>
              <a:ext uri="{FF2B5EF4-FFF2-40B4-BE49-F238E27FC236}">
                <a16:creationId xmlns:a16="http://schemas.microsoft.com/office/drawing/2014/main" id="{BBE5A171-53B6-5D64-1680-262B90DACFE5}"/>
              </a:ext>
            </a:extLst>
          </p:cNvPr>
          <p:cNvSpPr txBox="1"/>
          <p:nvPr userDrawn="1"/>
        </p:nvSpPr>
        <p:spPr>
          <a:xfrm>
            <a:off x="1252432" y="9855355"/>
            <a:ext cx="5029200" cy="246221"/>
          </a:xfrm>
          <a:prstGeom prst="rect">
            <a:avLst/>
          </a:prstGeom>
          <a:noFill/>
        </p:spPr>
        <p:txBody>
          <a:bodyPr wrap="square" lIns="0" anchor="b" anchorCtr="0">
            <a:spAutoFit/>
          </a:bodyPr>
          <a:lstStyle/>
          <a:p>
            <a:pPr marL="0" marR="0" lvl="0" indent="0" algn="l" defTabSz="548626" rtl="0" eaLnBrk="0" fontAlgn="auto" latinLnBrk="0" hangingPunct="0">
              <a:lnSpc>
                <a:spcPct val="100000"/>
              </a:lnSpc>
              <a:spcBef>
                <a:spcPts val="0"/>
              </a:spcBef>
              <a:spcAft>
                <a:spcPts val="0"/>
              </a:spcAft>
              <a:buClrTx/>
              <a:buSzTx/>
              <a:buFontTx/>
              <a:buNone/>
              <a:tabLst/>
              <a:defRPr/>
            </a:pPr>
            <a:r>
              <a:rPr kumimoji="0" lang="en-US" sz="1000" b="0" i="0" u="none" strike="noStrike" kern="300" cap="none" spc="100" normalizeH="0" baseline="0" noProof="0">
                <a:ln>
                  <a:noFill/>
                </a:ln>
                <a:solidFill>
                  <a:schemeClr val="accent5">
                    <a:lumMod val="20000"/>
                    <a:lumOff val="80000"/>
                  </a:schemeClr>
                </a:solidFill>
                <a:effectLst/>
                <a:uLnTx/>
                <a:uFillTx/>
                <a:latin typeface="Anova Light" panose="020B0403020203020204" pitchFamily="34" charset="0"/>
                <a:ea typeface="Anova Bold" panose="020B0703020203020204" pitchFamily="34" charset="0"/>
                <a:cs typeface="Anova Light" panose="020B0403020203020204" pitchFamily="34" charset="0"/>
              </a:rPr>
              <a:t>Copyright © SAS Institute Inc. All rights reserved.</a:t>
            </a:r>
          </a:p>
        </p:txBody>
      </p:sp>
      <p:pic>
        <p:nvPicPr>
          <p:cNvPr id="3" name="Picture 6">
            <a:extLst>
              <a:ext uri="{FF2B5EF4-FFF2-40B4-BE49-F238E27FC236}">
                <a16:creationId xmlns:a16="http://schemas.microsoft.com/office/drawing/2014/main" id="{27780B26-6E86-E2AF-35C7-7B8BF24892A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6826158" y="9516545"/>
            <a:ext cx="1112812" cy="461922"/>
          </a:xfrm>
          <a:prstGeom prst="rect">
            <a:avLst/>
          </a:prstGeom>
        </p:spPr>
      </p:pic>
    </p:spTree>
    <p:custDataLst>
      <p:tags r:id="rId1"/>
    </p:custDataLst>
    <p:extLst>
      <p:ext uri="{BB962C8B-B14F-4D97-AF65-F5344CB8AC3E}">
        <p14:creationId xmlns:p14="http://schemas.microsoft.com/office/powerpoint/2010/main" val="9352162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AS - Title Only">
    <p:spTree>
      <p:nvGrpSpPr>
        <p:cNvPr id="1" name=""/>
        <p:cNvGrpSpPr/>
        <p:nvPr/>
      </p:nvGrpSpPr>
      <p:grpSpPr>
        <a:xfrm>
          <a:off x="0" y="0"/>
          <a:ext cx="0" cy="0"/>
          <a:chOff x="0" y="0"/>
          <a:chExt cx="0" cy="0"/>
        </a:xfrm>
      </p:grpSpPr>
      <p:sp>
        <p:nvSpPr>
          <p:cNvPr id="12" name="Title Placeholder 1">
            <a:extLst>
              <a:ext uri="{FF2B5EF4-FFF2-40B4-BE49-F238E27FC236}">
                <a16:creationId xmlns:a16="http://schemas.microsoft.com/office/drawing/2014/main" id="{6F060396-EEE3-A20F-EF3B-666AF65526C8}"/>
              </a:ext>
            </a:extLst>
          </p:cNvPr>
          <p:cNvSpPr>
            <a:spLocks noGrp="1"/>
          </p:cNvSpPr>
          <p:nvPr>
            <p:ph type="title" hasCustomPrompt="1"/>
          </p:nvPr>
        </p:nvSpPr>
        <p:spPr>
          <a:xfrm>
            <a:off x="1257300" y="710304"/>
            <a:ext cx="15773400" cy="775596"/>
          </a:xfrm>
          <a:prstGeom prst="rect">
            <a:avLst/>
          </a:prstGeom>
        </p:spPr>
        <p:txBody>
          <a:bodyPr vert="horz" lIns="0" tIns="0" rIns="0" bIns="0" rtlCol="0" anchor="ctr">
            <a:spAutoFit/>
          </a:bodyPr>
          <a:lstStyle/>
          <a:p>
            <a:r>
              <a:rPr lang="en-US"/>
              <a:t>Click to Add Slide Title</a:t>
            </a:r>
          </a:p>
        </p:txBody>
      </p:sp>
    </p:spTree>
    <p:custDataLst>
      <p:tags r:id="rId1"/>
    </p:custDataLst>
    <p:extLst>
      <p:ext uri="{BB962C8B-B14F-4D97-AF65-F5344CB8AC3E}">
        <p14:creationId xmlns:p14="http://schemas.microsoft.com/office/powerpoint/2010/main" val="9861200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AS - Title &amp; Subtitle">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normAutofit/>
          </a:bodyPr>
          <a:lstStyle>
            <a:lvl1pPr algn="l">
              <a:defRPr>
                <a:solidFill>
                  <a:schemeClr val="accent5"/>
                </a:solidFill>
              </a:defRPr>
            </a:lvl1pPr>
          </a:lstStyle>
          <a:p>
            <a:r>
              <a:rPr lang="en-US"/>
              <a:t>Click to Add Slide Title</a:t>
            </a:r>
          </a:p>
        </p:txBody>
      </p:sp>
      <p:sp>
        <p:nvSpPr>
          <p:cNvPr id="5" name="Text Placeholder 4">
            <a:extLst>
              <a:ext uri="{FF2B5EF4-FFF2-40B4-BE49-F238E27FC236}">
                <a16:creationId xmlns:a16="http://schemas.microsoft.com/office/drawing/2014/main" id="{0040EF35-062A-4CF7-B99A-D6EF688F370B}"/>
              </a:ext>
            </a:extLst>
          </p:cNvPr>
          <p:cNvSpPr>
            <a:spLocks noGrp="1"/>
          </p:cNvSpPr>
          <p:nvPr>
            <p:ph type="body" sz="quarter" idx="10" hasCustomPrompt="1"/>
          </p:nvPr>
        </p:nvSpPr>
        <p:spPr>
          <a:xfrm>
            <a:off x="1257300" y="1562101"/>
            <a:ext cx="15773400" cy="549382"/>
          </a:xfrm>
          <a:prstGeom prst="rect">
            <a:avLst/>
          </a:prstGeom>
        </p:spPr>
        <p:txBody>
          <a:bodyPr anchor="t">
            <a:normAutofit/>
          </a:bodyPr>
          <a:lstStyle>
            <a:lvl1pPr marL="0" indent="0" algn="l">
              <a:buNone/>
              <a:defRPr>
                <a:solidFill>
                  <a:schemeClr val="bg2"/>
                </a:solidFill>
              </a:defRPr>
            </a:lvl1pPr>
            <a:lvl2pPr marL="365760" indent="0">
              <a:buNone/>
              <a:defRPr/>
            </a:lvl2pPr>
            <a:lvl3pPr marL="731520" indent="0">
              <a:buNone/>
              <a:defRPr/>
            </a:lvl3pPr>
            <a:lvl4pPr marL="2057400" indent="0">
              <a:buNone/>
              <a:defRPr/>
            </a:lvl4pPr>
            <a:lvl5pPr marL="2743200" indent="0">
              <a:buNone/>
              <a:defRPr/>
            </a:lvl5pPr>
          </a:lstStyle>
          <a:p>
            <a:pPr lvl="0"/>
            <a:r>
              <a:rPr lang="en-US"/>
              <a:t>Click to Add Subtitle</a:t>
            </a:r>
          </a:p>
        </p:txBody>
      </p:sp>
    </p:spTree>
    <p:custDataLst>
      <p:tags r:id="rId1"/>
    </p:custDataLst>
    <p:extLst>
      <p:ext uri="{BB962C8B-B14F-4D97-AF65-F5344CB8AC3E}">
        <p14:creationId xmlns:p14="http://schemas.microsoft.com/office/powerpoint/2010/main" val="18989030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AS -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normAutofit/>
          </a:bodyPr>
          <a:lstStyle>
            <a:lvl1pPr>
              <a:defRPr>
                <a:solidFill>
                  <a:schemeClr val="accent5"/>
                </a:solidFill>
              </a:defRPr>
            </a:lvl1pPr>
          </a:lstStyle>
          <a:p>
            <a:r>
              <a:rPr lang="en-US"/>
              <a:t>Click to Add Slide Title</a:t>
            </a:r>
          </a:p>
        </p:txBody>
      </p:sp>
      <p:sp>
        <p:nvSpPr>
          <p:cNvPr id="4" name="Text Placeholder 2">
            <a:extLst>
              <a:ext uri="{FF2B5EF4-FFF2-40B4-BE49-F238E27FC236}">
                <a16:creationId xmlns:a16="http://schemas.microsoft.com/office/drawing/2014/main" id="{94E85CBA-188F-58DF-65B2-BD90C57AB500}"/>
              </a:ext>
            </a:extLst>
          </p:cNvPr>
          <p:cNvSpPr>
            <a:spLocks noGrp="1"/>
          </p:cNvSpPr>
          <p:nvPr>
            <p:ph idx="1"/>
          </p:nvPr>
        </p:nvSpPr>
        <p:spPr>
          <a:xfrm>
            <a:off x="1257300" y="2400301"/>
            <a:ext cx="15773400" cy="6865146"/>
          </a:xfrm>
          <a:prstGeom prst="rect">
            <a:avLst/>
          </a:prstGeom>
        </p:spPr>
        <p:txBody>
          <a:bodyPr vert="horz" lIns="0" tIns="0" rIns="0" bIns="0" rtlCol="0">
            <a:normAutofit/>
          </a:bodyPr>
          <a:lstStyle>
            <a:lvl1pPr>
              <a:defRPr sz="3600"/>
            </a:lvl1pPr>
            <a:lvl2pPr>
              <a:defRPr sz="2800"/>
            </a:lvl2pPr>
            <a:lvl3pPr>
              <a:defRPr sz="2400">
                <a:latin typeface="+mn-lt"/>
              </a:defRPr>
            </a:lvl3pPr>
          </a:lstStyle>
          <a:p>
            <a:pPr lvl="0"/>
            <a:r>
              <a:rPr lang="en-US"/>
              <a:t>Click to edit Master text styles</a:t>
            </a:r>
          </a:p>
          <a:p>
            <a:pPr lvl="1"/>
            <a:r>
              <a:rPr lang="en-US"/>
              <a:t>Second level</a:t>
            </a:r>
          </a:p>
          <a:p>
            <a:pPr lvl="2"/>
            <a:r>
              <a:rPr lang="en-US"/>
              <a:t>Third level</a:t>
            </a:r>
          </a:p>
        </p:txBody>
      </p:sp>
      <p:sp>
        <p:nvSpPr>
          <p:cNvPr id="8" name="Text Placeholder 4">
            <a:extLst>
              <a:ext uri="{FF2B5EF4-FFF2-40B4-BE49-F238E27FC236}">
                <a16:creationId xmlns:a16="http://schemas.microsoft.com/office/drawing/2014/main" id="{9A71ABFD-7D9E-8B81-8F10-AD3B259CD532}"/>
              </a:ext>
            </a:extLst>
          </p:cNvPr>
          <p:cNvSpPr>
            <a:spLocks noGrp="1"/>
          </p:cNvSpPr>
          <p:nvPr>
            <p:ph type="body" sz="quarter" idx="10" hasCustomPrompt="1"/>
          </p:nvPr>
        </p:nvSpPr>
        <p:spPr>
          <a:xfrm>
            <a:off x="1257300" y="1562101"/>
            <a:ext cx="15773400" cy="549382"/>
          </a:xfrm>
          <a:prstGeom prst="rect">
            <a:avLst/>
          </a:prstGeom>
        </p:spPr>
        <p:txBody>
          <a:bodyPr anchor="t">
            <a:normAutofit/>
          </a:bodyPr>
          <a:lstStyle>
            <a:lvl1pPr marL="0" indent="0" algn="l">
              <a:buNone/>
              <a:defRPr>
                <a:solidFill>
                  <a:schemeClr val="bg2"/>
                </a:solidFill>
              </a:defRPr>
            </a:lvl1pPr>
            <a:lvl2pPr marL="365760" indent="0">
              <a:buNone/>
              <a:defRPr/>
            </a:lvl2pPr>
            <a:lvl3pPr marL="731520" indent="0">
              <a:buNone/>
              <a:defRPr/>
            </a:lvl3pPr>
            <a:lvl4pPr marL="2057400" indent="0">
              <a:buNone/>
              <a:defRPr/>
            </a:lvl4pPr>
            <a:lvl5pPr marL="2743200" indent="0">
              <a:buNone/>
              <a:defRPr/>
            </a:lvl5pPr>
          </a:lstStyle>
          <a:p>
            <a:pPr lvl="0"/>
            <a:r>
              <a:rPr lang="en-US"/>
              <a:t>Click to Add Subtitle</a:t>
            </a:r>
          </a:p>
        </p:txBody>
      </p:sp>
    </p:spTree>
    <p:custDataLst>
      <p:tags r:id="rId1"/>
    </p:custDataLst>
    <p:extLst>
      <p:ext uri="{BB962C8B-B14F-4D97-AF65-F5344CB8AC3E}">
        <p14:creationId xmlns:p14="http://schemas.microsoft.com/office/powerpoint/2010/main" val="29023313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AS - Comparison">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normAutofit/>
          </a:bodyPr>
          <a:lstStyle>
            <a:lvl1pPr>
              <a:defRPr>
                <a:solidFill>
                  <a:schemeClr val="accent5"/>
                </a:solidFill>
              </a:defRPr>
            </a:lvl1pPr>
          </a:lstStyle>
          <a:p>
            <a:r>
              <a:rPr lang="en-US"/>
              <a:t>Click to Add Slide Title</a:t>
            </a:r>
          </a:p>
        </p:txBody>
      </p:sp>
      <p:sp>
        <p:nvSpPr>
          <p:cNvPr id="5" name="Text Placeholder 2">
            <a:extLst>
              <a:ext uri="{FF2B5EF4-FFF2-40B4-BE49-F238E27FC236}">
                <a16:creationId xmlns:a16="http://schemas.microsoft.com/office/drawing/2014/main" id="{B37A3D09-8DDB-0D78-49A3-63D553286BAA}"/>
              </a:ext>
            </a:extLst>
          </p:cNvPr>
          <p:cNvSpPr>
            <a:spLocks noGrp="1"/>
          </p:cNvSpPr>
          <p:nvPr>
            <p:ph idx="1"/>
          </p:nvPr>
        </p:nvSpPr>
        <p:spPr>
          <a:xfrm>
            <a:off x="1257301" y="2400301"/>
            <a:ext cx="7741846" cy="6865146"/>
          </a:xfrm>
          <a:prstGeom prst="rect">
            <a:avLst/>
          </a:prstGeom>
        </p:spPr>
        <p:txBody>
          <a:bodyPr vert="horz" lIns="0" tIns="0" rIns="0" bIns="0" rtlCol="0">
            <a:normAutofit/>
          </a:bodyPr>
          <a:lstStyle>
            <a:lvl1pPr>
              <a:defRPr sz="3600"/>
            </a:lvl1pPr>
            <a:lvl2pPr>
              <a:defRPr sz="2800">
                <a:latin typeface="+mn-lt"/>
              </a:defRPr>
            </a:lvl2pPr>
            <a:lvl3pPr>
              <a:defRPr sz="2400">
                <a:latin typeface="+mn-lt"/>
              </a:defRPr>
            </a:lvl3pPr>
          </a:lstStyle>
          <a:p>
            <a:pPr lvl="0"/>
            <a:r>
              <a:rPr lang="en-US"/>
              <a:t>Click to edit Master text styles</a:t>
            </a:r>
          </a:p>
          <a:p>
            <a:pPr lvl="1"/>
            <a:r>
              <a:rPr lang="en-US"/>
              <a:t>Second level</a:t>
            </a:r>
          </a:p>
          <a:p>
            <a:pPr lvl="2"/>
            <a:r>
              <a:rPr lang="en-US"/>
              <a:t>Third level</a:t>
            </a:r>
          </a:p>
        </p:txBody>
      </p:sp>
      <p:sp>
        <p:nvSpPr>
          <p:cNvPr id="7" name="Text Placeholder 2">
            <a:extLst>
              <a:ext uri="{FF2B5EF4-FFF2-40B4-BE49-F238E27FC236}">
                <a16:creationId xmlns:a16="http://schemas.microsoft.com/office/drawing/2014/main" id="{9EB0C531-8D77-DB91-D733-89B75593C437}"/>
              </a:ext>
            </a:extLst>
          </p:cNvPr>
          <p:cNvSpPr>
            <a:spLocks noGrp="1"/>
          </p:cNvSpPr>
          <p:nvPr>
            <p:ph idx="11"/>
          </p:nvPr>
        </p:nvSpPr>
        <p:spPr>
          <a:xfrm>
            <a:off x="9288856" y="2400301"/>
            <a:ext cx="7741848" cy="6865146"/>
          </a:xfrm>
          <a:prstGeom prst="rect">
            <a:avLst/>
          </a:prstGeom>
        </p:spPr>
        <p:txBody>
          <a:bodyPr vert="horz" lIns="0" tIns="0" rIns="0" bIns="0" rtlCol="0">
            <a:normAutofit/>
          </a:bodyPr>
          <a:lstStyle>
            <a:lvl1pPr>
              <a:defRPr sz="3600"/>
            </a:lvl1pPr>
            <a:lvl2pPr>
              <a:defRPr sz="2800">
                <a:latin typeface="+mn-lt"/>
              </a:defRPr>
            </a:lvl2pPr>
            <a:lvl3pPr>
              <a:defRPr sz="2400">
                <a:latin typeface="+mn-lt"/>
              </a:defRPr>
            </a:lvl3pPr>
          </a:lstStyle>
          <a:p>
            <a:pPr lvl="0"/>
            <a:r>
              <a:rPr lang="en-US"/>
              <a:t>Click to edit Master text styles</a:t>
            </a:r>
          </a:p>
          <a:p>
            <a:pPr lvl="1"/>
            <a:r>
              <a:rPr lang="en-US"/>
              <a:t>Second level</a:t>
            </a:r>
          </a:p>
          <a:p>
            <a:pPr lvl="2"/>
            <a:r>
              <a:rPr lang="en-US"/>
              <a:t>Third level</a:t>
            </a:r>
          </a:p>
        </p:txBody>
      </p:sp>
      <p:sp>
        <p:nvSpPr>
          <p:cNvPr id="9" name="Text Placeholder 4">
            <a:extLst>
              <a:ext uri="{FF2B5EF4-FFF2-40B4-BE49-F238E27FC236}">
                <a16:creationId xmlns:a16="http://schemas.microsoft.com/office/drawing/2014/main" id="{528E5A1D-0F7C-C89E-926C-359A1E6C4B96}"/>
              </a:ext>
            </a:extLst>
          </p:cNvPr>
          <p:cNvSpPr>
            <a:spLocks noGrp="1"/>
          </p:cNvSpPr>
          <p:nvPr>
            <p:ph type="body" sz="quarter" idx="10" hasCustomPrompt="1"/>
          </p:nvPr>
        </p:nvSpPr>
        <p:spPr>
          <a:xfrm>
            <a:off x="1257300" y="1562101"/>
            <a:ext cx="15773400" cy="549382"/>
          </a:xfrm>
          <a:prstGeom prst="rect">
            <a:avLst/>
          </a:prstGeom>
        </p:spPr>
        <p:txBody>
          <a:bodyPr anchor="t">
            <a:normAutofit/>
          </a:bodyPr>
          <a:lstStyle>
            <a:lvl1pPr marL="0" indent="0" algn="l">
              <a:buNone/>
              <a:defRPr>
                <a:solidFill>
                  <a:schemeClr val="bg2"/>
                </a:solidFill>
              </a:defRPr>
            </a:lvl1pPr>
            <a:lvl2pPr marL="365760" indent="0">
              <a:buNone/>
              <a:defRPr/>
            </a:lvl2pPr>
            <a:lvl3pPr marL="731520" indent="0">
              <a:buNone/>
              <a:defRPr/>
            </a:lvl3pPr>
            <a:lvl4pPr marL="2057400" indent="0">
              <a:buNone/>
              <a:defRPr/>
            </a:lvl4pPr>
            <a:lvl5pPr marL="2743200" indent="0">
              <a:buNone/>
              <a:defRPr/>
            </a:lvl5pPr>
          </a:lstStyle>
          <a:p>
            <a:pPr lvl="0"/>
            <a:r>
              <a:rPr lang="en-US"/>
              <a:t>Click to Add Subtitle</a:t>
            </a:r>
          </a:p>
        </p:txBody>
      </p:sp>
    </p:spTree>
    <p:custDataLst>
      <p:tags r:id="rId1"/>
    </p:custDataLst>
    <p:extLst>
      <p:ext uri="{BB962C8B-B14F-4D97-AF65-F5344CB8AC3E}">
        <p14:creationId xmlns:p14="http://schemas.microsoft.com/office/powerpoint/2010/main" val="30410571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AS - Title Only Right">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7932B69-D114-4F04-8825-FD80DE780B3F}"/>
              </a:ext>
            </a:extLst>
          </p:cNvPr>
          <p:cNvSpPr>
            <a:spLocks noGrp="1"/>
          </p:cNvSpPr>
          <p:nvPr>
            <p:ph type="title" hasCustomPrompt="1"/>
          </p:nvPr>
        </p:nvSpPr>
        <p:spPr>
          <a:xfrm>
            <a:off x="1257300" y="4367905"/>
            <a:ext cx="4428276" cy="1551194"/>
          </a:xfrm>
          <a:prstGeom prst="rect">
            <a:avLst/>
          </a:prstGeom>
        </p:spPr>
        <p:txBody>
          <a:bodyPr vert="horz" wrap="square" lIns="0" tIns="0" rIns="0" bIns="0" rtlCol="0" anchor="ctr">
            <a:spAutoFit/>
          </a:bodyPr>
          <a:lstStyle/>
          <a:p>
            <a:r>
              <a:rPr lang="en-US"/>
              <a:t>Click to Add Slide Title</a:t>
            </a:r>
          </a:p>
        </p:txBody>
      </p:sp>
    </p:spTree>
    <p:custDataLst>
      <p:tags r:id="rId1"/>
    </p:custDataLst>
    <p:extLst>
      <p:ext uri="{BB962C8B-B14F-4D97-AF65-F5344CB8AC3E}">
        <p14:creationId xmlns:p14="http://schemas.microsoft.com/office/powerpoint/2010/main" val="41217007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AS - Title &amp; Subtitle Right">
    <p:bg>
      <p:bgPr>
        <a:solidFill>
          <a:schemeClr val="bg1"/>
        </a:solidFill>
        <a:effectLst/>
      </p:bgPr>
    </p:bg>
    <p:spTree>
      <p:nvGrpSpPr>
        <p:cNvPr id="1" name=""/>
        <p:cNvGrpSpPr/>
        <p:nvPr/>
      </p:nvGrpSpPr>
      <p:grpSpPr>
        <a:xfrm>
          <a:off x="0" y="0"/>
          <a:ext cx="0" cy="0"/>
          <a:chOff x="0" y="0"/>
          <a:chExt cx="0" cy="0"/>
        </a:xfrm>
      </p:grpSpPr>
      <p:sp>
        <p:nvSpPr>
          <p:cNvPr id="2" name="Text Placeholder 4">
            <a:extLst>
              <a:ext uri="{FF2B5EF4-FFF2-40B4-BE49-F238E27FC236}">
                <a16:creationId xmlns:a16="http://schemas.microsoft.com/office/drawing/2014/main" id="{DCB0DC36-25B4-46CA-542D-A6308DDA0A46}"/>
              </a:ext>
            </a:extLst>
          </p:cNvPr>
          <p:cNvSpPr>
            <a:spLocks noGrp="1"/>
          </p:cNvSpPr>
          <p:nvPr>
            <p:ph type="body" sz="quarter" idx="10" hasCustomPrompt="1"/>
          </p:nvPr>
        </p:nvSpPr>
        <p:spPr>
          <a:xfrm>
            <a:off x="1257301" y="5920997"/>
            <a:ext cx="5004350" cy="549382"/>
          </a:xfrm>
          <a:prstGeom prst="rect">
            <a:avLst/>
          </a:prstGeom>
        </p:spPr>
        <p:txBody>
          <a:bodyPr wrap="square" anchor="t">
            <a:noAutofit/>
          </a:bodyPr>
          <a:lstStyle>
            <a:lvl1pPr marL="0" indent="0" algn="l">
              <a:buNone/>
              <a:defRPr>
                <a:solidFill>
                  <a:schemeClr val="bg2"/>
                </a:solidFill>
              </a:defRPr>
            </a:lvl1pPr>
            <a:lvl2pPr marL="365760" indent="0">
              <a:buNone/>
              <a:defRPr/>
            </a:lvl2pPr>
            <a:lvl3pPr marL="731520" indent="0">
              <a:buNone/>
              <a:defRPr/>
            </a:lvl3pPr>
            <a:lvl4pPr marL="2057400" indent="0">
              <a:buNone/>
              <a:defRPr/>
            </a:lvl4pPr>
            <a:lvl5pPr marL="2743200" indent="0">
              <a:buNone/>
              <a:defRPr/>
            </a:lvl5pPr>
          </a:lstStyle>
          <a:p>
            <a:pPr lvl="0"/>
            <a:r>
              <a:rPr lang="en-US"/>
              <a:t>Click to Add Subtitle</a:t>
            </a:r>
          </a:p>
        </p:txBody>
      </p:sp>
      <p:sp>
        <p:nvSpPr>
          <p:cNvPr id="3" name="Title 2">
            <a:extLst>
              <a:ext uri="{FF2B5EF4-FFF2-40B4-BE49-F238E27FC236}">
                <a16:creationId xmlns:a16="http://schemas.microsoft.com/office/drawing/2014/main" id="{E84AF2B1-1A71-31A3-C679-D3E1148BD910}"/>
              </a:ext>
            </a:extLst>
          </p:cNvPr>
          <p:cNvSpPr>
            <a:spLocks noGrp="1"/>
          </p:cNvSpPr>
          <p:nvPr>
            <p:ph type="title" hasCustomPrompt="1"/>
          </p:nvPr>
        </p:nvSpPr>
        <p:spPr>
          <a:xfrm>
            <a:off x="1252432" y="4153616"/>
            <a:ext cx="5001768" cy="1551194"/>
          </a:xfrm>
        </p:spPr>
        <p:txBody>
          <a:bodyPr vert="horz" wrap="square" lIns="0" tIns="0" rIns="0" bIns="0" rtlCol="0" anchor="b" anchorCtr="0">
            <a:spAutoFit/>
          </a:bodyPr>
          <a:lstStyle>
            <a:lvl1pPr>
              <a:defRPr lang="en-US"/>
            </a:lvl1pPr>
          </a:lstStyle>
          <a:p>
            <a:pPr marL="0" lvl="0">
              <a:lnSpc>
                <a:spcPct val="90000"/>
              </a:lnSpc>
              <a:spcBef>
                <a:spcPct val="0"/>
              </a:spcBef>
              <a:buNone/>
            </a:pPr>
            <a:r>
              <a:rPr lang="en-US"/>
              <a:t>Click to Add Slide Title</a:t>
            </a:r>
          </a:p>
        </p:txBody>
      </p:sp>
    </p:spTree>
    <p:custDataLst>
      <p:tags r:id="rId1"/>
    </p:custDataLst>
    <p:extLst>
      <p:ext uri="{BB962C8B-B14F-4D97-AF65-F5344CB8AC3E}">
        <p14:creationId xmlns:p14="http://schemas.microsoft.com/office/powerpoint/2010/main" val="38121799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SAS - Closing">
    <p:bg>
      <p:bgPr>
        <a:solidFill>
          <a:schemeClr val="bg2"/>
        </a:solidFill>
        <a:effectLst/>
      </p:bgPr>
    </p:bg>
    <p:spTree>
      <p:nvGrpSpPr>
        <p:cNvPr id="1" name=""/>
        <p:cNvGrpSpPr/>
        <p:nvPr/>
      </p:nvGrpSpPr>
      <p:grpSpPr>
        <a:xfrm>
          <a:off x="0" y="0"/>
          <a:ext cx="0" cy="0"/>
          <a:chOff x="0" y="0"/>
          <a:chExt cx="0" cy="0"/>
        </a:xfrm>
      </p:grpSpPr>
      <p:sp>
        <p:nvSpPr>
          <p:cNvPr id="7" name="Title Placeholder 1">
            <a:extLst>
              <a:ext uri="{FF2B5EF4-FFF2-40B4-BE49-F238E27FC236}">
                <a16:creationId xmlns:a16="http://schemas.microsoft.com/office/drawing/2014/main" id="{0B679E91-B2F1-7013-ED34-D7763B653081}"/>
              </a:ext>
            </a:extLst>
          </p:cNvPr>
          <p:cNvSpPr>
            <a:spLocks noGrp="1"/>
          </p:cNvSpPr>
          <p:nvPr>
            <p:ph type="title" hasCustomPrompt="1"/>
          </p:nvPr>
        </p:nvSpPr>
        <p:spPr>
          <a:xfrm>
            <a:off x="1252433" y="4497171"/>
            <a:ext cx="13063134" cy="1292662"/>
          </a:xfrm>
          <a:prstGeom prst="rect">
            <a:avLst/>
          </a:prstGeom>
        </p:spPr>
        <p:txBody>
          <a:bodyPr vert="horz" wrap="square" lIns="0" tIns="0" rIns="0" bIns="182880" rtlCol="0" anchor="ctr" anchorCtr="0">
            <a:spAutoFit/>
          </a:bodyPr>
          <a:lstStyle>
            <a:lvl1pPr>
              <a:lnSpc>
                <a:spcPct val="100000"/>
              </a:lnSpc>
              <a:spcBef>
                <a:spcPts val="600"/>
              </a:spcBef>
              <a:defRPr sz="7200">
                <a:solidFill>
                  <a:schemeClr val="bg1"/>
                </a:solidFill>
              </a:defRPr>
            </a:lvl1pPr>
          </a:lstStyle>
          <a:p>
            <a:r>
              <a:rPr lang="en-US"/>
              <a:t>Click to Add Slideshow Closing</a:t>
            </a:r>
          </a:p>
        </p:txBody>
      </p:sp>
      <p:pic>
        <p:nvPicPr>
          <p:cNvPr id="9" name="Picture 8">
            <a:extLst>
              <a:ext uri="{FF2B5EF4-FFF2-40B4-BE49-F238E27FC236}">
                <a16:creationId xmlns:a16="http://schemas.microsoft.com/office/drawing/2014/main" id="{F6D7352C-47D5-1179-1891-95A57F7DA1B0}"/>
              </a:ext>
            </a:extLst>
          </p:cNvPr>
          <p:cNvPicPr>
            <a:picLocks noChangeAspect="1"/>
          </p:cNvPicPr>
          <p:nvPr userDrawn="1"/>
        </p:nvPicPr>
        <p:blipFill>
          <a:blip r:embed="rId3"/>
          <a:stretch>
            <a:fillRect/>
          </a:stretch>
        </p:blipFill>
        <p:spPr>
          <a:xfrm>
            <a:off x="14463799" y="8276976"/>
            <a:ext cx="2566902" cy="1057524"/>
          </a:xfrm>
          <a:prstGeom prst="rect">
            <a:avLst/>
          </a:prstGeom>
        </p:spPr>
      </p:pic>
      <p:sp>
        <p:nvSpPr>
          <p:cNvPr id="2" name="Text Placeholder 15">
            <a:extLst>
              <a:ext uri="{FF2B5EF4-FFF2-40B4-BE49-F238E27FC236}">
                <a16:creationId xmlns:a16="http://schemas.microsoft.com/office/drawing/2014/main" id="{514B8423-CFFD-1921-7480-8BEC78F05FFD}"/>
              </a:ext>
            </a:extLst>
          </p:cNvPr>
          <p:cNvSpPr>
            <a:spLocks noGrp="1"/>
          </p:cNvSpPr>
          <p:nvPr>
            <p:ph type="body" sz="quarter" idx="11" hasCustomPrompt="1"/>
          </p:nvPr>
        </p:nvSpPr>
        <p:spPr>
          <a:xfrm>
            <a:off x="1252433" y="8276979"/>
            <a:ext cx="12123722" cy="1057522"/>
          </a:xfrm>
        </p:spPr>
        <p:txBody>
          <a:bodyPr wrap="square" anchor="ctr" anchorCtr="0">
            <a:noAutofit/>
          </a:bodyPr>
          <a:lstStyle>
            <a:lvl1pPr marL="0" indent="0">
              <a:lnSpc>
                <a:spcPct val="100000"/>
              </a:lnSpc>
              <a:spcBef>
                <a:spcPts val="600"/>
              </a:spcBef>
              <a:buNone/>
              <a:defRPr sz="2800">
                <a:solidFill>
                  <a:schemeClr val="accent3"/>
                </a:solidFill>
              </a:defRPr>
            </a:lvl1pPr>
            <a:lvl2pPr marL="365760" indent="0">
              <a:buNone/>
              <a:defRPr sz="2200">
                <a:solidFill>
                  <a:schemeClr val="accent3"/>
                </a:solidFill>
              </a:defRPr>
            </a:lvl2pPr>
            <a:lvl3pPr marL="731520" indent="0">
              <a:buNone/>
              <a:defRPr sz="2100">
                <a:solidFill>
                  <a:schemeClr val="accent3"/>
                </a:solidFill>
              </a:defRPr>
            </a:lvl3pPr>
            <a:lvl4pPr marL="2057400" indent="0">
              <a:buNone/>
              <a:defRPr sz="2000">
                <a:solidFill>
                  <a:schemeClr val="accent3"/>
                </a:solidFill>
              </a:defRPr>
            </a:lvl4pPr>
            <a:lvl5pPr marL="2743200" indent="0">
              <a:buNone/>
              <a:defRPr sz="2000">
                <a:solidFill>
                  <a:schemeClr val="accent3"/>
                </a:solidFill>
              </a:defRPr>
            </a:lvl5pPr>
          </a:lstStyle>
          <a:p>
            <a:pPr lvl="0"/>
            <a:r>
              <a:rPr lang="en-US"/>
              <a:t>Click to add a website or email</a:t>
            </a:r>
          </a:p>
        </p:txBody>
      </p:sp>
      <p:sp>
        <p:nvSpPr>
          <p:cNvPr id="3" name="TextBox 4">
            <a:extLst>
              <a:ext uri="{FF2B5EF4-FFF2-40B4-BE49-F238E27FC236}">
                <a16:creationId xmlns:a16="http://schemas.microsoft.com/office/drawing/2014/main" id="{50615BBA-3709-50D7-A61C-9CF9B79E7B6F}"/>
              </a:ext>
            </a:extLst>
          </p:cNvPr>
          <p:cNvSpPr txBox="1"/>
          <p:nvPr userDrawn="1"/>
        </p:nvSpPr>
        <p:spPr>
          <a:xfrm>
            <a:off x="1252432" y="9855355"/>
            <a:ext cx="5029200" cy="246221"/>
          </a:xfrm>
          <a:prstGeom prst="rect">
            <a:avLst/>
          </a:prstGeom>
          <a:noFill/>
        </p:spPr>
        <p:txBody>
          <a:bodyPr wrap="square" lIns="0" anchor="b" anchorCtr="0">
            <a:spAutoFit/>
          </a:bodyPr>
          <a:lstStyle/>
          <a:p>
            <a:pPr marL="0" marR="0" lvl="0" indent="0" algn="l" defTabSz="548626" rtl="0" eaLnBrk="0" fontAlgn="auto" latinLnBrk="0" hangingPunct="0">
              <a:lnSpc>
                <a:spcPct val="100000"/>
              </a:lnSpc>
              <a:spcBef>
                <a:spcPts val="0"/>
              </a:spcBef>
              <a:spcAft>
                <a:spcPts val="0"/>
              </a:spcAft>
              <a:buClrTx/>
              <a:buSzTx/>
              <a:buFontTx/>
              <a:buNone/>
              <a:tabLst/>
              <a:defRPr/>
            </a:pPr>
            <a:r>
              <a:rPr kumimoji="0" lang="en-US" sz="1000" b="0" i="0" u="none" strike="noStrike" kern="300" cap="none" spc="100" normalizeH="0" baseline="0" noProof="0">
                <a:ln>
                  <a:noFill/>
                </a:ln>
                <a:solidFill>
                  <a:schemeClr val="accent3"/>
                </a:solidFill>
                <a:effectLst/>
                <a:uLnTx/>
                <a:uFillTx/>
                <a:latin typeface="Anova Light" panose="020B0403020203020204" pitchFamily="34" charset="0"/>
                <a:ea typeface="Anova Bold" panose="020B0703020203020204" pitchFamily="34" charset="0"/>
                <a:cs typeface="Anova Light" panose="020B0403020203020204" pitchFamily="34" charset="0"/>
              </a:rPr>
              <a:t>Copyright © SAS Institute Inc. All rights reserved.</a:t>
            </a:r>
          </a:p>
        </p:txBody>
      </p:sp>
    </p:spTree>
    <p:custDataLst>
      <p:tags r:id="rId1"/>
    </p:custDataLst>
    <p:extLst>
      <p:ext uri="{BB962C8B-B14F-4D97-AF65-F5344CB8AC3E}">
        <p14:creationId xmlns:p14="http://schemas.microsoft.com/office/powerpoint/2010/main" val="33026811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SAS - Blank - White">
    <p:spTree>
      <p:nvGrpSpPr>
        <p:cNvPr id="1" name=""/>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24842788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SAS - Video Only">
    <p:bg>
      <p:bgPr>
        <a:solidFill>
          <a:schemeClr val="tx1"/>
        </a:solidFill>
        <a:effectLst/>
      </p:bgPr>
    </p:bg>
    <p:spTree>
      <p:nvGrpSpPr>
        <p:cNvPr id="1" name=""/>
        <p:cNvGrpSpPr/>
        <p:nvPr/>
      </p:nvGrpSpPr>
      <p:grpSpPr>
        <a:xfrm>
          <a:off x="0" y="0"/>
          <a:ext cx="0" cy="0"/>
          <a:chOff x="0" y="0"/>
          <a:chExt cx="0" cy="0"/>
        </a:xfrm>
      </p:grpSpPr>
      <p:sp>
        <p:nvSpPr>
          <p:cNvPr id="3" name="TextBox 4">
            <a:extLst>
              <a:ext uri="{FF2B5EF4-FFF2-40B4-BE49-F238E27FC236}">
                <a16:creationId xmlns:a16="http://schemas.microsoft.com/office/drawing/2014/main" id="{D68E8285-3BE2-9990-FA54-E6AF741CC812}"/>
              </a:ext>
            </a:extLst>
          </p:cNvPr>
          <p:cNvSpPr txBox="1"/>
          <p:nvPr userDrawn="1"/>
        </p:nvSpPr>
        <p:spPr>
          <a:xfrm>
            <a:off x="1252432" y="9855355"/>
            <a:ext cx="5029200" cy="246221"/>
          </a:xfrm>
          <a:prstGeom prst="rect">
            <a:avLst/>
          </a:prstGeom>
          <a:noFill/>
        </p:spPr>
        <p:txBody>
          <a:bodyPr wrap="square" lIns="0" anchor="b" anchorCtr="0">
            <a:spAutoFit/>
          </a:bodyPr>
          <a:lstStyle/>
          <a:p>
            <a:pPr marL="0" marR="0" lvl="0" indent="0" algn="l" defTabSz="548626" rtl="0" eaLnBrk="0" fontAlgn="auto" latinLnBrk="0" hangingPunct="0">
              <a:lnSpc>
                <a:spcPct val="100000"/>
              </a:lnSpc>
              <a:spcBef>
                <a:spcPts val="0"/>
              </a:spcBef>
              <a:spcAft>
                <a:spcPts val="0"/>
              </a:spcAft>
              <a:buClrTx/>
              <a:buSzTx/>
              <a:buFontTx/>
              <a:buNone/>
              <a:tabLst/>
              <a:defRPr/>
            </a:pPr>
            <a:r>
              <a:rPr kumimoji="0" lang="en-US" sz="1000" b="0" i="0" u="none" strike="noStrike" kern="300" cap="none" spc="100" normalizeH="0" baseline="0" noProof="0">
                <a:ln>
                  <a:noFill/>
                </a:ln>
                <a:solidFill>
                  <a:schemeClr val="accent5"/>
                </a:solidFill>
                <a:effectLst/>
                <a:uLnTx/>
                <a:uFillTx/>
                <a:latin typeface="Anova Light" panose="020B0403020203020204" pitchFamily="34" charset="0"/>
                <a:ea typeface="Anova Bold" panose="020B0703020203020204" pitchFamily="34" charset="0"/>
                <a:cs typeface="Anova Light" panose="020B0403020203020204" pitchFamily="34" charset="0"/>
              </a:rPr>
              <a:t>Copyright © SAS Institute Inc. All rights reserved.</a:t>
            </a:r>
          </a:p>
        </p:txBody>
      </p:sp>
      <p:pic>
        <p:nvPicPr>
          <p:cNvPr id="2" name="Picture 6">
            <a:extLst>
              <a:ext uri="{FF2B5EF4-FFF2-40B4-BE49-F238E27FC236}">
                <a16:creationId xmlns:a16="http://schemas.microsoft.com/office/drawing/2014/main" id="{9DCBE7B6-1449-C2E2-1508-3F2B78AA27F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6826158" y="9516545"/>
            <a:ext cx="1112812" cy="461922"/>
          </a:xfrm>
          <a:prstGeom prst="rect">
            <a:avLst/>
          </a:prstGeom>
        </p:spPr>
      </p:pic>
    </p:spTree>
    <p:custDataLst>
      <p:tags r:id="rId1"/>
    </p:custDataLst>
    <p:extLst>
      <p:ext uri="{BB962C8B-B14F-4D97-AF65-F5344CB8AC3E}">
        <p14:creationId xmlns:p14="http://schemas.microsoft.com/office/powerpoint/2010/main" val="42166214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DEFAULT" type="tx">
  <p:cSld name="DEFAULT">
    <p:spTree>
      <p:nvGrpSpPr>
        <p:cNvPr id="1" name="Shape 9"/>
        <p:cNvGrpSpPr/>
        <p:nvPr/>
      </p:nvGrpSpPr>
      <p:grpSpPr>
        <a:xfrm>
          <a:off x="0" y="0"/>
          <a:ext cx="0" cy="0"/>
          <a:chOff x="0" y="0"/>
          <a:chExt cx="0" cy="0"/>
        </a:xfrm>
      </p:grpSpPr>
      <p:sp>
        <p:nvSpPr>
          <p:cNvPr id="10" name="Google Shape;10;p20"/>
          <p:cNvSpPr txBox="1">
            <a:spLocks noGrp="1"/>
          </p:cNvSpPr>
          <p:nvPr>
            <p:ph type="sldNum" idx="12"/>
          </p:nvPr>
        </p:nvSpPr>
        <p:spPr>
          <a:xfrm>
            <a:off x="8839200" y="9303714"/>
            <a:ext cx="4267200" cy="461624"/>
          </a:xfrm>
          <a:prstGeom prst="rect">
            <a:avLst/>
          </a:prstGeom>
          <a:noFill/>
          <a:ln>
            <a:noFill/>
          </a:ln>
        </p:spPr>
        <p:txBody>
          <a:bodyPr spcFirstLastPara="1" wrap="square" lIns="45700" tIns="45700" rIns="45700" bIns="45700" anchor="ctr" anchorCtr="0">
            <a:spAutoFit/>
          </a:bodyPr>
          <a:lstStyle>
            <a:lvl1pPr marL="0" lvl="0" indent="0" algn="r">
              <a:lnSpc>
                <a:spcPct val="100000"/>
              </a:lnSpc>
              <a:spcBef>
                <a:spcPts val="0"/>
              </a:spcBef>
              <a:spcAft>
                <a:spcPts val="0"/>
              </a:spcAft>
              <a:buClr>
                <a:srgbClr val="000000"/>
              </a:buClr>
              <a:buSzPts val="1200"/>
              <a:buFont typeface="Calibri"/>
              <a:buNone/>
              <a:defRPr sz="2400"/>
            </a:lvl1pPr>
            <a:lvl2pPr marL="0" lvl="1" indent="0" algn="r">
              <a:lnSpc>
                <a:spcPct val="100000"/>
              </a:lnSpc>
              <a:spcBef>
                <a:spcPts val="0"/>
              </a:spcBef>
              <a:spcAft>
                <a:spcPts val="0"/>
              </a:spcAft>
              <a:buClr>
                <a:srgbClr val="000000"/>
              </a:buClr>
              <a:buSzPts val="1200"/>
              <a:buFont typeface="Calibri"/>
              <a:buNone/>
              <a:defRPr sz="2400"/>
            </a:lvl2pPr>
            <a:lvl3pPr marL="0" lvl="2" indent="0" algn="r">
              <a:lnSpc>
                <a:spcPct val="100000"/>
              </a:lnSpc>
              <a:spcBef>
                <a:spcPts val="0"/>
              </a:spcBef>
              <a:spcAft>
                <a:spcPts val="0"/>
              </a:spcAft>
              <a:buClr>
                <a:srgbClr val="000000"/>
              </a:buClr>
              <a:buSzPts val="1200"/>
              <a:buFont typeface="Calibri"/>
              <a:buNone/>
              <a:defRPr sz="2400"/>
            </a:lvl3pPr>
            <a:lvl4pPr marL="0" lvl="3" indent="0" algn="r">
              <a:lnSpc>
                <a:spcPct val="100000"/>
              </a:lnSpc>
              <a:spcBef>
                <a:spcPts val="0"/>
              </a:spcBef>
              <a:spcAft>
                <a:spcPts val="0"/>
              </a:spcAft>
              <a:buClr>
                <a:srgbClr val="000000"/>
              </a:buClr>
              <a:buSzPts val="1200"/>
              <a:buFont typeface="Calibri"/>
              <a:buNone/>
              <a:defRPr sz="2400"/>
            </a:lvl4pPr>
            <a:lvl5pPr marL="0" lvl="4" indent="0" algn="r">
              <a:lnSpc>
                <a:spcPct val="100000"/>
              </a:lnSpc>
              <a:spcBef>
                <a:spcPts val="0"/>
              </a:spcBef>
              <a:spcAft>
                <a:spcPts val="0"/>
              </a:spcAft>
              <a:buClr>
                <a:srgbClr val="000000"/>
              </a:buClr>
              <a:buSzPts val="1200"/>
              <a:buFont typeface="Calibri"/>
              <a:buNone/>
              <a:defRPr sz="2400"/>
            </a:lvl5pPr>
            <a:lvl6pPr marL="0" lvl="5" indent="0" algn="r">
              <a:lnSpc>
                <a:spcPct val="100000"/>
              </a:lnSpc>
              <a:spcBef>
                <a:spcPts val="0"/>
              </a:spcBef>
              <a:spcAft>
                <a:spcPts val="0"/>
              </a:spcAft>
              <a:buClr>
                <a:srgbClr val="000000"/>
              </a:buClr>
              <a:buSzPts val="1200"/>
              <a:buFont typeface="Calibri"/>
              <a:buNone/>
              <a:defRPr sz="2400"/>
            </a:lvl6pPr>
            <a:lvl7pPr marL="0" lvl="6" indent="0" algn="r">
              <a:lnSpc>
                <a:spcPct val="100000"/>
              </a:lnSpc>
              <a:spcBef>
                <a:spcPts val="0"/>
              </a:spcBef>
              <a:spcAft>
                <a:spcPts val="0"/>
              </a:spcAft>
              <a:buClr>
                <a:srgbClr val="000000"/>
              </a:buClr>
              <a:buSzPts val="1200"/>
              <a:buFont typeface="Calibri"/>
              <a:buNone/>
              <a:defRPr sz="2400"/>
            </a:lvl7pPr>
            <a:lvl8pPr marL="0" lvl="7" indent="0" algn="r">
              <a:lnSpc>
                <a:spcPct val="100000"/>
              </a:lnSpc>
              <a:spcBef>
                <a:spcPts val="0"/>
              </a:spcBef>
              <a:spcAft>
                <a:spcPts val="0"/>
              </a:spcAft>
              <a:buClr>
                <a:srgbClr val="000000"/>
              </a:buClr>
              <a:buSzPts val="1200"/>
              <a:buFont typeface="Calibri"/>
              <a:buNone/>
              <a:defRPr sz="2400"/>
            </a:lvl8pPr>
            <a:lvl9pPr marL="0" lvl="8" indent="0" algn="r">
              <a:lnSpc>
                <a:spcPct val="100000"/>
              </a:lnSpc>
              <a:spcBef>
                <a:spcPts val="0"/>
              </a:spcBef>
              <a:spcAft>
                <a:spcPts val="0"/>
              </a:spcAft>
              <a:buClr>
                <a:srgbClr val="000000"/>
              </a:buClr>
              <a:buSzPts val="1200"/>
              <a:buFont typeface="Calibri"/>
              <a:buNone/>
              <a:defRPr sz="2400"/>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262634151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6329021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2_SAS - Title &amp; Subtitle - ">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lvl1pPr algn="ctr">
              <a:defRPr b="0" i="0">
                <a:latin typeface="Calibri Light" panose="020F0302020204030204" pitchFamily="34" charset="0"/>
                <a:cs typeface="Calibri Light" panose="020F0302020204030204" pitchFamily="34" charset="0"/>
              </a:defRPr>
            </a:lvl1pPr>
          </a:lstStyle>
          <a:p>
            <a:r>
              <a:rPr lang="en-US"/>
              <a:t>Click to edit Master title style</a:t>
            </a:r>
          </a:p>
        </p:txBody>
      </p:sp>
      <p:sp>
        <p:nvSpPr>
          <p:cNvPr id="5" name="Text Placeholder 4">
            <a:extLst>
              <a:ext uri="{FF2B5EF4-FFF2-40B4-BE49-F238E27FC236}">
                <a16:creationId xmlns:a16="http://schemas.microsoft.com/office/drawing/2014/main" id="{0040EF35-062A-4CF7-B99A-D6EF688F370B}"/>
              </a:ext>
            </a:extLst>
          </p:cNvPr>
          <p:cNvSpPr>
            <a:spLocks noGrp="1"/>
          </p:cNvSpPr>
          <p:nvPr>
            <p:ph type="body" sz="quarter" idx="10"/>
          </p:nvPr>
        </p:nvSpPr>
        <p:spPr>
          <a:xfrm>
            <a:off x="1257300" y="1463676"/>
            <a:ext cx="15773400" cy="566292"/>
          </a:xfrm>
        </p:spPr>
        <p:txBody>
          <a:bodyPr anchor="t">
            <a:normAutofit/>
          </a:bodyPr>
          <a:lstStyle>
            <a:lvl1pPr marL="0" indent="0" algn="ctr">
              <a:buNone/>
              <a:defRPr sz="2801">
                <a:solidFill>
                  <a:srgbClr val="1FA09A"/>
                </a:solidFill>
              </a:defRPr>
            </a:lvl1pPr>
            <a:lvl2pPr marL="365771" indent="0">
              <a:buNone/>
              <a:defRPr/>
            </a:lvl2pPr>
            <a:lvl3pPr marL="731538" indent="0">
              <a:buNone/>
              <a:defRPr/>
            </a:lvl3pPr>
            <a:lvl4pPr marL="2057453" indent="0">
              <a:buNone/>
              <a:defRPr/>
            </a:lvl4pPr>
            <a:lvl5pPr marL="2743269" indent="0">
              <a:buNone/>
              <a:defRPr/>
            </a:lvl5pPr>
          </a:lstStyle>
          <a:p>
            <a:pPr lvl="0"/>
            <a:r>
              <a:rPr lang="en-US"/>
              <a:t>Click to edit Master text styles</a:t>
            </a:r>
          </a:p>
        </p:txBody>
      </p:sp>
      <p:sp>
        <p:nvSpPr>
          <p:cNvPr id="4" name="Rectangle 3">
            <a:extLst>
              <a:ext uri="{FF2B5EF4-FFF2-40B4-BE49-F238E27FC236}">
                <a16:creationId xmlns:a16="http://schemas.microsoft.com/office/drawing/2014/main" id="{27C4BDB3-258F-8347-9741-6F21E0DD52AA}"/>
              </a:ext>
            </a:extLst>
          </p:cNvPr>
          <p:cNvSpPr/>
          <p:nvPr userDrawn="1"/>
        </p:nvSpPr>
        <p:spPr>
          <a:xfrm>
            <a:off x="0" y="2220686"/>
            <a:ext cx="18288000" cy="67856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EG" sz="4800"/>
          </a:p>
        </p:txBody>
      </p:sp>
    </p:spTree>
    <p:custDataLst>
      <p:tags r:id="rId1"/>
    </p:custDataLst>
    <p:extLst>
      <p:ext uri="{BB962C8B-B14F-4D97-AF65-F5344CB8AC3E}">
        <p14:creationId xmlns:p14="http://schemas.microsoft.com/office/powerpoint/2010/main" val="30110258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tags" Target="../tags/tag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7" name="TextBox 4">
            <a:extLst>
              <a:ext uri="{FF2B5EF4-FFF2-40B4-BE49-F238E27FC236}">
                <a16:creationId xmlns:a16="http://schemas.microsoft.com/office/drawing/2014/main" id="{1E37FEA7-CA51-4399-92F6-AB705B7FF650}"/>
              </a:ext>
            </a:extLst>
          </p:cNvPr>
          <p:cNvSpPr txBox="1"/>
          <p:nvPr userDrawn="1"/>
        </p:nvSpPr>
        <p:spPr>
          <a:xfrm>
            <a:off x="1252432" y="9855355"/>
            <a:ext cx="5029200" cy="246221"/>
          </a:xfrm>
          <a:prstGeom prst="rect">
            <a:avLst/>
          </a:prstGeom>
          <a:noFill/>
        </p:spPr>
        <p:txBody>
          <a:bodyPr wrap="square" lIns="0" anchor="b" anchorCtr="0">
            <a:spAutoFit/>
          </a:bodyPr>
          <a:lstStyle/>
          <a:p>
            <a:pPr marL="0" marR="0" lvl="0" indent="0" algn="l" defTabSz="548626" rtl="0" eaLnBrk="0" fontAlgn="auto" latinLnBrk="0" hangingPunct="0">
              <a:lnSpc>
                <a:spcPct val="100000"/>
              </a:lnSpc>
              <a:spcBef>
                <a:spcPts val="0"/>
              </a:spcBef>
              <a:spcAft>
                <a:spcPts val="0"/>
              </a:spcAft>
              <a:buClrTx/>
              <a:buSzTx/>
              <a:buFontTx/>
              <a:buNone/>
              <a:tabLst/>
              <a:defRPr/>
            </a:pPr>
            <a:r>
              <a:rPr kumimoji="0" lang="en-US" sz="1000" b="0" i="0" u="none" strike="noStrike" kern="300" cap="none" spc="100" normalizeH="0" baseline="0" noProof="0">
                <a:ln>
                  <a:noFill/>
                </a:ln>
                <a:solidFill>
                  <a:schemeClr val="accent5"/>
                </a:solidFill>
                <a:effectLst/>
                <a:uLnTx/>
                <a:uFillTx/>
                <a:latin typeface="Anova Light" panose="020B0403020203020204" pitchFamily="34" charset="0"/>
                <a:ea typeface="Anova Bold" panose="020B0703020203020204" pitchFamily="34" charset="0"/>
                <a:cs typeface="Anova Light" panose="020B0403020203020204" pitchFamily="34" charset="0"/>
              </a:rPr>
              <a:t>Copyright © SAS Institute Inc. All rights reserved.</a:t>
            </a:r>
          </a:p>
        </p:txBody>
      </p:sp>
      <p:sp>
        <p:nvSpPr>
          <p:cNvPr id="3" name="Text Placeholder 2"/>
          <p:cNvSpPr>
            <a:spLocks noGrp="1"/>
          </p:cNvSpPr>
          <p:nvPr>
            <p:ph type="body" idx="1"/>
          </p:nvPr>
        </p:nvSpPr>
        <p:spPr>
          <a:xfrm>
            <a:off x="1252432" y="2400301"/>
            <a:ext cx="15773400" cy="6865146"/>
          </a:xfrm>
          <a:prstGeom prst="rect">
            <a:avLst/>
          </a:prstGeom>
        </p:spPr>
        <p:txBody>
          <a:bodyPr vert="horz" lIns="0" tIns="0" rIns="0" bIns="0" rtlCol="0">
            <a:normAutofit/>
          </a:bodyPr>
          <a:lstStyle/>
          <a:p>
            <a:pPr lvl="0"/>
            <a:r>
              <a:rPr lang="en-US"/>
              <a:t>Click to Edit Text</a:t>
            </a:r>
          </a:p>
          <a:p>
            <a:pPr lvl="1"/>
            <a:r>
              <a:rPr lang="en-US"/>
              <a:t>Second level</a:t>
            </a:r>
          </a:p>
          <a:p>
            <a:pPr lvl="2"/>
            <a:r>
              <a:rPr lang="en-US"/>
              <a:t>Third level</a:t>
            </a:r>
          </a:p>
        </p:txBody>
      </p:sp>
      <p:sp>
        <p:nvSpPr>
          <p:cNvPr id="2" name="Title Placeholder 1"/>
          <p:cNvSpPr>
            <a:spLocks noGrp="1"/>
          </p:cNvSpPr>
          <p:nvPr>
            <p:ph type="title"/>
          </p:nvPr>
        </p:nvSpPr>
        <p:spPr>
          <a:xfrm>
            <a:off x="1252432" y="710304"/>
            <a:ext cx="15773400" cy="775596"/>
          </a:xfrm>
          <a:prstGeom prst="rect">
            <a:avLst/>
          </a:prstGeom>
        </p:spPr>
        <p:txBody>
          <a:bodyPr vert="horz" lIns="0" tIns="0" rIns="0" bIns="0" rtlCol="0" anchor="ctr">
            <a:normAutofit/>
          </a:bodyPr>
          <a:lstStyle/>
          <a:p>
            <a:r>
              <a:rPr lang="en-US"/>
              <a:t>Click to Add Slide Title</a:t>
            </a:r>
          </a:p>
        </p:txBody>
      </p:sp>
    </p:spTree>
    <p:custDataLst>
      <p:tags r:id="rId16"/>
    </p:custDataLst>
    <p:extLst>
      <p:ext uri="{BB962C8B-B14F-4D97-AF65-F5344CB8AC3E}">
        <p14:creationId xmlns:p14="http://schemas.microsoft.com/office/powerpoint/2010/main" val="519966091"/>
      </p:ext>
    </p:extLst>
  </p:cSld>
  <p:clrMap bg1="lt1" tx1="dk1" bg2="lt2" tx2="dk2" accent1="accent1" accent2="accent2" accent3="accent3" accent4="accent4" accent5="accent5" accent6="accent6" hlink="hlink" folHlink="folHlink"/>
  <p:sldLayoutIdLst>
    <p:sldLayoutId id="2147483836" r:id="rId1"/>
    <p:sldLayoutId id="2147483838" r:id="rId2"/>
    <p:sldLayoutId id="2147483821" r:id="rId3"/>
    <p:sldLayoutId id="2147483820" r:id="rId4"/>
    <p:sldLayoutId id="2147483819" r:id="rId5"/>
    <p:sldLayoutId id="2147483822" r:id="rId6"/>
    <p:sldLayoutId id="2147483824" r:id="rId7"/>
    <p:sldLayoutId id="2147483832" r:id="rId8"/>
    <p:sldLayoutId id="2147483837" r:id="rId9"/>
    <p:sldLayoutId id="2147483828" r:id="rId10"/>
    <p:sldLayoutId id="2147483829" r:id="rId11"/>
    <p:sldLayoutId id="2147483943" r:id="rId12"/>
    <p:sldLayoutId id="2147483944" r:id="rId13"/>
    <p:sldLayoutId id="2147483945" r:id="rId14"/>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1371600" rtl="0" eaLnBrk="1" latinLnBrk="0" hangingPunct="1">
        <a:lnSpc>
          <a:spcPct val="90000"/>
        </a:lnSpc>
        <a:spcBef>
          <a:spcPct val="0"/>
        </a:spcBef>
        <a:buNone/>
        <a:defRPr sz="5600" b="1" i="0" kern="1200">
          <a:solidFill>
            <a:schemeClr val="accent5"/>
          </a:solidFill>
          <a:latin typeface="Anova Bold" panose="020B0503020203020204" pitchFamily="34" charset="0"/>
          <a:ea typeface="+mj-ea"/>
          <a:cs typeface="+mj-cs"/>
        </a:defRPr>
      </a:lvl1pPr>
    </p:titleStyle>
    <p:bodyStyle>
      <a:lvl1pPr marL="365760" indent="-365760" algn="l" defTabSz="1371600" rtl="0" eaLnBrk="1" latinLnBrk="0" hangingPunct="1">
        <a:lnSpc>
          <a:spcPct val="85000"/>
        </a:lnSpc>
        <a:spcBef>
          <a:spcPts val="1600"/>
        </a:spcBef>
        <a:buClr>
          <a:schemeClr val="accent5"/>
        </a:buClr>
        <a:buFont typeface="Anova Light" panose="020B0403020203020204" pitchFamily="34" charset="0"/>
        <a:buChar char="•"/>
        <a:defRPr sz="3600" b="0" i="0" kern="1200">
          <a:solidFill>
            <a:schemeClr val="tx1"/>
          </a:solidFill>
          <a:latin typeface="+mn-lt"/>
          <a:ea typeface="+mn-ea"/>
          <a:cs typeface="+mn-cs"/>
        </a:defRPr>
      </a:lvl1pPr>
      <a:lvl2pPr marL="731520" indent="-365760" algn="l" defTabSz="1371600" rtl="0" eaLnBrk="1" latinLnBrk="0" hangingPunct="1">
        <a:lnSpc>
          <a:spcPct val="85000"/>
        </a:lnSpc>
        <a:spcBef>
          <a:spcPts val="1600"/>
        </a:spcBef>
        <a:buClr>
          <a:schemeClr val="accent5"/>
        </a:buClr>
        <a:buFont typeface="Anova Light" panose="020B0403020203020204" pitchFamily="34" charset="0"/>
        <a:buChar char="–"/>
        <a:defRPr sz="2800" b="0" i="0" kern="1200">
          <a:solidFill>
            <a:schemeClr val="tx1"/>
          </a:solidFill>
          <a:latin typeface="+mn-lt"/>
          <a:ea typeface="+mn-ea"/>
          <a:cs typeface="+mn-cs"/>
        </a:defRPr>
      </a:lvl2pPr>
      <a:lvl3pPr marL="1097280" indent="-365760" algn="l" defTabSz="1371600" rtl="0" eaLnBrk="1" latinLnBrk="0" hangingPunct="1">
        <a:lnSpc>
          <a:spcPct val="85000"/>
        </a:lnSpc>
        <a:spcBef>
          <a:spcPts val="1600"/>
        </a:spcBef>
        <a:buClr>
          <a:schemeClr val="accent5"/>
        </a:buClr>
        <a:buFont typeface="Anova Light" panose="020B0403020203020204" pitchFamily="34" charset="0"/>
        <a:buChar char="•"/>
        <a:defRPr sz="2400" b="0" i="0" kern="1200">
          <a:solidFill>
            <a:schemeClr val="tx1"/>
          </a:solidFill>
          <a:latin typeface="+mn-lt"/>
          <a:ea typeface="+mn-ea"/>
          <a:cs typeface="+mn-cs"/>
        </a:defRPr>
      </a:lvl3pPr>
      <a:lvl4pPr marL="2400300" indent="-342900" algn="l" defTabSz="1371600" rtl="0" eaLnBrk="1" latinLnBrk="0" hangingPunct="1">
        <a:lnSpc>
          <a:spcPct val="90000"/>
        </a:lnSpc>
        <a:spcBef>
          <a:spcPts val="750"/>
        </a:spcBef>
        <a:buFont typeface="Anova Light" panose="020B0403020203020204" pitchFamily="34" charset="0"/>
        <a:buChar char="•"/>
        <a:defRPr sz="2700" kern="1200">
          <a:solidFill>
            <a:schemeClr val="bg2"/>
          </a:solidFill>
          <a:latin typeface="+mj-lt"/>
          <a:ea typeface="+mn-ea"/>
          <a:cs typeface="+mn-cs"/>
        </a:defRPr>
      </a:lvl4pPr>
      <a:lvl5pPr marL="3086100" indent="-342900" algn="l" defTabSz="1371600" rtl="0" eaLnBrk="1" latinLnBrk="0" hangingPunct="1">
        <a:lnSpc>
          <a:spcPct val="90000"/>
        </a:lnSpc>
        <a:spcBef>
          <a:spcPts val="750"/>
        </a:spcBef>
        <a:buFont typeface="Anova Light" panose="020B0403020203020204" pitchFamily="34" charset="0"/>
        <a:buChar char="•"/>
        <a:defRPr sz="2700" kern="1200">
          <a:solidFill>
            <a:schemeClr val="bg2"/>
          </a:solidFill>
          <a:latin typeface="+mj-lt"/>
          <a:ea typeface="+mn-ea"/>
          <a:cs typeface="+mn-cs"/>
        </a:defRPr>
      </a:lvl5pPr>
      <a:lvl6pPr marL="3771900" indent="-342900" algn="l" defTabSz="1371600" rtl="0" eaLnBrk="1" latinLnBrk="0" hangingPunct="1">
        <a:lnSpc>
          <a:spcPct val="90000"/>
        </a:lnSpc>
        <a:spcBef>
          <a:spcPts val="750"/>
        </a:spcBef>
        <a:buFont typeface="Anova Light" panose="020B0403020203020204" pitchFamily="34" charset="0"/>
        <a:buChar char="•"/>
        <a:defRPr sz="2700" kern="1200">
          <a:solidFill>
            <a:schemeClr val="tx1"/>
          </a:solidFill>
          <a:latin typeface="+mn-lt"/>
          <a:ea typeface="+mn-ea"/>
          <a:cs typeface="+mn-cs"/>
        </a:defRPr>
      </a:lvl6pPr>
      <a:lvl7pPr marL="4457700" indent="-342900" algn="l" defTabSz="1371600" rtl="0" eaLnBrk="1" latinLnBrk="0" hangingPunct="1">
        <a:lnSpc>
          <a:spcPct val="90000"/>
        </a:lnSpc>
        <a:spcBef>
          <a:spcPts val="750"/>
        </a:spcBef>
        <a:buFont typeface="Anova Light" panose="020B0403020203020204" pitchFamily="34" charset="0"/>
        <a:buChar char="•"/>
        <a:defRPr sz="2700" kern="1200">
          <a:solidFill>
            <a:schemeClr val="tx1"/>
          </a:solidFill>
          <a:latin typeface="+mn-lt"/>
          <a:ea typeface="+mn-ea"/>
          <a:cs typeface="+mn-cs"/>
        </a:defRPr>
      </a:lvl7pPr>
      <a:lvl8pPr marL="5143500" indent="-342900" algn="l" defTabSz="1371600" rtl="0" eaLnBrk="1" latinLnBrk="0" hangingPunct="1">
        <a:lnSpc>
          <a:spcPct val="90000"/>
        </a:lnSpc>
        <a:spcBef>
          <a:spcPts val="750"/>
        </a:spcBef>
        <a:buFont typeface="Anova Light" panose="020B0403020203020204" pitchFamily="34" charset="0"/>
        <a:buChar char="•"/>
        <a:defRPr sz="2700" kern="1200">
          <a:solidFill>
            <a:schemeClr val="tx1"/>
          </a:solidFill>
          <a:latin typeface="+mn-lt"/>
          <a:ea typeface="+mn-ea"/>
          <a:cs typeface="+mn-cs"/>
        </a:defRPr>
      </a:lvl8pPr>
      <a:lvl9pPr marL="5829300" indent="-342900" algn="l" defTabSz="1371600" rtl="0" eaLnBrk="1" latinLnBrk="0" hangingPunct="1">
        <a:lnSpc>
          <a:spcPct val="90000"/>
        </a:lnSpc>
        <a:spcBef>
          <a:spcPts val="750"/>
        </a:spcBef>
        <a:buFont typeface="Anova Light" panose="020B0403020203020204" pitchFamily="34" charset="0"/>
        <a:buChar char="•"/>
        <a:defRPr sz="2700" kern="1200">
          <a:solidFill>
            <a:schemeClr val="tx1"/>
          </a:solidFill>
          <a:latin typeface="+mn-lt"/>
          <a:ea typeface="+mn-ea"/>
          <a:cs typeface="+mn-cs"/>
        </a:defRPr>
      </a:lvl9pPr>
    </p:bodyStyle>
    <p:otherStyle>
      <a:defPPr>
        <a:defRPr lang="en-US"/>
      </a:defPPr>
      <a:lvl1pPr marL="0" algn="l" defTabSz="1371600" rtl="0" eaLnBrk="1" latinLnBrk="0" hangingPunct="1">
        <a:defRPr sz="2700" kern="1200">
          <a:solidFill>
            <a:schemeClr val="tx1"/>
          </a:solidFill>
          <a:latin typeface="+mn-lt"/>
          <a:ea typeface="+mn-ea"/>
          <a:cs typeface="+mn-cs"/>
        </a:defRPr>
      </a:lvl1pPr>
      <a:lvl2pPr marL="685800" algn="l" defTabSz="1371600" rtl="0" eaLnBrk="1" latinLnBrk="0" hangingPunct="1">
        <a:defRPr sz="2700" kern="1200">
          <a:solidFill>
            <a:schemeClr val="tx1"/>
          </a:solidFill>
          <a:latin typeface="+mn-lt"/>
          <a:ea typeface="+mn-ea"/>
          <a:cs typeface="+mn-cs"/>
        </a:defRPr>
      </a:lvl2pPr>
      <a:lvl3pPr marL="1371600" algn="l" defTabSz="1371600" rtl="0" eaLnBrk="1" latinLnBrk="0" hangingPunct="1">
        <a:defRPr sz="2700" kern="1200">
          <a:solidFill>
            <a:schemeClr val="tx1"/>
          </a:solidFill>
          <a:latin typeface="+mn-lt"/>
          <a:ea typeface="+mn-ea"/>
          <a:cs typeface="+mn-cs"/>
        </a:defRPr>
      </a:lvl3pPr>
      <a:lvl4pPr marL="2057400" algn="l" defTabSz="1371600" rtl="0" eaLnBrk="1" latinLnBrk="0" hangingPunct="1">
        <a:defRPr sz="2700" kern="1200">
          <a:solidFill>
            <a:schemeClr val="tx1"/>
          </a:solidFill>
          <a:latin typeface="+mn-lt"/>
          <a:ea typeface="+mn-ea"/>
          <a:cs typeface="+mn-cs"/>
        </a:defRPr>
      </a:lvl4pPr>
      <a:lvl5pPr marL="2743200" algn="l" defTabSz="1371600" rtl="0" eaLnBrk="1" latinLnBrk="0" hangingPunct="1">
        <a:defRPr sz="2700" kern="1200">
          <a:solidFill>
            <a:schemeClr val="tx1"/>
          </a:solidFill>
          <a:latin typeface="+mn-lt"/>
          <a:ea typeface="+mn-ea"/>
          <a:cs typeface="+mn-cs"/>
        </a:defRPr>
      </a:lvl5pPr>
      <a:lvl6pPr marL="3429000" algn="l" defTabSz="1371600" rtl="0" eaLnBrk="1" latinLnBrk="0" hangingPunct="1">
        <a:defRPr sz="2700" kern="1200">
          <a:solidFill>
            <a:schemeClr val="tx1"/>
          </a:solidFill>
          <a:latin typeface="+mn-lt"/>
          <a:ea typeface="+mn-ea"/>
          <a:cs typeface="+mn-cs"/>
        </a:defRPr>
      </a:lvl6pPr>
      <a:lvl7pPr marL="4114800" algn="l" defTabSz="1371600" rtl="0" eaLnBrk="1" latinLnBrk="0" hangingPunct="1">
        <a:defRPr sz="2700" kern="1200">
          <a:solidFill>
            <a:schemeClr val="tx1"/>
          </a:solidFill>
          <a:latin typeface="+mn-lt"/>
          <a:ea typeface="+mn-ea"/>
          <a:cs typeface="+mn-cs"/>
        </a:defRPr>
      </a:lvl7pPr>
      <a:lvl8pPr marL="4800600" algn="l" defTabSz="1371600" rtl="0" eaLnBrk="1" latinLnBrk="0" hangingPunct="1">
        <a:defRPr sz="2700" kern="1200">
          <a:solidFill>
            <a:schemeClr val="tx1"/>
          </a:solidFill>
          <a:latin typeface="+mn-lt"/>
          <a:ea typeface="+mn-ea"/>
          <a:cs typeface="+mn-cs"/>
        </a:defRPr>
      </a:lvl8pPr>
      <a:lvl9pPr marL="5486400" algn="l" defTabSz="1371600" rtl="0" eaLnBrk="1" latinLnBrk="0" hangingPunct="1">
        <a:defRPr sz="27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7E889A"/>
          </p15:clr>
        </p15:guide>
        <p15:guide id="2" pos="11520" userDrawn="1">
          <p15:clr>
            <a:srgbClr val="7E889A"/>
          </p15:clr>
        </p15:guide>
        <p15:guide id="3" pos="640" userDrawn="1">
          <p15:clr>
            <a:srgbClr val="7E889A"/>
          </p15:clr>
        </p15:guide>
        <p15:guide id="4" pos="810" userDrawn="1">
          <p15:clr>
            <a:srgbClr val="7E889A"/>
          </p15:clr>
        </p15:guide>
        <p15:guide id="5" pos="980" userDrawn="1">
          <p15:clr>
            <a:srgbClr val="7E889A"/>
          </p15:clr>
        </p15:guide>
        <p15:guide id="6" pos="1152" userDrawn="1">
          <p15:clr>
            <a:srgbClr val="7E889A"/>
          </p15:clr>
        </p15:guide>
        <p15:guide id="7" pos="1322" userDrawn="1">
          <p15:clr>
            <a:srgbClr val="7E889A"/>
          </p15:clr>
        </p15:guide>
        <p15:guide id="8" pos="1492" userDrawn="1">
          <p15:clr>
            <a:srgbClr val="7E889A"/>
          </p15:clr>
        </p15:guide>
        <p15:guide id="9" pos="1664" userDrawn="1">
          <p15:clr>
            <a:srgbClr val="7E889A"/>
          </p15:clr>
        </p15:guide>
        <p15:guide id="10" pos="1834" userDrawn="1">
          <p15:clr>
            <a:srgbClr val="7E889A"/>
          </p15:clr>
        </p15:guide>
        <p15:guide id="11" pos="2004" userDrawn="1">
          <p15:clr>
            <a:srgbClr val="7E889A"/>
          </p15:clr>
        </p15:guide>
        <p15:guide id="12" pos="2176" userDrawn="1">
          <p15:clr>
            <a:srgbClr val="7E889A"/>
          </p15:clr>
        </p15:guide>
        <p15:guide id="13" pos="2346" userDrawn="1">
          <p15:clr>
            <a:srgbClr val="7E889A"/>
          </p15:clr>
        </p15:guide>
        <p15:guide id="14" pos="2516" userDrawn="1">
          <p15:clr>
            <a:srgbClr val="7E889A"/>
          </p15:clr>
        </p15:guide>
        <p15:guide id="15" pos="2688" userDrawn="1">
          <p15:clr>
            <a:srgbClr val="7E889A"/>
          </p15:clr>
        </p15:guide>
        <p15:guide id="16" pos="2858" userDrawn="1">
          <p15:clr>
            <a:srgbClr val="7E889A"/>
          </p15:clr>
        </p15:guide>
        <p15:guide id="17" pos="3028" userDrawn="1">
          <p15:clr>
            <a:srgbClr val="7E889A"/>
          </p15:clr>
        </p15:guide>
        <p15:guide id="18" pos="3200" userDrawn="1">
          <p15:clr>
            <a:srgbClr val="7E889A"/>
          </p15:clr>
        </p15:guide>
        <p15:guide id="19" pos="3370" userDrawn="1">
          <p15:clr>
            <a:srgbClr val="7E889A"/>
          </p15:clr>
        </p15:guide>
        <p15:guide id="20" pos="3540" userDrawn="1">
          <p15:clr>
            <a:srgbClr val="7E889A"/>
          </p15:clr>
        </p15:guide>
        <p15:guide id="21" pos="3712" userDrawn="1">
          <p15:clr>
            <a:srgbClr val="7E889A"/>
          </p15:clr>
        </p15:guide>
        <p15:guide id="22" pos="3882" userDrawn="1">
          <p15:clr>
            <a:srgbClr val="7E889A"/>
          </p15:clr>
        </p15:guide>
        <p15:guide id="23" pos="4052" userDrawn="1">
          <p15:clr>
            <a:srgbClr val="7E889A"/>
          </p15:clr>
        </p15:guide>
        <p15:guide id="24" pos="4224" userDrawn="1">
          <p15:clr>
            <a:srgbClr val="7E889A"/>
          </p15:clr>
        </p15:guide>
        <p15:guide id="25" pos="4394" userDrawn="1">
          <p15:clr>
            <a:srgbClr val="7E889A"/>
          </p15:clr>
        </p15:guide>
        <p15:guide id="26" pos="4564" userDrawn="1">
          <p15:clr>
            <a:srgbClr val="7E889A"/>
          </p15:clr>
        </p15:guide>
        <p15:guide id="27" pos="4736" userDrawn="1">
          <p15:clr>
            <a:srgbClr val="7E889A"/>
          </p15:clr>
        </p15:guide>
        <p15:guide id="28" pos="4906" userDrawn="1">
          <p15:clr>
            <a:srgbClr val="7E889A"/>
          </p15:clr>
        </p15:guide>
        <p15:guide id="29" pos="5076" userDrawn="1">
          <p15:clr>
            <a:srgbClr val="7E889A"/>
          </p15:clr>
        </p15:guide>
        <p15:guide id="30" pos="5248" userDrawn="1">
          <p15:clr>
            <a:srgbClr val="7E889A"/>
          </p15:clr>
        </p15:guide>
        <p15:guide id="31" pos="5418" userDrawn="1">
          <p15:clr>
            <a:srgbClr val="7E889A"/>
          </p15:clr>
        </p15:guide>
        <p15:guide id="32" pos="5588" userDrawn="1">
          <p15:clr>
            <a:srgbClr val="7E889A"/>
          </p15:clr>
        </p15:guide>
        <p15:guide id="33" pos="5760" userDrawn="1">
          <p15:clr>
            <a:srgbClr val="7E889A"/>
          </p15:clr>
        </p15:guide>
        <p15:guide id="34" pos="5930" userDrawn="1">
          <p15:clr>
            <a:srgbClr val="7E889A"/>
          </p15:clr>
        </p15:guide>
        <p15:guide id="35" pos="6100" userDrawn="1">
          <p15:clr>
            <a:srgbClr val="7E889A"/>
          </p15:clr>
        </p15:guide>
        <p15:guide id="36" pos="6272" userDrawn="1">
          <p15:clr>
            <a:srgbClr val="7E889A"/>
          </p15:clr>
        </p15:guide>
        <p15:guide id="37" pos="6442" userDrawn="1">
          <p15:clr>
            <a:srgbClr val="7E889A"/>
          </p15:clr>
        </p15:guide>
        <p15:guide id="38" pos="6612" userDrawn="1">
          <p15:clr>
            <a:srgbClr val="7E889A"/>
          </p15:clr>
        </p15:guide>
        <p15:guide id="39" pos="6784" userDrawn="1">
          <p15:clr>
            <a:srgbClr val="7E889A"/>
          </p15:clr>
        </p15:guide>
        <p15:guide id="40" pos="6954" userDrawn="1">
          <p15:clr>
            <a:srgbClr val="7E889A"/>
          </p15:clr>
        </p15:guide>
        <p15:guide id="41" pos="7124" userDrawn="1">
          <p15:clr>
            <a:srgbClr val="7E889A"/>
          </p15:clr>
        </p15:guide>
        <p15:guide id="42" pos="7296" userDrawn="1">
          <p15:clr>
            <a:srgbClr val="7E889A"/>
          </p15:clr>
        </p15:guide>
        <p15:guide id="43" pos="7466" userDrawn="1">
          <p15:clr>
            <a:srgbClr val="7E889A"/>
          </p15:clr>
        </p15:guide>
        <p15:guide id="44" pos="7636" userDrawn="1">
          <p15:clr>
            <a:srgbClr val="7E889A"/>
          </p15:clr>
        </p15:guide>
        <p15:guide id="45" pos="7808" userDrawn="1">
          <p15:clr>
            <a:srgbClr val="7E889A"/>
          </p15:clr>
        </p15:guide>
        <p15:guide id="46" pos="7978" userDrawn="1">
          <p15:clr>
            <a:srgbClr val="7E889A"/>
          </p15:clr>
        </p15:guide>
        <p15:guide id="47" pos="8148" userDrawn="1">
          <p15:clr>
            <a:srgbClr val="7E889A"/>
          </p15:clr>
        </p15:guide>
        <p15:guide id="48" pos="8320" userDrawn="1">
          <p15:clr>
            <a:srgbClr val="7E889A"/>
          </p15:clr>
        </p15:guide>
        <p15:guide id="49" pos="8490" userDrawn="1">
          <p15:clr>
            <a:srgbClr val="7E889A"/>
          </p15:clr>
        </p15:guide>
        <p15:guide id="50" pos="8660" userDrawn="1">
          <p15:clr>
            <a:srgbClr val="7E889A"/>
          </p15:clr>
        </p15:guide>
        <p15:guide id="51" pos="8832" userDrawn="1">
          <p15:clr>
            <a:srgbClr val="7E889A"/>
          </p15:clr>
        </p15:guide>
        <p15:guide id="52" pos="9002" userDrawn="1">
          <p15:clr>
            <a:srgbClr val="7E889A"/>
          </p15:clr>
        </p15:guide>
        <p15:guide id="53" pos="9172" userDrawn="1">
          <p15:clr>
            <a:srgbClr val="7E889A"/>
          </p15:clr>
        </p15:guide>
        <p15:guide id="54" pos="9344" userDrawn="1">
          <p15:clr>
            <a:srgbClr val="7E889A"/>
          </p15:clr>
        </p15:guide>
        <p15:guide id="55" pos="9514" userDrawn="1">
          <p15:clr>
            <a:srgbClr val="7E889A"/>
          </p15:clr>
        </p15:guide>
        <p15:guide id="56" pos="9684" userDrawn="1">
          <p15:clr>
            <a:srgbClr val="7E889A"/>
          </p15:clr>
        </p15:guide>
        <p15:guide id="57" pos="9856" userDrawn="1">
          <p15:clr>
            <a:srgbClr val="7E889A"/>
          </p15:clr>
        </p15:guide>
        <p15:guide id="58" pos="10026" userDrawn="1">
          <p15:clr>
            <a:srgbClr val="7E889A"/>
          </p15:clr>
        </p15:guide>
        <p15:guide id="59" pos="10196" userDrawn="1">
          <p15:clr>
            <a:srgbClr val="7E889A"/>
          </p15:clr>
        </p15:guide>
        <p15:guide id="60" pos="10368" userDrawn="1">
          <p15:clr>
            <a:srgbClr val="7E889A"/>
          </p15:clr>
        </p15:guide>
        <p15:guide id="61" pos="10538" userDrawn="1">
          <p15:clr>
            <a:srgbClr val="7E889A"/>
          </p15:clr>
        </p15:guide>
        <p15:guide id="62" pos="10708" userDrawn="1">
          <p15:clr>
            <a:srgbClr val="7E889A"/>
          </p15:clr>
        </p15:guide>
        <p15:guide id="63" pos="10880" userDrawn="1">
          <p15:clr>
            <a:srgbClr val="7E889A"/>
          </p15:clr>
        </p15:guide>
        <p15:guide id="64" orient="horz" userDrawn="1">
          <p15:clr>
            <a:srgbClr val="7E889A"/>
          </p15:clr>
        </p15:guide>
        <p15:guide id="65" orient="horz" pos="6480" userDrawn="1">
          <p15:clr>
            <a:srgbClr val="7E889A"/>
          </p15:clr>
        </p15:guide>
        <p15:guide id="66" orient="horz" pos="656" userDrawn="1">
          <p15:clr>
            <a:srgbClr val="7E889A"/>
          </p15:clr>
        </p15:guide>
        <p15:guide id="67" orient="horz" pos="828" userDrawn="1">
          <p15:clr>
            <a:srgbClr val="7E889A"/>
          </p15:clr>
        </p15:guide>
        <p15:guide id="68" orient="horz" pos="1000" userDrawn="1">
          <p15:clr>
            <a:srgbClr val="7E889A"/>
          </p15:clr>
        </p15:guide>
        <p15:guide id="69" orient="horz" pos="1172" userDrawn="1">
          <p15:clr>
            <a:srgbClr val="7E889A"/>
          </p15:clr>
        </p15:guide>
        <p15:guide id="70" orient="horz" pos="1344" userDrawn="1">
          <p15:clr>
            <a:srgbClr val="7E889A"/>
          </p15:clr>
        </p15:guide>
        <p15:guide id="71" orient="horz" pos="1516" userDrawn="1">
          <p15:clr>
            <a:srgbClr val="7E889A"/>
          </p15:clr>
        </p15:guide>
        <p15:guide id="72" orient="horz" pos="1688" userDrawn="1">
          <p15:clr>
            <a:srgbClr val="7E889A"/>
          </p15:clr>
        </p15:guide>
        <p15:guide id="73" orient="horz" pos="1860" userDrawn="1">
          <p15:clr>
            <a:srgbClr val="7E889A"/>
          </p15:clr>
        </p15:guide>
        <p15:guide id="74" orient="horz" pos="2034" userDrawn="1">
          <p15:clr>
            <a:srgbClr val="7E889A"/>
          </p15:clr>
        </p15:guide>
        <p15:guide id="75" orient="horz" pos="2206" userDrawn="1">
          <p15:clr>
            <a:srgbClr val="7E889A"/>
          </p15:clr>
        </p15:guide>
        <p15:guide id="76" orient="horz" pos="2378" userDrawn="1">
          <p15:clr>
            <a:srgbClr val="7E889A"/>
          </p15:clr>
        </p15:guide>
        <p15:guide id="77" orient="horz" pos="2550" userDrawn="1">
          <p15:clr>
            <a:srgbClr val="7E889A"/>
          </p15:clr>
        </p15:guide>
        <p15:guide id="78" orient="horz" pos="2722" userDrawn="1">
          <p15:clr>
            <a:srgbClr val="7E889A"/>
          </p15:clr>
        </p15:guide>
        <p15:guide id="79" orient="horz" pos="2894" userDrawn="1">
          <p15:clr>
            <a:srgbClr val="7E889A"/>
          </p15:clr>
        </p15:guide>
        <p15:guide id="80" orient="horz" pos="3066" userDrawn="1">
          <p15:clr>
            <a:srgbClr val="7E889A"/>
          </p15:clr>
        </p15:guide>
        <p15:guide id="81" orient="horz" pos="3240" userDrawn="1">
          <p15:clr>
            <a:srgbClr val="7E889A"/>
          </p15:clr>
        </p15:guide>
        <p15:guide id="82" orient="horz" pos="3412" userDrawn="1">
          <p15:clr>
            <a:srgbClr val="7E889A"/>
          </p15:clr>
        </p15:guide>
        <p15:guide id="83" orient="horz" pos="3584" userDrawn="1">
          <p15:clr>
            <a:srgbClr val="7E889A"/>
          </p15:clr>
        </p15:guide>
        <p15:guide id="84" orient="horz" pos="3756" userDrawn="1">
          <p15:clr>
            <a:srgbClr val="7E889A"/>
          </p15:clr>
        </p15:guide>
        <p15:guide id="85" orient="horz" pos="3928" userDrawn="1">
          <p15:clr>
            <a:srgbClr val="7E889A"/>
          </p15:clr>
        </p15:guide>
        <p15:guide id="86" orient="horz" pos="4100" userDrawn="1">
          <p15:clr>
            <a:srgbClr val="7E889A"/>
          </p15:clr>
        </p15:guide>
        <p15:guide id="87" orient="horz" pos="4272" userDrawn="1">
          <p15:clr>
            <a:srgbClr val="7E889A"/>
          </p15:clr>
        </p15:guide>
        <p15:guide id="88" orient="horz" pos="4444" userDrawn="1">
          <p15:clr>
            <a:srgbClr val="7E889A"/>
          </p15:clr>
        </p15:guide>
        <p15:guide id="89" orient="horz" pos="4618" userDrawn="1">
          <p15:clr>
            <a:srgbClr val="7E889A"/>
          </p15:clr>
        </p15:guide>
        <p15:guide id="90" orient="horz" pos="4790" userDrawn="1">
          <p15:clr>
            <a:srgbClr val="7E889A"/>
          </p15:clr>
        </p15:guide>
        <p15:guide id="91" orient="horz" pos="4962" userDrawn="1">
          <p15:clr>
            <a:srgbClr val="7E889A"/>
          </p15:clr>
        </p15:guide>
        <p15:guide id="92" orient="horz" pos="5134" userDrawn="1">
          <p15:clr>
            <a:srgbClr val="7E889A"/>
          </p15:clr>
        </p15:guide>
        <p15:guide id="93" orient="horz" pos="5306" userDrawn="1">
          <p15:clr>
            <a:srgbClr val="7E889A"/>
          </p15:clr>
        </p15:guide>
        <p15:guide id="94" orient="horz" pos="5478" userDrawn="1">
          <p15:clr>
            <a:srgbClr val="7E889A"/>
          </p15:clr>
        </p15:guide>
        <p15:guide id="95" orient="horz" pos="5650" userDrawn="1">
          <p15:clr>
            <a:srgbClr val="7E889A"/>
          </p15:clr>
        </p15:guide>
        <p15:guide id="96" orient="horz" pos="5824" userDrawn="1">
          <p15:clr>
            <a:srgbClr val="7E889A"/>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7.png"/><Relationship Id="rId5" Type="http://schemas.openxmlformats.org/officeDocument/2006/relationships/image" Target="../media/image25.png"/><Relationship Id="rId6" Type="http://schemas.openxmlformats.org/officeDocument/2006/relationships/image" Target="../media/image12.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image" Target="../media/image26.png"/><Relationship Id="rId4" Type="http://schemas.openxmlformats.org/officeDocument/2006/relationships/image" Target="../media/image10.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3.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14.png"/><Relationship Id="rId8" Type="http://schemas.openxmlformats.org/officeDocument/2006/relationships/image" Target="../media/image12.png"/><Relationship Id="rId9" Type="http://schemas.openxmlformats.org/officeDocument/2006/relationships/image" Target="../media/image31.png"/><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 Id="rId3" Type="http://schemas.openxmlformats.org/officeDocument/2006/relationships/image" Target="../media/image32.png"/><Relationship Id="rId4" Type="http://schemas.openxmlformats.org/officeDocument/2006/relationships/image" Target="../media/image12.png"/><Relationship Id="rId5" Type="http://schemas.openxmlformats.org/officeDocument/2006/relationships/image" Target="../media/image23.png"/><Relationship Id="rId6" Type="http://schemas.openxmlformats.org/officeDocument/2006/relationships/image" Target="../media/image33.png"/><Relationship Id="rId7" Type="http://schemas.openxmlformats.org/officeDocument/2006/relationships/image" Target="../media/image34.png"/><Relationship Id="rId8" Type="http://schemas.openxmlformats.org/officeDocument/2006/relationships/image" Target="../media/image7.png"/><Relationship Id="rId9" Type="http://schemas.openxmlformats.org/officeDocument/2006/relationships/image" Target="../media/image35.png"/><Relationship Id="rId10" Type="http://schemas.openxmlformats.org/officeDocument/2006/relationships/image" Target="../media/image36.png"/><Relationship Id="rId11" Type="http://schemas.openxmlformats.org/officeDocument/2006/relationships/image" Target="../media/image37.png"/><Relationship Id="rId1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0.png"/><Relationship Id="rId3" Type="http://schemas.openxmlformats.org/officeDocument/2006/relationships/image" Target="../media/image23.png"/><Relationship Id="rId4" Type="http://schemas.openxmlformats.org/officeDocument/2006/relationships/image" Target="../media/image34.png"/><Relationship Id="rId5" Type="http://schemas.openxmlformats.org/officeDocument/2006/relationships/image" Target="../media/image7.png"/><Relationship Id="rId6" Type="http://schemas.openxmlformats.org/officeDocument/2006/relationships/image" Target="../media/image35.png"/><Relationship Id="rId7" Type="http://schemas.openxmlformats.org/officeDocument/2006/relationships/image" Target="../media/image31.png"/><Relationship Id="rId8" Type="http://schemas.openxmlformats.org/officeDocument/2006/relationships/image" Target="../media/image38.png"/><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0.png"/><Relationship Id="rId3" Type="http://schemas.openxmlformats.org/officeDocument/2006/relationships/image" Target="../media/image23.png"/><Relationship Id="rId4" Type="http://schemas.openxmlformats.org/officeDocument/2006/relationships/image" Target="../media/image7.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7.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3.png"/><Relationship Id="rId3" Type="http://schemas.openxmlformats.org/officeDocument/2006/relationships/image" Target="../media/image31.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9.png"/><Relationship Id="rId3" Type="http://schemas.openxmlformats.org/officeDocument/2006/relationships/image" Target="../media/image7.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6.png"/><Relationship Id="rId7" Type="http://schemas.openxmlformats.org/officeDocument/2006/relationships/image" Target="../media/image50.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5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6600"/>
              <a:t>Agentic AI in action</a:t>
            </a:r>
          </a:p>
        </p:txBody>
      </p:sp>
      <p:sp>
        <p:nvSpPr>
          <p:cNvPr id="3" name="Text Placeholder 2"/>
          <p:cNvSpPr>
            <a:spLocks noGrp="1"/>
          </p:cNvSpPr>
          <p:nvPr>
            <p:ph type="body" idx="10" sz="quarter"/>
          </p:nvPr>
        </p:nvSpPr>
        <p:spPr/>
        <p:txBody>
          <a:bodyPr/>
          <a:lstStyle/>
          <a:p>
            <a:r>
              <a:rPr sz="3600"/>
              <a:t>From the concepts to a live Population Health agent</a:t>
            </a:r>
          </a:p>
        </p:txBody>
      </p:sp>
      <p:sp>
        <p:nvSpPr>
          <p:cNvPr id="4" name="Text Placeholder 3"/>
          <p:cNvSpPr>
            <a:spLocks noGrp="1"/>
          </p:cNvSpPr>
          <p:nvPr>
            <p:ph type="body" idx="11" sz="quarter"/>
          </p:nvPr>
        </p:nvSpPr>
        <p:spPr/>
        <p:txBody>
          <a:bodyPr/>
          <a:lstStyle/>
          <a:p>
            <a:r>
              <a:rPr sz="2400"/>
              <a:t>Raed Aldweik  |  SAS</a:t>
            </a:r>
          </a:p>
          <a:p>
            <a:r>
              <a:rPr sz="2400"/>
              <a:t>EHS Agentic AI Bootcamp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r>
              <a:rPr sz="5600"/>
              <a:t>In the next 45 minutes</a:t>
            </a:r>
          </a:p>
        </p:txBody>
      </p:sp>
      <p:sp>
        <p:nvSpPr>
          <p:cNvPr id="3" name="Text Placeholder 2"/>
          <p:cNvSpPr>
            <a:spLocks noGrp="1"/>
          </p:cNvSpPr>
          <p:nvPr>
            <p:ph type="body" idx="10" sz="quarter"/>
          </p:nvPr>
        </p:nvSpPr>
        <p:spPr/>
        <p:txBody>
          <a:bodyPr/>
          <a:lstStyle/>
          <a:p>
            <a:r>
              <a:rPr sz="3000"/>
              <a:t>Four parts: the concepts, the building blocks, a live agent, and what you will build</a:t>
            </a:r>
          </a:p>
        </p:txBody>
      </p:sp>
      <p:cxnSp>
        <p:nvCxnSpPr>
          <p:cNvPr id="5" name="Connector 4"/>
          <p:cNvCxnSpPr/>
          <p:nvPr/>
        </p:nvCxnSpPr>
        <p:spPr>
          <a:xfrm>
            <a:off x="1664208" y="3108960"/>
            <a:ext cx="0" cy="4892040"/>
          </a:xfrm>
          <a:prstGeom prst="line">
            <a:avLst/>
          </a:prstGeom>
          <a:ln w="31750">
            <a:solidFill>
              <a:srgbClr val="C4DEFD"/>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1252728" y="2788920"/>
            <a:ext cx="822960" cy="822960"/>
          </a:xfrm>
          <a:prstGeom prst="roundRect">
            <a:avLst>
              <a:gd name="adj" fmla="val 13333"/>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2600">
                <a:solidFill>
                  <a:srgbClr val="FFFFFF"/>
                </a:solidFill>
                <a:latin typeface="+mj-lt"/>
              </a:rPr>
              <a:t>1</a:t>
            </a:r>
          </a:p>
        </p:txBody>
      </p:sp>
      <p:sp>
        <p:nvSpPr>
          <p:cNvPr id="7" name="TextBox 6"/>
          <p:cNvSpPr txBox="1"/>
          <p:nvPr/>
        </p:nvSpPr>
        <p:spPr>
          <a:xfrm>
            <a:off x="2331720" y="2752344"/>
            <a:ext cx="7589520" cy="457200"/>
          </a:xfrm>
          <a:prstGeom prst="rect">
            <a:avLst/>
          </a:prstGeom>
          <a:noFill/>
        </p:spPr>
        <p:txBody>
          <a:bodyPr wrap="square" lIns="45720" tIns="27432" rIns="45720" bIns="27432" anchor="t">
            <a:spAutoFit/>
          </a:bodyPr>
          <a:lstStyle/>
          <a:p>
            <a:pPr algn="l"/>
            <a:r>
              <a:rPr sz="2200">
                <a:solidFill>
                  <a:srgbClr val="262626"/>
                </a:solidFill>
                <a:latin typeface="+mj-lt"/>
              </a:rPr>
              <a:t>What Agentic AI is, and is not</a:t>
            </a:r>
          </a:p>
        </p:txBody>
      </p:sp>
      <p:sp>
        <p:nvSpPr>
          <p:cNvPr id="8" name="TextBox 7"/>
          <p:cNvSpPr txBox="1"/>
          <p:nvPr/>
        </p:nvSpPr>
        <p:spPr>
          <a:xfrm>
            <a:off x="2331720" y="3191256"/>
            <a:ext cx="7589520" cy="777240"/>
          </a:xfrm>
          <a:prstGeom prst="rect">
            <a:avLst/>
          </a:prstGeom>
          <a:noFill/>
        </p:spPr>
        <p:txBody>
          <a:bodyPr wrap="square" lIns="45720" tIns="27432" rIns="45720" bIns="27432" anchor="t">
            <a:spAutoFit/>
          </a:bodyPr>
          <a:lstStyle/>
          <a:p>
            <a:pPr algn="l"/>
            <a:r>
              <a:rPr sz="1500">
                <a:solidFill>
                  <a:srgbClr val="7E889A"/>
                </a:solidFill>
              </a:rPr>
              <a:t>From predicting and generating to acting: the agent loop, and where agents fit in healthcare</a:t>
            </a:r>
          </a:p>
        </p:txBody>
      </p:sp>
      <p:sp>
        <p:nvSpPr>
          <p:cNvPr id="9" name="Rounded Rectangle 8"/>
          <p:cNvSpPr/>
          <p:nvPr/>
        </p:nvSpPr>
        <p:spPr>
          <a:xfrm>
            <a:off x="1252728" y="4361688"/>
            <a:ext cx="822960" cy="822960"/>
          </a:xfrm>
          <a:prstGeom prst="roundRect">
            <a:avLst>
              <a:gd name="adj" fmla="val 13333"/>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2600">
                <a:solidFill>
                  <a:srgbClr val="FFFFFF"/>
                </a:solidFill>
                <a:latin typeface="+mj-lt"/>
              </a:rPr>
              <a:t>2</a:t>
            </a:r>
          </a:p>
        </p:txBody>
      </p:sp>
      <p:sp>
        <p:nvSpPr>
          <p:cNvPr id="10" name="TextBox 9"/>
          <p:cNvSpPr txBox="1"/>
          <p:nvPr/>
        </p:nvSpPr>
        <p:spPr>
          <a:xfrm>
            <a:off x="2331720" y="4325112"/>
            <a:ext cx="7589520" cy="457200"/>
          </a:xfrm>
          <a:prstGeom prst="rect">
            <a:avLst/>
          </a:prstGeom>
          <a:noFill/>
        </p:spPr>
        <p:txBody>
          <a:bodyPr wrap="square" lIns="45720" tIns="27432" rIns="45720" bIns="27432" anchor="t">
            <a:spAutoFit/>
          </a:bodyPr>
          <a:lstStyle/>
          <a:p>
            <a:pPr algn="l"/>
            <a:r>
              <a:rPr sz="2200">
                <a:solidFill>
                  <a:srgbClr val="262626"/>
                </a:solidFill>
                <a:latin typeface="+mj-lt"/>
              </a:rPr>
              <a:t>The building blocks: LLM, RAG, MCP, composite AI</a:t>
            </a:r>
          </a:p>
        </p:txBody>
      </p:sp>
      <p:sp>
        <p:nvSpPr>
          <p:cNvPr id="11" name="TextBox 10"/>
          <p:cNvSpPr txBox="1"/>
          <p:nvPr/>
        </p:nvSpPr>
        <p:spPr>
          <a:xfrm>
            <a:off x="2331720" y="4764024"/>
            <a:ext cx="7589520" cy="777240"/>
          </a:xfrm>
          <a:prstGeom prst="rect">
            <a:avLst/>
          </a:prstGeom>
          <a:noFill/>
        </p:spPr>
        <p:txBody>
          <a:bodyPr wrap="square" lIns="45720" tIns="27432" rIns="45720" bIns="27432" anchor="t">
            <a:spAutoFit/>
          </a:bodyPr>
          <a:lstStyle/>
          <a:p>
            <a:pPr algn="l"/>
            <a:r>
              <a:rPr sz="1500">
                <a:solidFill>
                  <a:srgbClr val="7E889A"/>
                </a:solidFill>
              </a:rPr>
              <a:t>What each one does for the agent, in plain words, and why the agent needs all of them</a:t>
            </a:r>
          </a:p>
        </p:txBody>
      </p:sp>
      <p:sp>
        <p:nvSpPr>
          <p:cNvPr id="12" name="Rounded Rectangle 11"/>
          <p:cNvSpPr/>
          <p:nvPr/>
        </p:nvSpPr>
        <p:spPr>
          <a:xfrm>
            <a:off x="1252728" y="5934456"/>
            <a:ext cx="822960" cy="822960"/>
          </a:xfrm>
          <a:prstGeom prst="roundRect">
            <a:avLst>
              <a:gd name="adj" fmla="val 13333"/>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2600">
                <a:solidFill>
                  <a:srgbClr val="FFFFFF"/>
                </a:solidFill>
                <a:latin typeface="+mj-lt"/>
              </a:rPr>
              <a:t>3</a:t>
            </a:r>
          </a:p>
        </p:txBody>
      </p:sp>
      <p:sp>
        <p:nvSpPr>
          <p:cNvPr id="13" name="TextBox 12"/>
          <p:cNvSpPr txBox="1"/>
          <p:nvPr/>
        </p:nvSpPr>
        <p:spPr>
          <a:xfrm>
            <a:off x="2331720" y="5897880"/>
            <a:ext cx="7589520" cy="457200"/>
          </a:xfrm>
          <a:prstGeom prst="rect">
            <a:avLst/>
          </a:prstGeom>
          <a:noFill/>
        </p:spPr>
        <p:txBody>
          <a:bodyPr wrap="square" lIns="45720" tIns="27432" rIns="45720" bIns="27432" anchor="t">
            <a:spAutoFit/>
          </a:bodyPr>
          <a:lstStyle/>
          <a:p>
            <a:pPr algn="l"/>
            <a:r>
              <a:rPr sz="2200">
                <a:solidFill>
                  <a:srgbClr val="262626"/>
                </a:solidFill>
                <a:latin typeface="+mj-lt"/>
              </a:rPr>
              <a:t>Live demo: the Population Health Agent</a:t>
            </a:r>
          </a:p>
        </p:txBody>
      </p:sp>
      <p:sp>
        <p:nvSpPr>
          <p:cNvPr id="14" name="TextBox 13"/>
          <p:cNvSpPr txBox="1"/>
          <p:nvPr/>
        </p:nvSpPr>
        <p:spPr>
          <a:xfrm>
            <a:off x="2331720" y="6336792"/>
            <a:ext cx="7589520" cy="777240"/>
          </a:xfrm>
          <a:prstGeom prst="rect">
            <a:avLst/>
          </a:prstGeom>
          <a:noFill/>
        </p:spPr>
        <p:txBody>
          <a:bodyPr wrap="square" lIns="45720" tIns="27432" rIns="45720" bIns="27432" anchor="t">
            <a:spAutoFit/>
          </a:bodyPr>
          <a:lstStyle/>
          <a:p>
            <a:pPr algn="l"/>
            <a:r>
              <a:rPr sz="1500">
                <a:solidFill>
                  <a:srgbClr val="7E889A"/>
                </a:solidFill>
              </a:rPr>
              <a:t>One registry, four national guidelines, one risk model, and the trace behind every answer</a:t>
            </a:r>
          </a:p>
        </p:txBody>
      </p:sp>
      <p:sp>
        <p:nvSpPr>
          <p:cNvPr id="15" name="Rounded Rectangle 14"/>
          <p:cNvSpPr/>
          <p:nvPr/>
        </p:nvSpPr>
        <p:spPr>
          <a:xfrm>
            <a:off x="1252728" y="7507224"/>
            <a:ext cx="822960" cy="822960"/>
          </a:xfrm>
          <a:prstGeom prst="roundRect">
            <a:avLst>
              <a:gd name="adj" fmla="val 13333"/>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2600">
                <a:solidFill>
                  <a:srgbClr val="FFFFFF"/>
                </a:solidFill>
                <a:latin typeface="+mj-lt"/>
              </a:rPr>
              <a:t>4</a:t>
            </a:r>
          </a:p>
        </p:txBody>
      </p:sp>
      <p:sp>
        <p:nvSpPr>
          <p:cNvPr id="16" name="TextBox 15"/>
          <p:cNvSpPr txBox="1"/>
          <p:nvPr/>
        </p:nvSpPr>
        <p:spPr>
          <a:xfrm>
            <a:off x="2331720" y="7470648"/>
            <a:ext cx="7589520" cy="457200"/>
          </a:xfrm>
          <a:prstGeom prst="rect">
            <a:avLst/>
          </a:prstGeom>
          <a:noFill/>
        </p:spPr>
        <p:txBody>
          <a:bodyPr wrap="square" lIns="45720" tIns="27432" rIns="45720" bIns="27432" anchor="t">
            <a:spAutoFit/>
          </a:bodyPr>
          <a:lstStyle/>
          <a:p>
            <a:pPr algn="l"/>
            <a:r>
              <a:rPr sz="2200">
                <a:solidFill>
                  <a:srgbClr val="262626"/>
                </a:solidFill>
                <a:latin typeface="+mj-lt"/>
              </a:rPr>
              <a:t>What you will build in this bootcamp</a:t>
            </a:r>
          </a:p>
        </p:txBody>
      </p:sp>
      <p:sp>
        <p:nvSpPr>
          <p:cNvPr id="17" name="TextBox 16"/>
          <p:cNvSpPr txBox="1"/>
          <p:nvPr/>
        </p:nvSpPr>
        <p:spPr>
          <a:xfrm>
            <a:off x="2331720" y="7909560"/>
            <a:ext cx="7589520" cy="777240"/>
          </a:xfrm>
          <a:prstGeom prst="rect">
            <a:avLst/>
          </a:prstGeom>
          <a:noFill/>
        </p:spPr>
        <p:txBody>
          <a:bodyPr wrap="square" lIns="45720" tIns="27432" rIns="45720" bIns="27432" anchor="t">
            <a:spAutoFit/>
          </a:bodyPr>
          <a:lstStyle/>
          <a:p>
            <a:pPr algn="l"/>
            <a:r>
              <a:rPr sz="1500">
                <a:solidFill>
                  <a:srgbClr val="7E889A"/>
                </a:solidFill>
              </a:rPr>
              <a:t>The same agent, assembled by you in SAS Viya and SAS Retrieval Agent Manager, without code</a:t>
            </a:r>
          </a:p>
        </p:txBody>
      </p:sp>
      <p:sp>
        <p:nvSpPr>
          <p:cNvPr id="18" name="Rounded Rectangle 17"/>
          <p:cNvSpPr/>
          <p:nvPr/>
        </p:nvSpPr>
        <p:spPr>
          <a:xfrm>
            <a:off x="10424160" y="2697480"/>
            <a:ext cx="6601968" cy="6400800"/>
          </a:xfrm>
          <a:prstGeom prst="roundRect">
            <a:avLst>
              <a:gd name="adj" fmla="val 4000"/>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835640" y="3017520"/>
            <a:ext cx="5852160" cy="457200"/>
          </a:xfrm>
          <a:prstGeom prst="rect">
            <a:avLst/>
          </a:prstGeom>
          <a:noFill/>
        </p:spPr>
        <p:txBody>
          <a:bodyPr wrap="square" lIns="45720" tIns="27432" rIns="45720" bIns="27432" anchor="t">
            <a:spAutoFit/>
          </a:bodyPr>
          <a:lstStyle/>
          <a:p>
            <a:pPr algn="l"/>
            <a:r>
              <a:rPr sz="2200">
                <a:solidFill>
                  <a:srgbClr val="0766D1"/>
                </a:solidFill>
                <a:latin typeface="+mj-lt"/>
              </a:rPr>
              <a:t>By the end of this session you can…</a:t>
            </a:r>
          </a:p>
        </p:txBody>
      </p:sp>
      <p:sp>
        <p:nvSpPr>
          <p:cNvPr id="20" name="Oval 19"/>
          <p:cNvSpPr/>
          <p:nvPr/>
        </p:nvSpPr>
        <p:spPr>
          <a:xfrm>
            <a:off x="10835640" y="3886200"/>
            <a:ext cx="566928" cy="566928"/>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w.png"/>
          <p:cNvPicPr>
            <a:picLocks noChangeAspect="1"/>
          </p:cNvPicPr>
          <p:nvPr/>
        </p:nvPicPr>
        <p:blipFill>
          <a:blip r:embed="rId2"/>
          <a:stretch>
            <a:fillRect/>
          </a:stretch>
        </p:blipFill>
        <p:spPr>
          <a:xfrm>
            <a:off x="10963198" y="4013758"/>
            <a:ext cx="311810" cy="311810"/>
          </a:xfrm>
          <a:prstGeom prst="rect">
            <a:avLst/>
          </a:prstGeom>
        </p:spPr>
      </p:pic>
      <p:sp>
        <p:nvSpPr>
          <p:cNvPr id="22" name="TextBox 21"/>
          <p:cNvSpPr txBox="1"/>
          <p:nvPr/>
        </p:nvSpPr>
        <p:spPr>
          <a:xfrm>
            <a:off x="11603736" y="3831336"/>
            <a:ext cx="5084064" cy="384048"/>
          </a:xfrm>
          <a:prstGeom prst="rect">
            <a:avLst/>
          </a:prstGeom>
          <a:noFill/>
        </p:spPr>
        <p:txBody>
          <a:bodyPr wrap="square" lIns="45720" tIns="27432" rIns="45720" bIns="27432" anchor="t">
            <a:spAutoFit/>
          </a:bodyPr>
          <a:lstStyle/>
          <a:p>
            <a:pPr algn="l"/>
            <a:r>
              <a:rPr sz="1700">
                <a:solidFill>
                  <a:srgbClr val="262626"/>
                </a:solidFill>
                <a:latin typeface="+mj-lt"/>
              </a:rPr>
              <a:t>Explain Agentic AI in one sentence</a:t>
            </a:r>
          </a:p>
        </p:txBody>
      </p:sp>
      <p:sp>
        <p:nvSpPr>
          <p:cNvPr id="23" name="TextBox 22"/>
          <p:cNvSpPr txBox="1"/>
          <p:nvPr/>
        </p:nvSpPr>
        <p:spPr>
          <a:xfrm>
            <a:off x="11603736" y="4197096"/>
            <a:ext cx="5084064" cy="969263"/>
          </a:xfrm>
          <a:prstGeom prst="rect">
            <a:avLst/>
          </a:prstGeom>
          <a:noFill/>
        </p:spPr>
        <p:txBody>
          <a:bodyPr wrap="square" lIns="45720" tIns="27432" rIns="45720" bIns="27432" anchor="t">
            <a:spAutoFit/>
          </a:bodyPr>
          <a:lstStyle/>
          <a:p>
            <a:pPr algn="l"/>
            <a:r>
              <a:rPr sz="1500">
                <a:solidFill>
                  <a:srgbClr val="262626"/>
                </a:solidFill>
              </a:rPr>
              <a:t>and tell an agent apart from a chatbot and from a script</a:t>
            </a:r>
          </a:p>
        </p:txBody>
      </p:sp>
      <p:sp>
        <p:nvSpPr>
          <p:cNvPr id="24" name="Oval 23"/>
          <p:cNvSpPr/>
          <p:nvPr/>
        </p:nvSpPr>
        <p:spPr>
          <a:xfrm>
            <a:off x="10835640" y="5486400"/>
            <a:ext cx="566928" cy="566928"/>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w.png"/>
          <p:cNvPicPr>
            <a:picLocks noChangeAspect="1"/>
          </p:cNvPicPr>
          <p:nvPr/>
        </p:nvPicPr>
        <p:blipFill>
          <a:blip r:embed="rId2"/>
          <a:stretch>
            <a:fillRect/>
          </a:stretch>
        </p:blipFill>
        <p:spPr>
          <a:xfrm>
            <a:off x="10963198" y="5613958"/>
            <a:ext cx="311810" cy="311810"/>
          </a:xfrm>
          <a:prstGeom prst="rect">
            <a:avLst/>
          </a:prstGeom>
        </p:spPr>
      </p:pic>
      <p:sp>
        <p:nvSpPr>
          <p:cNvPr id="26" name="TextBox 25"/>
          <p:cNvSpPr txBox="1"/>
          <p:nvPr/>
        </p:nvSpPr>
        <p:spPr>
          <a:xfrm>
            <a:off x="11603736" y="5431536"/>
            <a:ext cx="5084064" cy="384048"/>
          </a:xfrm>
          <a:prstGeom prst="rect">
            <a:avLst/>
          </a:prstGeom>
          <a:noFill/>
        </p:spPr>
        <p:txBody>
          <a:bodyPr wrap="square" lIns="45720" tIns="27432" rIns="45720" bIns="27432" anchor="t">
            <a:spAutoFit/>
          </a:bodyPr>
          <a:lstStyle/>
          <a:p>
            <a:pPr algn="l"/>
            <a:r>
              <a:rPr sz="1700">
                <a:solidFill>
                  <a:srgbClr val="262626"/>
                </a:solidFill>
                <a:latin typeface="+mj-lt"/>
              </a:rPr>
              <a:t>Say what RAG, MCP and composite AI do</a:t>
            </a:r>
          </a:p>
        </p:txBody>
      </p:sp>
      <p:sp>
        <p:nvSpPr>
          <p:cNvPr id="27" name="TextBox 26"/>
          <p:cNvSpPr txBox="1"/>
          <p:nvPr/>
        </p:nvSpPr>
        <p:spPr>
          <a:xfrm>
            <a:off x="11603736" y="5797296"/>
            <a:ext cx="5084064" cy="969263"/>
          </a:xfrm>
          <a:prstGeom prst="rect">
            <a:avLst/>
          </a:prstGeom>
          <a:noFill/>
        </p:spPr>
        <p:txBody>
          <a:bodyPr wrap="square" lIns="45720" tIns="27432" rIns="45720" bIns="27432" anchor="t">
            <a:spAutoFit/>
          </a:bodyPr>
          <a:lstStyle/>
          <a:p>
            <a:pPr algn="l"/>
            <a:r>
              <a:rPr sz="1500">
                <a:solidFill>
                  <a:srgbClr val="262626"/>
                </a:solidFill>
              </a:rPr>
              <a:t>for an agent, in plain words, and why it needs all three</a:t>
            </a:r>
          </a:p>
        </p:txBody>
      </p:sp>
      <p:sp>
        <p:nvSpPr>
          <p:cNvPr id="28" name="Oval 27"/>
          <p:cNvSpPr/>
          <p:nvPr/>
        </p:nvSpPr>
        <p:spPr>
          <a:xfrm>
            <a:off x="10835640" y="7086600"/>
            <a:ext cx="566928" cy="566928"/>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check_w.png"/>
          <p:cNvPicPr>
            <a:picLocks noChangeAspect="1"/>
          </p:cNvPicPr>
          <p:nvPr/>
        </p:nvPicPr>
        <p:blipFill>
          <a:blip r:embed="rId2"/>
          <a:stretch>
            <a:fillRect/>
          </a:stretch>
        </p:blipFill>
        <p:spPr>
          <a:xfrm>
            <a:off x="10963198" y="7214158"/>
            <a:ext cx="311810" cy="311810"/>
          </a:xfrm>
          <a:prstGeom prst="rect">
            <a:avLst/>
          </a:prstGeom>
        </p:spPr>
      </p:pic>
      <p:sp>
        <p:nvSpPr>
          <p:cNvPr id="30" name="TextBox 29"/>
          <p:cNvSpPr txBox="1"/>
          <p:nvPr/>
        </p:nvSpPr>
        <p:spPr>
          <a:xfrm>
            <a:off x="11603736" y="7031736"/>
            <a:ext cx="5084064" cy="384048"/>
          </a:xfrm>
          <a:prstGeom prst="rect">
            <a:avLst/>
          </a:prstGeom>
          <a:noFill/>
        </p:spPr>
        <p:txBody>
          <a:bodyPr wrap="square" lIns="45720" tIns="27432" rIns="45720" bIns="27432" anchor="t">
            <a:spAutoFit/>
          </a:bodyPr>
          <a:lstStyle/>
          <a:p>
            <a:pPr algn="l"/>
            <a:r>
              <a:rPr sz="1700">
                <a:solidFill>
                  <a:srgbClr val="262626"/>
                </a:solidFill>
                <a:latin typeface="+mj-lt"/>
              </a:rPr>
              <a:t>Read the Population Health Agent</a:t>
            </a:r>
          </a:p>
        </p:txBody>
      </p:sp>
      <p:sp>
        <p:nvSpPr>
          <p:cNvPr id="31" name="TextBox 30"/>
          <p:cNvSpPr txBox="1"/>
          <p:nvPr/>
        </p:nvSpPr>
        <p:spPr>
          <a:xfrm>
            <a:off x="11603736" y="7397496"/>
            <a:ext cx="5084064" cy="969263"/>
          </a:xfrm>
          <a:prstGeom prst="rect">
            <a:avLst/>
          </a:prstGeom>
          <a:noFill/>
        </p:spPr>
        <p:txBody>
          <a:bodyPr wrap="square" lIns="45720" tIns="27432" rIns="45720" bIns="27432" anchor="t">
            <a:spAutoFit/>
          </a:bodyPr>
          <a:lstStyle/>
          <a:p>
            <a:pPr algn="l"/>
            <a:r>
              <a:rPr sz="1500">
                <a:solidFill>
                  <a:srgbClr val="262626"/>
                </a:solidFill>
              </a:rPr>
              <a:t>its data, documents, model, tools and guardrails, before you build your own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6000"/>
              <a:t>What is Agentic AI?</a:t>
            </a:r>
          </a:p>
        </p:txBody>
      </p:sp>
      <p:sp>
        <p:nvSpPr>
          <p:cNvPr id="3" name="Text Placeholder 2"/>
          <p:cNvSpPr>
            <a:spLocks noGrp="1"/>
          </p:cNvSpPr>
          <p:nvPr>
            <p:ph type="body" idx="10" sz="quarter"/>
          </p:nvPr>
        </p:nvSpPr>
        <p:spPr/>
        <p:txBody>
          <a:bodyPr/>
          <a:lstStyle/>
          <a:p>
            <a:r>
              <a:rPr sz="3600"/>
              <a:t>From answering questions to getting work done</a:t>
            </a:r>
          </a:p>
        </p:txBody>
      </p:sp>
      <p:sp>
        <p:nvSpPr>
          <p:cNvPr id="4" name="Oval 3"/>
          <p:cNvSpPr/>
          <p:nvPr/>
        </p:nvSpPr>
        <p:spPr>
          <a:xfrm>
            <a:off x="14630399" y="914400"/>
            <a:ext cx="2103120" cy="2103120"/>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obot_w.png"/>
          <p:cNvPicPr>
            <a:picLocks noChangeAspect="1"/>
          </p:cNvPicPr>
          <p:nvPr/>
        </p:nvPicPr>
        <p:blipFill>
          <a:blip r:embed="rId2"/>
          <a:stretch>
            <a:fillRect/>
          </a:stretch>
        </p:blipFill>
        <p:spPr>
          <a:xfrm>
            <a:off x="15115031" y="1399031"/>
            <a:ext cx="1133856" cy="1133856"/>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r>
              <a:rPr sz="5600"/>
              <a:t>Predict, generate, act</a:t>
            </a:r>
          </a:p>
        </p:txBody>
      </p:sp>
      <p:sp>
        <p:nvSpPr>
          <p:cNvPr id="3" name="Text Placeholder 2"/>
          <p:cNvSpPr>
            <a:spLocks noGrp="1"/>
          </p:cNvSpPr>
          <p:nvPr>
            <p:ph type="body" idx="10" sz="quarter"/>
          </p:nvPr>
        </p:nvSpPr>
        <p:spPr/>
        <p:txBody>
          <a:bodyPr/>
          <a:lstStyle/>
          <a:p>
            <a:r>
              <a:rPr sz="3000"/>
              <a:t>Agentic AI is the third step, and it stands on the other two</a:t>
            </a:r>
          </a:p>
        </p:txBody>
      </p:sp>
      <p:sp>
        <p:nvSpPr>
          <p:cNvPr id="5" name="Right Arrow 4"/>
          <p:cNvSpPr/>
          <p:nvPr/>
        </p:nvSpPr>
        <p:spPr>
          <a:xfrm>
            <a:off x="1252728" y="2697480"/>
            <a:ext cx="15773400" cy="548640"/>
          </a:xfrm>
          <a:prstGeom prst="rightArrow">
            <a:avLst/>
          </a:prstGeom>
          <a:solidFill>
            <a:srgbClr val="C4D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18488" y="2697480"/>
            <a:ext cx="14676120" cy="548640"/>
          </a:xfrm>
          <a:prstGeom prst="rect">
            <a:avLst/>
          </a:prstGeom>
          <a:noFill/>
        </p:spPr>
        <p:txBody>
          <a:bodyPr wrap="square" lIns="45720" tIns="27432" rIns="45720" bIns="27432" anchor="ctr">
            <a:spAutoFit/>
          </a:bodyPr>
          <a:lstStyle/>
          <a:p>
            <a:pPr algn="l"/>
            <a:r>
              <a:rPr sz="1600">
                <a:solidFill>
                  <a:srgbClr val="032954"/>
                </a:solidFill>
                <a:latin typeface="+mj-lt"/>
              </a:rPr>
              <a:t>Predict  →  Generate  →  Act</a:t>
            </a:r>
          </a:p>
        </p:txBody>
      </p:sp>
      <p:sp>
        <p:nvSpPr>
          <p:cNvPr id="7" name="Rounded Rectangle 6"/>
          <p:cNvSpPr/>
          <p:nvPr/>
        </p:nvSpPr>
        <p:spPr>
          <a:xfrm>
            <a:off x="1252728" y="3749039"/>
            <a:ext cx="4983480" cy="4434840"/>
          </a:xfrm>
          <a:prstGeom prst="roundRect">
            <a:avLst>
              <a:gd name="adj" fmla="val 5773"/>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3218688" y="3223259"/>
            <a:ext cx="1051560" cy="1051560"/>
          </a:xfrm>
          <a:prstGeom prst="ellipse">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model_w.png"/>
          <p:cNvPicPr>
            <a:picLocks noChangeAspect="1"/>
          </p:cNvPicPr>
          <p:nvPr/>
        </p:nvPicPr>
        <p:blipFill>
          <a:blip r:embed="rId2"/>
          <a:stretch>
            <a:fillRect/>
          </a:stretch>
        </p:blipFill>
        <p:spPr>
          <a:xfrm>
            <a:off x="3471062" y="3475634"/>
            <a:ext cx="546811" cy="546811"/>
          </a:xfrm>
          <a:prstGeom prst="rect">
            <a:avLst/>
          </a:prstGeom>
        </p:spPr>
      </p:pic>
      <p:sp>
        <p:nvSpPr>
          <p:cNvPr id="10" name="TextBox 9"/>
          <p:cNvSpPr txBox="1"/>
          <p:nvPr/>
        </p:nvSpPr>
        <p:spPr>
          <a:xfrm>
            <a:off x="1527048" y="4506163"/>
            <a:ext cx="4434840" cy="594360"/>
          </a:xfrm>
          <a:prstGeom prst="rect">
            <a:avLst/>
          </a:prstGeom>
          <a:noFill/>
        </p:spPr>
        <p:txBody>
          <a:bodyPr wrap="square" lIns="45720" tIns="27432" rIns="45720" bIns="27432" anchor="t">
            <a:spAutoFit/>
          </a:bodyPr>
          <a:lstStyle/>
          <a:p>
            <a:pPr algn="ctr"/>
            <a:r>
              <a:rPr sz="2100">
                <a:solidFill>
                  <a:srgbClr val="262626"/>
                </a:solidFill>
                <a:latin typeface="+mj-lt"/>
              </a:rPr>
              <a:t>Analytical AI and machine learning</a:t>
            </a:r>
          </a:p>
        </p:txBody>
      </p:sp>
      <p:sp>
        <p:nvSpPr>
          <p:cNvPr id="11" name="TextBox 10"/>
          <p:cNvSpPr txBox="1"/>
          <p:nvPr/>
        </p:nvSpPr>
        <p:spPr>
          <a:xfrm>
            <a:off x="1572768" y="5191963"/>
            <a:ext cx="4343400" cy="1894636"/>
          </a:xfrm>
          <a:prstGeom prst="rect">
            <a:avLst/>
          </a:prstGeom>
          <a:noFill/>
        </p:spPr>
        <p:txBody>
          <a:bodyPr wrap="square" lIns="45720" tIns="27432" rIns="45720" bIns="27432" anchor="t">
            <a:spAutoFit/>
          </a:bodyPr>
          <a:lstStyle/>
          <a:p>
            <a:pPr algn="l"/>
            <a:r>
              <a:rPr sz="1600">
                <a:solidFill>
                  <a:srgbClr val="262626"/>
                </a:solidFill>
              </a:rPr>
              <a:t>Learns from data to predict and classify: a deterioration risk score, a demand forecast, a fraud flag, a no-show probability.</a:t>
            </a:r>
          </a:p>
          <a:p>
            <a:pPr algn="l">
              <a:spcBef>
                <a:spcPts val="1200"/>
              </a:spcBef>
            </a:pPr>
            <a:r>
              <a:rPr sz="1600">
                <a:solidFill>
                  <a:srgbClr val="0766D1"/>
                </a:solidFill>
                <a:latin typeface="+mj-lt"/>
              </a:rPr>
              <a:t>In the demo: the deterioration-risk model behind the agent.</a:t>
            </a:r>
          </a:p>
        </p:txBody>
      </p:sp>
      <p:sp>
        <p:nvSpPr>
          <p:cNvPr id="12" name="TextBox 11"/>
          <p:cNvSpPr txBox="1"/>
          <p:nvPr/>
        </p:nvSpPr>
        <p:spPr>
          <a:xfrm>
            <a:off x="1572768" y="7132319"/>
            <a:ext cx="4343400" cy="868680"/>
          </a:xfrm>
          <a:prstGeom prst="rect">
            <a:avLst/>
          </a:prstGeom>
          <a:noFill/>
        </p:spPr>
        <p:txBody>
          <a:bodyPr wrap="square" lIns="45720" tIns="27432" rIns="45720" bIns="27432" anchor="b">
            <a:spAutoFit/>
          </a:bodyPr>
          <a:lstStyle/>
          <a:p>
            <a:pPr algn="l"/>
            <a:r>
              <a:rPr sz="1500">
                <a:solidFill>
                  <a:srgbClr val="0766D1"/>
                </a:solidFill>
                <a:latin typeface="+mj-lt"/>
              </a:rPr>
              <a:t>Answers: how likely? how many? which ones?</a:t>
            </a:r>
          </a:p>
        </p:txBody>
      </p:sp>
      <p:sp>
        <p:nvSpPr>
          <p:cNvPr id="13" name="Rounded Rectangle 12"/>
          <p:cNvSpPr/>
          <p:nvPr/>
        </p:nvSpPr>
        <p:spPr>
          <a:xfrm>
            <a:off x="6647688" y="3749039"/>
            <a:ext cx="4983480" cy="4434840"/>
          </a:xfrm>
          <a:prstGeom prst="roundRect">
            <a:avLst>
              <a:gd name="adj" fmla="val 5773"/>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613648" y="3223259"/>
            <a:ext cx="1051560" cy="1051560"/>
          </a:xfrm>
          <a:prstGeom prst="ellipse">
            <a:avLst/>
          </a:prstGeom>
          <a:solidFill>
            <a:srgbClr val="4398F9"/>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sparkles_w.png"/>
          <p:cNvPicPr>
            <a:picLocks noChangeAspect="1"/>
          </p:cNvPicPr>
          <p:nvPr/>
        </p:nvPicPr>
        <p:blipFill>
          <a:blip r:embed="rId3"/>
          <a:stretch>
            <a:fillRect/>
          </a:stretch>
        </p:blipFill>
        <p:spPr>
          <a:xfrm>
            <a:off x="8866022" y="3475634"/>
            <a:ext cx="546811" cy="546811"/>
          </a:xfrm>
          <a:prstGeom prst="rect">
            <a:avLst/>
          </a:prstGeom>
        </p:spPr>
      </p:pic>
      <p:sp>
        <p:nvSpPr>
          <p:cNvPr id="16" name="TextBox 15"/>
          <p:cNvSpPr txBox="1"/>
          <p:nvPr/>
        </p:nvSpPr>
        <p:spPr>
          <a:xfrm>
            <a:off x="6922008" y="4506163"/>
            <a:ext cx="4434840" cy="594360"/>
          </a:xfrm>
          <a:prstGeom prst="rect">
            <a:avLst/>
          </a:prstGeom>
          <a:noFill/>
        </p:spPr>
        <p:txBody>
          <a:bodyPr wrap="square" lIns="45720" tIns="27432" rIns="45720" bIns="27432" anchor="t">
            <a:spAutoFit/>
          </a:bodyPr>
          <a:lstStyle/>
          <a:p>
            <a:pPr algn="ctr"/>
            <a:r>
              <a:rPr sz="2100">
                <a:solidFill>
                  <a:srgbClr val="262626"/>
                </a:solidFill>
                <a:latin typeface="+mj-lt"/>
              </a:rPr>
              <a:t>Generative AI</a:t>
            </a:r>
          </a:p>
        </p:txBody>
      </p:sp>
      <p:sp>
        <p:nvSpPr>
          <p:cNvPr id="17" name="TextBox 16"/>
          <p:cNvSpPr txBox="1"/>
          <p:nvPr/>
        </p:nvSpPr>
        <p:spPr>
          <a:xfrm>
            <a:off x="6967728" y="5191963"/>
            <a:ext cx="4343400" cy="1894636"/>
          </a:xfrm>
          <a:prstGeom prst="rect">
            <a:avLst/>
          </a:prstGeom>
          <a:noFill/>
        </p:spPr>
        <p:txBody>
          <a:bodyPr wrap="square" lIns="45720" tIns="27432" rIns="45720" bIns="27432" anchor="t">
            <a:spAutoFit/>
          </a:bodyPr>
          <a:lstStyle/>
          <a:p>
            <a:pPr algn="l"/>
            <a:r>
              <a:rPr sz="1600">
                <a:solidFill>
                  <a:srgbClr val="262626"/>
                </a:solidFill>
              </a:rPr>
              <a:t>Learns language to create: it summarises a guideline, drafts a letter, explains a chart, answers one question at a time.</a:t>
            </a:r>
          </a:p>
          <a:p>
            <a:pPr algn="l">
              <a:spcBef>
                <a:spcPts val="1200"/>
              </a:spcBef>
            </a:pPr>
            <a:r>
              <a:rPr sz="1600">
                <a:solidFill>
                  <a:srgbClr val="0766D1"/>
                </a:solidFill>
                <a:latin typeface="+mj-lt"/>
              </a:rPr>
              <a:t>In the demo: the language model that writes every answer.</a:t>
            </a:r>
          </a:p>
        </p:txBody>
      </p:sp>
      <p:sp>
        <p:nvSpPr>
          <p:cNvPr id="18" name="TextBox 17"/>
          <p:cNvSpPr txBox="1"/>
          <p:nvPr/>
        </p:nvSpPr>
        <p:spPr>
          <a:xfrm>
            <a:off x="6967728" y="7132319"/>
            <a:ext cx="4343400" cy="868680"/>
          </a:xfrm>
          <a:prstGeom prst="rect">
            <a:avLst/>
          </a:prstGeom>
          <a:noFill/>
        </p:spPr>
        <p:txBody>
          <a:bodyPr wrap="square" lIns="45720" tIns="27432" rIns="45720" bIns="27432" anchor="b">
            <a:spAutoFit/>
          </a:bodyPr>
          <a:lstStyle/>
          <a:p>
            <a:pPr algn="l"/>
            <a:r>
              <a:rPr sz="1500">
                <a:solidFill>
                  <a:srgbClr val="0766D1"/>
                </a:solidFill>
                <a:latin typeface="+mj-lt"/>
              </a:rPr>
              <a:t>Answers: what does this say? write this for me.</a:t>
            </a:r>
          </a:p>
        </p:txBody>
      </p:sp>
      <p:sp>
        <p:nvSpPr>
          <p:cNvPr id="19" name="Rounded Rectangle 18"/>
          <p:cNvSpPr/>
          <p:nvPr/>
        </p:nvSpPr>
        <p:spPr>
          <a:xfrm>
            <a:off x="12042648" y="3749039"/>
            <a:ext cx="4983480" cy="4434840"/>
          </a:xfrm>
          <a:prstGeom prst="roundRect">
            <a:avLst>
              <a:gd name="adj" fmla="val 5773"/>
            </a:avLst>
          </a:prstGeom>
          <a:solidFill>
            <a:srgbClr val="0766D1"/>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4008608" y="3223259"/>
            <a:ext cx="1051560" cy="1051560"/>
          </a:xfrm>
          <a:prstGeom prst="ellipse">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bot_b.png"/>
          <p:cNvPicPr>
            <a:picLocks noChangeAspect="1"/>
          </p:cNvPicPr>
          <p:nvPr/>
        </p:nvPicPr>
        <p:blipFill>
          <a:blip r:embed="rId4"/>
          <a:stretch>
            <a:fillRect/>
          </a:stretch>
        </p:blipFill>
        <p:spPr>
          <a:xfrm>
            <a:off x="14260982" y="3475634"/>
            <a:ext cx="546811" cy="546811"/>
          </a:xfrm>
          <a:prstGeom prst="rect">
            <a:avLst/>
          </a:prstGeom>
        </p:spPr>
      </p:pic>
      <p:sp>
        <p:nvSpPr>
          <p:cNvPr id="22" name="TextBox 21"/>
          <p:cNvSpPr txBox="1"/>
          <p:nvPr/>
        </p:nvSpPr>
        <p:spPr>
          <a:xfrm>
            <a:off x="12316968" y="4506163"/>
            <a:ext cx="4434840" cy="594360"/>
          </a:xfrm>
          <a:prstGeom prst="rect">
            <a:avLst/>
          </a:prstGeom>
          <a:noFill/>
        </p:spPr>
        <p:txBody>
          <a:bodyPr wrap="square" lIns="45720" tIns="27432" rIns="45720" bIns="27432" anchor="t">
            <a:spAutoFit/>
          </a:bodyPr>
          <a:lstStyle/>
          <a:p>
            <a:pPr algn="ctr"/>
            <a:r>
              <a:rPr sz="2100">
                <a:solidFill>
                  <a:srgbClr val="FFFFFF"/>
                </a:solidFill>
                <a:latin typeface="+mj-lt"/>
              </a:rPr>
              <a:t>Agentic AI</a:t>
            </a:r>
          </a:p>
        </p:txBody>
      </p:sp>
      <p:sp>
        <p:nvSpPr>
          <p:cNvPr id="23" name="TextBox 22"/>
          <p:cNvSpPr txBox="1"/>
          <p:nvPr/>
        </p:nvSpPr>
        <p:spPr>
          <a:xfrm>
            <a:off x="12362688" y="5191963"/>
            <a:ext cx="4343400" cy="1894636"/>
          </a:xfrm>
          <a:prstGeom prst="rect">
            <a:avLst/>
          </a:prstGeom>
          <a:noFill/>
        </p:spPr>
        <p:txBody>
          <a:bodyPr wrap="square" lIns="45720" tIns="27432" rIns="45720" bIns="27432" anchor="t">
            <a:spAutoFit/>
          </a:bodyPr>
          <a:lstStyle/>
          <a:p>
            <a:pPr algn="l"/>
            <a:r>
              <a:rPr sz="1600">
                <a:solidFill>
                  <a:srgbClr val="FFFFFF"/>
                </a:solidFill>
              </a:rPr>
              <a:t>Pursues a goal: breaks it into steps, uses tools, models and documents, checks the results, and keeps going until the job is done, inside boundaries set by people.</a:t>
            </a:r>
          </a:p>
          <a:p>
            <a:pPr algn="l">
              <a:spcBef>
                <a:spcPts val="1200"/>
              </a:spcBef>
            </a:pPr>
            <a:r>
              <a:rPr sz="1600">
                <a:solidFill>
                  <a:srgbClr val="C4DEFD"/>
                </a:solidFill>
                <a:latin typeface="+mj-lt"/>
              </a:rPr>
              <a:t>In the demo: the Population Health Agent itself.</a:t>
            </a:r>
          </a:p>
        </p:txBody>
      </p:sp>
      <p:sp>
        <p:nvSpPr>
          <p:cNvPr id="24" name="TextBox 23"/>
          <p:cNvSpPr txBox="1"/>
          <p:nvPr/>
        </p:nvSpPr>
        <p:spPr>
          <a:xfrm>
            <a:off x="12362688" y="7132319"/>
            <a:ext cx="4343400" cy="868680"/>
          </a:xfrm>
          <a:prstGeom prst="rect">
            <a:avLst/>
          </a:prstGeom>
          <a:noFill/>
        </p:spPr>
        <p:txBody>
          <a:bodyPr wrap="square" lIns="45720" tIns="27432" rIns="45720" bIns="27432" anchor="b">
            <a:spAutoFit/>
          </a:bodyPr>
          <a:lstStyle/>
          <a:p>
            <a:pPr algn="l"/>
            <a:r>
              <a:rPr sz="1500">
                <a:solidFill>
                  <a:srgbClr val="C4DEFD"/>
                </a:solidFill>
                <a:latin typeface="+mj-lt"/>
              </a:rPr>
              <a:t>Answers: get this done, and show me how you did it.</a:t>
            </a:r>
          </a:p>
        </p:txBody>
      </p:sp>
      <p:sp>
        <p:nvSpPr>
          <p:cNvPr id="25" name="Rounded Rectangle 24"/>
          <p:cNvSpPr/>
          <p:nvPr/>
        </p:nvSpPr>
        <p:spPr>
          <a:xfrm>
            <a:off x="1252728" y="8412480"/>
            <a:ext cx="15773400" cy="914400"/>
          </a:xfrm>
          <a:prstGeom prst="roundRect">
            <a:avLst>
              <a:gd name="adj" fmla="val 22000"/>
            </a:avLst>
          </a:prstGeom>
          <a:solidFill>
            <a:srgbClr val="C4D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ightbulb_n.png"/>
          <p:cNvPicPr>
            <a:picLocks noChangeAspect="1"/>
          </p:cNvPicPr>
          <p:nvPr/>
        </p:nvPicPr>
        <p:blipFill>
          <a:blip r:embed="rId5"/>
          <a:stretch>
            <a:fillRect/>
          </a:stretch>
        </p:blipFill>
        <p:spPr>
          <a:xfrm>
            <a:off x="1572768" y="8595359"/>
            <a:ext cx="548640" cy="548640"/>
          </a:xfrm>
          <a:prstGeom prst="rect">
            <a:avLst/>
          </a:prstGeom>
        </p:spPr>
      </p:pic>
      <p:sp>
        <p:nvSpPr>
          <p:cNvPr id="27" name="TextBox 26"/>
          <p:cNvSpPr txBox="1"/>
          <p:nvPr/>
        </p:nvSpPr>
        <p:spPr>
          <a:xfrm>
            <a:off x="2395728" y="8522207"/>
            <a:ext cx="14356080" cy="694944"/>
          </a:xfrm>
          <a:prstGeom prst="rect">
            <a:avLst/>
          </a:prstGeom>
          <a:noFill/>
        </p:spPr>
        <p:txBody>
          <a:bodyPr wrap="square" lIns="45720" tIns="27432" rIns="45720" bIns="27432" anchor="ctr">
            <a:spAutoFit/>
          </a:bodyPr>
          <a:lstStyle/>
          <a:p>
            <a:pPr algn="l"/>
            <a:r>
              <a:rPr sz="1600">
                <a:solidFill>
                  <a:srgbClr val="032954"/>
                </a:solidFill>
              </a:rPr>
              <a:t>Agentic AI does not replace the first two. It uses them as tools: the model scores, the LLM reasons and writes, the agent decides what to do next.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r>
              <a:rPr sz="5600"/>
              <a:t>What makes it an agent: the loop</a:t>
            </a:r>
          </a:p>
        </p:txBody>
      </p:sp>
      <p:sp>
        <p:nvSpPr>
          <p:cNvPr id="3" name="Text Placeholder 2"/>
          <p:cNvSpPr>
            <a:spLocks noGrp="1"/>
          </p:cNvSpPr>
          <p:nvPr>
            <p:ph type="body" idx="10" sz="quarter"/>
          </p:nvPr>
        </p:nvSpPr>
        <p:spPr/>
        <p:txBody>
          <a:bodyPr/>
          <a:lstStyle/>
          <a:p>
            <a:r>
              <a:rPr sz="3000"/>
              <a:t>A chatbot answers once. An agent keeps going until the goal is met</a:t>
            </a:r>
          </a:p>
        </p:txBody>
      </p:sp>
      <p:sp>
        <p:nvSpPr>
          <p:cNvPr id="5" name="Donut 4"/>
          <p:cNvSpPr/>
          <p:nvPr/>
        </p:nvSpPr>
        <p:spPr>
          <a:xfrm>
            <a:off x="2907792" y="3639312"/>
            <a:ext cx="5065776" cy="5065776"/>
          </a:xfrm>
          <a:prstGeom prst="donut">
            <a:avLst>
              <a:gd name="adj" fmla="val 15000"/>
            </a:avLst>
          </a:prstGeom>
          <a:solidFill>
            <a:srgbClr val="C4D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4709160" y="3291840"/>
            <a:ext cx="1463040" cy="1463040"/>
          </a:xfrm>
          <a:prstGeom prst="ellipse">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45720" tIns="18288" rIns="45720" bIns="18288"/>
          <a:lstStyle/>
          <a:p>
            <a:pPr algn="ctr"/>
            <a:r>
              <a:rPr sz="1300">
                <a:solidFill>
                  <a:srgbClr val="FFFFFF"/>
                </a:solidFill>
                <a:latin typeface="+mj-lt"/>
              </a:rPr>
              <a:t>PERCEIVE</a:t>
            </a:r>
          </a:p>
        </p:txBody>
      </p:sp>
      <p:sp>
        <p:nvSpPr>
          <p:cNvPr id="7" name="Oval 6"/>
          <p:cNvSpPr/>
          <p:nvPr/>
        </p:nvSpPr>
        <p:spPr>
          <a:xfrm>
            <a:off x="6858000" y="5440680"/>
            <a:ext cx="1463040" cy="1463040"/>
          </a:xfrm>
          <a:prstGeom prst="ellipse">
            <a:avLst/>
          </a:prstGeom>
          <a:solidFill>
            <a:srgbClr val="0766D1"/>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45720" tIns="18288" rIns="45720" bIns="18288"/>
          <a:lstStyle/>
          <a:p>
            <a:pPr algn="ctr"/>
            <a:r>
              <a:rPr sz="1300">
                <a:solidFill>
                  <a:srgbClr val="FFFFFF"/>
                </a:solidFill>
                <a:latin typeface="+mj-lt"/>
              </a:rPr>
              <a:t>REASON &amp; PLAN</a:t>
            </a:r>
          </a:p>
        </p:txBody>
      </p:sp>
      <p:sp>
        <p:nvSpPr>
          <p:cNvPr id="8" name="Oval 7"/>
          <p:cNvSpPr/>
          <p:nvPr/>
        </p:nvSpPr>
        <p:spPr>
          <a:xfrm>
            <a:off x="4709160" y="7589519"/>
            <a:ext cx="1463040" cy="1463040"/>
          </a:xfrm>
          <a:prstGeom prst="ellipse">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45720" tIns="18288" rIns="45720" bIns="18288"/>
          <a:lstStyle/>
          <a:p>
            <a:pPr algn="ctr"/>
            <a:r>
              <a:rPr sz="1300">
                <a:solidFill>
                  <a:srgbClr val="FFFFFF"/>
                </a:solidFill>
                <a:latin typeface="+mj-lt"/>
              </a:rPr>
              <a:t>ACT</a:t>
            </a:r>
          </a:p>
        </p:txBody>
      </p:sp>
      <p:sp>
        <p:nvSpPr>
          <p:cNvPr id="9" name="Oval 8"/>
          <p:cNvSpPr/>
          <p:nvPr/>
        </p:nvSpPr>
        <p:spPr>
          <a:xfrm>
            <a:off x="2560320" y="5440680"/>
            <a:ext cx="1463040" cy="1463040"/>
          </a:xfrm>
          <a:prstGeom prst="ellipse">
            <a:avLst/>
          </a:prstGeom>
          <a:solidFill>
            <a:srgbClr val="0766D1"/>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45720" tIns="18288" rIns="45720" bIns="18288"/>
          <a:lstStyle/>
          <a:p>
            <a:pPr algn="ctr"/>
            <a:r>
              <a:rPr sz="1300">
                <a:solidFill>
                  <a:srgbClr val="FFFFFF"/>
                </a:solidFill>
                <a:latin typeface="+mj-lt"/>
              </a:rPr>
              <a:t>OBSERVE</a:t>
            </a:r>
          </a:p>
        </p:txBody>
      </p:sp>
      <p:sp>
        <p:nvSpPr>
          <p:cNvPr id="10" name="Chevron 9"/>
          <p:cNvSpPr/>
          <p:nvPr/>
        </p:nvSpPr>
        <p:spPr>
          <a:xfrm rot="2700000">
            <a:off x="6685819" y="4414996"/>
            <a:ext cx="548640" cy="475488"/>
          </a:xfrm>
          <a:prstGeom prst="chevron">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rot="8100000">
            <a:off x="6685819" y="7453915"/>
            <a:ext cx="548640" cy="475488"/>
          </a:xfrm>
          <a:prstGeom prst="chevron">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hevron 11"/>
          <p:cNvSpPr/>
          <p:nvPr/>
        </p:nvSpPr>
        <p:spPr>
          <a:xfrm rot="13500000">
            <a:off x="3646900" y="7453915"/>
            <a:ext cx="548640" cy="475488"/>
          </a:xfrm>
          <a:prstGeom prst="chevron">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evron 12"/>
          <p:cNvSpPr/>
          <p:nvPr/>
        </p:nvSpPr>
        <p:spPr>
          <a:xfrm rot="18900000">
            <a:off x="3646900" y="4414996"/>
            <a:ext cx="548640" cy="475488"/>
          </a:xfrm>
          <a:prstGeom prst="chevron">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06240" y="5394960"/>
            <a:ext cx="2468880" cy="1554480"/>
          </a:xfrm>
          <a:prstGeom prst="rect">
            <a:avLst/>
          </a:prstGeom>
          <a:noFill/>
        </p:spPr>
        <p:txBody>
          <a:bodyPr wrap="square" lIns="45720" tIns="27432" rIns="45720" bIns="27432" anchor="ctr">
            <a:spAutoFit/>
          </a:bodyPr>
          <a:lstStyle/>
          <a:p>
            <a:pPr algn="ctr"/>
            <a:r>
              <a:rPr sz="1400">
                <a:solidFill>
                  <a:srgbClr val="032954"/>
                </a:solidFill>
                <a:latin typeface="+mj-lt"/>
              </a:rPr>
              <a:t>Repeat until the goal is met,</a:t>
            </a:r>
          </a:p>
          <a:p>
            <a:pPr algn="ctr"/>
            <a:r>
              <a:rPr sz="1400">
                <a:solidFill>
                  <a:srgbClr val="0766D1"/>
                </a:solidFill>
                <a:latin typeface="+mj-lt"/>
              </a:rPr>
              <a:t>or a boundary is hit</a:t>
            </a:r>
          </a:p>
        </p:txBody>
      </p:sp>
      <p:sp>
        <p:nvSpPr>
          <p:cNvPr id="15" name="Rounded Rectangle 14"/>
          <p:cNvSpPr/>
          <p:nvPr/>
        </p:nvSpPr>
        <p:spPr>
          <a:xfrm>
            <a:off x="9144000" y="2743200"/>
            <a:ext cx="7882128" cy="4892040"/>
          </a:xfrm>
          <a:prstGeom prst="roundRect">
            <a:avLst>
              <a:gd name="adj" fmla="val 5233"/>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55480" y="3017520"/>
            <a:ext cx="7059168" cy="457200"/>
          </a:xfrm>
          <a:prstGeom prst="rect">
            <a:avLst/>
          </a:prstGeom>
          <a:noFill/>
        </p:spPr>
        <p:txBody>
          <a:bodyPr wrap="square" lIns="45720" tIns="27432" rIns="45720" bIns="27432" anchor="t">
            <a:spAutoFit/>
          </a:bodyPr>
          <a:lstStyle/>
          <a:p>
            <a:pPr algn="l"/>
            <a:r>
              <a:rPr sz="2000">
                <a:solidFill>
                  <a:srgbClr val="0766D1"/>
                </a:solidFill>
                <a:latin typeface="+mj-lt"/>
              </a:rPr>
              <a:t>Each turn of the loop</a:t>
            </a:r>
          </a:p>
        </p:txBody>
      </p:sp>
      <p:sp>
        <p:nvSpPr>
          <p:cNvPr id="17" name="Oval 16"/>
          <p:cNvSpPr/>
          <p:nvPr/>
        </p:nvSpPr>
        <p:spPr>
          <a:xfrm>
            <a:off x="9555480" y="3611880"/>
            <a:ext cx="530352" cy="530352"/>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eye_w.png"/>
          <p:cNvPicPr>
            <a:picLocks noChangeAspect="1"/>
          </p:cNvPicPr>
          <p:nvPr/>
        </p:nvPicPr>
        <p:blipFill>
          <a:blip r:embed="rId2"/>
          <a:stretch>
            <a:fillRect/>
          </a:stretch>
        </p:blipFill>
        <p:spPr>
          <a:xfrm>
            <a:off x="9674809" y="3731209"/>
            <a:ext cx="291693" cy="291693"/>
          </a:xfrm>
          <a:prstGeom prst="rect">
            <a:avLst/>
          </a:prstGeom>
        </p:spPr>
      </p:pic>
      <p:sp>
        <p:nvSpPr>
          <p:cNvPr id="19" name="TextBox 18"/>
          <p:cNvSpPr txBox="1"/>
          <p:nvPr/>
        </p:nvSpPr>
        <p:spPr>
          <a:xfrm>
            <a:off x="10287000" y="3557016"/>
            <a:ext cx="6327648" cy="384048"/>
          </a:xfrm>
          <a:prstGeom prst="rect">
            <a:avLst/>
          </a:prstGeom>
          <a:noFill/>
        </p:spPr>
        <p:txBody>
          <a:bodyPr wrap="square" lIns="45720" tIns="27432" rIns="45720" bIns="27432" anchor="t">
            <a:spAutoFit/>
          </a:bodyPr>
          <a:lstStyle/>
          <a:p>
            <a:pPr algn="l"/>
            <a:r>
              <a:rPr sz="1600">
                <a:solidFill>
                  <a:srgbClr val="262626"/>
                </a:solidFill>
                <a:latin typeface="+mj-lt"/>
              </a:rPr>
              <a:t>Perceive</a:t>
            </a:r>
          </a:p>
        </p:txBody>
      </p:sp>
      <p:sp>
        <p:nvSpPr>
          <p:cNvPr id="20" name="TextBox 19"/>
          <p:cNvSpPr txBox="1"/>
          <p:nvPr/>
        </p:nvSpPr>
        <p:spPr>
          <a:xfrm>
            <a:off x="10287000" y="3922776"/>
            <a:ext cx="6327648" cy="603503"/>
          </a:xfrm>
          <a:prstGeom prst="rect">
            <a:avLst/>
          </a:prstGeom>
          <a:noFill/>
        </p:spPr>
        <p:txBody>
          <a:bodyPr wrap="square" lIns="45720" tIns="27432" rIns="45720" bIns="27432" anchor="t">
            <a:spAutoFit/>
          </a:bodyPr>
          <a:lstStyle/>
          <a:p>
            <a:pPr algn="l"/>
            <a:r>
              <a:rPr sz="1400">
                <a:solidFill>
                  <a:srgbClr val="262626"/>
                </a:solidFill>
              </a:rPr>
              <a:t>Read the situation: the question, the data that came back, the last tool result.</a:t>
            </a:r>
          </a:p>
        </p:txBody>
      </p:sp>
      <p:sp>
        <p:nvSpPr>
          <p:cNvPr id="21" name="Oval 20"/>
          <p:cNvSpPr/>
          <p:nvPr/>
        </p:nvSpPr>
        <p:spPr>
          <a:xfrm>
            <a:off x="9555480" y="4599432"/>
            <a:ext cx="530352" cy="530352"/>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brain_w.png"/>
          <p:cNvPicPr>
            <a:picLocks noChangeAspect="1"/>
          </p:cNvPicPr>
          <p:nvPr/>
        </p:nvPicPr>
        <p:blipFill>
          <a:blip r:embed="rId3"/>
          <a:stretch>
            <a:fillRect/>
          </a:stretch>
        </p:blipFill>
        <p:spPr>
          <a:xfrm>
            <a:off x="9674809" y="4718761"/>
            <a:ext cx="291693" cy="291693"/>
          </a:xfrm>
          <a:prstGeom prst="rect">
            <a:avLst/>
          </a:prstGeom>
        </p:spPr>
      </p:pic>
      <p:sp>
        <p:nvSpPr>
          <p:cNvPr id="23" name="TextBox 22"/>
          <p:cNvSpPr txBox="1"/>
          <p:nvPr/>
        </p:nvSpPr>
        <p:spPr>
          <a:xfrm>
            <a:off x="10287000" y="4544568"/>
            <a:ext cx="6327648" cy="384048"/>
          </a:xfrm>
          <a:prstGeom prst="rect">
            <a:avLst/>
          </a:prstGeom>
          <a:noFill/>
        </p:spPr>
        <p:txBody>
          <a:bodyPr wrap="square" lIns="45720" tIns="27432" rIns="45720" bIns="27432" anchor="t">
            <a:spAutoFit/>
          </a:bodyPr>
          <a:lstStyle/>
          <a:p>
            <a:pPr algn="l"/>
            <a:r>
              <a:rPr sz="1600">
                <a:solidFill>
                  <a:srgbClr val="262626"/>
                </a:solidFill>
                <a:latin typeface="+mj-lt"/>
              </a:rPr>
              <a:t>Reason &amp; plan</a:t>
            </a:r>
          </a:p>
        </p:txBody>
      </p:sp>
      <p:sp>
        <p:nvSpPr>
          <p:cNvPr id="24" name="TextBox 23"/>
          <p:cNvSpPr txBox="1"/>
          <p:nvPr/>
        </p:nvSpPr>
        <p:spPr>
          <a:xfrm>
            <a:off x="10287000" y="4910328"/>
            <a:ext cx="6327648" cy="603503"/>
          </a:xfrm>
          <a:prstGeom prst="rect">
            <a:avLst/>
          </a:prstGeom>
          <a:noFill/>
        </p:spPr>
        <p:txBody>
          <a:bodyPr wrap="square" lIns="45720" tIns="27432" rIns="45720" bIns="27432" anchor="t">
            <a:spAutoFit/>
          </a:bodyPr>
          <a:lstStyle/>
          <a:p>
            <a:pPr algn="l"/>
            <a:r>
              <a:rPr sz="1400">
                <a:solidFill>
                  <a:srgbClr val="262626"/>
                </a:solidFill>
              </a:rPr>
              <a:t>The language model weighs goal, rules, knowledge and tools, and proposes the next step.</a:t>
            </a:r>
          </a:p>
        </p:txBody>
      </p:sp>
      <p:sp>
        <p:nvSpPr>
          <p:cNvPr id="25" name="Oval 24"/>
          <p:cNvSpPr/>
          <p:nvPr/>
        </p:nvSpPr>
        <p:spPr>
          <a:xfrm>
            <a:off x="9555480" y="5586984"/>
            <a:ext cx="530352" cy="530352"/>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lay_w.png"/>
          <p:cNvPicPr>
            <a:picLocks noChangeAspect="1"/>
          </p:cNvPicPr>
          <p:nvPr/>
        </p:nvPicPr>
        <p:blipFill>
          <a:blip r:embed="rId4"/>
          <a:stretch>
            <a:fillRect/>
          </a:stretch>
        </p:blipFill>
        <p:spPr>
          <a:xfrm>
            <a:off x="9674809" y="5706313"/>
            <a:ext cx="291693" cy="291693"/>
          </a:xfrm>
          <a:prstGeom prst="rect">
            <a:avLst/>
          </a:prstGeom>
        </p:spPr>
      </p:pic>
      <p:sp>
        <p:nvSpPr>
          <p:cNvPr id="27" name="TextBox 26"/>
          <p:cNvSpPr txBox="1"/>
          <p:nvPr/>
        </p:nvSpPr>
        <p:spPr>
          <a:xfrm>
            <a:off x="10287000" y="5532120"/>
            <a:ext cx="6327648" cy="384048"/>
          </a:xfrm>
          <a:prstGeom prst="rect">
            <a:avLst/>
          </a:prstGeom>
          <a:noFill/>
        </p:spPr>
        <p:txBody>
          <a:bodyPr wrap="square" lIns="45720" tIns="27432" rIns="45720" bIns="27432" anchor="t">
            <a:spAutoFit/>
          </a:bodyPr>
          <a:lstStyle/>
          <a:p>
            <a:pPr algn="l"/>
            <a:r>
              <a:rPr sz="1600">
                <a:solidFill>
                  <a:srgbClr val="262626"/>
                </a:solidFill>
                <a:latin typeface="+mj-lt"/>
              </a:rPr>
              <a:t>Act</a:t>
            </a:r>
          </a:p>
        </p:txBody>
      </p:sp>
      <p:sp>
        <p:nvSpPr>
          <p:cNvPr id="28" name="TextBox 27"/>
          <p:cNvSpPr txBox="1"/>
          <p:nvPr/>
        </p:nvSpPr>
        <p:spPr>
          <a:xfrm>
            <a:off x="10287000" y="5897880"/>
            <a:ext cx="6327648" cy="603503"/>
          </a:xfrm>
          <a:prstGeom prst="rect">
            <a:avLst/>
          </a:prstGeom>
          <a:noFill/>
        </p:spPr>
        <p:txBody>
          <a:bodyPr wrap="square" lIns="45720" tIns="27432" rIns="45720" bIns="27432" anchor="t">
            <a:spAutoFit/>
          </a:bodyPr>
          <a:lstStyle/>
          <a:p>
            <a:pPr algn="l"/>
            <a:r>
              <a:rPr sz="1400">
                <a:solidFill>
                  <a:srgbClr val="262626"/>
                </a:solidFill>
              </a:rPr>
              <a:t>The runtime executes it: a query, a model score, a document search, a draft.</a:t>
            </a:r>
          </a:p>
        </p:txBody>
      </p:sp>
      <p:sp>
        <p:nvSpPr>
          <p:cNvPr id="29" name="Oval 28"/>
          <p:cNvSpPr/>
          <p:nvPr/>
        </p:nvSpPr>
        <p:spPr>
          <a:xfrm>
            <a:off x="9555480" y="6574536"/>
            <a:ext cx="530352" cy="530352"/>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search_w.png"/>
          <p:cNvPicPr>
            <a:picLocks noChangeAspect="1"/>
          </p:cNvPicPr>
          <p:nvPr/>
        </p:nvPicPr>
        <p:blipFill>
          <a:blip r:embed="rId5"/>
          <a:stretch>
            <a:fillRect/>
          </a:stretch>
        </p:blipFill>
        <p:spPr>
          <a:xfrm>
            <a:off x="9674809" y="6693865"/>
            <a:ext cx="291693" cy="291693"/>
          </a:xfrm>
          <a:prstGeom prst="rect">
            <a:avLst/>
          </a:prstGeom>
        </p:spPr>
      </p:pic>
      <p:sp>
        <p:nvSpPr>
          <p:cNvPr id="31" name="TextBox 30"/>
          <p:cNvSpPr txBox="1"/>
          <p:nvPr/>
        </p:nvSpPr>
        <p:spPr>
          <a:xfrm>
            <a:off x="10287000" y="6519672"/>
            <a:ext cx="6327648" cy="384048"/>
          </a:xfrm>
          <a:prstGeom prst="rect">
            <a:avLst/>
          </a:prstGeom>
          <a:noFill/>
        </p:spPr>
        <p:txBody>
          <a:bodyPr wrap="square" lIns="45720" tIns="27432" rIns="45720" bIns="27432" anchor="t">
            <a:spAutoFit/>
          </a:bodyPr>
          <a:lstStyle/>
          <a:p>
            <a:pPr algn="l"/>
            <a:r>
              <a:rPr sz="1600">
                <a:solidFill>
                  <a:srgbClr val="262626"/>
                </a:solidFill>
                <a:latin typeface="+mj-lt"/>
              </a:rPr>
              <a:t>Observe</a:t>
            </a:r>
          </a:p>
        </p:txBody>
      </p:sp>
      <p:sp>
        <p:nvSpPr>
          <p:cNvPr id="32" name="TextBox 31"/>
          <p:cNvSpPr txBox="1"/>
          <p:nvPr/>
        </p:nvSpPr>
        <p:spPr>
          <a:xfrm>
            <a:off x="10287000" y="6885432"/>
            <a:ext cx="6327648" cy="603503"/>
          </a:xfrm>
          <a:prstGeom prst="rect">
            <a:avLst/>
          </a:prstGeom>
          <a:noFill/>
        </p:spPr>
        <p:txBody>
          <a:bodyPr wrap="square" lIns="45720" tIns="27432" rIns="45720" bIns="27432" anchor="t">
            <a:spAutoFit/>
          </a:bodyPr>
          <a:lstStyle/>
          <a:p>
            <a:pPr algn="l"/>
            <a:r>
              <a:rPr sz="1400">
                <a:solidFill>
                  <a:srgbClr val="262626"/>
                </a:solidFill>
              </a:rPr>
              <a:t>The result comes back and becomes the next thing to perceive.</a:t>
            </a:r>
          </a:p>
        </p:txBody>
      </p:sp>
      <p:sp>
        <p:nvSpPr>
          <p:cNvPr id="33" name="Rounded Rectangle 32"/>
          <p:cNvSpPr/>
          <p:nvPr/>
        </p:nvSpPr>
        <p:spPr>
          <a:xfrm>
            <a:off x="9144000" y="7909560"/>
            <a:ext cx="7882128" cy="1417320"/>
          </a:xfrm>
          <a:prstGeom prst="roundRect">
            <a:avLst>
              <a:gd name="adj" fmla="val 14193"/>
            </a:avLst>
          </a:prstGeom>
          <a:solidFill>
            <a:srgbClr val="C4D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robot_n.png"/>
          <p:cNvPicPr>
            <a:picLocks noChangeAspect="1"/>
          </p:cNvPicPr>
          <p:nvPr/>
        </p:nvPicPr>
        <p:blipFill>
          <a:blip r:embed="rId6"/>
          <a:stretch>
            <a:fillRect/>
          </a:stretch>
        </p:blipFill>
        <p:spPr>
          <a:xfrm>
            <a:off x="9464040" y="8298180"/>
            <a:ext cx="640080" cy="640080"/>
          </a:xfrm>
          <a:prstGeom prst="rect">
            <a:avLst/>
          </a:prstGeom>
        </p:spPr>
      </p:pic>
      <p:sp>
        <p:nvSpPr>
          <p:cNvPr id="35" name="TextBox 34"/>
          <p:cNvSpPr txBox="1"/>
          <p:nvPr/>
        </p:nvSpPr>
        <p:spPr>
          <a:xfrm>
            <a:off x="10378440" y="8019288"/>
            <a:ext cx="6373368" cy="1197864"/>
          </a:xfrm>
          <a:prstGeom prst="rect">
            <a:avLst/>
          </a:prstGeom>
          <a:noFill/>
        </p:spPr>
        <p:txBody>
          <a:bodyPr wrap="square" lIns="45720" tIns="27432" rIns="45720" bIns="27432" anchor="ctr">
            <a:spAutoFit/>
          </a:bodyPr>
          <a:lstStyle/>
          <a:p>
            <a:pPr algn="l"/>
            <a:r>
              <a:rPr sz="1500">
                <a:solidFill>
                  <a:srgbClr val="032954"/>
                </a:solidFill>
              </a:rPr>
              <a:t>An AI agent is a system that pursues a </a:t>
            </a:r>
            <a:r>
              <a:rPr sz="1500">
                <a:solidFill>
                  <a:srgbClr val="032954"/>
                </a:solidFill>
                <a:latin typeface="+mj-lt"/>
              </a:rPr>
              <a:t>goal</a:t>
            </a:r>
            <a:r>
              <a:rPr sz="1500">
                <a:solidFill>
                  <a:srgbClr val="032954"/>
                </a:solidFill>
              </a:rPr>
              <a:t> by reasoning about what to do next, using </a:t>
            </a:r>
            <a:r>
              <a:rPr sz="1500">
                <a:solidFill>
                  <a:srgbClr val="032954"/>
                </a:solidFill>
                <a:latin typeface="+mj-lt"/>
              </a:rPr>
              <a:t>tools</a:t>
            </a:r>
            <a:r>
              <a:rPr sz="1500">
                <a:solidFill>
                  <a:srgbClr val="032954"/>
                </a:solidFill>
              </a:rPr>
              <a:t> to act, and checking the result, inside </a:t>
            </a:r>
            <a:r>
              <a:rPr sz="1500">
                <a:solidFill>
                  <a:srgbClr val="032954"/>
                </a:solidFill>
                <a:latin typeface="+mj-lt"/>
              </a:rPr>
              <a:t>boundaries</a:t>
            </a:r>
            <a:r>
              <a:rPr sz="1500">
                <a:solidFill>
                  <a:srgbClr val="032954"/>
                </a:solidFill>
              </a:rPr>
              <a:t> set by people.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r>
              <a:rPr sz="5600"/>
              <a:t>Where agents fit in healthcare</a:t>
            </a:r>
          </a:p>
        </p:txBody>
      </p:sp>
      <p:sp>
        <p:nvSpPr>
          <p:cNvPr id="3" name="Text Placeholder 2"/>
          <p:cNvSpPr>
            <a:spLocks noGrp="1"/>
          </p:cNvSpPr>
          <p:nvPr>
            <p:ph type="body" idx="10" sz="quarter"/>
          </p:nvPr>
        </p:nvSpPr>
        <p:spPr/>
        <p:txBody>
          <a:bodyPr/>
          <a:lstStyle/>
          <a:p>
            <a:r>
              <a:rPr sz="3000"/>
              <a:t>Real-world patterns: the agent reads, reasons and drafts; a person decides</a:t>
            </a:r>
          </a:p>
        </p:txBody>
      </p:sp>
      <p:sp>
        <p:nvSpPr>
          <p:cNvPr id="5" name="Rounded Rectangle 4"/>
          <p:cNvSpPr/>
          <p:nvPr/>
        </p:nvSpPr>
        <p:spPr>
          <a:xfrm>
            <a:off x="1252728" y="2697480"/>
            <a:ext cx="5013960" cy="3017520"/>
          </a:xfrm>
          <a:prstGeom prst="roundRect">
            <a:avLst>
              <a:gd name="adj" fmla="val 8484"/>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17904" y="2935224"/>
            <a:ext cx="658368" cy="658368"/>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heart_w.png"/>
          <p:cNvPicPr>
            <a:picLocks noChangeAspect="1"/>
          </p:cNvPicPr>
          <p:nvPr/>
        </p:nvPicPr>
        <p:blipFill>
          <a:blip r:embed="rId2"/>
          <a:stretch>
            <a:fillRect/>
          </a:stretch>
        </p:blipFill>
        <p:spPr>
          <a:xfrm>
            <a:off x="1666036" y="3083356"/>
            <a:ext cx="362102" cy="362102"/>
          </a:xfrm>
          <a:prstGeom prst="rect">
            <a:avLst/>
          </a:prstGeom>
        </p:spPr>
      </p:pic>
      <p:sp>
        <p:nvSpPr>
          <p:cNvPr id="8" name="TextBox 7"/>
          <p:cNvSpPr txBox="1"/>
          <p:nvPr/>
        </p:nvSpPr>
        <p:spPr>
          <a:xfrm>
            <a:off x="2350008" y="3017520"/>
            <a:ext cx="2133599" cy="502920"/>
          </a:xfrm>
          <a:prstGeom prst="rect">
            <a:avLst/>
          </a:prstGeom>
          <a:noFill/>
        </p:spPr>
        <p:txBody>
          <a:bodyPr wrap="square" lIns="45720" tIns="27432" rIns="45720" bIns="27432" anchor="t">
            <a:spAutoFit/>
          </a:bodyPr>
          <a:lstStyle/>
          <a:p>
            <a:pPr algn="l"/>
            <a:r>
              <a:rPr sz="1900">
                <a:solidFill>
                  <a:srgbClr val="262626"/>
                </a:solidFill>
                <a:latin typeface="+mj-lt"/>
              </a:rPr>
              <a:t>Population health</a:t>
            </a:r>
          </a:p>
        </p:txBody>
      </p:sp>
      <p:sp>
        <p:nvSpPr>
          <p:cNvPr id="9" name="Rounded Rectangle 8"/>
          <p:cNvSpPr/>
          <p:nvPr/>
        </p:nvSpPr>
        <p:spPr>
          <a:xfrm>
            <a:off x="4483608" y="3063240"/>
            <a:ext cx="1508760" cy="420624"/>
          </a:xfrm>
          <a:prstGeom prst="roundRect">
            <a:avLst>
              <a:gd name="adj" fmla="val 50000"/>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200">
                <a:solidFill>
                  <a:srgbClr val="FFFFFF"/>
                </a:solidFill>
                <a:latin typeface="+mj-lt"/>
              </a:rPr>
              <a:t>Today's demo</a:t>
            </a:r>
          </a:p>
        </p:txBody>
      </p:sp>
      <p:sp>
        <p:nvSpPr>
          <p:cNvPr id="10" name="TextBox 9"/>
          <p:cNvSpPr txBox="1"/>
          <p:nvPr/>
        </p:nvSpPr>
        <p:spPr>
          <a:xfrm>
            <a:off x="1618488" y="3749039"/>
            <a:ext cx="4282440" cy="1325880"/>
          </a:xfrm>
          <a:prstGeom prst="rect">
            <a:avLst/>
          </a:prstGeom>
          <a:noFill/>
        </p:spPr>
        <p:txBody>
          <a:bodyPr wrap="square" lIns="45720" tIns="27432" rIns="45720" bIns="27432" anchor="t">
            <a:spAutoFit/>
          </a:bodyPr>
          <a:lstStyle/>
          <a:p>
            <a:pPr algn="l"/>
            <a:r>
              <a:rPr sz="1400">
                <a:solidFill>
                  <a:srgbClr val="262626"/>
                </a:solidFill>
              </a:rPr>
              <a:t>Finds cohorts and care gaps in the registry, scores risk, drafts a recall list with the guideline section that justifies it.</a:t>
            </a:r>
          </a:p>
        </p:txBody>
      </p:sp>
      <p:sp>
        <p:nvSpPr>
          <p:cNvPr id="11" name="TextBox 10"/>
          <p:cNvSpPr txBox="1"/>
          <p:nvPr/>
        </p:nvSpPr>
        <p:spPr>
          <a:xfrm>
            <a:off x="1618488" y="5029200"/>
            <a:ext cx="4282440" cy="457200"/>
          </a:xfrm>
          <a:prstGeom prst="rect">
            <a:avLst/>
          </a:prstGeom>
          <a:noFill/>
        </p:spPr>
        <p:txBody>
          <a:bodyPr wrap="square" lIns="45720" tIns="27432" rIns="45720" bIns="27432" anchor="b">
            <a:spAutoFit/>
          </a:bodyPr>
          <a:lstStyle/>
          <a:p>
            <a:pPr algn="l"/>
            <a:r>
              <a:rPr sz="1300">
                <a:solidFill>
                  <a:srgbClr val="0766D1"/>
                </a:solidFill>
                <a:latin typeface="+mj-lt"/>
              </a:rPr>
              <a:t>The programme lead approves the list.</a:t>
            </a:r>
          </a:p>
        </p:txBody>
      </p:sp>
      <p:sp>
        <p:nvSpPr>
          <p:cNvPr id="12" name="Rounded Rectangle 11"/>
          <p:cNvSpPr/>
          <p:nvPr/>
        </p:nvSpPr>
        <p:spPr>
          <a:xfrm>
            <a:off x="6632448" y="2697480"/>
            <a:ext cx="5013960" cy="3017520"/>
          </a:xfrm>
          <a:prstGeom prst="roundRect">
            <a:avLst>
              <a:gd name="adj" fmla="val 8484"/>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97624" y="2935224"/>
            <a:ext cx="658368" cy="658368"/>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alendar_w.png"/>
          <p:cNvPicPr>
            <a:picLocks noChangeAspect="1"/>
          </p:cNvPicPr>
          <p:nvPr/>
        </p:nvPicPr>
        <p:blipFill>
          <a:blip r:embed="rId3"/>
          <a:stretch>
            <a:fillRect/>
          </a:stretch>
        </p:blipFill>
        <p:spPr>
          <a:xfrm>
            <a:off x="7045756" y="3083356"/>
            <a:ext cx="362102" cy="362102"/>
          </a:xfrm>
          <a:prstGeom prst="rect">
            <a:avLst/>
          </a:prstGeom>
        </p:spPr>
      </p:pic>
      <p:sp>
        <p:nvSpPr>
          <p:cNvPr id="15" name="TextBox 14"/>
          <p:cNvSpPr txBox="1"/>
          <p:nvPr/>
        </p:nvSpPr>
        <p:spPr>
          <a:xfrm>
            <a:off x="7729728" y="3017520"/>
            <a:ext cx="3688080" cy="502920"/>
          </a:xfrm>
          <a:prstGeom prst="rect">
            <a:avLst/>
          </a:prstGeom>
          <a:noFill/>
        </p:spPr>
        <p:txBody>
          <a:bodyPr wrap="square" lIns="45720" tIns="27432" rIns="45720" bIns="27432" anchor="t">
            <a:spAutoFit/>
          </a:bodyPr>
          <a:lstStyle/>
          <a:p>
            <a:pPr algn="l"/>
            <a:r>
              <a:rPr sz="1900">
                <a:solidFill>
                  <a:srgbClr val="262626"/>
                </a:solidFill>
                <a:latin typeface="+mj-lt"/>
              </a:rPr>
              <a:t>Outpatient no-shows</a:t>
            </a:r>
          </a:p>
        </p:txBody>
      </p:sp>
      <p:sp>
        <p:nvSpPr>
          <p:cNvPr id="16" name="TextBox 15"/>
          <p:cNvSpPr txBox="1"/>
          <p:nvPr/>
        </p:nvSpPr>
        <p:spPr>
          <a:xfrm>
            <a:off x="6998208" y="3749039"/>
            <a:ext cx="4282440" cy="1325880"/>
          </a:xfrm>
          <a:prstGeom prst="rect">
            <a:avLst/>
          </a:prstGeom>
          <a:noFill/>
        </p:spPr>
        <p:txBody>
          <a:bodyPr wrap="square" lIns="45720" tIns="27432" rIns="45720" bIns="27432" anchor="t">
            <a:spAutoFit/>
          </a:bodyPr>
          <a:lstStyle/>
          <a:p>
            <a:pPr algn="l"/>
            <a:r>
              <a:rPr sz="1400">
                <a:solidFill>
                  <a:srgbClr val="262626"/>
                </a:solidFill>
              </a:rPr>
              <a:t>Spots who is likely to miss tomorrow's appointment, confirms or reschedules, and refills the freed slot from the waiting list.</a:t>
            </a:r>
          </a:p>
        </p:txBody>
      </p:sp>
      <p:sp>
        <p:nvSpPr>
          <p:cNvPr id="17" name="TextBox 16"/>
          <p:cNvSpPr txBox="1"/>
          <p:nvPr/>
        </p:nvSpPr>
        <p:spPr>
          <a:xfrm>
            <a:off x="6998208" y="5029200"/>
            <a:ext cx="4282440" cy="457200"/>
          </a:xfrm>
          <a:prstGeom prst="rect">
            <a:avLst/>
          </a:prstGeom>
          <a:noFill/>
        </p:spPr>
        <p:txBody>
          <a:bodyPr wrap="square" lIns="45720" tIns="27432" rIns="45720" bIns="27432" anchor="b">
            <a:spAutoFit/>
          </a:bodyPr>
          <a:lstStyle/>
          <a:p>
            <a:pPr algn="l"/>
            <a:r>
              <a:rPr sz="1300">
                <a:solidFill>
                  <a:srgbClr val="0766D1"/>
                </a:solidFill>
                <a:latin typeface="+mj-lt"/>
              </a:rPr>
              <a:t>The coordinator handles exceptions.</a:t>
            </a:r>
          </a:p>
        </p:txBody>
      </p:sp>
      <p:sp>
        <p:nvSpPr>
          <p:cNvPr id="18" name="Rounded Rectangle 17"/>
          <p:cNvSpPr/>
          <p:nvPr/>
        </p:nvSpPr>
        <p:spPr>
          <a:xfrm>
            <a:off x="12012168" y="2697480"/>
            <a:ext cx="5013960" cy="3017520"/>
          </a:xfrm>
          <a:prstGeom prst="roundRect">
            <a:avLst>
              <a:gd name="adj" fmla="val 8484"/>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2277344" y="2935224"/>
            <a:ext cx="658368" cy="658368"/>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lipboard_w.png"/>
          <p:cNvPicPr>
            <a:picLocks noChangeAspect="1"/>
          </p:cNvPicPr>
          <p:nvPr/>
        </p:nvPicPr>
        <p:blipFill>
          <a:blip r:embed="rId4"/>
          <a:stretch>
            <a:fillRect/>
          </a:stretch>
        </p:blipFill>
        <p:spPr>
          <a:xfrm>
            <a:off x="12425476" y="3083356"/>
            <a:ext cx="362102" cy="362102"/>
          </a:xfrm>
          <a:prstGeom prst="rect">
            <a:avLst/>
          </a:prstGeom>
        </p:spPr>
      </p:pic>
      <p:sp>
        <p:nvSpPr>
          <p:cNvPr id="21" name="TextBox 20"/>
          <p:cNvSpPr txBox="1"/>
          <p:nvPr/>
        </p:nvSpPr>
        <p:spPr>
          <a:xfrm>
            <a:off x="13109448" y="3017520"/>
            <a:ext cx="3688080" cy="502920"/>
          </a:xfrm>
          <a:prstGeom prst="rect">
            <a:avLst/>
          </a:prstGeom>
          <a:noFill/>
        </p:spPr>
        <p:txBody>
          <a:bodyPr wrap="square" lIns="45720" tIns="27432" rIns="45720" bIns="27432" anchor="t">
            <a:spAutoFit/>
          </a:bodyPr>
          <a:lstStyle/>
          <a:p>
            <a:pPr algn="l"/>
            <a:r>
              <a:rPr sz="1900">
                <a:solidFill>
                  <a:srgbClr val="262626"/>
                </a:solidFill>
                <a:latin typeface="+mj-lt"/>
              </a:rPr>
              <a:t>Coding and documentation</a:t>
            </a:r>
          </a:p>
        </p:txBody>
      </p:sp>
      <p:sp>
        <p:nvSpPr>
          <p:cNvPr id="22" name="TextBox 21"/>
          <p:cNvSpPr txBox="1"/>
          <p:nvPr/>
        </p:nvSpPr>
        <p:spPr>
          <a:xfrm>
            <a:off x="12377928" y="3749039"/>
            <a:ext cx="4282440" cy="1325880"/>
          </a:xfrm>
          <a:prstGeom prst="rect">
            <a:avLst/>
          </a:prstGeom>
          <a:noFill/>
        </p:spPr>
        <p:txBody>
          <a:bodyPr wrap="square" lIns="45720" tIns="27432" rIns="45720" bIns="27432" anchor="t">
            <a:spAutoFit/>
          </a:bodyPr>
          <a:lstStyle/>
          <a:p>
            <a:pPr algn="l"/>
            <a:r>
              <a:rPr sz="1400">
                <a:solidFill>
                  <a:srgbClr val="262626"/>
                </a:solidFill>
              </a:rPr>
              <a:t>Reads the discharge note, proposes the codes and a summary, with the supporting sentences highlighted.</a:t>
            </a:r>
          </a:p>
        </p:txBody>
      </p:sp>
      <p:sp>
        <p:nvSpPr>
          <p:cNvPr id="23" name="TextBox 22"/>
          <p:cNvSpPr txBox="1"/>
          <p:nvPr/>
        </p:nvSpPr>
        <p:spPr>
          <a:xfrm>
            <a:off x="12377928" y="5029200"/>
            <a:ext cx="4282440" cy="457200"/>
          </a:xfrm>
          <a:prstGeom prst="rect">
            <a:avLst/>
          </a:prstGeom>
          <a:noFill/>
        </p:spPr>
        <p:txBody>
          <a:bodyPr wrap="square" lIns="45720" tIns="27432" rIns="45720" bIns="27432" anchor="b">
            <a:spAutoFit/>
          </a:bodyPr>
          <a:lstStyle/>
          <a:p>
            <a:pPr algn="l"/>
            <a:r>
              <a:rPr sz="1300">
                <a:solidFill>
                  <a:srgbClr val="0766D1"/>
                </a:solidFill>
                <a:latin typeface="+mj-lt"/>
              </a:rPr>
              <a:t>The coder signs off.</a:t>
            </a:r>
          </a:p>
        </p:txBody>
      </p:sp>
      <p:sp>
        <p:nvSpPr>
          <p:cNvPr id="24" name="Rounded Rectangle 23"/>
          <p:cNvSpPr/>
          <p:nvPr/>
        </p:nvSpPr>
        <p:spPr>
          <a:xfrm>
            <a:off x="1252728" y="6080760"/>
            <a:ext cx="5013960" cy="3017520"/>
          </a:xfrm>
          <a:prstGeom prst="roundRect">
            <a:avLst>
              <a:gd name="adj" fmla="val 8484"/>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517904" y="6318504"/>
            <a:ext cx="658368" cy="658368"/>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at_w.png"/>
          <p:cNvPicPr>
            <a:picLocks noChangeAspect="1"/>
          </p:cNvPicPr>
          <p:nvPr/>
        </p:nvPicPr>
        <p:blipFill>
          <a:blip r:embed="rId5"/>
          <a:stretch>
            <a:fillRect/>
          </a:stretch>
        </p:blipFill>
        <p:spPr>
          <a:xfrm>
            <a:off x="1666036" y="6466636"/>
            <a:ext cx="362102" cy="362102"/>
          </a:xfrm>
          <a:prstGeom prst="rect">
            <a:avLst/>
          </a:prstGeom>
        </p:spPr>
      </p:pic>
      <p:sp>
        <p:nvSpPr>
          <p:cNvPr id="27" name="TextBox 26"/>
          <p:cNvSpPr txBox="1"/>
          <p:nvPr/>
        </p:nvSpPr>
        <p:spPr>
          <a:xfrm>
            <a:off x="2350008" y="6400800"/>
            <a:ext cx="3688080" cy="502920"/>
          </a:xfrm>
          <a:prstGeom prst="rect">
            <a:avLst/>
          </a:prstGeom>
          <a:noFill/>
        </p:spPr>
        <p:txBody>
          <a:bodyPr wrap="square" lIns="45720" tIns="27432" rIns="45720" bIns="27432" anchor="t">
            <a:spAutoFit/>
          </a:bodyPr>
          <a:lstStyle/>
          <a:p>
            <a:pPr algn="l"/>
            <a:r>
              <a:rPr sz="1900">
                <a:solidFill>
                  <a:srgbClr val="262626"/>
                </a:solidFill>
                <a:latin typeface="+mj-lt"/>
              </a:rPr>
              <a:t>Patient enquiries</a:t>
            </a:r>
          </a:p>
        </p:txBody>
      </p:sp>
      <p:sp>
        <p:nvSpPr>
          <p:cNvPr id="28" name="TextBox 27"/>
          <p:cNvSpPr txBox="1"/>
          <p:nvPr/>
        </p:nvSpPr>
        <p:spPr>
          <a:xfrm>
            <a:off x="1618488" y="7132320"/>
            <a:ext cx="4282440" cy="1325880"/>
          </a:xfrm>
          <a:prstGeom prst="rect">
            <a:avLst/>
          </a:prstGeom>
          <a:noFill/>
        </p:spPr>
        <p:txBody>
          <a:bodyPr wrap="square" lIns="45720" tIns="27432" rIns="45720" bIns="27432" anchor="t">
            <a:spAutoFit/>
          </a:bodyPr>
          <a:lstStyle/>
          <a:p>
            <a:pPr algn="l"/>
            <a:r>
              <a:rPr sz="1400">
                <a:solidFill>
                  <a:srgbClr val="262626"/>
                </a:solidFill>
              </a:rPr>
              <a:t>Reads messages and complaints, routes them to the right department, drafts the reply in the patient's language.</a:t>
            </a:r>
          </a:p>
        </p:txBody>
      </p:sp>
      <p:sp>
        <p:nvSpPr>
          <p:cNvPr id="29" name="TextBox 28"/>
          <p:cNvSpPr txBox="1"/>
          <p:nvPr/>
        </p:nvSpPr>
        <p:spPr>
          <a:xfrm>
            <a:off x="1618488" y="8412480"/>
            <a:ext cx="4282440" cy="457200"/>
          </a:xfrm>
          <a:prstGeom prst="rect">
            <a:avLst/>
          </a:prstGeom>
          <a:noFill/>
        </p:spPr>
        <p:txBody>
          <a:bodyPr wrap="square" lIns="45720" tIns="27432" rIns="45720" bIns="27432" anchor="b">
            <a:spAutoFit/>
          </a:bodyPr>
          <a:lstStyle/>
          <a:p>
            <a:pPr algn="l"/>
            <a:r>
              <a:rPr sz="1300">
                <a:solidFill>
                  <a:srgbClr val="0766D1"/>
                </a:solidFill>
                <a:latin typeface="+mj-lt"/>
              </a:rPr>
              <a:t>A person sends anything clinical.</a:t>
            </a:r>
          </a:p>
        </p:txBody>
      </p:sp>
      <p:sp>
        <p:nvSpPr>
          <p:cNvPr id="30" name="Rounded Rectangle 29"/>
          <p:cNvSpPr/>
          <p:nvPr/>
        </p:nvSpPr>
        <p:spPr>
          <a:xfrm>
            <a:off x="6632448" y="6080760"/>
            <a:ext cx="5013960" cy="3017520"/>
          </a:xfrm>
          <a:prstGeom prst="roundRect">
            <a:avLst>
              <a:gd name="adj" fmla="val 8484"/>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897624" y="6318504"/>
            <a:ext cx="658368" cy="658368"/>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trend_w.png"/>
          <p:cNvPicPr>
            <a:picLocks noChangeAspect="1"/>
          </p:cNvPicPr>
          <p:nvPr/>
        </p:nvPicPr>
        <p:blipFill>
          <a:blip r:embed="rId6"/>
          <a:stretch>
            <a:fillRect/>
          </a:stretch>
        </p:blipFill>
        <p:spPr>
          <a:xfrm>
            <a:off x="7045756" y="6466636"/>
            <a:ext cx="362102" cy="362102"/>
          </a:xfrm>
          <a:prstGeom prst="rect">
            <a:avLst/>
          </a:prstGeom>
        </p:spPr>
      </p:pic>
      <p:sp>
        <p:nvSpPr>
          <p:cNvPr id="33" name="TextBox 32"/>
          <p:cNvSpPr txBox="1"/>
          <p:nvPr/>
        </p:nvSpPr>
        <p:spPr>
          <a:xfrm>
            <a:off x="7729728" y="6400800"/>
            <a:ext cx="3688080" cy="502920"/>
          </a:xfrm>
          <a:prstGeom prst="rect">
            <a:avLst/>
          </a:prstGeom>
          <a:noFill/>
        </p:spPr>
        <p:txBody>
          <a:bodyPr wrap="square" lIns="45720" tIns="27432" rIns="45720" bIns="27432" anchor="t">
            <a:spAutoFit/>
          </a:bodyPr>
          <a:lstStyle/>
          <a:p>
            <a:pPr algn="l"/>
            <a:r>
              <a:rPr sz="1900">
                <a:solidFill>
                  <a:srgbClr val="262626"/>
                </a:solidFill>
                <a:latin typeface="+mj-lt"/>
              </a:rPr>
              <a:t>Capacity and supply</a:t>
            </a:r>
          </a:p>
        </p:txBody>
      </p:sp>
      <p:sp>
        <p:nvSpPr>
          <p:cNvPr id="34" name="TextBox 33"/>
          <p:cNvSpPr txBox="1"/>
          <p:nvPr/>
        </p:nvSpPr>
        <p:spPr>
          <a:xfrm>
            <a:off x="6998208" y="7132320"/>
            <a:ext cx="4282440" cy="1325880"/>
          </a:xfrm>
          <a:prstGeom prst="rect">
            <a:avLst/>
          </a:prstGeom>
          <a:noFill/>
        </p:spPr>
        <p:txBody>
          <a:bodyPr wrap="square" lIns="45720" tIns="27432" rIns="45720" bIns="27432" anchor="t">
            <a:spAutoFit/>
          </a:bodyPr>
          <a:lstStyle/>
          <a:p>
            <a:pPr algn="l"/>
            <a:r>
              <a:rPr sz="1400">
                <a:solidFill>
                  <a:srgbClr val="262626"/>
                </a:solidFill>
              </a:rPr>
              <a:t>Forecasts demand per facility, flags bed pressure and stock-outs, proposes transfers and orders.</a:t>
            </a:r>
          </a:p>
        </p:txBody>
      </p:sp>
      <p:sp>
        <p:nvSpPr>
          <p:cNvPr id="35" name="TextBox 34"/>
          <p:cNvSpPr txBox="1"/>
          <p:nvPr/>
        </p:nvSpPr>
        <p:spPr>
          <a:xfrm>
            <a:off x="6998208" y="8412480"/>
            <a:ext cx="4282440" cy="457200"/>
          </a:xfrm>
          <a:prstGeom prst="rect">
            <a:avLst/>
          </a:prstGeom>
          <a:noFill/>
        </p:spPr>
        <p:txBody>
          <a:bodyPr wrap="square" lIns="45720" tIns="27432" rIns="45720" bIns="27432" anchor="b">
            <a:spAutoFit/>
          </a:bodyPr>
          <a:lstStyle/>
          <a:p>
            <a:pPr algn="l"/>
            <a:r>
              <a:rPr sz="1300">
                <a:solidFill>
                  <a:srgbClr val="0766D1"/>
                </a:solidFill>
                <a:latin typeface="+mj-lt"/>
              </a:rPr>
              <a:t>Operations decides the move.</a:t>
            </a:r>
          </a:p>
        </p:txBody>
      </p:sp>
      <p:sp>
        <p:nvSpPr>
          <p:cNvPr id="36" name="Rounded Rectangle 35"/>
          <p:cNvSpPr/>
          <p:nvPr/>
        </p:nvSpPr>
        <p:spPr>
          <a:xfrm>
            <a:off x="12012168" y="6080760"/>
            <a:ext cx="5013960" cy="3017520"/>
          </a:xfrm>
          <a:prstGeom prst="roundRect">
            <a:avLst>
              <a:gd name="adj" fmla="val 8484"/>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2277344" y="6318504"/>
            <a:ext cx="658368" cy="658368"/>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badge_w.png"/>
          <p:cNvPicPr>
            <a:picLocks noChangeAspect="1"/>
          </p:cNvPicPr>
          <p:nvPr/>
        </p:nvPicPr>
        <p:blipFill>
          <a:blip r:embed="rId7"/>
          <a:stretch>
            <a:fillRect/>
          </a:stretch>
        </p:blipFill>
        <p:spPr>
          <a:xfrm>
            <a:off x="12425476" y="6466636"/>
            <a:ext cx="362102" cy="362102"/>
          </a:xfrm>
          <a:prstGeom prst="rect">
            <a:avLst/>
          </a:prstGeom>
        </p:spPr>
      </p:pic>
      <p:sp>
        <p:nvSpPr>
          <p:cNvPr id="39" name="TextBox 38"/>
          <p:cNvSpPr txBox="1"/>
          <p:nvPr/>
        </p:nvSpPr>
        <p:spPr>
          <a:xfrm>
            <a:off x="13109448" y="6400800"/>
            <a:ext cx="3688080" cy="502920"/>
          </a:xfrm>
          <a:prstGeom prst="rect">
            <a:avLst/>
          </a:prstGeom>
          <a:noFill/>
        </p:spPr>
        <p:txBody>
          <a:bodyPr wrap="square" lIns="45720" tIns="27432" rIns="45720" bIns="27432" anchor="t">
            <a:spAutoFit/>
          </a:bodyPr>
          <a:lstStyle/>
          <a:p>
            <a:pPr algn="l"/>
            <a:r>
              <a:rPr sz="1900">
                <a:solidFill>
                  <a:srgbClr val="262626"/>
                </a:solidFill>
                <a:latin typeface="+mj-lt"/>
              </a:rPr>
              <a:t>Quality and audit reporting</a:t>
            </a:r>
          </a:p>
        </p:txBody>
      </p:sp>
      <p:sp>
        <p:nvSpPr>
          <p:cNvPr id="40" name="TextBox 39"/>
          <p:cNvSpPr txBox="1"/>
          <p:nvPr/>
        </p:nvSpPr>
        <p:spPr>
          <a:xfrm>
            <a:off x="12377928" y="7132320"/>
            <a:ext cx="4282440" cy="1325880"/>
          </a:xfrm>
          <a:prstGeom prst="rect">
            <a:avLst/>
          </a:prstGeom>
          <a:noFill/>
        </p:spPr>
        <p:txBody>
          <a:bodyPr wrap="square" lIns="45720" tIns="27432" rIns="45720" bIns="27432" anchor="t">
            <a:spAutoFit/>
          </a:bodyPr>
          <a:lstStyle/>
          <a:p>
            <a:pPr algn="l"/>
            <a:r>
              <a:rPr sz="1400">
                <a:solidFill>
                  <a:srgbClr val="262626"/>
                </a:solidFill>
              </a:rPr>
              <a:t>Computes the quality measures, explains the drivers, drafts the report against the national standard.</a:t>
            </a:r>
          </a:p>
        </p:txBody>
      </p:sp>
      <p:sp>
        <p:nvSpPr>
          <p:cNvPr id="41" name="TextBox 40"/>
          <p:cNvSpPr txBox="1"/>
          <p:nvPr/>
        </p:nvSpPr>
        <p:spPr>
          <a:xfrm>
            <a:off x="12377928" y="8412480"/>
            <a:ext cx="4282440" cy="457200"/>
          </a:xfrm>
          <a:prstGeom prst="rect">
            <a:avLst/>
          </a:prstGeom>
          <a:noFill/>
        </p:spPr>
        <p:txBody>
          <a:bodyPr wrap="square" lIns="45720" tIns="27432" rIns="45720" bIns="27432" anchor="b">
            <a:spAutoFit/>
          </a:bodyPr>
          <a:lstStyle/>
          <a:p>
            <a:pPr algn="l"/>
            <a:r>
              <a:rPr sz="1300">
                <a:solidFill>
                  <a:srgbClr val="0766D1"/>
                </a:solidFill>
                <a:latin typeface="+mj-lt"/>
              </a:rPr>
              <a:t>The quality team reviews and publishes.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6000"/>
              <a:t>The building blocks</a:t>
            </a:r>
          </a:p>
        </p:txBody>
      </p:sp>
      <p:sp>
        <p:nvSpPr>
          <p:cNvPr id="3" name="Text Placeholder 2"/>
          <p:cNvSpPr>
            <a:spLocks noGrp="1"/>
          </p:cNvSpPr>
          <p:nvPr>
            <p:ph type="body" idx="10" sz="quarter"/>
          </p:nvPr>
        </p:nvSpPr>
        <p:spPr/>
        <p:txBody>
          <a:bodyPr/>
          <a:lstStyle/>
          <a:p>
            <a:r>
              <a:rPr sz="3600"/>
              <a:t>LLM, RAG, MCP and composite AI, in plain words</a:t>
            </a:r>
          </a:p>
        </p:txBody>
      </p:sp>
      <p:sp>
        <p:nvSpPr>
          <p:cNvPr id="4" name="Oval 3"/>
          <p:cNvSpPr/>
          <p:nvPr/>
        </p:nvSpPr>
        <p:spPr>
          <a:xfrm>
            <a:off x="14630399" y="914400"/>
            <a:ext cx="2103120" cy="2103120"/>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ocks_w.png"/>
          <p:cNvPicPr>
            <a:picLocks noChangeAspect="1"/>
          </p:cNvPicPr>
          <p:nvPr/>
        </p:nvPicPr>
        <p:blipFill>
          <a:blip r:embed="rId2"/>
          <a:stretch>
            <a:fillRect/>
          </a:stretch>
        </p:blipFill>
        <p:spPr>
          <a:xfrm>
            <a:off x="15115031" y="1399031"/>
            <a:ext cx="1133856" cy="113385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r>
              <a:rPr sz="5000"/>
              <a:t>Four blocks around one reasoning engine</a:t>
            </a:r>
          </a:p>
        </p:txBody>
      </p:sp>
      <p:sp>
        <p:nvSpPr>
          <p:cNvPr id="3" name="Text Placeholder 2"/>
          <p:cNvSpPr>
            <a:spLocks noGrp="1"/>
          </p:cNvSpPr>
          <p:nvPr>
            <p:ph type="body" idx="10" sz="quarter"/>
          </p:nvPr>
        </p:nvSpPr>
        <p:spPr/>
        <p:txBody>
          <a:bodyPr/>
          <a:lstStyle/>
          <a:p>
            <a:r>
              <a:rPr sz="3000"/>
              <a:t>The LLM reasons; everything that makes it useful and safe sits around it</a:t>
            </a:r>
          </a:p>
        </p:txBody>
      </p:sp>
      <p:cxnSp>
        <p:nvCxnSpPr>
          <p:cNvPr id="5" name="Connector 4"/>
          <p:cNvCxnSpPr/>
          <p:nvPr/>
        </p:nvCxnSpPr>
        <p:spPr>
          <a:xfrm>
            <a:off x="6922008" y="4000500"/>
            <a:ext cx="804671" cy="1988820"/>
          </a:xfrm>
          <a:prstGeom prst="line">
            <a:avLst/>
          </a:prstGeom>
          <a:ln w="19050">
            <a:solidFill>
              <a:srgbClr val="98C5FB"/>
            </a:solidFill>
            <a:prstDash val="sysDot"/>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1252728" y="2834640"/>
            <a:ext cx="5669280" cy="2331720"/>
          </a:xfrm>
          <a:prstGeom prst="roundRect">
            <a:avLst>
              <a:gd name="adj" fmla="val 10980"/>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618488" y="3497580"/>
            <a:ext cx="1005840" cy="1005840"/>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les_w.png"/>
          <p:cNvPicPr>
            <a:picLocks noChangeAspect="1"/>
          </p:cNvPicPr>
          <p:nvPr/>
        </p:nvPicPr>
        <p:blipFill>
          <a:blip r:embed="rId2"/>
          <a:stretch>
            <a:fillRect/>
          </a:stretch>
        </p:blipFill>
        <p:spPr>
          <a:xfrm>
            <a:off x="1859889" y="3738981"/>
            <a:ext cx="523036" cy="523036"/>
          </a:xfrm>
          <a:prstGeom prst="rect">
            <a:avLst/>
          </a:prstGeom>
        </p:spPr>
      </p:pic>
      <p:sp>
        <p:nvSpPr>
          <p:cNvPr id="9" name="TextBox 8"/>
          <p:cNvSpPr txBox="1"/>
          <p:nvPr/>
        </p:nvSpPr>
        <p:spPr>
          <a:xfrm>
            <a:off x="2852928" y="3154680"/>
            <a:ext cx="3840480" cy="457200"/>
          </a:xfrm>
          <a:prstGeom prst="rect">
            <a:avLst/>
          </a:prstGeom>
          <a:noFill/>
        </p:spPr>
        <p:txBody>
          <a:bodyPr wrap="square" lIns="45720" tIns="27432" rIns="45720" bIns="27432" anchor="t">
            <a:spAutoFit/>
          </a:bodyPr>
          <a:lstStyle/>
          <a:p>
            <a:pPr algn="l"/>
            <a:r>
              <a:rPr sz="2100">
                <a:solidFill>
                  <a:srgbClr val="262626"/>
                </a:solidFill>
                <a:latin typeface="+mj-lt"/>
              </a:rPr>
              <a:t>Knowledge  ·  RAG</a:t>
            </a:r>
          </a:p>
        </p:txBody>
      </p:sp>
      <p:sp>
        <p:nvSpPr>
          <p:cNvPr id="10" name="TextBox 9"/>
          <p:cNvSpPr txBox="1"/>
          <p:nvPr/>
        </p:nvSpPr>
        <p:spPr>
          <a:xfrm>
            <a:off x="2852928" y="3703320"/>
            <a:ext cx="3840480" cy="1280160"/>
          </a:xfrm>
          <a:prstGeom prst="rect">
            <a:avLst/>
          </a:prstGeom>
          <a:noFill/>
        </p:spPr>
        <p:txBody>
          <a:bodyPr wrap="square" lIns="45720" tIns="27432" rIns="45720" bIns="27432" anchor="t">
            <a:spAutoFit/>
          </a:bodyPr>
          <a:lstStyle/>
          <a:p>
            <a:pPr algn="l"/>
            <a:r>
              <a:rPr sz="1500">
                <a:solidFill>
                  <a:srgbClr val="262626"/>
                </a:solidFill>
              </a:rPr>
              <a:t>Your documents, retrieved on demand and cited: the national guidelines, policies, protocols.</a:t>
            </a:r>
          </a:p>
        </p:txBody>
      </p:sp>
      <p:cxnSp>
        <p:nvCxnSpPr>
          <p:cNvPr id="11" name="Connector 10"/>
          <p:cNvCxnSpPr/>
          <p:nvPr/>
        </p:nvCxnSpPr>
        <p:spPr>
          <a:xfrm flipV="1">
            <a:off x="6922008" y="5989320"/>
            <a:ext cx="804671" cy="1577340"/>
          </a:xfrm>
          <a:prstGeom prst="line">
            <a:avLst/>
          </a:prstGeom>
          <a:ln w="19050">
            <a:solidFill>
              <a:srgbClr val="98C5FB"/>
            </a:solidFill>
            <a:prstDash val="sysDot"/>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252728" y="6400800"/>
            <a:ext cx="5669280" cy="2331720"/>
          </a:xfrm>
          <a:prstGeom prst="roundRect">
            <a:avLst>
              <a:gd name="adj" fmla="val 10980"/>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618488" y="7063740"/>
            <a:ext cx="1005840" cy="1005840"/>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pi_w.png"/>
          <p:cNvPicPr>
            <a:picLocks noChangeAspect="1"/>
          </p:cNvPicPr>
          <p:nvPr/>
        </p:nvPicPr>
        <p:blipFill>
          <a:blip r:embed="rId3"/>
          <a:stretch>
            <a:fillRect/>
          </a:stretch>
        </p:blipFill>
        <p:spPr>
          <a:xfrm>
            <a:off x="1859889" y="7305141"/>
            <a:ext cx="523036" cy="523036"/>
          </a:xfrm>
          <a:prstGeom prst="rect">
            <a:avLst/>
          </a:prstGeom>
        </p:spPr>
      </p:pic>
      <p:sp>
        <p:nvSpPr>
          <p:cNvPr id="15" name="TextBox 14"/>
          <p:cNvSpPr txBox="1"/>
          <p:nvPr/>
        </p:nvSpPr>
        <p:spPr>
          <a:xfrm>
            <a:off x="2852928" y="6720840"/>
            <a:ext cx="3840480" cy="457200"/>
          </a:xfrm>
          <a:prstGeom prst="rect">
            <a:avLst/>
          </a:prstGeom>
          <a:noFill/>
        </p:spPr>
        <p:txBody>
          <a:bodyPr wrap="square" lIns="45720" tIns="27432" rIns="45720" bIns="27432" anchor="t">
            <a:spAutoFit/>
          </a:bodyPr>
          <a:lstStyle/>
          <a:p>
            <a:pPr algn="l"/>
            <a:r>
              <a:rPr sz="2100">
                <a:solidFill>
                  <a:srgbClr val="262626"/>
                </a:solidFill>
                <a:latin typeface="+mj-lt"/>
              </a:rPr>
              <a:t>Tools  ·  MCP</a:t>
            </a:r>
          </a:p>
        </p:txBody>
      </p:sp>
      <p:sp>
        <p:nvSpPr>
          <p:cNvPr id="16" name="TextBox 15"/>
          <p:cNvSpPr txBox="1"/>
          <p:nvPr/>
        </p:nvSpPr>
        <p:spPr>
          <a:xfrm>
            <a:off x="2852928" y="7269480"/>
            <a:ext cx="3840480" cy="1280160"/>
          </a:xfrm>
          <a:prstGeom prst="rect">
            <a:avLst/>
          </a:prstGeom>
          <a:noFill/>
        </p:spPr>
        <p:txBody>
          <a:bodyPr wrap="square" lIns="45720" tIns="27432" rIns="45720" bIns="27432" anchor="t">
            <a:spAutoFit/>
          </a:bodyPr>
          <a:lstStyle/>
          <a:p>
            <a:pPr algn="l"/>
            <a:r>
              <a:rPr sz="1500">
                <a:solidFill>
                  <a:srgbClr val="262626"/>
                </a:solidFill>
              </a:rPr>
              <a:t>A standard plug into data, models and systems: the agent asks, the server executes, every call is logged.</a:t>
            </a:r>
          </a:p>
        </p:txBody>
      </p:sp>
      <p:cxnSp>
        <p:nvCxnSpPr>
          <p:cNvPr id="17" name="Connector 16"/>
          <p:cNvCxnSpPr/>
          <p:nvPr/>
        </p:nvCxnSpPr>
        <p:spPr>
          <a:xfrm flipH="1">
            <a:off x="10561320" y="4000500"/>
            <a:ext cx="795528" cy="1988820"/>
          </a:xfrm>
          <a:prstGeom prst="line">
            <a:avLst/>
          </a:prstGeom>
          <a:ln w="19050">
            <a:solidFill>
              <a:srgbClr val="98C5FB"/>
            </a:solidFill>
            <a:prstDash val="sysDot"/>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11356848" y="2834640"/>
            <a:ext cx="5669280" cy="2331720"/>
          </a:xfrm>
          <a:prstGeom prst="roundRect">
            <a:avLst>
              <a:gd name="adj" fmla="val 10980"/>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22608" y="3497580"/>
            <a:ext cx="1005840" cy="1005840"/>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model_w.png"/>
          <p:cNvPicPr>
            <a:picLocks noChangeAspect="1"/>
          </p:cNvPicPr>
          <p:nvPr/>
        </p:nvPicPr>
        <p:blipFill>
          <a:blip r:embed="rId4"/>
          <a:stretch>
            <a:fillRect/>
          </a:stretch>
        </p:blipFill>
        <p:spPr>
          <a:xfrm>
            <a:off x="11964009" y="3738981"/>
            <a:ext cx="523036" cy="523036"/>
          </a:xfrm>
          <a:prstGeom prst="rect">
            <a:avLst/>
          </a:prstGeom>
        </p:spPr>
      </p:pic>
      <p:sp>
        <p:nvSpPr>
          <p:cNvPr id="21" name="TextBox 20"/>
          <p:cNvSpPr txBox="1"/>
          <p:nvPr/>
        </p:nvSpPr>
        <p:spPr>
          <a:xfrm>
            <a:off x="12957048" y="3154680"/>
            <a:ext cx="3840480" cy="457200"/>
          </a:xfrm>
          <a:prstGeom prst="rect">
            <a:avLst/>
          </a:prstGeom>
          <a:noFill/>
        </p:spPr>
        <p:txBody>
          <a:bodyPr wrap="square" lIns="45720" tIns="27432" rIns="45720" bIns="27432" anchor="t">
            <a:spAutoFit/>
          </a:bodyPr>
          <a:lstStyle/>
          <a:p>
            <a:pPr algn="l"/>
            <a:r>
              <a:rPr sz="2100">
                <a:solidFill>
                  <a:srgbClr val="262626"/>
                </a:solidFill>
                <a:latin typeface="+mj-lt"/>
              </a:rPr>
              <a:t>Analytics  ·  composite AI</a:t>
            </a:r>
          </a:p>
        </p:txBody>
      </p:sp>
      <p:sp>
        <p:nvSpPr>
          <p:cNvPr id="22" name="TextBox 21"/>
          <p:cNvSpPr txBox="1"/>
          <p:nvPr/>
        </p:nvSpPr>
        <p:spPr>
          <a:xfrm>
            <a:off x="12957048" y="3703320"/>
            <a:ext cx="3840480" cy="1280160"/>
          </a:xfrm>
          <a:prstGeom prst="rect">
            <a:avLst/>
          </a:prstGeom>
          <a:noFill/>
        </p:spPr>
        <p:txBody>
          <a:bodyPr wrap="square" lIns="45720" tIns="27432" rIns="45720" bIns="27432" anchor="t">
            <a:spAutoFit/>
          </a:bodyPr>
          <a:lstStyle/>
          <a:p>
            <a:pPr algn="l"/>
            <a:r>
              <a:rPr sz="1500">
                <a:solidFill>
                  <a:srgbClr val="262626"/>
                </a:solidFill>
              </a:rPr>
              <a:t>The ML models, SQL queries and decision rules you already trust, called as tools.</a:t>
            </a:r>
          </a:p>
        </p:txBody>
      </p:sp>
      <p:cxnSp>
        <p:nvCxnSpPr>
          <p:cNvPr id="23" name="Connector 22"/>
          <p:cNvCxnSpPr/>
          <p:nvPr/>
        </p:nvCxnSpPr>
        <p:spPr>
          <a:xfrm flipH="1" flipV="1">
            <a:off x="10561320" y="5989320"/>
            <a:ext cx="795528" cy="1577340"/>
          </a:xfrm>
          <a:prstGeom prst="line">
            <a:avLst/>
          </a:prstGeom>
          <a:ln w="19050">
            <a:solidFill>
              <a:srgbClr val="98C5FB"/>
            </a:solidFill>
            <a:prstDash val="sysDot"/>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11356848" y="6400800"/>
            <a:ext cx="5669280" cy="2331720"/>
          </a:xfrm>
          <a:prstGeom prst="roundRect">
            <a:avLst>
              <a:gd name="adj" fmla="val 10980"/>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722608" y="7063740"/>
            <a:ext cx="1005840" cy="1005840"/>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oversight_w.png"/>
          <p:cNvPicPr>
            <a:picLocks noChangeAspect="1"/>
          </p:cNvPicPr>
          <p:nvPr/>
        </p:nvPicPr>
        <p:blipFill>
          <a:blip r:embed="rId5"/>
          <a:stretch>
            <a:fillRect/>
          </a:stretch>
        </p:blipFill>
        <p:spPr>
          <a:xfrm>
            <a:off x="11964009" y="7305141"/>
            <a:ext cx="523036" cy="523036"/>
          </a:xfrm>
          <a:prstGeom prst="rect">
            <a:avLst/>
          </a:prstGeom>
        </p:spPr>
      </p:pic>
      <p:sp>
        <p:nvSpPr>
          <p:cNvPr id="27" name="TextBox 26"/>
          <p:cNvSpPr txBox="1"/>
          <p:nvPr/>
        </p:nvSpPr>
        <p:spPr>
          <a:xfrm>
            <a:off x="12957048" y="6720840"/>
            <a:ext cx="3840480" cy="457200"/>
          </a:xfrm>
          <a:prstGeom prst="rect">
            <a:avLst/>
          </a:prstGeom>
          <a:noFill/>
        </p:spPr>
        <p:txBody>
          <a:bodyPr wrap="square" lIns="45720" tIns="27432" rIns="45720" bIns="27432" anchor="t">
            <a:spAutoFit/>
          </a:bodyPr>
          <a:lstStyle/>
          <a:p>
            <a:pPr algn="l"/>
            <a:r>
              <a:rPr sz="2100">
                <a:solidFill>
                  <a:srgbClr val="262626"/>
                </a:solidFill>
                <a:latin typeface="+mj-lt"/>
              </a:rPr>
              <a:t>People  ·  human oversight</a:t>
            </a:r>
          </a:p>
        </p:txBody>
      </p:sp>
      <p:sp>
        <p:nvSpPr>
          <p:cNvPr id="28" name="TextBox 27"/>
          <p:cNvSpPr txBox="1"/>
          <p:nvPr/>
        </p:nvSpPr>
        <p:spPr>
          <a:xfrm>
            <a:off x="12957048" y="7269480"/>
            <a:ext cx="3840480" cy="1280160"/>
          </a:xfrm>
          <a:prstGeom prst="rect">
            <a:avLst/>
          </a:prstGeom>
          <a:noFill/>
        </p:spPr>
        <p:txBody>
          <a:bodyPr wrap="square" lIns="45720" tIns="27432" rIns="45720" bIns="27432" anchor="t">
            <a:spAutoFit/>
          </a:bodyPr>
          <a:lstStyle/>
          <a:p>
            <a:pPr algn="l"/>
            <a:r>
              <a:rPr sz="1500">
                <a:solidFill>
                  <a:srgbClr val="262626"/>
                </a:solidFill>
              </a:rPr>
              <a:t>Goal, boundaries, approvals and review. The agent drafts; a person decides.</a:t>
            </a:r>
          </a:p>
        </p:txBody>
      </p:sp>
      <p:sp>
        <p:nvSpPr>
          <p:cNvPr id="29" name="Oval 28"/>
          <p:cNvSpPr/>
          <p:nvPr/>
        </p:nvSpPr>
        <p:spPr>
          <a:xfrm>
            <a:off x="7726679" y="4572000"/>
            <a:ext cx="2834640" cy="2834640"/>
          </a:xfrm>
          <a:prstGeom prst="ellipse">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886700" y="4732020"/>
            <a:ext cx="2514600" cy="2514600"/>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brain_w.png"/>
          <p:cNvPicPr>
            <a:picLocks noChangeAspect="1"/>
          </p:cNvPicPr>
          <p:nvPr/>
        </p:nvPicPr>
        <p:blipFill>
          <a:blip r:embed="rId6"/>
          <a:stretch>
            <a:fillRect/>
          </a:stretch>
        </p:blipFill>
        <p:spPr>
          <a:xfrm>
            <a:off x="8778240" y="5029200"/>
            <a:ext cx="731520" cy="731520"/>
          </a:xfrm>
          <a:prstGeom prst="rect">
            <a:avLst/>
          </a:prstGeom>
        </p:spPr>
      </p:pic>
      <p:sp>
        <p:nvSpPr>
          <p:cNvPr id="32" name="TextBox 31"/>
          <p:cNvSpPr txBox="1"/>
          <p:nvPr/>
        </p:nvSpPr>
        <p:spPr>
          <a:xfrm>
            <a:off x="7955279" y="5806440"/>
            <a:ext cx="2377440" cy="1097280"/>
          </a:xfrm>
          <a:prstGeom prst="rect">
            <a:avLst/>
          </a:prstGeom>
          <a:noFill/>
        </p:spPr>
        <p:txBody>
          <a:bodyPr wrap="square" lIns="45720" tIns="27432" rIns="45720" bIns="27432" anchor="t">
            <a:spAutoFit/>
          </a:bodyPr>
          <a:lstStyle/>
          <a:p>
            <a:pPr algn="ctr"/>
            <a:r>
              <a:rPr sz="2200">
                <a:solidFill>
                  <a:srgbClr val="FFFFFF"/>
                </a:solidFill>
                <a:latin typeface="+mj-lt"/>
              </a:rPr>
              <a:t>LLM</a:t>
            </a:r>
          </a:p>
          <a:p>
            <a:pPr algn="ctr"/>
            <a:r>
              <a:rPr sz="1300">
                <a:solidFill>
                  <a:srgbClr val="FFFFFF"/>
                </a:solidFill>
                <a:latin typeface="+mj-lt"/>
              </a:rPr>
              <a:t>reasons, plans, writes</a:t>
            </a:r>
          </a:p>
        </p:txBody>
      </p:sp>
      <p:sp>
        <p:nvSpPr>
          <p:cNvPr id="33" name="TextBox 32"/>
          <p:cNvSpPr txBox="1"/>
          <p:nvPr/>
        </p:nvSpPr>
        <p:spPr>
          <a:xfrm>
            <a:off x="1252728" y="9006840"/>
            <a:ext cx="15773400" cy="365760"/>
          </a:xfrm>
          <a:prstGeom prst="rect">
            <a:avLst/>
          </a:prstGeom>
          <a:noFill/>
        </p:spPr>
        <p:txBody>
          <a:bodyPr wrap="square" lIns="45720" tIns="27432" rIns="45720" bIns="27432" anchor="t">
            <a:spAutoFit/>
          </a:bodyPr>
          <a:lstStyle/>
          <a:p>
            <a:pPr algn="l"/>
            <a:r>
              <a:rPr sz="1300">
                <a:solidFill>
                  <a:srgbClr val="7E889A"/>
                </a:solidFill>
              </a:rPr>
              <a:t>One slide for each block follows. The language model never touches data or systems directly; the blocks around it do.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r>
              <a:rPr sz="4600"/>
              <a:t>The LLM: a reasoning engine with no access</a:t>
            </a:r>
          </a:p>
        </p:txBody>
      </p:sp>
      <p:sp>
        <p:nvSpPr>
          <p:cNvPr id="3" name="Text Placeholder 2"/>
          <p:cNvSpPr>
            <a:spLocks noGrp="1"/>
          </p:cNvSpPr>
          <p:nvPr>
            <p:ph type="body" idx="10" sz="quarter"/>
          </p:nvPr>
        </p:nvSpPr>
        <p:spPr/>
        <p:txBody>
          <a:bodyPr/>
          <a:lstStyle/>
          <a:p>
            <a:r>
              <a:rPr sz="3000"/>
              <a:t>What the language model is good at, and what it cannot know on its own</a:t>
            </a:r>
          </a:p>
        </p:txBody>
      </p:sp>
      <p:sp>
        <p:nvSpPr>
          <p:cNvPr id="5" name="Rounded Rectangle 4"/>
          <p:cNvSpPr/>
          <p:nvPr/>
        </p:nvSpPr>
        <p:spPr>
          <a:xfrm>
            <a:off x="1252728" y="2743200"/>
            <a:ext cx="7680960" cy="5257800"/>
          </a:xfrm>
          <a:prstGeom prst="roundRect">
            <a:avLst>
              <a:gd name="adj" fmla="val 4869"/>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27048" y="2971800"/>
            <a:ext cx="731520" cy="731520"/>
          </a:xfrm>
          <a:prstGeom prst="ellipse">
            <a:avLst/>
          </a:prstGeom>
          <a:solidFill>
            <a:srgbClr val="009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w.png"/>
          <p:cNvPicPr>
            <a:picLocks noChangeAspect="1"/>
          </p:cNvPicPr>
          <p:nvPr/>
        </p:nvPicPr>
        <p:blipFill>
          <a:blip r:embed="rId2"/>
          <a:stretch>
            <a:fillRect/>
          </a:stretch>
        </p:blipFill>
        <p:spPr>
          <a:xfrm>
            <a:off x="1709928" y="3154679"/>
            <a:ext cx="365760" cy="365760"/>
          </a:xfrm>
          <a:prstGeom prst="rect">
            <a:avLst/>
          </a:prstGeom>
        </p:spPr>
      </p:pic>
      <p:sp>
        <p:nvSpPr>
          <p:cNvPr id="8" name="TextBox 7"/>
          <p:cNvSpPr txBox="1"/>
          <p:nvPr/>
        </p:nvSpPr>
        <p:spPr>
          <a:xfrm>
            <a:off x="2395728" y="3108960"/>
            <a:ext cx="6309360" cy="457200"/>
          </a:xfrm>
          <a:prstGeom prst="rect">
            <a:avLst/>
          </a:prstGeom>
          <a:noFill/>
        </p:spPr>
        <p:txBody>
          <a:bodyPr wrap="square" lIns="45720" tIns="27432" rIns="45720" bIns="27432" anchor="t">
            <a:spAutoFit/>
          </a:bodyPr>
          <a:lstStyle/>
          <a:p>
            <a:pPr algn="l"/>
            <a:r>
              <a:rPr sz="2000">
                <a:solidFill>
                  <a:srgbClr val="262626"/>
                </a:solidFill>
                <a:latin typeface="+mj-lt"/>
              </a:rPr>
              <a:t>Good at</a:t>
            </a:r>
          </a:p>
        </p:txBody>
      </p:sp>
      <p:sp>
        <p:nvSpPr>
          <p:cNvPr id="9" name="TextBox 8"/>
          <p:cNvSpPr txBox="1"/>
          <p:nvPr/>
        </p:nvSpPr>
        <p:spPr>
          <a:xfrm>
            <a:off x="1664208" y="4069080"/>
            <a:ext cx="6858000" cy="2926080"/>
          </a:xfrm>
          <a:prstGeom prst="rect">
            <a:avLst/>
          </a:prstGeom>
          <a:noFill/>
        </p:spPr>
        <p:txBody>
          <a:bodyPr wrap="square" lIns="45720" tIns="27432" rIns="45720" bIns="27432" anchor="t">
            <a:spAutoFit/>
          </a:bodyPr>
          <a:lstStyle/>
          <a:p>
            <a:pPr algn="l" marL="237744" indent="-237744">
              <a:spcAft>
                <a:spcPts val="1200"/>
              </a:spcAft>
              <a:buClr>
                <a:srgbClr val="0766D1"/>
              </a:buClr>
              <a:buFont typeface="Arial"/>
              <a:buChar char="•"/>
            </a:pPr>
            <a:r>
              <a:rPr sz="1800">
                <a:solidFill>
                  <a:srgbClr val="262626"/>
                </a:solidFill>
              </a:rPr>
              <a:t>Understanding the question, in English or Arabic</a:t>
            </a:r>
          </a:p>
          <a:p>
            <a:pPr algn="l" marL="237744" indent="-237744">
              <a:spcAft>
                <a:spcPts val="1200"/>
              </a:spcAft>
              <a:buClr>
                <a:srgbClr val="0766D1"/>
              </a:buClr>
              <a:buFont typeface="Arial"/>
              <a:buChar char="•"/>
            </a:pPr>
            <a:r>
              <a:rPr sz="1800">
                <a:solidFill>
                  <a:srgbClr val="262626"/>
                </a:solidFill>
              </a:rPr>
              <a:t>Breaking a goal into steps and choosing the right tool for each</a:t>
            </a:r>
          </a:p>
          <a:p>
            <a:pPr algn="l" marL="237744" indent="-237744">
              <a:spcAft>
                <a:spcPts val="1200"/>
              </a:spcAft>
              <a:buClr>
                <a:srgbClr val="0766D1"/>
              </a:buClr>
              <a:buFont typeface="Arial"/>
              <a:buChar char="•"/>
            </a:pPr>
            <a:r>
              <a:rPr sz="1800">
                <a:solidFill>
                  <a:srgbClr val="262626"/>
                </a:solidFill>
              </a:rPr>
              <a:t>Reading a retrieved passage and summarising it faithfully</a:t>
            </a:r>
          </a:p>
          <a:p>
            <a:pPr algn="l" marL="237744" indent="-237744">
              <a:spcAft>
                <a:spcPts val="1200"/>
              </a:spcAft>
              <a:buClr>
                <a:srgbClr val="0766D1"/>
              </a:buClr>
              <a:buFont typeface="Arial"/>
              <a:buChar char="•"/>
            </a:pPr>
            <a:r>
              <a:rPr sz="1800">
                <a:solidFill>
                  <a:srgbClr val="262626"/>
                </a:solidFill>
              </a:rPr>
              <a:t>Writing the answer: clear, structured, the cohort stated in words</a:t>
            </a:r>
          </a:p>
        </p:txBody>
      </p:sp>
      <p:sp>
        <p:nvSpPr>
          <p:cNvPr id="10" name="TextBox 9"/>
          <p:cNvSpPr txBox="1"/>
          <p:nvPr/>
        </p:nvSpPr>
        <p:spPr>
          <a:xfrm>
            <a:off x="1664208" y="7040880"/>
            <a:ext cx="6858000" cy="777240"/>
          </a:xfrm>
          <a:prstGeom prst="rect">
            <a:avLst/>
          </a:prstGeom>
          <a:noFill/>
        </p:spPr>
        <p:txBody>
          <a:bodyPr wrap="square" lIns="45720" tIns="27432" rIns="45720" bIns="27432" anchor="b">
            <a:spAutoFit/>
          </a:bodyPr>
          <a:lstStyle/>
          <a:p>
            <a:pPr algn="l"/>
            <a:r>
              <a:rPr sz="1400">
                <a:solidFill>
                  <a:srgbClr val="0766D1"/>
                </a:solidFill>
                <a:latin typeface="+mj-lt"/>
              </a:rPr>
              <a:t>In the demo: it picks the SQL tool for a count and the collection for a target.</a:t>
            </a:r>
          </a:p>
        </p:txBody>
      </p:sp>
      <p:sp>
        <p:nvSpPr>
          <p:cNvPr id="11" name="Rounded Rectangle 10"/>
          <p:cNvSpPr/>
          <p:nvPr/>
        </p:nvSpPr>
        <p:spPr>
          <a:xfrm>
            <a:off x="9345167" y="2743200"/>
            <a:ext cx="7680960" cy="5257800"/>
          </a:xfrm>
          <a:prstGeom prst="roundRect">
            <a:avLst>
              <a:gd name="adj" fmla="val 4869"/>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619487" y="2971800"/>
            <a:ext cx="731520" cy="73152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x_w.png"/>
          <p:cNvPicPr>
            <a:picLocks noChangeAspect="1"/>
          </p:cNvPicPr>
          <p:nvPr/>
        </p:nvPicPr>
        <p:blipFill>
          <a:blip r:embed="rId3"/>
          <a:stretch>
            <a:fillRect/>
          </a:stretch>
        </p:blipFill>
        <p:spPr>
          <a:xfrm>
            <a:off x="9802367" y="3154679"/>
            <a:ext cx="365760" cy="365760"/>
          </a:xfrm>
          <a:prstGeom prst="rect">
            <a:avLst/>
          </a:prstGeom>
        </p:spPr>
      </p:pic>
      <p:sp>
        <p:nvSpPr>
          <p:cNvPr id="14" name="TextBox 13"/>
          <p:cNvSpPr txBox="1"/>
          <p:nvPr/>
        </p:nvSpPr>
        <p:spPr>
          <a:xfrm>
            <a:off x="10488167" y="3108960"/>
            <a:ext cx="6309360" cy="457200"/>
          </a:xfrm>
          <a:prstGeom prst="rect">
            <a:avLst/>
          </a:prstGeom>
          <a:noFill/>
        </p:spPr>
        <p:txBody>
          <a:bodyPr wrap="square" lIns="45720" tIns="27432" rIns="45720" bIns="27432" anchor="t">
            <a:spAutoFit/>
          </a:bodyPr>
          <a:lstStyle/>
          <a:p>
            <a:pPr algn="l"/>
            <a:r>
              <a:rPr sz="2000">
                <a:solidFill>
                  <a:srgbClr val="262626"/>
                </a:solidFill>
                <a:latin typeface="+mj-lt"/>
              </a:rPr>
              <a:t>Cannot, on its own</a:t>
            </a:r>
          </a:p>
        </p:txBody>
      </p:sp>
      <p:sp>
        <p:nvSpPr>
          <p:cNvPr id="15" name="TextBox 14"/>
          <p:cNvSpPr txBox="1"/>
          <p:nvPr/>
        </p:nvSpPr>
        <p:spPr>
          <a:xfrm>
            <a:off x="9756647" y="4069080"/>
            <a:ext cx="6858000" cy="2926080"/>
          </a:xfrm>
          <a:prstGeom prst="rect">
            <a:avLst/>
          </a:prstGeom>
          <a:noFill/>
        </p:spPr>
        <p:txBody>
          <a:bodyPr wrap="square" lIns="45720" tIns="27432" rIns="45720" bIns="27432" anchor="t">
            <a:spAutoFit/>
          </a:bodyPr>
          <a:lstStyle/>
          <a:p>
            <a:pPr algn="l" marL="237744" indent="-237744">
              <a:spcAft>
                <a:spcPts val="1200"/>
              </a:spcAft>
              <a:buClr>
                <a:srgbClr val="C00000"/>
              </a:buClr>
              <a:buFont typeface="Arial"/>
              <a:buChar char="•"/>
            </a:pPr>
            <a:r>
              <a:rPr sz="1800">
                <a:solidFill>
                  <a:srgbClr val="262626"/>
                </a:solidFill>
              </a:rPr>
              <a:t>Know your registry: how many patients are uncontrolled today</a:t>
            </a:r>
          </a:p>
          <a:p>
            <a:pPr algn="l" marL="237744" indent="-237744">
              <a:spcAft>
                <a:spcPts val="1200"/>
              </a:spcAft>
              <a:buClr>
                <a:srgbClr val="C00000"/>
              </a:buClr>
              <a:buFont typeface="Arial"/>
              <a:buChar char="•"/>
            </a:pPr>
            <a:r>
              <a:rPr sz="1800">
                <a:solidFill>
                  <a:srgbClr val="262626"/>
                </a:solidFill>
              </a:rPr>
              <a:t>Know the current national guideline, section by section</a:t>
            </a:r>
          </a:p>
          <a:p>
            <a:pPr algn="l" marL="237744" indent="-237744">
              <a:spcAft>
                <a:spcPts val="1200"/>
              </a:spcAft>
              <a:buClr>
                <a:srgbClr val="C00000"/>
              </a:buClr>
              <a:buFont typeface="Arial"/>
              <a:buChar char="•"/>
            </a:pPr>
            <a:r>
              <a:rPr sz="1800">
                <a:solidFill>
                  <a:srgbClr val="262626"/>
                </a:solidFill>
              </a:rPr>
              <a:t>Do reliable arithmetic across 4,000 rows</a:t>
            </a:r>
          </a:p>
          <a:p>
            <a:pPr algn="l" marL="237744" indent="-237744">
              <a:spcAft>
                <a:spcPts val="1200"/>
              </a:spcAft>
              <a:buClr>
                <a:srgbClr val="C00000"/>
              </a:buClr>
              <a:buFont typeface="Arial"/>
              <a:buChar char="•"/>
            </a:pPr>
            <a:r>
              <a:rPr sz="1800">
                <a:solidFill>
                  <a:srgbClr val="262626"/>
                </a:solidFill>
              </a:rPr>
              <a:t>Run anything: it proposes an action, it never executes one</a:t>
            </a:r>
          </a:p>
        </p:txBody>
      </p:sp>
      <p:sp>
        <p:nvSpPr>
          <p:cNvPr id="16" name="TextBox 15"/>
          <p:cNvSpPr txBox="1"/>
          <p:nvPr/>
        </p:nvSpPr>
        <p:spPr>
          <a:xfrm>
            <a:off x="9756647" y="7040880"/>
            <a:ext cx="6858000" cy="777240"/>
          </a:xfrm>
          <a:prstGeom prst="rect">
            <a:avLst/>
          </a:prstGeom>
          <a:noFill/>
        </p:spPr>
        <p:txBody>
          <a:bodyPr wrap="square" lIns="45720" tIns="27432" rIns="45720" bIns="27432" anchor="b">
            <a:spAutoFit/>
          </a:bodyPr>
          <a:lstStyle/>
          <a:p>
            <a:pPr algn="l"/>
            <a:r>
              <a:rPr sz="1400">
                <a:solidFill>
                  <a:srgbClr val="0766D1"/>
                </a:solidFill>
                <a:latin typeface="+mj-lt"/>
              </a:rPr>
              <a:t>In the demo: every number is a query that ran, every target is a citation.</a:t>
            </a:r>
          </a:p>
        </p:txBody>
      </p:sp>
      <p:sp>
        <p:nvSpPr>
          <p:cNvPr id="17" name="Rounded Rectangle 16"/>
          <p:cNvSpPr/>
          <p:nvPr/>
        </p:nvSpPr>
        <p:spPr>
          <a:xfrm>
            <a:off x="1252728" y="8366760"/>
            <a:ext cx="15773400" cy="960120"/>
          </a:xfrm>
          <a:prstGeom prst="roundRect">
            <a:avLst>
              <a:gd name="adj" fmla="val 20952"/>
            </a:avLst>
          </a:prstGeom>
          <a:solidFill>
            <a:srgbClr val="C4D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lightbulb_n.png"/>
          <p:cNvPicPr>
            <a:picLocks noChangeAspect="1"/>
          </p:cNvPicPr>
          <p:nvPr/>
        </p:nvPicPr>
        <p:blipFill>
          <a:blip r:embed="rId4"/>
          <a:stretch>
            <a:fillRect/>
          </a:stretch>
        </p:blipFill>
        <p:spPr>
          <a:xfrm>
            <a:off x="1572768" y="8549640"/>
            <a:ext cx="594360" cy="594360"/>
          </a:xfrm>
          <a:prstGeom prst="rect">
            <a:avLst/>
          </a:prstGeom>
        </p:spPr>
      </p:pic>
      <p:sp>
        <p:nvSpPr>
          <p:cNvPr id="19" name="TextBox 18"/>
          <p:cNvSpPr txBox="1"/>
          <p:nvPr/>
        </p:nvSpPr>
        <p:spPr>
          <a:xfrm>
            <a:off x="2441448" y="8476488"/>
            <a:ext cx="14310359" cy="740664"/>
          </a:xfrm>
          <a:prstGeom prst="rect">
            <a:avLst/>
          </a:prstGeom>
          <a:noFill/>
        </p:spPr>
        <p:txBody>
          <a:bodyPr wrap="square" lIns="45720" tIns="27432" rIns="45720" bIns="27432" anchor="ctr">
            <a:spAutoFit/>
          </a:bodyPr>
          <a:lstStyle/>
          <a:p>
            <a:pPr algn="l"/>
            <a:r>
              <a:rPr sz="1600">
                <a:solidFill>
                  <a:srgbClr val="032954"/>
                </a:solidFill>
              </a:rPr>
              <a:t>That is why we surround it: </a:t>
            </a:r>
            <a:r>
              <a:rPr sz="1600">
                <a:solidFill>
                  <a:srgbClr val="032954"/>
                </a:solidFill>
                <a:latin typeface="+mj-lt"/>
              </a:rPr>
              <a:t>RAG</a:t>
            </a:r>
            <a:r>
              <a:rPr sz="1600">
                <a:solidFill>
                  <a:srgbClr val="032954"/>
                </a:solidFill>
              </a:rPr>
              <a:t> for the words it must quote, </a:t>
            </a:r>
            <a:r>
              <a:rPr sz="1600">
                <a:solidFill>
                  <a:srgbClr val="032954"/>
                </a:solidFill>
                <a:latin typeface="+mj-lt"/>
              </a:rPr>
              <a:t>tools and models</a:t>
            </a:r>
            <a:r>
              <a:rPr sz="1600">
                <a:solidFill>
                  <a:srgbClr val="032954"/>
                </a:solidFill>
              </a:rPr>
              <a:t> for the numbers it must not guess, </a:t>
            </a:r>
            <a:r>
              <a:rPr sz="1600">
                <a:solidFill>
                  <a:srgbClr val="032954"/>
                </a:solidFill>
                <a:latin typeface="+mj-lt"/>
              </a:rPr>
              <a:t>people</a:t>
            </a:r>
            <a:r>
              <a:rPr sz="1600">
                <a:solidFill>
                  <a:srgbClr val="032954"/>
                </a:solidFill>
              </a:rPr>
              <a:t> for the decisions it must not take.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r>
              <a:rPr sz="5000"/>
              <a:t>RAG: Retrieval-Augmented Generation</a:t>
            </a:r>
          </a:p>
        </p:txBody>
      </p:sp>
      <p:sp>
        <p:nvSpPr>
          <p:cNvPr id="3" name="Text Placeholder 2"/>
          <p:cNvSpPr>
            <a:spLocks noGrp="1"/>
          </p:cNvSpPr>
          <p:nvPr>
            <p:ph type="body" idx="10" sz="quarter"/>
          </p:nvPr>
        </p:nvSpPr>
        <p:spPr/>
        <p:txBody>
          <a:bodyPr/>
          <a:lstStyle/>
          <a:p>
            <a:r>
              <a:rPr sz="3000"/>
              <a:t>Answers from your documents, with the section cited, or “not covered”</a:t>
            </a:r>
          </a:p>
        </p:txBody>
      </p:sp>
      <p:sp>
        <p:nvSpPr>
          <p:cNvPr id="5" name="Rounded Rectangle 4"/>
          <p:cNvSpPr/>
          <p:nvPr/>
        </p:nvSpPr>
        <p:spPr>
          <a:xfrm>
            <a:off x="1252728" y="2926080"/>
            <a:ext cx="15773400" cy="3017520"/>
          </a:xfrm>
          <a:prstGeom prst="roundRect">
            <a:avLst>
              <a:gd name="adj" fmla="val 9090"/>
            </a:avLst>
          </a:prstGeom>
          <a:solidFill>
            <a:srgbClr val="E4E7EA"/>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664208" y="2651760"/>
            <a:ext cx="5120640" cy="548640"/>
          </a:xfrm>
          <a:prstGeom prst="roundRect">
            <a:avLst>
              <a:gd name="adj" fmla="val 50000"/>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500">
                <a:solidFill>
                  <a:srgbClr val="FFFFFF"/>
                </a:solidFill>
                <a:latin typeface="+mj-lt"/>
              </a:rPr>
              <a:t>Before: build the knowledge base</a:t>
            </a:r>
          </a:p>
        </p:txBody>
      </p:sp>
      <p:sp>
        <p:nvSpPr>
          <p:cNvPr id="7" name="Rounded Rectangle 6"/>
          <p:cNvSpPr/>
          <p:nvPr/>
        </p:nvSpPr>
        <p:spPr>
          <a:xfrm>
            <a:off x="1664208" y="3383280"/>
            <a:ext cx="3312414" cy="2286000"/>
          </a:xfrm>
          <a:prstGeom prst="roundRect">
            <a:avLst>
              <a:gd name="adj" fmla="val 112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920240" y="3602736"/>
            <a:ext cx="621792" cy="621792"/>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les_w.png"/>
          <p:cNvPicPr>
            <a:picLocks noChangeAspect="1"/>
          </p:cNvPicPr>
          <p:nvPr/>
        </p:nvPicPr>
        <p:blipFill>
          <a:blip r:embed="rId2"/>
          <a:stretch>
            <a:fillRect/>
          </a:stretch>
        </p:blipFill>
        <p:spPr>
          <a:xfrm>
            <a:off x="2060143" y="3742639"/>
            <a:ext cx="341985" cy="341985"/>
          </a:xfrm>
          <a:prstGeom prst="rect">
            <a:avLst/>
          </a:prstGeom>
        </p:spPr>
      </p:pic>
      <p:sp>
        <p:nvSpPr>
          <p:cNvPr id="10" name="TextBox 9"/>
          <p:cNvSpPr txBox="1"/>
          <p:nvPr/>
        </p:nvSpPr>
        <p:spPr>
          <a:xfrm>
            <a:off x="2670048" y="3657600"/>
            <a:ext cx="2123694" cy="548640"/>
          </a:xfrm>
          <a:prstGeom prst="rect">
            <a:avLst/>
          </a:prstGeom>
          <a:noFill/>
        </p:spPr>
        <p:txBody>
          <a:bodyPr wrap="square" lIns="45720" tIns="27432" rIns="45720" bIns="27432" anchor="t">
            <a:spAutoFit/>
          </a:bodyPr>
          <a:lstStyle/>
          <a:p>
            <a:pPr algn="l"/>
            <a:r>
              <a:rPr sz="1600">
                <a:solidFill>
                  <a:srgbClr val="262626"/>
                </a:solidFill>
                <a:latin typeface="+mj-lt"/>
              </a:rPr>
              <a:t>Documents</a:t>
            </a:r>
          </a:p>
        </p:txBody>
      </p:sp>
      <p:sp>
        <p:nvSpPr>
          <p:cNvPr id="11" name="TextBox 10"/>
          <p:cNvSpPr txBox="1"/>
          <p:nvPr/>
        </p:nvSpPr>
        <p:spPr>
          <a:xfrm>
            <a:off x="1938528" y="4343400"/>
            <a:ext cx="2763774" cy="1234440"/>
          </a:xfrm>
          <a:prstGeom prst="rect">
            <a:avLst/>
          </a:prstGeom>
          <a:noFill/>
        </p:spPr>
        <p:txBody>
          <a:bodyPr wrap="square" lIns="45720" tIns="27432" rIns="45720" bIns="27432" anchor="t">
            <a:spAutoFit/>
          </a:bodyPr>
          <a:lstStyle/>
          <a:p>
            <a:pPr algn="l"/>
            <a:r>
              <a:rPr sz="1300">
                <a:solidFill>
                  <a:srgbClr val="262626"/>
                </a:solidFill>
              </a:rPr>
              <a:t>The four NHA guideline PDFs: diabetes, lipids, hypertension, screening and recall.</a:t>
            </a:r>
          </a:p>
        </p:txBody>
      </p:sp>
      <p:sp>
        <p:nvSpPr>
          <p:cNvPr id="12" name="Right Arrow 11"/>
          <p:cNvSpPr/>
          <p:nvPr/>
        </p:nvSpPr>
        <p:spPr>
          <a:xfrm>
            <a:off x="5068062" y="4343400"/>
            <a:ext cx="384048" cy="365760"/>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543550" y="3383280"/>
            <a:ext cx="3312414" cy="2286000"/>
          </a:xfrm>
          <a:prstGeom prst="roundRect">
            <a:avLst>
              <a:gd name="adj" fmla="val 112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799582" y="3602736"/>
            <a:ext cx="621792" cy="621792"/>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split_w.png"/>
          <p:cNvPicPr>
            <a:picLocks noChangeAspect="1"/>
          </p:cNvPicPr>
          <p:nvPr/>
        </p:nvPicPr>
        <p:blipFill>
          <a:blip r:embed="rId3"/>
          <a:stretch>
            <a:fillRect/>
          </a:stretch>
        </p:blipFill>
        <p:spPr>
          <a:xfrm>
            <a:off x="5939485" y="3742639"/>
            <a:ext cx="341985" cy="341985"/>
          </a:xfrm>
          <a:prstGeom prst="rect">
            <a:avLst/>
          </a:prstGeom>
        </p:spPr>
      </p:pic>
      <p:sp>
        <p:nvSpPr>
          <p:cNvPr id="16" name="TextBox 15"/>
          <p:cNvSpPr txBox="1"/>
          <p:nvPr/>
        </p:nvSpPr>
        <p:spPr>
          <a:xfrm>
            <a:off x="6549390" y="3657600"/>
            <a:ext cx="2123694" cy="548640"/>
          </a:xfrm>
          <a:prstGeom prst="rect">
            <a:avLst/>
          </a:prstGeom>
          <a:noFill/>
        </p:spPr>
        <p:txBody>
          <a:bodyPr wrap="square" lIns="45720" tIns="27432" rIns="45720" bIns="27432" anchor="t">
            <a:spAutoFit/>
          </a:bodyPr>
          <a:lstStyle/>
          <a:p>
            <a:pPr algn="l"/>
            <a:r>
              <a:rPr sz="1600">
                <a:solidFill>
                  <a:srgbClr val="262626"/>
                </a:solidFill>
                <a:latin typeface="+mj-lt"/>
              </a:rPr>
              <a:t>Chunk</a:t>
            </a:r>
          </a:p>
        </p:txBody>
      </p:sp>
      <p:sp>
        <p:nvSpPr>
          <p:cNvPr id="17" name="TextBox 16"/>
          <p:cNvSpPr txBox="1"/>
          <p:nvPr/>
        </p:nvSpPr>
        <p:spPr>
          <a:xfrm>
            <a:off x="5817870" y="4343400"/>
            <a:ext cx="2763774" cy="1234440"/>
          </a:xfrm>
          <a:prstGeom prst="rect">
            <a:avLst/>
          </a:prstGeom>
          <a:noFill/>
        </p:spPr>
        <p:txBody>
          <a:bodyPr wrap="square" lIns="45720" tIns="27432" rIns="45720" bIns="27432" anchor="t">
            <a:spAutoFit/>
          </a:bodyPr>
          <a:lstStyle/>
          <a:p>
            <a:pPr algn="l"/>
            <a:r>
              <a:rPr sz="1300">
                <a:solidFill>
                  <a:srgbClr val="262626"/>
                </a:solidFill>
              </a:rPr>
              <a:t>Split into passages of 600 to 800 characters, with overlap, so a section stays together.</a:t>
            </a:r>
          </a:p>
        </p:txBody>
      </p:sp>
      <p:sp>
        <p:nvSpPr>
          <p:cNvPr id="18" name="Right Arrow 17"/>
          <p:cNvSpPr/>
          <p:nvPr/>
        </p:nvSpPr>
        <p:spPr>
          <a:xfrm>
            <a:off x="8947404" y="4343400"/>
            <a:ext cx="384048" cy="365760"/>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422892" y="3383280"/>
            <a:ext cx="3312414" cy="2286000"/>
          </a:xfrm>
          <a:prstGeom prst="roundRect">
            <a:avLst>
              <a:gd name="adj" fmla="val 112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678924" y="3602736"/>
            <a:ext cx="621792" cy="621792"/>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mbed_w.png"/>
          <p:cNvPicPr>
            <a:picLocks noChangeAspect="1"/>
          </p:cNvPicPr>
          <p:nvPr/>
        </p:nvPicPr>
        <p:blipFill>
          <a:blip r:embed="rId4"/>
          <a:stretch>
            <a:fillRect/>
          </a:stretch>
        </p:blipFill>
        <p:spPr>
          <a:xfrm>
            <a:off x="9818827" y="3742639"/>
            <a:ext cx="341985" cy="341985"/>
          </a:xfrm>
          <a:prstGeom prst="rect">
            <a:avLst/>
          </a:prstGeom>
        </p:spPr>
      </p:pic>
      <p:sp>
        <p:nvSpPr>
          <p:cNvPr id="22" name="TextBox 21"/>
          <p:cNvSpPr txBox="1"/>
          <p:nvPr/>
        </p:nvSpPr>
        <p:spPr>
          <a:xfrm>
            <a:off x="10428732" y="3657600"/>
            <a:ext cx="2123694" cy="548640"/>
          </a:xfrm>
          <a:prstGeom prst="rect">
            <a:avLst/>
          </a:prstGeom>
          <a:noFill/>
        </p:spPr>
        <p:txBody>
          <a:bodyPr wrap="square" lIns="45720" tIns="27432" rIns="45720" bIns="27432" anchor="t">
            <a:spAutoFit/>
          </a:bodyPr>
          <a:lstStyle/>
          <a:p>
            <a:pPr algn="l"/>
            <a:r>
              <a:rPr sz="1600">
                <a:solidFill>
                  <a:srgbClr val="262626"/>
                </a:solidFill>
                <a:latin typeface="+mj-lt"/>
              </a:rPr>
              <a:t>Embedding model</a:t>
            </a:r>
          </a:p>
        </p:txBody>
      </p:sp>
      <p:sp>
        <p:nvSpPr>
          <p:cNvPr id="23" name="TextBox 22"/>
          <p:cNvSpPr txBox="1"/>
          <p:nvPr/>
        </p:nvSpPr>
        <p:spPr>
          <a:xfrm>
            <a:off x="9697212" y="4343400"/>
            <a:ext cx="2763774" cy="1234440"/>
          </a:xfrm>
          <a:prstGeom prst="rect">
            <a:avLst/>
          </a:prstGeom>
          <a:noFill/>
        </p:spPr>
        <p:txBody>
          <a:bodyPr wrap="square" lIns="45720" tIns="27432" rIns="45720" bIns="27432" anchor="t">
            <a:spAutoFit/>
          </a:bodyPr>
          <a:lstStyle/>
          <a:p>
            <a:pPr algn="l"/>
            <a:r>
              <a:rPr sz="1300">
                <a:solidFill>
                  <a:srgbClr val="262626"/>
                </a:solidFill>
              </a:rPr>
              <a:t>Turn each passage into a vector: a numeric fingerprint of its meaning.</a:t>
            </a:r>
          </a:p>
        </p:txBody>
      </p:sp>
      <p:sp>
        <p:nvSpPr>
          <p:cNvPr id="24" name="Right Arrow 23"/>
          <p:cNvSpPr/>
          <p:nvPr/>
        </p:nvSpPr>
        <p:spPr>
          <a:xfrm>
            <a:off x="12826746" y="4343400"/>
            <a:ext cx="384048" cy="365760"/>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3302234" y="3383280"/>
            <a:ext cx="3312414" cy="2286000"/>
          </a:xfrm>
          <a:prstGeom prst="roundRect">
            <a:avLst>
              <a:gd name="adj" fmla="val 112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558266" y="3602736"/>
            <a:ext cx="621792" cy="621792"/>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vector_w.png"/>
          <p:cNvPicPr>
            <a:picLocks noChangeAspect="1"/>
          </p:cNvPicPr>
          <p:nvPr/>
        </p:nvPicPr>
        <p:blipFill>
          <a:blip r:embed="rId5"/>
          <a:stretch>
            <a:fillRect/>
          </a:stretch>
        </p:blipFill>
        <p:spPr>
          <a:xfrm>
            <a:off x="13698169" y="3742639"/>
            <a:ext cx="341985" cy="341985"/>
          </a:xfrm>
          <a:prstGeom prst="rect">
            <a:avLst/>
          </a:prstGeom>
        </p:spPr>
      </p:pic>
      <p:sp>
        <p:nvSpPr>
          <p:cNvPr id="28" name="TextBox 27"/>
          <p:cNvSpPr txBox="1"/>
          <p:nvPr/>
        </p:nvSpPr>
        <p:spPr>
          <a:xfrm>
            <a:off x="14308074" y="3657600"/>
            <a:ext cx="2123694" cy="548640"/>
          </a:xfrm>
          <a:prstGeom prst="rect">
            <a:avLst/>
          </a:prstGeom>
          <a:noFill/>
        </p:spPr>
        <p:txBody>
          <a:bodyPr wrap="square" lIns="45720" tIns="27432" rIns="45720" bIns="27432" anchor="t">
            <a:spAutoFit/>
          </a:bodyPr>
          <a:lstStyle/>
          <a:p>
            <a:pPr algn="l"/>
            <a:r>
              <a:rPr sz="1600">
                <a:solidFill>
                  <a:srgbClr val="262626"/>
                </a:solidFill>
                <a:latin typeface="+mj-lt"/>
              </a:rPr>
              <a:t>Vector store</a:t>
            </a:r>
          </a:p>
        </p:txBody>
      </p:sp>
      <p:sp>
        <p:nvSpPr>
          <p:cNvPr id="29" name="TextBox 28"/>
          <p:cNvSpPr txBox="1"/>
          <p:nvPr/>
        </p:nvSpPr>
        <p:spPr>
          <a:xfrm>
            <a:off x="13576554" y="4343400"/>
            <a:ext cx="2763774" cy="1234440"/>
          </a:xfrm>
          <a:prstGeom prst="rect">
            <a:avLst/>
          </a:prstGeom>
          <a:noFill/>
        </p:spPr>
        <p:txBody>
          <a:bodyPr wrap="square" lIns="45720" tIns="27432" rIns="45720" bIns="27432" anchor="t">
            <a:spAutoFit/>
          </a:bodyPr>
          <a:lstStyle/>
          <a:p>
            <a:pPr algn="l"/>
            <a:r>
              <a:rPr sz="1300">
                <a:solidFill>
                  <a:srgbClr val="262626"/>
                </a:solidFill>
              </a:rPr>
              <a:t>Keep the vectors so that passages can be found by meaning, not by keyword.</a:t>
            </a:r>
          </a:p>
        </p:txBody>
      </p:sp>
      <p:sp>
        <p:nvSpPr>
          <p:cNvPr id="30" name="Rounded Rectangle 29"/>
          <p:cNvSpPr/>
          <p:nvPr/>
        </p:nvSpPr>
        <p:spPr>
          <a:xfrm>
            <a:off x="1252728" y="6263640"/>
            <a:ext cx="15773400" cy="3017520"/>
          </a:xfrm>
          <a:prstGeom prst="roundRect">
            <a:avLst>
              <a:gd name="adj" fmla="val 9090"/>
            </a:avLst>
          </a:prstGeom>
          <a:solidFill>
            <a:srgbClr val="E4E7EA"/>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664208" y="5989320"/>
            <a:ext cx="5120640" cy="548640"/>
          </a:xfrm>
          <a:prstGeom prst="roundRect">
            <a:avLst>
              <a:gd name="adj" fmla="val 50000"/>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500">
                <a:solidFill>
                  <a:srgbClr val="FFFFFF"/>
                </a:solidFill>
                <a:latin typeface="+mj-lt"/>
              </a:rPr>
              <a:t>At question time: retrieve, then generate</a:t>
            </a:r>
          </a:p>
        </p:txBody>
      </p:sp>
      <p:sp>
        <p:nvSpPr>
          <p:cNvPr id="32" name="Rounded Rectangle 31"/>
          <p:cNvSpPr/>
          <p:nvPr/>
        </p:nvSpPr>
        <p:spPr>
          <a:xfrm>
            <a:off x="1664208" y="6720840"/>
            <a:ext cx="3312414" cy="2286000"/>
          </a:xfrm>
          <a:prstGeom prst="roundRect">
            <a:avLst>
              <a:gd name="adj" fmla="val 112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20240" y="6940296"/>
            <a:ext cx="621792" cy="621792"/>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question_w.png"/>
          <p:cNvPicPr>
            <a:picLocks noChangeAspect="1"/>
          </p:cNvPicPr>
          <p:nvPr/>
        </p:nvPicPr>
        <p:blipFill>
          <a:blip r:embed="rId6"/>
          <a:stretch>
            <a:fillRect/>
          </a:stretch>
        </p:blipFill>
        <p:spPr>
          <a:xfrm>
            <a:off x="2060143" y="7080199"/>
            <a:ext cx="341985" cy="341985"/>
          </a:xfrm>
          <a:prstGeom prst="rect">
            <a:avLst/>
          </a:prstGeom>
        </p:spPr>
      </p:pic>
      <p:sp>
        <p:nvSpPr>
          <p:cNvPr id="35" name="TextBox 34"/>
          <p:cNvSpPr txBox="1"/>
          <p:nvPr/>
        </p:nvSpPr>
        <p:spPr>
          <a:xfrm>
            <a:off x="2670048" y="6995159"/>
            <a:ext cx="2123694" cy="548640"/>
          </a:xfrm>
          <a:prstGeom prst="rect">
            <a:avLst/>
          </a:prstGeom>
          <a:noFill/>
        </p:spPr>
        <p:txBody>
          <a:bodyPr wrap="square" lIns="45720" tIns="27432" rIns="45720" bIns="27432" anchor="t">
            <a:spAutoFit/>
          </a:bodyPr>
          <a:lstStyle/>
          <a:p>
            <a:pPr algn="l"/>
            <a:r>
              <a:rPr sz="1600">
                <a:solidFill>
                  <a:srgbClr val="262626"/>
                </a:solidFill>
                <a:latin typeface="+mj-lt"/>
              </a:rPr>
              <a:t>Question</a:t>
            </a:r>
          </a:p>
        </p:txBody>
      </p:sp>
      <p:sp>
        <p:nvSpPr>
          <p:cNvPr id="36" name="TextBox 35"/>
          <p:cNvSpPr txBox="1"/>
          <p:nvPr/>
        </p:nvSpPr>
        <p:spPr>
          <a:xfrm>
            <a:off x="1938528" y="7680960"/>
            <a:ext cx="2763774" cy="1234440"/>
          </a:xfrm>
          <a:prstGeom prst="rect">
            <a:avLst/>
          </a:prstGeom>
          <a:noFill/>
        </p:spPr>
        <p:txBody>
          <a:bodyPr wrap="square" lIns="45720" tIns="27432" rIns="45720" bIns="27432" anchor="t">
            <a:spAutoFit/>
          </a:bodyPr>
          <a:lstStyle/>
          <a:p>
            <a:pPr algn="l"/>
            <a:r>
              <a:rPr sz="1300">
                <a:solidFill>
                  <a:srgbClr val="262626"/>
                </a:solidFill>
              </a:rPr>
              <a:t>“What is the LDL target for a very-high-risk patient?”</a:t>
            </a:r>
          </a:p>
        </p:txBody>
      </p:sp>
      <p:sp>
        <p:nvSpPr>
          <p:cNvPr id="37" name="Right Arrow 36"/>
          <p:cNvSpPr/>
          <p:nvPr/>
        </p:nvSpPr>
        <p:spPr>
          <a:xfrm>
            <a:off x="5068062" y="7680960"/>
            <a:ext cx="384048" cy="365760"/>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5543550" y="6720840"/>
            <a:ext cx="3312414" cy="2286000"/>
          </a:xfrm>
          <a:prstGeom prst="roundRect">
            <a:avLst>
              <a:gd name="adj" fmla="val 112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799582" y="6940296"/>
            <a:ext cx="621792" cy="621792"/>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search_w.png"/>
          <p:cNvPicPr>
            <a:picLocks noChangeAspect="1"/>
          </p:cNvPicPr>
          <p:nvPr/>
        </p:nvPicPr>
        <p:blipFill>
          <a:blip r:embed="rId7"/>
          <a:stretch>
            <a:fillRect/>
          </a:stretch>
        </p:blipFill>
        <p:spPr>
          <a:xfrm>
            <a:off x="5939485" y="7080199"/>
            <a:ext cx="341985" cy="341985"/>
          </a:xfrm>
          <a:prstGeom prst="rect">
            <a:avLst/>
          </a:prstGeom>
        </p:spPr>
      </p:pic>
      <p:sp>
        <p:nvSpPr>
          <p:cNvPr id="41" name="TextBox 40"/>
          <p:cNvSpPr txBox="1"/>
          <p:nvPr/>
        </p:nvSpPr>
        <p:spPr>
          <a:xfrm>
            <a:off x="6549390" y="6995159"/>
            <a:ext cx="2123694" cy="548640"/>
          </a:xfrm>
          <a:prstGeom prst="rect">
            <a:avLst/>
          </a:prstGeom>
          <a:noFill/>
        </p:spPr>
        <p:txBody>
          <a:bodyPr wrap="square" lIns="45720" tIns="27432" rIns="45720" bIns="27432" anchor="t">
            <a:spAutoFit/>
          </a:bodyPr>
          <a:lstStyle/>
          <a:p>
            <a:pPr algn="l"/>
            <a:r>
              <a:rPr sz="1600">
                <a:solidFill>
                  <a:srgbClr val="262626"/>
                </a:solidFill>
                <a:latin typeface="+mj-lt"/>
              </a:rPr>
              <a:t>Retrieve</a:t>
            </a:r>
          </a:p>
        </p:txBody>
      </p:sp>
      <p:sp>
        <p:nvSpPr>
          <p:cNvPr id="42" name="TextBox 41"/>
          <p:cNvSpPr txBox="1"/>
          <p:nvPr/>
        </p:nvSpPr>
        <p:spPr>
          <a:xfrm>
            <a:off x="5817870" y="7680960"/>
            <a:ext cx="2763774" cy="1234440"/>
          </a:xfrm>
          <a:prstGeom prst="rect">
            <a:avLst/>
          </a:prstGeom>
          <a:noFill/>
        </p:spPr>
        <p:txBody>
          <a:bodyPr wrap="square" lIns="45720" tIns="27432" rIns="45720" bIns="27432" anchor="t">
            <a:spAutoFit/>
          </a:bodyPr>
          <a:lstStyle/>
          <a:p>
            <a:pPr algn="l"/>
            <a:r>
              <a:rPr sz="1300">
                <a:solidFill>
                  <a:srgbClr val="262626"/>
                </a:solidFill>
              </a:rPr>
              <a:t>Embed the question; fetch the 4 to 6 passages closest in meaning.</a:t>
            </a:r>
          </a:p>
        </p:txBody>
      </p:sp>
      <p:sp>
        <p:nvSpPr>
          <p:cNvPr id="43" name="Right Arrow 42"/>
          <p:cNvSpPr/>
          <p:nvPr/>
        </p:nvSpPr>
        <p:spPr>
          <a:xfrm>
            <a:off x="8947404" y="7680960"/>
            <a:ext cx="384048" cy="365760"/>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9422892" y="6720840"/>
            <a:ext cx="3312414" cy="2286000"/>
          </a:xfrm>
          <a:prstGeom prst="roundRect">
            <a:avLst>
              <a:gd name="adj" fmla="val 112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678924" y="6940296"/>
            <a:ext cx="621792" cy="621792"/>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brain_w.png"/>
          <p:cNvPicPr>
            <a:picLocks noChangeAspect="1"/>
          </p:cNvPicPr>
          <p:nvPr/>
        </p:nvPicPr>
        <p:blipFill>
          <a:blip r:embed="rId8"/>
          <a:stretch>
            <a:fillRect/>
          </a:stretch>
        </p:blipFill>
        <p:spPr>
          <a:xfrm>
            <a:off x="9818827" y="7080199"/>
            <a:ext cx="341985" cy="341985"/>
          </a:xfrm>
          <a:prstGeom prst="rect">
            <a:avLst/>
          </a:prstGeom>
        </p:spPr>
      </p:pic>
      <p:sp>
        <p:nvSpPr>
          <p:cNvPr id="47" name="TextBox 46"/>
          <p:cNvSpPr txBox="1"/>
          <p:nvPr/>
        </p:nvSpPr>
        <p:spPr>
          <a:xfrm>
            <a:off x="10428732" y="6995159"/>
            <a:ext cx="2123694" cy="548640"/>
          </a:xfrm>
          <a:prstGeom prst="rect">
            <a:avLst/>
          </a:prstGeom>
          <a:noFill/>
        </p:spPr>
        <p:txBody>
          <a:bodyPr wrap="square" lIns="45720" tIns="27432" rIns="45720" bIns="27432" anchor="t">
            <a:spAutoFit/>
          </a:bodyPr>
          <a:lstStyle/>
          <a:p>
            <a:pPr algn="l"/>
            <a:r>
              <a:rPr sz="1600">
                <a:solidFill>
                  <a:srgbClr val="262626"/>
                </a:solidFill>
                <a:latin typeface="+mj-lt"/>
              </a:rPr>
              <a:t>Generate</a:t>
            </a:r>
          </a:p>
        </p:txBody>
      </p:sp>
      <p:sp>
        <p:nvSpPr>
          <p:cNvPr id="48" name="TextBox 47"/>
          <p:cNvSpPr txBox="1"/>
          <p:nvPr/>
        </p:nvSpPr>
        <p:spPr>
          <a:xfrm>
            <a:off x="9697212" y="7680960"/>
            <a:ext cx="2763774" cy="1234440"/>
          </a:xfrm>
          <a:prstGeom prst="rect">
            <a:avLst/>
          </a:prstGeom>
          <a:noFill/>
        </p:spPr>
        <p:txBody>
          <a:bodyPr wrap="square" lIns="45720" tIns="27432" rIns="45720" bIns="27432" anchor="t">
            <a:spAutoFit/>
          </a:bodyPr>
          <a:lstStyle/>
          <a:p>
            <a:pPr algn="l"/>
            <a:r>
              <a:rPr sz="1300">
                <a:solidFill>
                  <a:srgbClr val="262626"/>
                </a:solidFill>
              </a:rPr>
              <a:t>The LLM writes the answer from those passages only, nothing from memory.</a:t>
            </a:r>
          </a:p>
        </p:txBody>
      </p:sp>
      <p:sp>
        <p:nvSpPr>
          <p:cNvPr id="49" name="Right Arrow 48"/>
          <p:cNvSpPr/>
          <p:nvPr/>
        </p:nvSpPr>
        <p:spPr>
          <a:xfrm>
            <a:off x="12826746" y="7680960"/>
            <a:ext cx="384048" cy="365760"/>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13302234" y="6720840"/>
            <a:ext cx="3312414" cy="2286000"/>
          </a:xfrm>
          <a:prstGeom prst="roundRect">
            <a:avLst>
              <a:gd name="adj" fmla="val 112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3558266" y="6940296"/>
            <a:ext cx="621792" cy="621792"/>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2" name="Picture 51" descr="cite_w.png"/>
          <p:cNvPicPr>
            <a:picLocks noChangeAspect="1"/>
          </p:cNvPicPr>
          <p:nvPr/>
        </p:nvPicPr>
        <p:blipFill>
          <a:blip r:embed="rId9"/>
          <a:stretch>
            <a:fillRect/>
          </a:stretch>
        </p:blipFill>
        <p:spPr>
          <a:xfrm>
            <a:off x="13698169" y="7080199"/>
            <a:ext cx="341985" cy="341985"/>
          </a:xfrm>
          <a:prstGeom prst="rect">
            <a:avLst/>
          </a:prstGeom>
        </p:spPr>
      </p:pic>
      <p:sp>
        <p:nvSpPr>
          <p:cNvPr id="53" name="TextBox 52"/>
          <p:cNvSpPr txBox="1"/>
          <p:nvPr/>
        </p:nvSpPr>
        <p:spPr>
          <a:xfrm>
            <a:off x="14308074" y="6995159"/>
            <a:ext cx="2123694" cy="548640"/>
          </a:xfrm>
          <a:prstGeom prst="rect">
            <a:avLst/>
          </a:prstGeom>
          <a:noFill/>
        </p:spPr>
        <p:txBody>
          <a:bodyPr wrap="square" lIns="45720" tIns="27432" rIns="45720" bIns="27432" anchor="t">
            <a:spAutoFit/>
          </a:bodyPr>
          <a:lstStyle/>
          <a:p>
            <a:pPr algn="l"/>
            <a:r>
              <a:rPr sz="1600">
                <a:solidFill>
                  <a:srgbClr val="262626"/>
                </a:solidFill>
                <a:latin typeface="+mj-lt"/>
              </a:rPr>
              <a:t>Cited answer</a:t>
            </a:r>
          </a:p>
        </p:txBody>
      </p:sp>
      <p:sp>
        <p:nvSpPr>
          <p:cNvPr id="54" name="TextBox 53"/>
          <p:cNvSpPr txBox="1"/>
          <p:nvPr/>
        </p:nvSpPr>
        <p:spPr>
          <a:xfrm>
            <a:off x="13576554" y="7680960"/>
            <a:ext cx="2763774" cy="1234440"/>
          </a:xfrm>
          <a:prstGeom prst="rect">
            <a:avLst/>
          </a:prstGeom>
          <a:noFill/>
        </p:spPr>
        <p:txBody>
          <a:bodyPr wrap="square" lIns="45720" tIns="27432" rIns="45720" bIns="27432" anchor="t">
            <a:spAutoFit/>
          </a:bodyPr>
          <a:lstStyle/>
          <a:p>
            <a:pPr algn="l"/>
            <a:r>
              <a:rPr sz="1300">
                <a:solidFill>
                  <a:srgbClr val="262626"/>
                </a:solidFill>
              </a:rPr>
              <a:t>“Below 1.4 mmol/L, NHA-CG-02 §3.” Or: “not covered by the guidelines in my collection.”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r>
              <a:rPr sz="5600"/>
              <a:t>MCP: the Model Context Protocol</a:t>
            </a:r>
          </a:p>
        </p:txBody>
      </p:sp>
      <p:sp>
        <p:nvSpPr>
          <p:cNvPr id="3" name="Text Placeholder 2"/>
          <p:cNvSpPr>
            <a:spLocks noGrp="1"/>
          </p:cNvSpPr>
          <p:nvPr>
            <p:ph type="body" idx="10" sz="quarter"/>
          </p:nvPr>
        </p:nvSpPr>
        <p:spPr/>
        <p:txBody>
          <a:bodyPr/>
          <a:lstStyle/>
          <a:p>
            <a:r>
              <a:rPr sz="3000"/>
              <a:t>One standard plug between the agent and your data, models and systems</a:t>
            </a:r>
          </a:p>
        </p:txBody>
      </p:sp>
      <p:sp>
        <p:nvSpPr>
          <p:cNvPr id="5" name="Rounded Rectangle 4"/>
          <p:cNvSpPr/>
          <p:nvPr/>
        </p:nvSpPr>
        <p:spPr>
          <a:xfrm>
            <a:off x="1252728" y="3017520"/>
            <a:ext cx="4206240" cy="4846320"/>
          </a:xfrm>
          <a:prstGeom prst="roundRect">
            <a:avLst>
              <a:gd name="adj" fmla="val 6086"/>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30068" y="2491739"/>
            <a:ext cx="1051560" cy="1051560"/>
          </a:xfrm>
          <a:prstGeom prst="ellipse">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bot_w.png"/>
          <p:cNvPicPr>
            <a:picLocks noChangeAspect="1"/>
          </p:cNvPicPr>
          <p:nvPr/>
        </p:nvPicPr>
        <p:blipFill>
          <a:blip r:embed="rId2"/>
          <a:stretch>
            <a:fillRect/>
          </a:stretch>
        </p:blipFill>
        <p:spPr>
          <a:xfrm>
            <a:off x="3082442" y="2744114"/>
            <a:ext cx="546811" cy="546811"/>
          </a:xfrm>
          <a:prstGeom prst="rect">
            <a:avLst/>
          </a:prstGeom>
        </p:spPr>
      </p:pic>
      <p:sp>
        <p:nvSpPr>
          <p:cNvPr id="8" name="TextBox 7"/>
          <p:cNvSpPr txBox="1"/>
          <p:nvPr/>
        </p:nvSpPr>
        <p:spPr>
          <a:xfrm>
            <a:off x="1527048" y="3749039"/>
            <a:ext cx="3657599" cy="548640"/>
          </a:xfrm>
          <a:prstGeom prst="rect">
            <a:avLst/>
          </a:prstGeom>
          <a:noFill/>
        </p:spPr>
        <p:txBody>
          <a:bodyPr wrap="square" lIns="45720" tIns="27432" rIns="45720" bIns="27432" anchor="t">
            <a:spAutoFit/>
          </a:bodyPr>
          <a:lstStyle/>
          <a:p>
            <a:pPr algn="ctr"/>
            <a:r>
              <a:rPr sz="2200">
                <a:solidFill>
                  <a:srgbClr val="262626"/>
                </a:solidFill>
                <a:latin typeface="+mj-lt"/>
              </a:rPr>
              <a:t>The agent</a:t>
            </a:r>
          </a:p>
        </p:txBody>
      </p:sp>
      <p:sp>
        <p:nvSpPr>
          <p:cNvPr id="9" name="Oval 8"/>
          <p:cNvSpPr/>
          <p:nvPr/>
        </p:nvSpPr>
        <p:spPr>
          <a:xfrm>
            <a:off x="1664208" y="4526279"/>
            <a:ext cx="548640" cy="548640"/>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goal_w.png"/>
          <p:cNvPicPr>
            <a:picLocks noChangeAspect="1"/>
          </p:cNvPicPr>
          <p:nvPr/>
        </p:nvPicPr>
        <p:blipFill>
          <a:blip r:embed="rId3"/>
          <a:stretch>
            <a:fillRect/>
          </a:stretch>
        </p:blipFill>
        <p:spPr>
          <a:xfrm>
            <a:off x="1787652" y="4649723"/>
            <a:ext cx="301752" cy="301752"/>
          </a:xfrm>
          <a:prstGeom prst="rect">
            <a:avLst/>
          </a:prstGeom>
        </p:spPr>
      </p:pic>
      <p:sp>
        <p:nvSpPr>
          <p:cNvPr id="11" name="TextBox 10"/>
          <p:cNvSpPr txBox="1"/>
          <p:nvPr/>
        </p:nvSpPr>
        <p:spPr>
          <a:xfrm>
            <a:off x="2395728" y="4571999"/>
            <a:ext cx="2834639" cy="457200"/>
          </a:xfrm>
          <a:prstGeom prst="rect">
            <a:avLst/>
          </a:prstGeom>
          <a:noFill/>
        </p:spPr>
        <p:txBody>
          <a:bodyPr wrap="square" lIns="45720" tIns="27432" rIns="45720" bIns="27432" anchor="t">
            <a:spAutoFit/>
          </a:bodyPr>
          <a:lstStyle/>
          <a:p>
            <a:pPr algn="l"/>
            <a:r>
              <a:rPr sz="1600">
                <a:solidFill>
                  <a:srgbClr val="262626"/>
                </a:solidFill>
                <a:latin typeface="+mj-lt"/>
              </a:rPr>
              <a:t>Goal &amp; rules</a:t>
            </a:r>
          </a:p>
        </p:txBody>
      </p:sp>
      <p:sp>
        <p:nvSpPr>
          <p:cNvPr id="12" name="Oval 11"/>
          <p:cNvSpPr/>
          <p:nvPr/>
        </p:nvSpPr>
        <p:spPr>
          <a:xfrm>
            <a:off x="1664208" y="5330951"/>
            <a:ext cx="548640" cy="548640"/>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rain_w.png"/>
          <p:cNvPicPr>
            <a:picLocks noChangeAspect="1"/>
          </p:cNvPicPr>
          <p:nvPr/>
        </p:nvPicPr>
        <p:blipFill>
          <a:blip r:embed="rId4"/>
          <a:stretch>
            <a:fillRect/>
          </a:stretch>
        </p:blipFill>
        <p:spPr>
          <a:xfrm>
            <a:off x="1787652" y="5454395"/>
            <a:ext cx="301752" cy="301752"/>
          </a:xfrm>
          <a:prstGeom prst="rect">
            <a:avLst/>
          </a:prstGeom>
        </p:spPr>
      </p:pic>
      <p:sp>
        <p:nvSpPr>
          <p:cNvPr id="14" name="TextBox 13"/>
          <p:cNvSpPr txBox="1"/>
          <p:nvPr/>
        </p:nvSpPr>
        <p:spPr>
          <a:xfrm>
            <a:off x="2395728" y="5376671"/>
            <a:ext cx="2834639" cy="457200"/>
          </a:xfrm>
          <a:prstGeom prst="rect">
            <a:avLst/>
          </a:prstGeom>
          <a:noFill/>
        </p:spPr>
        <p:txBody>
          <a:bodyPr wrap="square" lIns="45720" tIns="27432" rIns="45720" bIns="27432" anchor="t">
            <a:spAutoFit/>
          </a:bodyPr>
          <a:lstStyle/>
          <a:p>
            <a:pPr algn="l"/>
            <a:r>
              <a:rPr sz="1600">
                <a:solidFill>
                  <a:srgbClr val="262626"/>
                </a:solidFill>
                <a:latin typeface="+mj-lt"/>
              </a:rPr>
              <a:t>Reasoning engine (LLM)</a:t>
            </a:r>
          </a:p>
        </p:txBody>
      </p:sp>
      <p:sp>
        <p:nvSpPr>
          <p:cNvPr id="15" name="Oval 14"/>
          <p:cNvSpPr/>
          <p:nvPr/>
        </p:nvSpPr>
        <p:spPr>
          <a:xfrm>
            <a:off x="1664208" y="6135623"/>
            <a:ext cx="548640" cy="548640"/>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files_w.png"/>
          <p:cNvPicPr>
            <a:picLocks noChangeAspect="1"/>
          </p:cNvPicPr>
          <p:nvPr/>
        </p:nvPicPr>
        <p:blipFill>
          <a:blip r:embed="rId5"/>
          <a:stretch>
            <a:fillRect/>
          </a:stretch>
        </p:blipFill>
        <p:spPr>
          <a:xfrm>
            <a:off x="1787652" y="6259067"/>
            <a:ext cx="301752" cy="301752"/>
          </a:xfrm>
          <a:prstGeom prst="rect">
            <a:avLst/>
          </a:prstGeom>
        </p:spPr>
      </p:pic>
      <p:sp>
        <p:nvSpPr>
          <p:cNvPr id="17" name="TextBox 16"/>
          <p:cNvSpPr txBox="1"/>
          <p:nvPr/>
        </p:nvSpPr>
        <p:spPr>
          <a:xfrm>
            <a:off x="2395728" y="6181343"/>
            <a:ext cx="2834639" cy="457200"/>
          </a:xfrm>
          <a:prstGeom prst="rect">
            <a:avLst/>
          </a:prstGeom>
          <a:noFill/>
        </p:spPr>
        <p:txBody>
          <a:bodyPr wrap="square" lIns="45720" tIns="27432" rIns="45720" bIns="27432" anchor="t">
            <a:spAutoFit/>
          </a:bodyPr>
          <a:lstStyle/>
          <a:p>
            <a:pPr algn="l"/>
            <a:r>
              <a:rPr sz="1600">
                <a:solidFill>
                  <a:srgbClr val="262626"/>
                </a:solidFill>
                <a:latin typeface="+mj-lt"/>
              </a:rPr>
              <a:t>Knowledge (RAG)</a:t>
            </a:r>
          </a:p>
        </p:txBody>
      </p:sp>
      <p:sp>
        <p:nvSpPr>
          <p:cNvPr id="18" name="Oval 17"/>
          <p:cNvSpPr/>
          <p:nvPr/>
        </p:nvSpPr>
        <p:spPr>
          <a:xfrm>
            <a:off x="1664208" y="6940296"/>
            <a:ext cx="548640" cy="548640"/>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memory_w.png"/>
          <p:cNvPicPr>
            <a:picLocks noChangeAspect="1"/>
          </p:cNvPicPr>
          <p:nvPr/>
        </p:nvPicPr>
        <p:blipFill>
          <a:blip r:embed="rId6"/>
          <a:stretch>
            <a:fillRect/>
          </a:stretch>
        </p:blipFill>
        <p:spPr>
          <a:xfrm>
            <a:off x="1787652" y="7063740"/>
            <a:ext cx="301752" cy="301752"/>
          </a:xfrm>
          <a:prstGeom prst="rect">
            <a:avLst/>
          </a:prstGeom>
        </p:spPr>
      </p:pic>
      <p:sp>
        <p:nvSpPr>
          <p:cNvPr id="20" name="TextBox 19"/>
          <p:cNvSpPr txBox="1"/>
          <p:nvPr/>
        </p:nvSpPr>
        <p:spPr>
          <a:xfrm>
            <a:off x="2395728" y="6986016"/>
            <a:ext cx="2834639" cy="457200"/>
          </a:xfrm>
          <a:prstGeom prst="rect">
            <a:avLst/>
          </a:prstGeom>
          <a:noFill/>
        </p:spPr>
        <p:txBody>
          <a:bodyPr wrap="square" lIns="45720" tIns="27432" rIns="45720" bIns="27432" anchor="t">
            <a:spAutoFit/>
          </a:bodyPr>
          <a:lstStyle/>
          <a:p>
            <a:pPr algn="l"/>
            <a:r>
              <a:rPr sz="1600">
                <a:solidFill>
                  <a:srgbClr val="262626"/>
                </a:solidFill>
                <a:latin typeface="+mj-lt"/>
              </a:rPr>
              <a:t>Memory of this task</a:t>
            </a:r>
          </a:p>
        </p:txBody>
      </p:sp>
      <p:sp>
        <p:nvSpPr>
          <p:cNvPr id="21" name="Rounded Rectangle 20"/>
          <p:cNvSpPr/>
          <p:nvPr/>
        </p:nvSpPr>
        <p:spPr>
          <a:xfrm>
            <a:off x="6675120" y="2743200"/>
            <a:ext cx="2286000" cy="5394960"/>
          </a:xfrm>
          <a:prstGeom prst="roundRect">
            <a:avLst>
              <a:gd name="adj" fmla="val 12000"/>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rot="16200000">
            <a:off x="5303520" y="4617720"/>
            <a:ext cx="5029200" cy="1645920"/>
          </a:xfrm>
          <a:prstGeom prst="rect">
            <a:avLst/>
          </a:prstGeom>
          <a:noFill/>
        </p:spPr>
        <p:txBody>
          <a:bodyPr wrap="square" lIns="45720" tIns="27432" rIns="45720" bIns="27432" anchor="ctr">
            <a:spAutoFit/>
          </a:bodyPr>
          <a:lstStyle/>
          <a:p>
            <a:pPr algn="ctr"/>
            <a:r>
              <a:rPr sz="1800">
                <a:solidFill>
                  <a:srgbClr val="FFFFFF"/>
                </a:solidFill>
                <a:latin typeface="+mj-lt"/>
              </a:rPr>
              <a:t>MCP SERVER</a:t>
            </a:r>
          </a:p>
          <a:p>
            <a:pPr algn="ctr"/>
            <a:r>
              <a:rPr sz="1300">
                <a:solidFill>
                  <a:srgbClr val="FFFFFF"/>
                </a:solidFill>
              </a:rPr>
              <a:t>tool descriptions  ·  permissions  ·  audit log</a:t>
            </a:r>
          </a:p>
        </p:txBody>
      </p:sp>
      <p:cxnSp>
        <p:nvCxnSpPr>
          <p:cNvPr id="23" name="Connector 22"/>
          <p:cNvCxnSpPr/>
          <p:nvPr/>
        </p:nvCxnSpPr>
        <p:spPr>
          <a:xfrm>
            <a:off x="5550407" y="5440680"/>
            <a:ext cx="1033273" cy="0"/>
          </a:xfrm>
          <a:prstGeom prst="line">
            <a:avLst/>
          </a:prstGeom>
          <a:ln w="28575">
            <a:solidFill>
              <a:srgbClr val="0766D1"/>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550407" y="4800600"/>
            <a:ext cx="1033272" cy="548640"/>
          </a:xfrm>
          <a:prstGeom prst="rect">
            <a:avLst/>
          </a:prstGeom>
          <a:noFill/>
        </p:spPr>
        <p:txBody>
          <a:bodyPr wrap="square" lIns="45720" tIns="27432" rIns="45720" bIns="27432" anchor="b">
            <a:spAutoFit/>
          </a:bodyPr>
          <a:lstStyle/>
          <a:p>
            <a:pPr algn="ctr"/>
            <a:r>
              <a:rPr sz="1200">
                <a:solidFill>
                  <a:srgbClr val="0766D1"/>
                </a:solidFill>
                <a:latin typeface="+mj-lt"/>
              </a:rPr>
              <a:t>asks  ·  gets results</a:t>
            </a:r>
          </a:p>
        </p:txBody>
      </p:sp>
      <p:sp>
        <p:nvSpPr>
          <p:cNvPr id="25" name="Rounded Rectangle 24"/>
          <p:cNvSpPr/>
          <p:nvPr/>
        </p:nvSpPr>
        <p:spPr>
          <a:xfrm>
            <a:off x="9966960" y="2743200"/>
            <a:ext cx="7059168" cy="1133856"/>
          </a:xfrm>
          <a:prstGeom prst="roundRect">
            <a:avLst>
              <a:gd name="adj" fmla="val 22580"/>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77856" y="2980944"/>
            <a:ext cx="658368" cy="658368"/>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sql_w.png"/>
          <p:cNvPicPr>
            <a:picLocks noChangeAspect="1"/>
          </p:cNvPicPr>
          <p:nvPr/>
        </p:nvPicPr>
        <p:blipFill>
          <a:blip r:embed="rId7"/>
          <a:stretch>
            <a:fillRect/>
          </a:stretch>
        </p:blipFill>
        <p:spPr>
          <a:xfrm>
            <a:off x="10425988" y="3129076"/>
            <a:ext cx="362102" cy="362102"/>
          </a:xfrm>
          <a:prstGeom prst="rect">
            <a:avLst/>
          </a:prstGeom>
        </p:spPr>
      </p:pic>
      <p:sp>
        <p:nvSpPr>
          <p:cNvPr id="28" name="TextBox 27"/>
          <p:cNvSpPr txBox="1"/>
          <p:nvPr/>
        </p:nvSpPr>
        <p:spPr>
          <a:xfrm>
            <a:off x="11109960" y="2852928"/>
            <a:ext cx="5733288" cy="411480"/>
          </a:xfrm>
          <a:prstGeom prst="rect">
            <a:avLst/>
          </a:prstGeom>
          <a:noFill/>
        </p:spPr>
        <p:txBody>
          <a:bodyPr wrap="square" lIns="45720" tIns="27432" rIns="45720" bIns="27432" anchor="t">
            <a:spAutoFit/>
          </a:bodyPr>
          <a:lstStyle/>
          <a:p>
            <a:pPr algn="l"/>
            <a:r>
              <a:rPr sz="1600">
                <a:solidFill>
                  <a:srgbClr val="262626"/>
                </a:solidFill>
                <a:latin typeface="+mj-lt"/>
              </a:rPr>
              <a:t>Query data (SQL)</a:t>
            </a:r>
          </a:p>
        </p:txBody>
      </p:sp>
      <p:sp>
        <p:nvSpPr>
          <p:cNvPr id="29" name="TextBox 28"/>
          <p:cNvSpPr txBox="1"/>
          <p:nvPr/>
        </p:nvSpPr>
        <p:spPr>
          <a:xfrm>
            <a:off x="11109960" y="3246120"/>
            <a:ext cx="5733288" cy="594360"/>
          </a:xfrm>
          <a:prstGeom prst="rect">
            <a:avLst/>
          </a:prstGeom>
          <a:noFill/>
        </p:spPr>
        <p:txBody>
          <a:bodyPr wrap="square" lIns="45720" tIns="27432" rIns="45720" bIns="27432" anchor="t">
            <a:spAutoFit/>
          </a:bodyPr>
          <a:lstStyle/>
          <a:p>
            <a:pPr algn="l"/>
            <a:r>
              <a:rPr sz="1200">
                <a:solidFill>
                  <a:srgbClr val="7E889A"/>
                </a:solidFill>
              </a:rPr>
              <a:t>FedSQL over the registry tables in SAS Viya CAS: counts, rates, costs, one patient</a:t>
            </a:r>
          </a:p>
        </p:txBody>
      </p:sp>
      <p:cxnSp>
        <p:nvCxnSpPr>
          <p:cNvPr id="30" name="Connector 29"/>
          <p:cNvCxnSpPr/>
          <p:nvPr/>
        </p:nvCxnSpPr>
        <p:spPr>
          <a:xfrm>
            <a:off x="9006840" y="3310128"/>
            <a:ext cx="886968" cy="0"/>
          </a:xfrm>
          <a:prstGeom prst="line">
            <a:avLst/>
          </a:prstGeom>
          <a:ln w="22225">
            <a:solidFill>
              <a:srgbClr val="0766D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966960" y="4160520"/>
            <a:ext cx="7059168" cy="1133856"/>
          </a:xfrm>
          <a:prstGeom prst="roundRect">
            <a:avLst>
              <a:gd name="adj" fmla="val 22580"/>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277856" y="4398264"/>
            <a:ext cx="658368" cy="658368"/>
          </a:xfrm>
          <a:prstGeom prst="ellipse">
            <a:avLst/>
          </a:prstGeom>
          <a:solidFill>
            <a:srgbClr val="439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model_w.png"/>
          <p:cNvPicPr>
            <a:picLocks noChangeAspect="1"/>
          </p:cNvPicPr>
          <p:nvPr/>
        </p:nvPicPr>
        <p:blipFill>
          <a:blip r:embed="rId8"/>
          <a:stretch>
            <a:fillRect/>
          </a:stretch>
        </p:blipFill>
        <p:spPr>
          <a:xfrm>
            <a:off x="10425988" y="4546396"/>
            <a:ext cx="362102" cy="362102"/>
          </a:xfrm>
          <a:prstGeom prst="rect">
            <a:avLst/>
          </a:prstGeom>
        </p:spPr>
      </p:pic>
      <p:sp>
        <p:nvSpPr>
          <p:cNvPr id="34" name="TextBox 33"/>
          <p:cNvSpPr txBox="1"/>
          <p:nvPr/>
        </p:nvSpPr>
        <p:spPr>
          <a:xfrm>
            <a:off x="11109960" y="4270248"/>
            <a:ext cx="5733288" cy="411480"/>
          </a:xfrm>
          <a:prstGeom prst="rect">
            <a:avLst/>
          </a:prstGeom>
          <a:noFill/>
        </p:spPr>
        <p:txBody>
          <a:bodyPr wrap="square" lIns="45720" tIns="27432" rIns="45720" bIns="27432" anchor="t">
            <a:spAutoFit/>
          </a:bodyPr>
          <a:lstStyle/>
          <a:p>
            <a:pPr algn="l"/>
            <a:r>
              <a:rPr sz="1600">
                <a:solidFill>
                  <a:srgbClr val="262626"/>
                </a:solidFill>
                <a:latin typeface="+mj-lt"/>
              </a:rPr>
              <a:t>Score the ML model</a:t>
            </a:r>
          </a:p>
        </p:txBody>
      </p:sp>
      <p:sp>
        <p:nvSpPr>
          <p:cNvPr id="35" name="TextBox 34"/>
          <p:cNvSpPr txBox="1"/>
          <p:nvPr/>
        </p:nvSpPr>
        <p:spPr>
          <a:xfrm>
            <a:off x="11109960" y="4663440"/>
            <a:ext cx="5733288" cy="594360"/>
          </a:xfrm>
          <a:prstGeom prst="rect">
            <a:avLst/>
          </a:prstGeom>
          <a:noFill/>
        </p:spPr>
        <p:txBody>
          <a:bodyPr wrap="square" lIns="45720" tIns="27432" rIns="45720" bIns="27432" anchor="t">
            <a:spAutoFit/>
          </a:bodyPr>
          <a:lstStyle/>
          <a:p>
            <a:pPr algn="l"/>
            <a:r>
              <a:rPr sz="1200">
                <a:solidFill>
                  <a:srgbClr val="7E889A"/>
                </a:solidFill>
              </a:rPr>
              <a:t>The published deterioration-risk model in SAS Micro Analytic Service</a:t>
            </a:r>
          </a:p>
        </p:txBody>
      </p:sp>
      <p:cxnSp>
        <p:nvCxnSpPr>
          <p:cNvPr id="36" name="Connector 35"/>
          <p:cNvCxnSpPr/>
          <p:nvPr/>
        </p:nvCxnSpPr>
        <p:spPr>
          <a:xfrm>
            <a:off x="9006840" y="4727448"/>
            <a:ext cx="886968" cy="0"/>
          </a:xfrm>
          <a:prstGeom prst="line">
            <a:avLst/>
          </a:prstGeom>
          <a:ln w="22225">
            <a:solidFill>
              <a:srgbClr val="0766D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966960" y="5577840"/>
            <a:ext cx="7059168" cy="1133856"/>
          </a:xfrm>
          <a:prstGeom prst="roundRect">
            <a:avLst>
              <a:gd name="adj" fmla="val 22580"/>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0277856" y="5815583"/>
            <a:ext cx="658368" cy="658368"/>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rules_w.png"/>
          <p:cNvPicPr>
            <a:picLocks noChangeAspect="1"/>
          </p:cNvPicPr>
          <p:nvPr/>
        </p:nvPicPr>
        <p:blipFill>
          <a:blip r:embed="rId9"/>
          <a:stretch>
            <a:fillRect/>
          </a:stretch>
        </p:blipFill>
        <p:spPr>
          <a:xfrm>
            <a:off x="10425988" y="5963716"/>
            <a:ext cx="362102" cy="362102"/>
          </a:xfrm>
          <a:prstGeom prst="rect">
            <a:avLst/>
          </a:prstGeom>
        </p:spPr>
      </p:pic>
      <p:sp>
        <p:nvSpPr>
          <p:cNvPr id="40" name="TextBox 39"/>
          <p:cNvSpPr txBox="1"/>
          <p:nvPr/>
        </p:nvSpPr>
        <p:spPr>
          <a:xfrm>
            <a:off x="11109960" y="5687568"/>
            <a:ext cx="5733288" cy="411480"/>
          </a:xfrm>
          <a:prstGeom prst="rect">
            <a:avLst/>
          </a:prstGeom>
          <a:noFill/>
        </p:spPr>
        <p:txBody>
          <a:bodyPr wrap="square" lIns="45720" tIns="27432" rIns="45720" bIns="27432" anchor="t">
            <a:spAutoFit/>
          </a:bodyPr>
          <a:lstStyle/>
          <a:p>
            <a:pPr algn="l"/>
            <a:r>
              <a:rPr sz="1600">
                <a:solidFill>
                  <a:srgbClr val="262626"/>
                </a:solidFill>
                <a:latin typeface="+mj-lt"/>
              </a:rPr>
              <a:t>Run a decision flow</a:t>
            </a:r>
          </a:p>
        </p:txBody>
      </p:sp>
      <p:sp>
        <p:nvSpPr>
          <p:cNvPr id="41" name="TextBox 40"/>
          <p:cNvSpPr txBox="1"/>
          <p:nvPr/>
        </p:nvSpPr>
        <p:spPr>
          <a:xfrm>
            <a:off x="11109960" y="6080759"/>
            <a:ext cx="5733288" cy="594360"/>
          </a:xfrm>
          <a:prstGeom prst="rect">
            <a:avLst/>
          </a:prstGeom>
          <a:noFill/>
        </p:spPr>
        <p:txBody>
          <a:bodyPr wrap="square" lIns="45720" tIns="27432" rIns="45720" bIns="27432" anchor="t">
            <a:spAutoFit/>
          </a:bodyPr>
          <a:lstStyle/>
          <a:p>
            <a:pPr algn="l"/>
            <a:r>
              <a:rPr sz="1200">
                <a:solidFill>
                  <a:srgbClr val="7E889A"/>
                </a:solidFill>
              </a:rPr>
              <a:t>SAS Intelligent Decisioning rules: recall priority, the 30-day window</a:t>
            </a:r>
          </a:p>
        </p:txBody>
      </p:sp>
      <p:cxnSp>
        <p:nvCxnSpPr>
          <p:cNvPr id="42" name="Connector 41"/>
          <p:cNvCxnSpPr/>
          <p:nvPr/>
        </p:nvCxnSpPr>
        <p:spPr>
          <a:xfrm>
            <a:off x="9006840" y="6144768"/>
            <a:ext cx="886968" cy="0"/>
          </a:xfrm>
          <a:prstGeom prst="line">
            <a:avLst/>
          </a:prstGeom>
          <a:ln w="22225">
            <a:solidFill>
              <a:srgbClr val="0766D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9966960" y="6995160"/>
            <a:ext cx="7059168" cy="1133856"/>
          </a:xfrm>
          <a:prstGeom prst="roundRect">
            <a:avLst>
              <a:gd name="adj" fmla="val 22580"/>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277856" y="7232903"/>
            <a:ext cx="658368" cy="658368"/>
          </a:xfrm>
          <a:prstGeom prst="ellipse">
            <a:avLst/>
          </a:prstGeom>
          <a:solidFill>
            <a:srgbClr val="439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chart_w.png"/>
          <p:cNvPicPr>
            <a:picLocks noChangeAspect="1"/>
          </p:cNvPicPr>
          <p:nvPr/>
        </p:nvPicPr>
        <p:blipFill>
          <a:blip r:embed="rId10"/>
          <a:stretch>
            <a:fillRect/>
          </a:stretch>
        </p:blipFill>
        <p:spPr>
          <a:xfrm>
            <a:off x="10425988" y="7381036"/>
            <a:ext cx="362102" cy="362102"/>
          </a:xfrm>
          <a:prstGeom prst="rect">
            <a:avLst/>
          </a:prstGeom>
        </p:spPr>
      </p:pic>
      <p:sp>
        <p:nvSpPr>
          <p:cNvPr id="46" name="TextBox 45"/>
          <p:cNvSpPr txBox="1"/>
          <p:nvPr/>
        </p:nvSpPr>
        <p:spPr>
          <a:xfrm>
            <a:off x="11109960" y="7104888"/>
            <a:ext cx="5733288" cy="411480"/>
          </a:xfrm>
          <a:prstGeom prst="rect">
            <a:avLst/>
          </a:prstGeom>
          <a:noFill/>
        </p:spPr>
        <p:txBody>
          <a:bodyPr wrap="square" lIns="45720" tIns="27432" rIns="45720" bIns="27432" anchor="t">
            <a:spAutoFit/>
          </a:bodyPr>
          <a:lstStyle/>
          <a:p>
            <a:pPr algn="l"/>
            <a:r>
              <a:rPr sz="1600">
                <a:solidFill>
                  <a:srgbClr val="262626"/>
                </a:solidFill>
                <a:latin typeface="+mj-lt"/>
              </a:rPr>
              <a:t>Generate a chart</a:t>
            </a:r>
          </a:p>
        </p:txBody>
      </p:sp>
      <p:sp>
        <p:nvSpPr>
          <p:cNvPr id="47" name="TextBox 46"/>
          <p:cNvSpPr txBox="1"/>
          <p:nvPr/>
        </p:nvSpPr>
        <p:spPr>
          <a:xfrm>
            <a:off x="11109960" y="7498080"/>
            <a:ext cx="5733288" cy="594360"/>
          </a:xfrm>
          <a:prstGeom prst="rect">
            <a:avLst/>
          </a:prstGeom>
          <a:noFill/>
        </p:spPr>
        <p:txBody>
          <a:bodyPr wrap="square" lIns="45720" tIns="27432" rIns="45720" bIns="27432" anchor="t">
            <a:spAutoFit/>
          </a:bodyPr>
          <a:lstStyle/>
          <a:p>
            <a:pPr algn="l"/>
            <a:r>
              <a:rPr sz="1200">
                <a:solidFill>
                  <a:srgbClr val="7E889A"/>
                </a:solidFill>
              </a:rPr>
              <a:t>Control by emirate, cost by risk tier, straight into the answer</a:t>
            </a:r>
          </a:p>
        </p:txBody>
      </p:sp>
      <p:cxnSp>
        <p:nvCxnSpPr>
          <p:cNvPr id="48" name="Connector 47"/>
          <p:cNvCxnSpPr/>
          <p:nvPr/>
        </p:nvCxnSpPr>
        <p:spPr>
          <a:xfrm>
            <a:off x="9006840" y="7562088"/>
            <a:ext cx="886968" cy="0"/>
          </a:xfrm>
          <a:prstGeom prst="line">
            <a:avLst/>
          </a:prstGeom>
          <a:ln w="22225">
            <a:solidFill>
              <a:srgbClr val="0766D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9966960" y="2286000"/>
            <a:ext cx="7059168" cy="365760"/>
          </a:xfrm>
          <a:prstGeom prst="rect">
            <a:avLst/>
          </a:prstGeom>
          <a:noFill/>
        </p:spPr>
        <p:txBody>
          <a:bodyPr wrap="square" lIns="45720" tIns="27432" rIns="45720" bIns="27432" anchor="t">
            <a:spAutoFit/>
          </a:bodyPr>
          <a:lstStyle/>
          <a:p>
            <a:pPr algn="l"/>
            <a:r>
              <a:rPr sz="1400">
                <a:solidFill>
                  <a:srgbClr val="0766D1"/>
                </a:solidFill>
                <a:latin typeface="+mj-lt"/>
              </a:rPr>
              <a:t>Tools, described in plain language</a:t>
            </a:r>
          </a:p>
        </p:txBody>
      </p:sp>
      <p:sp>
        <p:nvSpPr>
          <p:cNvPr id="50" name="Rounded Rectangle 49"/>
          <p:cNvSpPr/>
          <p:nvPr/>
        </p:nvSpPr>
        <p:spPr>
          <a:xfrm>
            <a:off x="1252728" y="8412480"/>
            <a:ext cx="15773400" cy="914400"/>
          </a:xfrm>
          <a:prstGeom prst="roundRect">
            <a:avLst>
              <a:gd name="adj" fmla="val 22000"/>
            </a:avLst>
          </a:prstGeom>
          <a:solidFill>
            <a:srgbClr val="C4D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1" name="Picture 50" descr="usb_n.png"/>
          <p:cNvPicPr>
            <a:picLocks noChangeAspect="1"/>
          </p:cNvPicPr>
          <p:nvPr/>
        </p:nvPicPr>
        <p:blipFill>
          <a:blip r:embed="rId11"/>
          <a:stretch>
            <a:fillRect/>
          </a:stretch>
        </p:blipFill>
        <p:spPr>
          <a:xfrm>
            <a:off x="1572768" y="8595359"/>
            <a:ext cx="548640" cy="548640"/>
          </a:xfrm>
          <a:prstGeom prst="rect">
            <a:avLst/>
          </a:prstGeom>
        </p:spPr>
      </p:pic>
      <p:sp>
        <p:nvSpPr>
          <p:cNvPr id="52" name="TextBox 51"/>
          <p:cNvSpPr txBox="1"/>
          <p:nvPr/>
        </p:nvSpPr>
        <p:spPr>
          <a:xfrm>
            <a:off x="2395728" y="8522207"/>
            <a:ext cx="14356080" cy="694944"/>
          </a:xfrm>
          <a:prstGeom prst="rect">
            <a:avLst/>
          </a:prstGeom>
          <a:noFill/>
        </p:spPr>
        <p:txBody>
          <a:bodyPr wrap="square" lIns="45720" tIns="27432" rIns="45720" bIns="27432" anchor="ctr">
            <a:spAutoFit/>
          </a:bodyPr>
          <a:lstStyle/>
          <a:p>
            <a:pPr algn="l"/>
            <a:r>
              <a:rPr sz="1500">
                <a:solidFill>
                  <a:srgbClr val="032954"/>
                </a:solidFill>
              </a:rPr>
              <a:t>Think USB-C: one plug, any device. Tools are described in plain language so you can read what the agent can reach; the agent asks and the server executes with the permissions you granted; every call is logged.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r>
              <a:rPr sz="4600"/>
              <a:t>Composite AI: one question, several engines</a:t>
            </a:r>
          </a:p>
        </p:txBody>
      </p:sp>
      <p:sp>
        <p:nvSpPr>
          <p:cNvPr id="3" name="Text Placeholder 2"/>
          <p:cNvSpPr>
            <a:spLocks noGrp="1"/>
          </p:cNvSpPr>
          <p:nvPr>
            <p:ph type="body" idx="10" sz="quarter"/>
          </p:nvPr>
        </p:nvSpPr>
        <p:spPr/>
        <p:txBody>
          <a:bodyPr/>
          <a:lstStyle/>
          <a:p>
            <a:r>
              <a:rPr sz="3000"/>
              <a:t>Each kind of fact comes from the engine that is good at it</a:t>
            </a:r>
          </a:p>
        </p:txBody>
      </p:sp>
      <p:sp>
        <p:nvSpPr>
          <p:cNvPr id="5" name="Rounded Rectangle 4"/>
          <p:cNvSpPr/>
          <p:nvPr/>
        </p:nvSpPr>
        <p:spPr>
          <a:xfrm>
            <a:off x="1252728" y="3108960"/>
            <a:ext cx="4023360" cy="4206240"/>
          </a:xfrm>
          <a:prstGeom prst="roundRect">
            <a:avLst>
              <a:gd name="adj" fmla="val 6363"/>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761488" y="2606039"/>
            <a:ext cx="1005840" cy="1005840"/>
          </a:xfrm>
          <a:prstGeom prst="ellipse">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question_w.png"/>
          <p:cNvPicPr>
            <a:picLocks noChangeAspect="1"/>
          </p:cNvPicPr>
          <p:nvPr/>
        </p:nvPicPr>
        <p:blipFill>
          <a:blip r:embed="rId2"/>
          <a:stretch>
            <a:fillRect/>
          </a:stretch>
        </p:blipFill>
        <p:spPr>
          <a:xfrm>
            <a:off x="3002889" y="2847441"/>
            <a:ext cx="523036" cy="523036"/>
          </a:xfrm>
          <a:prstGeom prst="rect">
            <a:avLst/>
          </a:prstGeom>
        </p:spPr>
      </p:pic>
      <p:sp>
        <p:nvSpPr>
          <p:cNvPr id="8" name="TextBox 7"/>
          <p:cNvSpPr txBox="1"/>
          <p:nvPr/>
        </p:nvSpPr>
        <p:spPr>
          <a:xfrm>
            <a:off x="1527048" y="3840480"/>
            <a:ext cx="3474720" cy="457200"/>
          </a:xfrm>
          <a:prstGeom prst="rect">
            <a:avLst/>
          </a:prstGeom>
          <a:noFill/>
        </p:spPr>
        <p:txBody>
          <a:bodyPr wrap="square" lIns="45720" tIns="27432" rIns="45720" bIns="27432" anchor="t">
            <a:spAutoFit/>
          </a:bodyPr>
          <a:lstStyle/>
          <a:p>
            <a:pPr algn="ctr"/>
            <a:r>
              <a:rPr sz="1800">
                <a:solidFill>
                  <a:srgbClr val="262626"/>
                </a:solidFill>
                <a:latin typeface="+mj-lt"/>
              </a:rPr>
              <a:t>The question</a:t>
            </a:r>
          </a:p>
        </p:txBody>
      </p:sp>
      <p:sp>
        <p:nvSpPr>
          <p:cNvPr id="9" name="TextBox 8"/>
          <p:cNvSpPr txBox="1"/>
          <p:nvPr/>
        </p:nvSpPr>
        <p:spPr>
          <a:xfrm>
            <a:off x="1618488" y="4434840"/>
            <a:ext cx="3291840" cy="2651760"/>
          </a:xfrm>
          <a:prstGeom prst="rect">
            <a:avLst/>
          </a:prstGeom>
          <a:noFill/>
        </p:spPr>
        <p:txBody>
          <a:bodyPr wrap="square" lIns="45720" tIns="27432" rIns="45720" bIns="27432" anchor="ctr">
            <a:spAutoFit/>
          </a:bodyPr>
          <a:lstStyle/>
          <a:p>
            <a:pPr algn="ctr"/>
            <a:r>
              <a:rPr sz="1700">
                <a:solidFill>
                  <a:srgbClr val="032954"/>
                </a:solidFill>
              </a:rPr>
              <a:t>“Who would qualify for a GLP-1 RA under the guideline, and how many are already on one?”</a:t>
            </a:r>
          </a:p>
        </p:txBody>
      </p:sp>
      <p:sp>
        <p:nvSpPr>
          <p:cNvPr id="10" name="Rounded Rectangle 9"/>
          <p:cNvSpPr/>
          <p:nvPr/>
        </p:nvSpPr>
        <p:spPr>
          <a:xfrm>
            <a:off x="5897880" y="2697480"/>
            <a:ext cx="6126480" cy="1207008"/>
          </a:xfrm>
          <a:prstGeom prst="roundRect">
            <a:avLst>
              <a:gd name="adj" fmla="val 21212"/>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199632" y="2962656"/>
            <a:ext cx="676656" cy="676656"/>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les_w.png"/>
          <p:cNvPicPr>
            <a:picLocks noChangeAspect="1"/>
          </p:cNvPicPr>
          <p:nvPr/>
        </p:nvPicPr>
        <p:blipFill>
          <a:blip r:embed="rId3"/>
          <a:stretch>
            <a:fillRect/>
          </a:stretch>
        </p:blipFill>
        <p:spPr>
          <a:xfrm>
            <a:off x="6351879" y="3114903"/>
            <a:ext cx="372160" cy="372160"/>
          </a:xfrm>
          <a:prstGeom prst="rect">
            <a:avLst/>
          </a:prstGeom>
        </p:spPr>
      </p:pic>
      <p:sp>
        <p:nvSpPr>
          <p:cNvPr id="13" name="TextBox 12"/>
          <p:cNvSpPr txBox="1"/>
          <p:nvPr/>
        </p:nvSpPr>
        <p:spPr>
          <a:xfrm>
            <a:off x="7086600" y="2788920"/>
            <a:ext cx="4754880" cy="411480"/>
          </a:xfrm>
          <a:prstGeom prst="rect">
            <a:avLst/>
          </a:prstGeom>
          <a:noFill/>
        </p:spPr>
        <p:txBody>
          <a:bodyPr wrap="square" lIns="45720" tIns="27432" rIns="45720" bIns="27432" anchor="t">
            <a:spAutoFit/>
          </a:bodyPr>
          <a:lstStyle/>
          <a:p>
            <a:pPr algn="l"/>
            <a:r>
              <a:rPr sz="1600">
                <a:solidFill>
                  <a:srgbClr val="262626"/>
                </a:solidFill>
                <a:latin typeface="+mj-lt"/>
              </a:rPr>
              <a:t>Guideline retrieval (RAG)</a:t>
            </a:r>
          </a:p>
        </p:txBody>
      </p:sp>
      <p:sp>
        <p:nvSpPr>
          <p:cNvPr id="14" name="TextBox 13"/>
          <p:cNvSpPr txBox="1"/>
          <p:nvPr/>
        </p:nvSpPr>
        <p:spPr>
          <a:xfrm>
            <a:off x="7086600" y="3200400"/>
            <a:ext cx="4754880" cy="685800"/>
          </a:xfrm>
          <a:prstGeom prst="rect">
            <a:avLst/>
          </a:prstGeom>
          <a:noFill/>
        </p:spPr>
        <p:txBody>
          <a:bodyPr wrap="square" lIns="45720" tIns="27432" rIns="45720" bIns="27432" anchor="t">
            <a:spAutoFit/>
          </a:bodyPr>
          <a:lstStyle/>
          <a:p>
            <a:pPr algn="l"/>
            <a:r>
              <a:rPr sz="1200">
                <a:solidFill>
                  <a:srgbClr val="262626"/>
                </a:solidFill>
              </a:rPr>
              <a:t>Finds NHA-CG-01 §4: consider a GLP-1 RA when HbA1c stays above target and BMI &gt; 30.</a:t>
            </a:r>
          </a:p>
        </p:txBody>
      </p:sp>
      <p:sp>
        <p:nvSpPr>
          <p:cNvPr id="15" name="Rounded Rectangle 14"/>
          <p:cNvSpPr/>
          <p:nvPr/>
        </p:nvSpPr>
        <p:spPr>
          <a:xfrm>
            <a:off x="5897880" y="4133088"/>
            <a:ext cx="6126480" cy="1207008"/>
          </a:xfrm>
          <a:prstGeom prst="roundRect">
            <a:avLst>
              <a:gd name="adj" fmla="val 21212"/>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199632" y="4398264"/>
            <a:ext cx="676656" cy="676656"/>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ql_w.png"/>
          <p:cNvPicPr>
            <a:picLocks noChangeAspect="1"/>
          </p:cNvPicPr>
          <p:nvPr/>
        </p:nvPicPr>
        <p:blipFill>
          <a:blip r:embed="rId4"/>
          <a:stretch>
            <a:fillRect/>
          </a:stretch>
        </p:blipFill>
        <p:spPr>
          <a:xfrm>
            <a:off x="6351879" y="4550511"/>
            <a:ext cx="372160" cy="372160"/>
          </a:xfrm>
          <a:prstGeom prst="rect">
            <a:avLst/>
          </a:prstGeom>
        </p:spPr>
      </p:pic>
      <p:sp>
        <p:nvSpPr>
          <p:cNvPr id="18" name="TextBox 17"/>
          <p:cNvSpPr txBox="1"/>
          <p:nvPr/>
        </p:nvSpPr>
        <p:spPr>
          <a:xfrm>
            <a:off x="7086600" y="4224528"/>
            <a:ext cx="4754880" cy="411480"/>
          </a:xfrm>
          <a:prstGeom prst="rect">
            <a:avLst/>
          </a:prstGeom>
          <a:noFill/>
        </p:spPr>
        <p:txBody>
          <a:bodyPr wrap="square" lIns="45720" tIns="27432" rIns="45720" bIns="27432" anchor="t">
            <a:spAutoFit/>
          </a:bodyPr>
          <a:lstStyle/>
          <a:p>
            <a:pPr algn="l"/>
            <a:r>
              <a:rPr sz="1600">
                <a:solidFill>
                  <a:srgbClr val="262626"/>
                </a:solidFill>
                <a:latin typeface="+mj-lt"/>
              </a:rPr>
              <a:t>SQL on the registry</a:t>
            </a:r>
          </a:p>
        </p:txBody>
      </p:sp>
      <p:sp>
        <p:nvSpPr>
          <p:cNvPr id="19" name="TextBox 18"/>
          <p:cNvSpPr txBox="1"/>
          <p:nvPr/>
        </p:nvSpPr>
        <p:spPr>
          <a:xfrm>
            <a:off x="7086600" y="4636008"/>
            <a:ext cx="4754880" cy="685800"/>
          </a:xfrm>
          <a:prstGeom prst="rect">
            <a:avLst/>
          </a:prstGeom>
          <a:noFill/>
        </p:spPr>
        <p:txBody>
          <a:bodyPr wrap="square" lIns="45720" tIns="27432" rIns="45720" bIns="27432" anchor="t">
            <a:spAutoFit/>
          </a:bodyPr>
          <a:lstStyle/>
          <a:p>
            <a:pPr algn="l"/>
            <a:r>
              <a:rPr sz="1200">
                <a:solidFill>
                  <a:srgbClr val="262626"/>
                </a:solidFill>
              </a:rPr>
              <a:t>Counts the eligible cohort, then the share not yet treated. Every number is a query that ran.</a:t>
            </a:r>
          </a:p>
        </p:txBody>
      </p:sp>
      <p:sp>
        <p:nvSpPr>
          <p:cNvPr id="20" name="Rounded Rectangle 19"/>
          <p:cNvSpPr/>
          <p:nvPr/>
        </p:nvSpPr>
        <p:spPr>
          <a:xfrm>
            <a:off x="5897880" y="5568696"/>
            <a:ext cx="6126480" cy="1207008"/>
          </a:xfrm>
          <a:prstGeom prst="roundRect">
            <a:avLst>
              <a:gd name="adj" fmla="val 21212"/>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199632" y="5833872"/>
            <a:ext cx="676656" cy="676656"/>
          </a:xfrm>
          <a:prstGeom prst="ellipse">
            <a:avLst/>
          </a:prstGeom>
          <a:solidFill>
            <a:srgbClr val="439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del_w.png"/>
          <p:cNvPicPr>
            <a:picLocks noChangeAspect="1"/>
          </p:cNvPicPr>
          <p:nvPr/>
        </p:nvPicPr>
        <p:blipFill>
          <a:blip r:embed="rId5"/>
          <a:stretch>
            <a:fillRect/>
          </a:stretch>
        </p:blipFill>
        <p:spPr>
          <a:xfrm>
            <a:off x="6351879" y="5986119"/>
            <a:ext cx="372160" cy="372160"/>
          </a:xfrm>
          <a:prstGeom prst="rect">
            <a:avLst/>
          </a:prstGeom>
        </p:spPr>
      </p:pic>
      <p:sp>
        <p:nvSpPr>
          <p:cNvPr id="23" name="TextBox 22"/>
          <p:cNvSpPr txBox="1"/>
          <p:nvPr/>
        </p:nvSpPr>
        <p:spPr>
          <a:xfrm>
            <a:off x="7086600" y="5660136"/>
            <a:ext cx="4754880" cy="411480"/>
          </a:xfrm>
          <a:prstGeom prst="rect">
            <a:avLst/>
          </a:prstGeom>
          <a:noFill/>
        </p:spPr>
        <p:txBody>
          <a:bodyPr wrap="square" lIns="45720" tIns="27432" rIns="45720" bIns="27432" anchor="t">
            <a:spAutoFit/>
          </a:bodyPr>
          <a:lstStyle/>
          <a:p>
            <a:pPr algn="l"/>
            <a:r>
              <a:rPr sz="1600">
                <a:solidFill>
                  <a:srgbClr val="262626"/>
                </a:solidFill>
                <a:latin typeface="+mj-lt"/>
              </a:rPr>
              <a:t>Machine learning</a:t>
            </a:r>
          </a:p>
        </p:txBody>
      </p:sp>
      <p:sp>
        <p:nvSpPr>
          <p:cNvPr id="24" name="TextBox 23"/>
          <p:cNvSpPr txBox="1"/>
          <p:nvPr/>
        </p:nvSpPr>
        <p:spPr>
          <a:xfrm>
            <a:off x="7086600" y="6071616"/>
            <a:ext cx="4754880" cy="685800"/>
          </a:xfrm>
          <a:prstGeom prst="rect">
            <a:avLst/>
          </a:prstGeom>
          <a:noFill/>
        </p:spPr>
        <p:txBody>
          <a:bodyPr wrap="square" lIns="45720" tIns="27432" rIns="45720" bIns="27432" anchor="t">
            <a:spAutoFit/>
          </a:bodyPr>
          <a:lstStyle/>
          <a:p>
            <a:pPr algn="l"/>
            <a:r>
              <a:rPr sz="1200">
                <a:solidFill>
                  <a:srgbClr val="262626"/>
                </a:solidFill>
              </a:rPr>
              <a:t>Scores the cohort with the deterioration model so the clinic reviews the riskiest first.</a:t>
            </a:r>
          </a:p>
        </p:txBody>
      </p:sp>
      <p:sp>
        <p:nvSpPr>
          <p:cNvPr id="25" name="Rounded Rectangle 24"/>
          <p:cNvSpPr/>
          <p:nvPr/>
        </p:nvSpPr>
        <p:spPr>
          <a:xfrm>
            <a:off x="5897880" y="7004304"/>
            <a:ext cx="6126480" cy="1207008"/>
          </a:xfrm>
          <a:prstGeom prst="roundRect">
            <a:avLst>
              <a:gd name="adj" fmla="val 21212"/>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199632" y="7269480"/>
            <a:ext cx="676656" cy="676656"/>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rules_w.png"/>
          <p:cNvPicPr>
            <a:picLocks noChangeAspect="1"/>
          </p:cNvPicPr>
          <p:nvPr/>
        </p:nvPicPr>
        <p:blipFill>
          <a:blip r:embed="rId6"/>
          <a:stretch>
            <a:fillRect/>
          </a:stretch>
        </p:blipFill>
        <p:spPr>
          <a:xfrm>
            <a:off x="6351879" y="7421727"/>
            <a:ext cx="372160" cy="372160"/>
          </a:xfrm>
          <a:prstGeom prst="rect">
            <a:avLst/>
          </a:prstGeom>
        </p:spPr>
      </p:pic>
      <p:sp>
        <p:nvSpPr>
          <p:cNvPr id="28" name="TextBox 27"/>
          <p:cNvSpPr txBox="1"/>
          <p:nvPr/>
        </p:nvSpPr>
        <p:spPr>
          <a:xfrm>
            <a:off x="7086600" y="7095744"/>
            <a:ext cx="4754880" cy="411480"/>
          </a:xfrm>
          <a:prstGeom prst="rect">
            <a:avLst/>
          </a:prstGeom>
          <a:noFill/>
        </p:spPr>
        <p:txBody>
          <a:bodyPr wrap="square" lIns="45720" tIns="27432" rIns="45720" bIns="27432" anchor="t">
            <a:spAutoFit/>
          </a:bodyPr>
          <a:lstStyle/>
          <a:p>
            <a:pPr algn="l"/>
            <a:r>
              <a:rPr sz="1600">
                <a:solidFill>
                  <a:srgbClr val="262626"/>
                </a:solidFill>
                <a:latin typeface="+mj-lt"/>
              </a:rPr>
              <a:t>Decision rules</a:t>
            </a:r>
          </a:p>
        </p:txBody>
      </p:sp>
      <p:sp>
        <p:nvSpPr>
          <p:cNvPr id="29" name="TextBox 28"/>
          <p:cNvSpPr txBox="1"/>
          <p:nvPr/>
        </p:nvSpPr>
        <p:spPr>
          <a:xfrm>
            <a:off x="7086600" y="7507224"/>
            <a:ext cx="4754880" cy="685800"/>
          </a:xfrm>
          <a:prstGeom prst="rect">
            <a:avLst/>
          </a:prstGeom>
          <a:noFill/>
        </p:spPr>
        <p:txBody>
          <a:bodyPr wrap="square" lIns="45720" tIns="27432" rIns="45720" bIns="27432" anchor="t">
            <a:spAutoFit/>
          </a:bodyPr>
          <a:lstStyle/>
          <a:p>
            <a:pPr algn="l"/>
            <a:r>
              <a:rPr sz="1200">
                <a:solidFill>
                  <a:srgbClr val="262626"/>
                </a:solidFill>
              </a:rPr>
              <a:t>Recall within 30 days; consent exclusions; the clinician signs off (NHA-CG-01 §7).</a:t>
            </a:r>
          </a:p>
        </p:txBody>
      </p:sp>
      <p:sp>
        <p:nvSpPr>
          <p:cNvPr id="30" name="Right Arrow 29"/>
          <p:cNvSpPr/>
          <p:nvPr/>
        </p:nvSpPr>
        <p:spPr>
          <a:xfrm>
            <a:off x="5413248" y="5029200"/>
            <a:ext cx="347471" cy="457200"/>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ight Arrow 30"/>
          <p:cNvSpPr/>
          <p:nvPr/>
        </p:nvSpPr>
        <p:spPr>
          <a:xfrm>
            <a:off x="12161520" y="5029200"/>
            <a:ext cx="594359" cy="457200"/>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2893040" y="2697480"/>
            <a:ext cx="4133088" cy="5715000"/>
          </a:xfrm>
          <a:prstGeom prst="roundRect">
            <a:avLst>
              <a:gd name="adj" fmla="val 6194"/>
            </a:avLst>
          </a:prstGeom>
          <a:solidFill>
            <a:srgbClr val="EAF3FE"/>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4456663" y="2194560"/>
            <a:ext cx="1005840" cy="1005840"/>
          </a:xfrm>
          <a:prstGeom prst="ellipse">
            <a:avLst/>
          </a:prstGeom>
          <a:solidFill>
            <a:srgbClr val="0766D1"/>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cite_w.png"/>
          <p:cNvPicPr>
            <a:picLocks noChangeAspect="1"/>
          </p:cNvPicPr>
          <p:nvPr/>
        </p:nvPicPr>
        <p:blipFill>
          <a:blip r:embed="rId7"/>
          <a:stretch>
            <a:fillRect/>
          </a:stretch>
        </p:blipFill>
        <p:spPr>
          <a:xfrm>
            <a:off x="14698065" y="2435961"/>
            <a:ext cx="523036" cy="523036"/>
          </a:xfrm>
          <a:prstGeom prst="rect">
            <a:avLst/>
          </a:prstGeom>
        </p:spPr>
      </p:pic>
      <p:sp>
        <p:nvSpPr>
          <p:cNvPr id="35" name="TextBox 34"/>
          <p:cNvSpPr txBox="1"/>
          <p:nvPr/>
        </p:nvSpPr>
        <p:spPr>
          <a:xfrm>
            <a:off x="13167360" y="3429000"/>
            <a:ext cx="3584448" cy="457200"/>
          </a:xfrm>
          <a:prstGeom prst="rect">
            <a:avLst/>
          </a:prstGeom>
          <a:noFill/>
        </p:spPr>
        <p:txBody>
          <a:bodyPr wrap="square" lIns="45720" tIns="27432" rIns="45720" bIns="27432" anchor="t">
            <a:spAutoFit/>
          </a:bodyPr>
          <a:lstStyle/>
          <a:p>
            <a:pPr algn="ctr"/>
            <a:r>
              <a:rPr sz="1800">
                <a:solidFill>
                  <a:srgbClr val="262626"/>
                </a:solidFill>
                <a:latin typeface="+mj-lt"/>
              </a:rPr>
              <a:t>The answer</a:t>
            </a:r>
          </a:p>
        </p:txBody>
      </p:sp>
      <p:sp>
        <p:nvSpPr>
          <p:cNvPr id="36" name="TextBox 35"/>
          <p:cNvSpPr txBox="1"/>
          <p:nvPr/>
        </p:nvSpPr>
        <p:spPr>
          <a:xfrm>
            <a:off x="13213080" y="3977639"/>
            <a:ext cx="3493008" cy="4297680"/>
          </a:xfrm>
          <a:prstGeom prst="rect">
            <a:avLst/>
          </a:prstGeom>
          <a:noFill/>
        </p:spPr>
        <p:txBody>
          <a:bodyPr wrap="square" lIns="45720" tIns="27432" rIns="45720" bIns="27432" anchor="t">
            <a:spAutoFit/>
          </a:bodyPr>
          <a:lstStyle/>
          <a:p>
            <a:pPr algn="l" marL="237744" indent="-237744">
              <a:spcAft>
                <a:spcPts val="700"/>
              </a:spcAft>
              <a:buClr>
                <a:srgbClr val="0766D1"/>
              </a:buClr>
              <a:buFont typeface="Arial"/>
              <a:buChar char="•"/>
            </a:pPr>
            <a:r>
              <a:rPr sz="1400">
                <a:solidFill>
                  <a:srgbClr val="032954"/>
                </a:solidFill>
              </a:rPr>
              <a:t>Type 2, HbA1c ≥ 9%, BMI &gt; 30: </a:t>
            </a:r>
            <a:r>
              <a:rPr sz="1400">
                <a:solidFill>
                  <a:srgbClr val="032954"/>
                </a:solidFill>
                <a:latin typeface="+mj-lt"/>
              </a:rPr>
              <a:t>399 patients</a:t>
            </a:r>
          </a:p>
          <a:p>
            <a:pPr algn="l" marL="237744" indent="-237744">
              <a:spcAft>
                <a:spcPts val="700"/>
              </a:spcAft>
              <a:buClr>
                <a:srgbClr val="0766D1"/>
              </a:buClr>
              <a:buFont typeface="Arial"/>
              <a:buChar char="•"/>
            </a:pPr>
            <a:r>
              <a:rPr sz="1400">
                <a:solidFill>
                  <a:srgbClr val="032954"/>
                </a:solidFill>
              </a:rPr>
              <a:t>Of whom </a:t>
            </a:r>
            <a:r>
              <a:rPr sz="1400">
                <a:solidFill>
                  <a:srgbClr val="032954"/>
                </a:solidFill>
                <a:latin typeface="+mj-lt"/>
              </a:rPr>
              <a:t>373</a:t>
            </a:r>
            <a:r>
              <a:rPr sz="1400">
                <a:solidFill>
                  <a:srgbClr val="032954"/>
                </a:solidFill>
              </a:rPr>
              <a:t> are not yet on an SGLT2i or GLP-1 RA</a:t>
            </a:r>
          </a:p>
          <a:p>
            <a:pPr algn="l" marL="237744" indent="-237744">
              <a:spcAft>
                <a:spcPts val="700"/>
              </a:spcAft>
              <a:buClr>
                <a:srgbClr val="0766D1"/>
              </a:buClr>
              <a:buFont typeface="Arial"/>
              <a:buChar char="•"/>
            </a:pPr>
            <a:r>
              <a:rPr sz="1400">
                <a:solidFill>
                  <a:srgbClr val="032954"/>
                </a:solidFill>
              </a:rPr>
              <a:t>Guideline: consider a GLP-1 RA, </a:t>
            </a:r>
            <a:r>
              <a:rPr sz="1400">
                <a:solidFill>
                  <a:srgbClr val="032954"/>
                </a:solidFill>
                <a:latin typeface="+mj-lt"/>
              </a:rPr>
              <a:t>NHA-CG-01 §4</a:t>
            </a:r>
          </a:p>
          <a:p>
            <a:pPr algn="l" marL="237744" indent="-237744">
              <a:spcAft>
                <a:spcPts val="700"/>
              </a:spcAft>
              <a:buClr>
                <a:srgbClr val="0766D1"/>
              </a:buClr>
              <a:buFont typeface="Arial"/>
              <a:buChar char="•"/>
            </a:pPr>
            <a:r>
              <a:rPr sz="1400">
                <a:solidFill>
                  <a:srgbClr val="032954"/>
                </a:solidFill>
              </a:rPr>
              <a:t>Top ten by model risk for the clinic to review first</a:t>
            </a:r>
          </a:p>
          <a:p>
            <a:pPr algn="l" marL="237744" indent="-237744">
              <a:spcAft>
                <a:spcPts val="700"/>
              </a:spcAft>
              <a:buClr>
                <a:srgbClr val="0766D1"/>
              </a:buClr>
              <a:buFont typeface="Arial"/>
              <a:buChar char="•"/>
            </a:pPr>
            <a:r>
              <a:rPr sz="1400">
                <a:solidFill>
                  <a:srgbClr val="032954"/>
                </a:solidFill>
              </a:rPr>
              <a:t>A draft list; </a:t>
            </a:r>
            <a:r>
              <a:rPr sz="1400">
                <a:solidFill>
                  <a:srgbClr val="032954"/>
                </a:solidFill>
                <a:latin typeface="+mj-lt"/>
              </a:rPr>
              <a:t>the clinician decides</a:t>
            </a:r>
            <a:r>
              <a:rPr sz="1400">
                <a:solidFill>
                  <a:srgbClr val="032954"/>
                </a:solidFill>
              </a:rPr>
              <a:t> (§7)</a:t>
            </a:r>
          </a:p>
          <a:p>
            <a:pPr algn="l" marL="237744" indent="-237744">
              <a:spcAft>
                <a:spcPts val="700"/>
              </a:spcAft>
              <a:buClr>
                <a:srgbClr val="0766D1"/>
              </a:buClr>
              <a:buFont typeface="Arial"/>
              <a:buChar char="•"/>
            </a:pPr>
            <a:r>
              <a:rPr sz="1400">
                <a:solidFill>
                  <a:srgbClr val="032954"/>
                </a:solidFill>
              </a:rPr>
              <a:t>Source line: the query, the sections used</a:t>
            </a:r>
          </a:p>
        </p:txBody>
      </p:sp>
      <p:sp>
        <p:nvSpPr>
          <p:cNvPr id="37" name="Rounded Rectangle 36"/>
          <p:cNvSpPr/>
          <p:nvPr/>
        </p:nvSpPr>
        <p:spPr>
          <a:xfrm>
            <a:off x="1252728" y="8641080"/>
            <a:ext cx="15773400" cy="731520"/>
          </a:xfrm>
          <a:prstGeom prst="roundRect">
            <a:avLst>
              <a:gd name="adj" fmla="val 27499"/>
            </a:avLst>
          </a:prstGeom>
          <a:solidFill>
            <a:srgbClr val="C4D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puzzle_n.png"/>
          <p:cNvPicPr>
            <a:picLocks noChangeAspect="1"/>
          </p:cNvPicPr>
          <p:nvPr/>
        </p:nvPicPr>
        <p:blipFill>
          <a:blip r:embed="rId8"/>
          <a:stretch>
            <a:fillRect/>
          </a:stretch>
        </p:blipFill>
        <p:spPr>
          <a:xfrm>
            <a:off x="1572768" y="8823959"/>
            <a:ext cx="365760" cy="365760"/>
          </a:xfrm>
          <a:prstGeom prst="rect">
            <a:avLst/>
          </a:prstGeom>
        </p:spPr>
      </p:pic>
      <p:sp>
        <p:nvSpPr>
          <p:cNvPr id="39" name="TextBox 38"/>
          <p:cNvSpPr txBox="1"/>
          <p:nvPr/>
        </p:nvSpPr>
        <p:spPr>
          <a:xfrm>
            <a:off x="2212848" y="8750807"/>
            <a:ext cx="14538959" cy="512064"/>
          </a:xfrm>
          <a:prstGeom prst="rect">
            <a:avLst/>
          </a:prstGeom>
          <a:noFill/>
        </p:spPr>
        <p:txBody>
          <a:bodyPr wrap="square" lIns="45720" tIns="27432" rIns="45720" bIns="27432" anchor="ctr">
            <a:spAutoFit/>
          </a:bodyPr>
          <a:lstStyle/>
          <a:p>
            <a:pPr algn="l"/>
            <a:r>
              <a:rPr sz="1500">
                <a:solidFill>
                  <a:srgbClr val="032954"/>
                </a:solidFill>
              </a:rPr>
              <a:t>The LLM never computes a number or invents a threshold. It decides which engine to call, and writes the answer from what came back.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5400"/>
              <a:t>Live demo: the Population Health Agent</a:t>
            </a:r>
          </a:p>
        </p:txBody>
      </p:sp>
      <p:sp>
        <p:nvSpPr>
          <p:cNvPr id="3" name="Text Placeholder 2"/>
          <p:cNvSpPr>
            <a:spLocks noGrp="1"/>
          </p:cNvSpPr>
          <p:nvPr>
            <p:ph type="body" idx="10" sz="quarter"/>
          </p:nvPr>
        </p:nvSpPr>
        <p:spPr/>
        <p:txBody>
          <a:bodyPr/>
          <a:lstStyle/>
          <a:p>
            <a:r>
              <a:rPr sz="3600"/>
              <a:t>One registry, four national guidelines, one risk model, one agent</a:t>
            </a:r>
          </a:p>
        </p:txBody>
      </p:sp>
      <p:sp>
        <p:nvSpPr>
          <p:cNvPr id="4" name="Oval 3"/>
          <p:cNvSpPr/>
          <p:nvPr/>
        </p:nvSpPr>
        <p:spPr>
          <a:xfrm>
            <a:off x="14630399" y="914400"/>
            <a:ext cx="2103120" cy="2103120"/>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tethoscope_w.png"/>
          <p:cNvPicPr>
            <a:picLocks noChangeAspect="1"/>
          </p:cNvPicPr>
          <p:nvPr/>
        </p:nvPicPr>
        <p:blipFill>
          <a:blip r:embed="rId2"/>
          <a:stretch>
            <a:fillRect/>
          </a:stretch>
        </p:blipFill>
        <p:spPr>
          <a:xfrm>
            <a:off x="15115031" y="1399031"/>
            <a:ext cx="1133856" cy="113385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r>
              <a:rPr sz="4600"/>
              <a:t>The scenario: diabetes across five emirates</a:t>
            </a:r>
          </a:p>
        </p:txBody>
      </p:sp>
      <p:sp>
        <p:nvSpPr>
          <p:cNvPr id="3" name="Text Placeholder 2"/>
          <p:cNvSpPr>
            <a:spLocks noGrp="1"/>
          </p:cNvSpPr>
          <p:nvPr>
            <p:ph type="body" idx="10" sz="quarter"/>
          </p:nvPr>
        </p:nvSpPr>
        <p:spPr/>
        <p:txBody>
          <a:bodyPr/>
          <a:lstStyle/>
          <a:p>
            <a:r>
              <a:rPr sz="3000"/>
              <a:t>One programme lead, 4,000 patients, 18 facilities, and the questions asked every week</a:t>
            </a:r>
          </a:p>
        </p:txBody>
      </p:sp>
      <p:sp>
        <p:nvSpPr>
          <p:cNvPr id="5" name="Rounded Rectangle 4"/>
          <p:cNvSpPr/>
          <p:nvPr/>
        </p:nvSpPr>
        <p:spPr>
          <a:xfrm>
            <a:off x="1252728" y="3200400"/>
            <a:ext cx="4983480" cy="4343400"/>
          </a:xfrm>
          <a:prstGeom prst="roundRect">
            <a:avLst>
              <a:gd name="adj" fmla="val 5894"/>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3218688" y="2674620"/>
            <a:ext cx="1051560" cy="1051560"/>
          </a:xfrm>
          <a:prstGeom prst="ellipse">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tabase_w.png"/>
          <p:cNvPicPr>
            <a:picLocks noChangeAspect="1"/>
          </p:cNvPicPr>
          <p:nvPr/>
        </p:nvPicPr>
        <p:blipFill>
          <a:blip r:embed="rId2"/>
          <a:stretch>
            <a:fillRect/>
          </a:stretch>
        </p:blipFill>
        <p:spPr>
          <a:xfrm>
            <a:off x="3471062" y="2926994"/>
            <a:ext cx="546811" cy="546811"/>
          </a:xfrm>
          <a:prstGeom prst="rect">
            <a:avLst/>
          </a:prstGeom>
        </p:spPr>
      </p:pic>
      <p:sp>
        <p:nvSpPr>
          <p:cNvPr id="8" name="TextBox 7"/>
          <p:cNvSpPr txBox="1"/>
          <p:nvPr/>
        </p:nvSpPr>
        <p:spPr>
          <a:xfrm>
            <a:off x="1527048" y="3957523"/>
            <a:ext cx="4434840" cy="594360"/>
          </a:xfrm>
          <a:prstGeom prst="rect">
            <a:avLst/>
          </a:prstGeom>
          <a:noFill/>
        </p:spPr>
        <p:txBody>
          <a:bodyPr wrap="square" lIns="45720" tIns="27432" rIns="45720" bIns="27432" anchor="t">
            <a:spAutoFit/>
          </a:bodyPr>
          <a:lstStyle/>
          <a:p>
            <a:pPr algn="ctr"/>
            <a:r>
              <a:rPr sz="2100">
                <a:solidFill>
                  <a:srgbClr val="262626"/>
                </a:solidFill>
                <a:latin typeface="+mj-lt"/>
              </a:rPr>
              <a:t>Structured data</a:t>
            </a:r>
          </a:p>
        </p:txBody>
      </p:sp>
      <p:sp>
        <p:nvSpPr>
          <p:cNvPr id="9" name="TextBox 8"/>
          <p:cNvSpPr txBox="1"/>
          <p:nvPr/>
        </p:nvSpPr>
        <p:spPr>
          <a:xfrm>
            <a:off x="1572768" y="4643323"/>
            <a:ext cx="4343400" cy="1803196"/>
          </a:xfrm>
          <a:prstGeom prst="rect">
            <a:avLst/>
          </a:prstGeom>
          <a:noFill/>
        </p:spPr>
        <p:txBody>
          <a:bodyPr wrap="square" lIns="45720" tIns="27432" rIns="45720" bIns="27432" anchor="t">
            <a:spAutoFit/>
          </a:bodyPr>
          <a:lstStyle/>
          <a:p>
            <a:pPr algn="l"/>
            <a:r>
              <a:rPr sz="1400">
                <a:solidFill>
                  <a:srgbClr val="262626"/>
                </a:solidFill>
              </a:rPr>
              <a:t>A diabetes registry modelled on the national health information exchange: one row per patient, 4,000 patients across 18 hospitals and health centres in 5 emirates, 54 columns: HbA1c, blood pressure, lipids, kidneys, therapy, open care gaps, utilisation and cost.</a:t>
            </a:r>
          </a:p>
        </p:txBody>
      </p:sp>
      <p:sp>
        <p:nvSpPr>
          <p:cNvPr id="10" name="TextBox 9"/>
          <p:cNvSpPr txBox="1"/>
          <p:nvPr/>
        </p:nvSpPr>
        <p:spPr>
          <a:xfrm>
            <a:off x="1572768" y="6492240"/>
            <a:ext cx="4343400" cy="868680"/>
          </a:xfrm>
          <a:prstGeom prst="rect">
            <a:avLst/>
          </a:prstGeom>
          <a:noFill/>
        </p:spPr>
        <p:txBody>
          <a:bodyPr wrap="square" lIns="45720" tIns="27432" rIns="45720" bIns="27432" anchor="b">
            <a:spAutoFit/>
          </a:bodyPr>
          <a:lstStyle/>
          <a:p>
            <a:pPr algn="l"/>
            <a:r>
              <a:rPr sz="1300">
                <a:solidFill>
                  <a:srgbClr val="0766D1"/>
                </a:solidFill>
                <a:latin typeface="+mj-lt"/>
              </a:rPr>
              <a:t>Loaded as a CAS table in SAS Viya</a:t>
            </a:r>
          </a:p>
        </p:txBody>
      </p:sp>
      <p:sp>
        <p:nvSpPr>
          <p:cNvPr id="11" name="Rounded Rectangle 10"/>
          <p:cNvSpPr/>
          <p:nvPr/>
        </p:nvSpPr>
        <p:spPr>
          <a:xfrm>
            <a:off x="6647688" y="3200400"/>
            <a:ext cx="4983480" cy="4343400"/>
          </a:xfrm>
          <a:prstGeom prst="roundRect">
            <a:avLst>
              <a:gd name="adj" fmla="val 5894"/>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613648" y="2674620"/>
            <a:ext cx="1051560" cy="1051560"/>
          </a:xfrm>
          <a:prstGeom prst="ellipse">
            <a:avLst/>
          </a:prstGeom>
          <a:solidFill>
            <a:srgbClr val="0766D1"/>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iles_w.png"/>
          <p:cNvPicPr>
            <a:picLocks noChangeAspect="1"/>
          </p:cNvPicPr>
          <p:nvPr/>
        </p:nvPicPr>
        <p:blipFill>
          <a:blip r:embed="rId3"/>
          <a:stretch>
            <a:fillRect/>
          </a:stretch>
        </p:blipFill>
        <p:spPr>
          <a:xfrm>
            <a:off x="8866022" y="2926994"/>
            <a:ext cx="546811" cy="546811"/>
          </a:xfrm>
          <a:prstGeom prst="rect">
            <a:avLst/>
          </a:prstGeom>
        </p:spPr>
      </p:pic>
      <p:sp>
        <p:nvSpPr>
          <p:cNvPr id="14" name="TextBox 13"/>
          <p:cNvSpPr txBox="1"/>
          <p:nvPr/>
        </p:nvSpPr>
        <p:spPr>
          <a:xfrm>
            <a:off x="6922008" y="3957523"/>
            <a:ext cx="4434840" cy="594360"/>
          </a:xfrm>
          <a:prstGeom prst="rect">
            <a:avLst/>
          </a:prstGeom>
          <a:noFill/>
        </p:spPr>
        <p:txBody>
          <a:bodyPr wrap="square" lIns="45720" tIns="27432" rIns="45720" bIns="27432" anchor="t">
            <a:spAutoFit/>
          </a:bodyPr>
          <a:lstStyle/>
          <a:p>
            <a:pPr algn="ctr"/>
            <a:r>
              <a:rPr sz="2100">
                <a:solidFill>
                  <a:srgbClr val="262626"/>
                </a:solidFill>
                <a:latin typeface="+mj-lt"/>
              </a:rPr>
              <a:t>Unstructured data</a:t>
            </a:r>
          </a:p>
        </p:txBody>
      </p:sp>
      <p:sp>
        <p:nvSpPr>
          <p:cNvPr id="15" name="TextBox 14"/>
          <p:cNvSpPr txBox="1"/>
          <p:nvPr/>
        </p:nvSpPr>
        <p:spPr>
          <a:xfrm>
            <a:off x="6967728" y="4643323"/>
            <a:ext cx="4343400" cy="1803196"/>
          </a:xfrm>
          <a:prstGeom prst="rect">
            <a:avLst/>
          </a:prstGeom>
          <a:noFill/>
        </p:spPr>
        <p:txBody>
          <a:bodyPr wrap="square" lIns="45720" tIns="27432" rIns="45720" bIns="27432" anchor="t">
            <a:spAutoFit/>
          </a:bodyPr>
          <a:lstStyle/>
          <a:p>
            <a:pPr algn="l"/>
            <a:r>
              <a:rPr sz="1400">
                <a:solidFill>
                  <a:srgbClr val="262626"/>
                </a:solidFill>
              </a:rPr>
              <a:t>Four national guidelines, section-numbered, as PDFs: NHA-CG-01 type 2 diabetes management, NHA-CG-02 cardiovascular risk and lipids, NHA-CG-03 hypertension, NHA-PP-01 population screening and recall.</a:t>
            </a:r>
          </a:p>
        </p:txBody>
      </p:sp>
      <p:sp>
        <p:nvSpPr>
          <p:cNvPr id="16" name="TextBox 15"/>
          <p:cNvSpPr txBox="1"/>
          <p:nvPr/>
        </p:nvSpPr>
        <p:spPr>
          <a:xfrm>
            <a:off x="6967728" y="6492240"/>
            <a:ext cx="4343400" cy="868680"/>
          </a:xfrm>
          <a:prstGeom prst="rect">
            <a:avLst/>
          </a:prstGeom>
          <a:noFill/>
        </p:spPr>
        <p:txBody>
          <a:bodyPr wrap="square" lIns="45720" tIns="27432" rIns="45720" bIns="27432" anchor="b">
            <a:spAutoFit/>
          </a:bodyPr>
          <a:lstStyle/>
          <a:p>
            <a:pPr algn="l"/>
            <a:r>
              <a:rPr sz="1300">
                <a:solidFill>
                  <a:srgbClr val="0766D1"/>
                </a:solidFill>
                <a:latin typeface="+mj-lt"/>
              </a:rPr>
              <a:t>Indexed as a collection in SAS Retrieval Agent Manager</a:t>
            </a:r>
          </a:p>
        </p:txBody>
      </p:sp>
      <p:sp>
        <p:nvSpPr>
          <p:cNvPr id="17" name="Rounded Rectangle 16"/>
          <p:cNvSpPr/>
          <p:nvPr/>
        </p:nvSpPr>
        <p:spPr>
          <a:xfrm>
            <a:off x="12042648" y="3200400"/>
            <a:ext cx="4983480" cy="4343400"/>
          </a:xfrm>
          <a:prstGeom prst="roundRect">
            <a:avLst>
              <a:gd name="adj" fmla="val 5894"/>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4008608" y="2674620"/>
            <a:ext cx="1051560" cy="1051560"/>
          </a:xfrm>
          <a:prstGeom prst="ellipse">
            <a:avLst/>
          </a:prstGeom>
          <a:solidFill>
            <a:srgbClr val="4398F9"/>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model_w.png"/>
          <p:cNvPicPr>
            <a:picLocks noChangeAspect="1"/>
          </p:cNvPicPr>
          <p:nvPr/>
        </p:nvPicPr>
        <p:blipFill>
          <a:blip r:embed="rId4"/>
          <a:stretch>
            <a:fillRect/>
          </a:stretch>
        </p:blipFill>
        <p:spPr>
          <a:xfrm>
            <a:off x="14260982" y="2926994"/>
            <a:ext cx="546811" cy="546811"/>
          </a:xfrm>
          <a:prstGeom prst="rect">
            <a:avLst/>
          </a:prstGeom>
        </p:spPr>
      </p:pic>
      <p:sp>
        <p:nvSpPr>
          <p:cNvPr id="20" name="TextBox 19"/>
          <p:cNvSpPr txBox="1"/>
          <p:nvPr/>
        </p:nvSpPr>
        <p:spPr>
          <a:xfrm>
            <a:off x="12316968" y="3957523"/>
            <a:ext cx="4434840" cy="594360"/>
          </a:xfrm>
          <a:prstGeom prst="rect">
            <a:avLst/>
          </a:prstGeom>
          <a:noFill/>
        </p:spPr>
        <p:txBody>
          <a:bodyPr wrap="square" lIns="45720" tIns="27432" rIns="45720" bIns="27432" anchor="t">
            <a:spAutoFit/>
          </a:bodyPr>
          <a:lstStyle/>
          <a:p>
            <a:pPr algn="ctr"/>
            <a:r>
              <a:rPr sz="2100">
                <a:solidFill>
                  <a:srgbClr val="262626"/>
                </a:solidFill>
                <a:latin typeface="+mj-lt"/>
              </a:rPr>
              <a:t>The machine learning model</a:t>
            </a:r>
          </a:p>
        </p:txBody>
      </p:sp>
      <p:sp>
        <p:nvSpPr>
          <p:cNvPr id="21" name="TextBox 20"/>
          <p:cNvSpPr txBox="1"/>
          <p:nvPr/>
        </p:nvSpPr>
        <p:spPr>
          <a:xfrm>
            <a:off x="12362688" y="4643323"/>
            <a:ext cx="4343400" cy="1803196"/>
          </a:xfrm>
          <a:prstGeom prst="rect">
            <a:avLst/>
          </a:prstGeom>
          <a:noFill/>
        </p:spPr>
        <p:txBody>
          <a:bodyPr wrap="square" lIns="45720" tIns="27432" rIns="45720" bIns="27432" anchor="t">
            <a:spAutoFit/>
          </a:bodyPr>
          <a:lstStyle/>
          <a:p>
            <a:pPr algn="l"/>
            <a:r>
              <a:rPr sz="1400">
                <a:solidFill>
                  <a:srgbClr val="262626"/>
                </a:solidFill>
              </a:rPr>
              <a:t>Predicts a deterioration event in the next 12 months: an admission for hypo- or hyperglycaemia, DKA, a foot infection, acute kidney injury, or HbA1c rising to 10% or more. Event rate in the registry: 10.4%.</a:t>
            </a:r>
          </a:p>
        </p:txBody>
      </p:sp>
      <p:sp>
        <p:nvSpPr>
          <p:cNvPr id="22" name="TextBox 21"/>
          <p:cNvSpPr txBox="1"/>
          <p:nvPr/>
        </p:nvSpPr>
        <p:spPr>
          <a:xfrm>
            <a:off x="12362688" y="6492240"/>
            <a:ext cx="4343400" cy="868680"/>
          </a:xfrm>
          <a:prstGeom prst="rect">
            <a:avLst/>
          </a:prstGeom>
          <a:noFill/>
        </p:spPr>
        <p:txBody>
          <a:bodyPr wrap="square" lIns="45720" tIns="27432" rIns="45720" bIns="27432" anchor="b">
            <a:spAutoFit/>
          </a:bodyPr>
          <a:lstStyle/>
          <a:p>
            <a:pPr algn="l"/>
            <a:r>
              <a:rPr sz="1300">
                <a:solidFill>
                  <a:srgbClr val="0766D1"/>
                </a:solidFill>
                <a:latin typeface="+mj-lt"/>
              </a:rPr>
              <a:t>Champion from Model Studio, published for scoring</a:t>
            </a:r>
          </a:p>
        </p:txBody>
      </p:sp>
      <p:sp>
        <p:nvSpPr>
          <p:cNvPr id="23" name="Rounded Rectangle 22"/>
          <p:cNvSpPr/>
          <p:nvPr/>
        </p:nvSpPr>
        <p:spPr>
          <a:xfrm>
            <a:off x="1252728" y="7818120"/>
            <a:ext cx="3669030" cy="914400"/>
          </a:xfrm>
          <a:prstGeom prst="roundRect">
            <a:avLst>
              <a:gd name="adj" fmla="val 20000"/>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81328" y="7891272"/>
            <a:ext cx="3211830" cy="457200"/>
          </a:xfrm>
          <a:prstGeom prst="rect">
            <a:avLst/>
          </a:prstGeom>
          <a:noFill/>
        </p:spPr>
        <p:txBody>
          <a:bodyPr wrap="square" lIns="45720" tIns="27432" rIns="45720" bIns="27432" anchor="t">
            <a:spAutoFit/>
          </a:bodyPr>
          <a:lstStyle/>
          <a:p>
            <a:pPr algn="l"/>
            <a:r>
              <a:rPr sz="2400">
                <a:solidFill>
                  <a:srgbClr val="032954"/>
                </a:solidFill>
                <a:latin typeface="+mj-lt"/>
              </a:rPr>
              <a:t>4,000</a:t>
            </a:r>
          </a:p>
        </p:txBody>
      </p:sp>
      <p:sp>
        <p:nvSpPr>
          <p:cNvPr id="25" name="TextBox 24"/>
          <p:cNvSpPr txBox="1"/>
          <p:nvPr/>
        </p:nvSpPr>
        <p:spPr>
          <a:xfrm>
            <a:off x="1481328" y="8348472"/>
            <a:ext cx="3211830" cy="347472"/>
          </a:xfrm>
          <a:prstGeom prst="rect">
            <a:avLst/>
          </a:prstGeom>
          <a:noFill/>
        </p:spPr>
        <p:txBody>
          <a:bodyPr wrap="square" lIns="45720" tIns="27432" rIns="45720" bIns="27432" anchor="t">
            <a:spAutoFit/>
          </a:bodyPr>
          <a:lstStyle/>
          <a:p>
            <a:pPr algn="l"/>
            <a:r>
              <a:rPr sz="1200">
                <a:solidFill>
                  <a:srgbClr val="7E889A"/>
                </a:solidFill>
              </a:rPr>
              <a:t>patients in the registry</a:t>
            </a:r>
          </a:p>
        </p:txBody>
      </p:sp>
      <p:sp>
        <p:nvSpPr>
          <p:cNvPr id="26" name="Rounded Rectangle 25"/>
          <p:cNvSpPr/>
          <p:nvPr/>
        </p:nvSpPr>
        <p:spPr>
          <a:xfrm>
            <a:off x="5287518" y="7818120"/>
            <a:ext cx="3669030" cy="914400"/>
          </a:xfrm>
          <a:prstGeom prst="roundRect">
            <a:avLst>
              <a:gd name="adj" fmla="val 20000"/>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516118" y="7891272"/>
            <a:ext cx="3211830" cy="457200"/>
          </a:xfrm>
          <a:prstGeom prst="rect">
            <a:avLst/>
          </a:prstGeom>
          <a:noFill/>
        </p:spPr>
        <p:txBody>
          <a:bodyPr wrap="square" lIns="45720" tIns="27432" rIns="45720" bIns="27432" anchor="t">
            <a:spAutoFit/>
          </a:bodyPr>
          <a:lstStyle/>
          <a:p>
            <a:pPr algn="l"/>
            <a:r>
              <a:rPr sz="2400">
                <a:solidFill>
                  <a:srgbClr val="032954"/>
                </a:solidFill>
                <a:latin typeface="+mj-lt"/>
              </a:rPr>
              <a:t>34.9%</a:t>
            </a:r>
          </a:p>
        </p:txBody>
      </p:sp>
      <p:sp>
        <p:nvSpPr>
          <p:cNvPr id="28" name="TextBox 27"/>
          <p:cNvSpPr txBox="1"/>
          <p:nvPr/>
        </p:nvSpPr>
        <p:spPr>
          <a:xfrm>
            <a:off x="5516118" y="8348472"/>
            <a:ext cx="3211830" cy="347472"/>
          </a:xfrm>
          <a:prstGeom prst="rect">
            <a:avLst/>
          </a:prstGeom>
          <a:noFill/>
        </p:spPr>
        <p:txBody>
          <a:bodyPr wrap="square" lIns="45720" tIns="27432" rIns="45720" bIns="27432" anchor="t">
            <a:spAutoFit/>
          </a:bodyPr>
          <a:lstStyle/>
          <a:p>
            <a:pPr algn="l"/>
            <a:r>
              <a:rPr sz="1200">
                <a:solidFill>
                  <a:srgbClr val="7E889A"/>
                </a:solidFill>
              </a:rPr>
              <a:t>well controlled (HbA1c below 7%)</a:t>
            </a:r>
          </a:p>
        </p:txBody>
      </p:sp>
      <p:sp>
        <p:nvSpPr>
          <p:cNvPr id="29" name="Rounded Rectangle 28"/>
          <p:cNvSpPr/>
          <p:nvPr/>
        </p:nvSpPr>
        <p:spPr>
          <a:xfrm>
            <a:off x="9322308" y="7818120"/>
            <a:ext cx="3669030" cy="914400"/>
          </a:xfrm>
          <a:prstGeom prst="roundRect">
            <a:avLst>
              <a:gd name="adj" fmla="val 20000"/>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50908" y="7891272"/>
            <a:ext cx="3211830" cy="457200"/>
          </a:xfrm>
          <a:prstGeom prst="rect">
            <a:avLst/>
          </a:prstGeom>
          <a:noFill/>
        </p:spPr>
        <p:txBody>
          <a:bodyPr wrap="square" lIns="45720" tIns="27432" rIns="45720" bIns="27432" anchor="t">
            <a:spAutoFit/>
          </a:bodyPr>
          <a:lstStyle/>
          <a:p>
            <a:pPr algn="l"/>
            <a:r>
              <a:rPr sz="2400">
                <a:solidFill>
                  <a:srgbClr val="032954"/>
                </a:solidFill>
                <a:latin typeface="+mj-lt"/>
              </a:rPr>
              <a:t>AED 64.0M</a:t>
            </a:r>
          </a:p>
        </p:txBody>
      </p:sp>
      <p:sp>
        <p:nvSpPr>
          <p:cNvPr id="31" name="TextBox 30"/>
          <p:cNvSpPr txBox="1"/>
          <p:nvPr/>
        </p:nvSpPr>
        <p:spPr>
          <a:xfrm>
            <a:off x="9550908" y="8348472"/>
            <a:ext cx="3211830" cy="347472"/>
          </a:xfrm>
          <a:prstGeom prst="rect">
            <a:avLst/>
          </a:prstGeom>
          <a:noFill/>
        </p:spPr>
        <p:txBody>
          <a:bodyPr wrap="square" lIns="45720" tIns="27432" rIns="45720" bIns="27432" anchor="t">
            <a:spAutoFit/>
          </a:bodyPr>
          <a:lstStyle/>
          <a:p>
            <a:pPr algn="l"/>
            <a:r>
              <a:rPr sz="1200">
                <a:solidFill>
                  <a:srgbClr val="7E889A"/>
                </a:solidFill>
              </a:rPr>
              <a:t>annual cost, last 12 months</a:t>
            </a:r>
          </a:p>
        </p:txBody>
      </p:sp>
      <p:sp>
        <p:nvSpPr>
          <p:cNvPr id="32" name="Rounded Rectangle 31"/>
          <p:cNvSpPr/>
          <p:nvPr/>
        </p:nvSpPr>
        <p:spPr>
          <a:xfrm>
            <a:off x="13357098" y="7818120"/>
            <a:ext cx="3669030" cy="914400"/>
          </a:xfrm>
          <a:prstGeom prst="roundRect">
            <a:avLst>
              <a:gd name="adj" fmla="val 20000"/>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3585698" y="7891272"/>
            <a:ext cx="3211830" cy="457200"/>
          </a:xfrm>
          <a:prstGeom prst="rect">
            <a:avLst/>
          </a:prstGeom>
          <a:noFill/>
        </p:spPr>
        <p:txBody>
          <a:bodyPr wrap="square" lIns="45720" tIns="27432" rIns="45720" bIns="27432" anchor="t">
            <a:spAutoFit/>
          </a:bodyPr>
          <a:lstStyle/>
          <a:p>
            <a:pPr algn="l"/>
            <a:r>
              <a:rPr sz="2400">
                <a:solidFill>
                  <a:srgbClr val="032954"/>
                </a:solidFill>
                <a:latin typeface="+mj-lt"/>
              </a:rPr>
              <a:t>10.4%</a:t>
            </a:r>
          </a:p>
        </p:txBody>
      </p:sp>
      <p:sp>
        <p:nvSpPr>
          <p:cNvPr id="34" name="TextBox 33"/>
          <p:cNvSpPr txBox="1"/>
          <p:nvPr/>
        </p:nvSpPr>
        <p:spPr>
          <a:xfrm>
            <a:off x="13585698" y="8348472"/>
            <a:ext cx="3211830" cy="347472"/>
          </a:xfrm>
          <a:prstGeom prst="rect">
            <a:avLst/>
          </a:prstGeom>
          <a:noFill/>
        </p:spPr>
        <p:txBody>
          <a:bodyPr wrap="square" lIns="45720" tIns="27432" rIns="45720" bIns="27432" anchor="t">
            <a:spAutoFit/>
          </a:bodyPr>
          <a:lstStyle/>
          <a:p>
            <a:pPr algn="l"/>
            <a:r>
              <a:rPr sz="1200">
                <a:solidFill>
                  <a:srgbClr val="7E889A"/>
                </a:solidFill>
              </a:rPr>
              <a:t>had a deterioration event in 12 months</a:t>
            </a:r>
          </a:p>
        </p:txBody>
      </p:sp>
      <p:sp>
        <p:nvSpPr>
          <p:cNvPr id="35" name="TextBox 34"/>
          <p:cNvSpPr txBox="1"/>
          <p:nvPr/>
        </p:nvSpPr>
        <p:spPr>
          <a:xfrm>
            <a:off x="1252728" y="8915400"/>
            <a:ext cx="15773400" cy="411480"/>
          </a:xfrm>
          <a:prstGeom prst="rect">
            <a:avLst/>
          </a:prstGeom>
          <a:noFill/>
        </p:spPr>
        <p:txBody>
          <a:bodyPr wrap="square" lIns="45720" tIns="27432" rIns="45720" bIns="27432" anchor="t">
            <a:spAutoFit/>
          </a:bodyPr>
          <a:lstStyle/>
          <a:p>
            <a:pPr algn="l"/>
            <a:r>
              <a:rPr sz="1300">
                <a:solidFill>
                  <a:srgbClr val="7E889A"/>
                </a:solidFill>
              </a:rPr>
              <a:t>All patient data is synthetic and the guidelines are a teaching set written for this bootcamp. Not for clinical use.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r>
              <a:rPr sz="5600"/>
              <a:t>Solution overview</a:t>
            </a:r>
          </a:p>
        </p:txBody>
      </p:sp>
      <p:sp>
        <p:nvSpPr>
          <p:cNvPr id="3" name="Text Placeholder 2"/>
          <p:cNvSpPr>
            <a:spLocks noGrp="1"/>
          </p:cNvSpPr>
          <p:nvPr>
            <p:ph type="body" idx="10" sz="quarter"/>
          </p:nvPr>
        </p:nvSpPr>
        <p:spPr/>
        <p:txBody>
          <a:bodyPr/>
          <a:lstStyle/>
          <a:p>
            <a:r>
              <a:rPr sz="3000"/>
              <a:t>How the pieces fit: data, agent, MCP server and tools</a:t>
            </a:r>
          </a:p>
        </p:txBody>
      </p:sp>
      <p:sp>
        <p:nvSpPr>
          <p:cNvPr id="5" name="TextBox 4"/>
          <p:cNvSpPr txBox="1"/>
          <p:nvPr/>
        </p:nvSpPr>
        <p:spPr>
          <a:xfrm>
            <a:off x="1252728" y="2651760"/>
            <a:ext cx="3931920" cy="365760"/>
          </a:xfrm>
          <a:prstGeom prst="rect">
            <a:avLst/>
          </a:prstGeom>
          <a:noFill/>
        </p:spPr>
        <p:txBody>
          <a:bodyPr wrap="square" lIns="45720" tIns="27432" rIns="45720" bIns="27432" anchor="t">
            <a:spAutoFit/>
          </a:bodyPr>
          <a:lstStyle/>
          <a:p>
            <a:pPr algn="ctr"/>
            <a:r>
              <a:rPr sz="1600">
                <a:solidFill>
                  <a:srgbClr val="0766D1"/>
                </a:solidFill>
                <a:latin typeface="+mj-lt"/>
              </a:rPr>
              <a:t>Unstructured data</a:t>
            </a:r>
          </a:p>
        </p:txBody>
      </p:sp>
      <p:sp>
        <p:nvSpPr>
          <p:cNvPr id="6" name="Rounded Rectangle 5"/>
          <p:cNvSpPr/>
          <p:nvPr/>
        </p:nvSpPr>
        <p:spPr>
          <a:xfrm>
            <a:off x="1252728" y="3017520"/>
            <a:ext cx="3931920" cy="2926080"/>
          </a:xfrm>
          <a:prstGeom prst="roundRect">
            <a:avLst>
              <a:gd name="adj" fmla="val 7812"/>
            </a:avLst>
          </a:prstGeom>
          <a:noFill/>
          <a:ln w="15875">
            <a:solidFill>
              <a:srgbClr val="0766D1"/>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527048" y="3200400"/>
            <a:ext cx="3383280" cy="640080"/>
          </a:xfrm>
          <a:prstGeom prst="roundRect">
            <a:avLst>
              <a:gd name="adj" fmla="val 17142"/>
            </a:avLst>
          </a:prstGeom>
          <a:solidFill>
            <a:srgbClr val="E4E7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54864" rIns="109728" bIns="54864"/>
          <a:lstStyle/>
          <a:p>
            <a:pPr algn="ctr"/>
            <a:r>
              <a:rPr sz="1300">
                <a:solidFill>
                  <a:srgbClr val="262626"/>
                </a:solidFill>
                <a:latin typeface="+mj-lt"/>
              </a:rPr>
              <a:t>Clinical guidelines &amp; policy documents</a:t>
            </a:r>
          </a:p>
        </p:txBody>
      </p:sp>
      <p:sp>
        <p:nvSpPr>
          <p:cNvPr id="8" name="TextBox 7"/>
          <p:cNvSpPr txBox="1"/>
          <p:nvPr/>
        </p:nvSpPr>
        <p:spPr>
          <a:xfrm>
            <a:off x="1527048" y="3858768"/>
            <a:ext cx="3383280" cy="457200"/>
          </a:xfrm>
          <a:prstGeom prst="rect">
            <a:avLst/>
          </a:prstGeom>
          <a:noFill/>
        </p:spPr>
        <p:txBody>
          <a:bodyPr wrap="square" lIns="45720" tIns="27432" rIns="45720" bIns="27432" anchor="t">
            <a:spAutoFit/>
          </a:bodyPr>
          <a:lstStyle/>
          <a:p>
            <a:pPr algn="ctr"/>
            <a:r>
              <a:rPr sz="1100">
                <a:solidFill>
                  <a:srgbClr val="7E889A"/>
                </a:solidFill>
              </a:rPr>
              <a:t>National clinical guidelines, care protocols, policy frameworks</a:t>
            </a:r>
          </a:p>
        </p:txBody>
      </p:sp>
      <p:sp>
        <p:nvSpPr>
          <p:cNvPr id="9" name="Down Arrow 8"/>
          <p:cNvSpPr/>
          <p:nvPr/>
        </p:nvSpPr>
        <p:spPr>
          <a:xfrm>
            <a:off x="3063240" y="4315968"/>
            <a:ext cx="310896" cy="292608"/>
          </a:xfrm>
          <a:prstGeom prst="down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801368" y="4645152"/>
            <a:ext cx="2834640" cy="475488"/>
          </a:xfrm>
          <a:prstGeom prst="roundRect">
            <a:avLst>
              <a:gd name="adj" fmla="val 19230"/>
            </a:avLst>
          </a:prstGeom>
          <a:solidFill>
            <a:srgbClr val="C4D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54864" rIns="109728" bIns="54864"/>
          <a:lstStyle/>
          <a:p>
            <a:pPr algn="ctr"/>
            <a:r>
              <a:rPr sz="1300">
                <a:solidFill>
                  <a:srgbClr val="032954"/>
                </a:solidFill>
                <a:latin typeface="+mj-lt"/>
              </a:rPr>
              <a:t>Embedding model</a:t>
            </a:r>
          </a:p>
        </p:txBody>
      </p:sp>
      <p:sp>
        <p:nvSpPr>
          <p:cNvPr id="11" name="Down Arrow 10"/>
          <p:cNvSpPr/>
          <p:nvPr/>
        </p:nvSpPr>
        <p:spPr>
          <a:xfrm>
            <a:off x="3063240" y="5157216"/>
            <a:ext cx="310896" cy="274320"/>
          </a:xfrm>
          <a:prstGeom prst="down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527048" y="5449824"/>
            <a:ext cx="3383280" cy="457200"/>
          </a:xfrm>
          <a:prstGeom prst="roundRect">
            <a:avLst>
              <a:gd name="adj" fmla="val 20000"/>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54864" rIns="109728" bIns="54864"/>
          <a:lstStyle/>
          <a:p>
            <a:pPr algn="ctr"/>
            <a:r>
              <a:rPr sz="1300">
                <a:solidFill>
                  <a:srgbClr val="FFFFFF"/>
                </a:solidFill>
                <a:latin typeface="+mj-lt"/>
              </a:rPr>
              <a:t>Vector store (RAG)</a:t>
            </a:r>
          </a:p>
        </p:txBody>
      </p:sp>
      <p:sp>
        <p:nvSpPr>
          <p:cNvPr id="13" name="TextBox 12"/>
          <p:cNvSpPr txBox="1"/>
          <p:nvPr/>
        </p:nvSpPr>
        <p:spPr>
          <a:xfrm>
            <a:off x="1252728" y="6126480"/>
            <a:ext cx="3931920" cy="365760"/>
          </a:xfrm>
          <a:prstGeom prst="rect">
            <a:avLst/>
          </a:prstGeom>
          <a:noFill/>
        </p:spPr>
        <p:txBody>
          <a:bodyPr wrap="square" lIns="45720" tIns="27432" rIns="45720" bIns="27432" anchor="t">
            <a:spAutoFit/>
          </a:bodyPr>
          <a:lstStyle/>
          <a:p>
            <a:pPr algn="ctr"/>
            <a:r>
              <a:rPr sz="1600">
                <a:solidFill>
                  <a:srgbClr val="0766D1"/>
                </a:solidFill>
                <a:latin typeface="+mj-lt"/>
              </a:rPr>
              <a:t>Structured data</a:t>
            </a:r>
          </a:p>
        </p:txBody>
      </p:sp>
      <p:sp>
        <p:nvSpPr>
          <p:cNvPr id="14" name="Rounded Rectangle 13"/>
          <p:cNvSpPr/>
          <p:nvPr/>
        </p:nvSpPr>
        <p:spPr>
          <a:xfrm>
            <a:off x="1252728" y="6492240"/>
            <a:ext cx="3931920" cy="1783080"/>
          </a:xfrm>
          <a:prstGeom prst="roundRect">
            <a:avLst>
              <a:gd name="adj" fmla="val 12820"/>
            </a:avLst>
          </a:prstGeom>
          <a:noFill/>
          <a:ln w="15875">
            <a:solidFill>
              <a:srgbClr val="0766D1"/>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527048" y="6675120"/>
            <a:ext cx="3383280" cy="640080"/>
          </a:xfrm>
          <a:prstGeom prst="roundRect">
            <a:avLst>
              <a:gd name="adj" fmla="val 17142"/>
            </a:avLst>
          </a:prstGeom>
          <a:solidFill>
            <a:srgbClr val="E4E7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54864" rIns="109728" bIns="54864"/>
          <a:lstStyle/>
          <a:p>
            <a:pPr algn="ctr"/>
            <a:r>
              <a:rPr sz="1300">
                <a:solidFill>
                  <a:srgbClr val="262626"/>
                </a:solidFill>
                <a:latin typeface="+mj-lt"/>
              </a:rPr>
              <a:t>National HIE  ·  diabetes registry</a:t>
            </a:r>
          </a:p>
        </p:txBody>
      </p:sp>
      <p:sp>
        <p:nvSpPr>
          <p:cNvPr id="16" name="TextBox 15"/>
          <p:cNvSpPr txBox="1"/>
          <p:nvPr/>
        </p:nvSpPr>
        <p:spPr>
          <a:xfrm>
            <a:off x="1527048" y="7360920"/>
            <a:ext cx="3383280" cy="685800"/>
          </a:xfrm>
          <a:prstGeom prst="rect">
            <a:avLst/>
          </a:prstGeom>
          <a:noFill/>
        </p:spPr>
        <p:txBody>
          <a:bodyPr wrap="square" lIns="45720" tIns="27432" rIns="45720" bIns="27432" anchor="t">
            <a:spAutoFit/>
          </a:bodyPr>
          <a:lstStyle/>
          <a:p>
            <a:pPr algn="ctr"/>
            <a:r>
              <a:rPr sz="1100">
                <a:solidFill>
                  <a:srgbClr val="7E889A"/>
                </a:solidFill>
              </a:rPr>
              <a:t>Structured tabular data: patients, encounters, diagnoses, facilities</a:t>
            </a:r>
          </a:p>
        </p:txBody>
      </p:sp>
      <p:sp>
        <p:nvSpPr>
          <p:cNvPr id="17" name="TextBox 16"/>
          <p:cNvSpPr txBox="1"/>
          <p:nvPr/>
        </p:nvSpPr>
        <p:spPr>
          <a:xfrm>
            <a:off x="5184648" y="4069080"/>
            <a:ext cx="1216152" cy="365760"/>
          </a:xfrm>
          <a:prstGeom prst="rect">
            <a:avLst/>
          </a:prstGeom>
          <a:noFill/>
        </p:spPr>
        <p:txBody>
          <a:bodyPr wrap="square" lIns="45720" tIns="27432" rIns="45720" bIns="27432" anchor="t">
            <a:spAutoFit/>
          </a:bodyPr>
          <a:lstStyle/>
          <a:p>
            <a:pPr algn="ctr"/>
            <a:r>
              <a:rPr sz="1200">
                <a:solidFill>
                  <a:srgbClr val="0766D1"/>
                </a:solidFill>
                <a:latin typeface="+mj-lt"/>
              </a:rPr>
              <a:t>Agentic retrieval</a:t>
            </a:r>
          </a:p>
        </p:txBody>
      </p:sp>
      <p:sp>
        <p:nvSpPr>
          <p:cNvPr id="18" name="Right Arrow 17"/>
          <p:cNvSpPr/>
          <p:nvPr/>
        </p:nvSpPr>
        <p:spPr>
          <a:xfrm>
            <a:off x="5257800" y="4434840"/>
            <a:ext cx="1069848" cy="329184"/>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2743200"/>
            <a:ext cx="4023360" cy="4892040"/>
          </a:xfrm>
          <a:prstGeom prst="roundRect">
            <a:avLst>
              <a:gd name="adj" fmla="val 6363"/>
            </a:avLst>
          </a:prstGeom>
          <a:solidFill>
            <a:srgbClr val="0766D1"/>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75120" y="2971800"/>
            <a:ext cx="3474720" cy="502920"/>
          </a:xfrm>
          <a:prstGeom prst="rect">
            <a:avLst/>
          </a:prstGeom>
          <a:noFill/>
        </p:spPr>
        <p:txBody>
          <a:bodyPr wrap="square" lIns="45720" tIns="27432" rIns="45720" bIns="27432" anchor="t">
            <a:spAutoFit/>
          </a:bodyPr>
          <a:lstStyle/>
          <a:p>
            <a:pPr algn="ctr"/>
            <a:r>
              <a:rPr sz="2000">
                <a:solidFill>
                  <a:srgbClr val="FFFFFF"/>
                </a:solidFill>
                <a:latin typeface="+mj-lt"/>
              </a:rPr>
              <a:t>Population Health Agent</a:t>
            </a:r>
          </a:p>
        </p:txBody>
      </p:sp>
      <p:sp>
        <p:nvSpPr>
          <p:cNvPr id="21" name="Rectangle 20"/>
          <p:cNvSpPr/>
          <p:nvPr/>
        </p:nvSpPr>
        <p:spPr>
          <a:xfrm>
            <a:off x="7223760" y="3520440"/>
            <a:ext cx="2377440" cy="27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0" y="3657600"/>
            <a:ext cx="3474720" cy="1325880"/>
          </a:xfrm>
          <a:prstGeom prst="rect">
            <a:avLst/>
          </a:prstGeom>
          <a:noFill/>
        </p:spPr>
        <p:txBody>
          <a:bodyPr wrap="square" lIns="45720" tIns="27432" rIns="45720" bIns="27432" anchor="t">
            <a:spAutoFit/>
          </a:bodyPr>
          <a:lstStyle/>
          <a:p>
            <a:pPr algn="ctr"/>
            <a:r>
              <a:rPr sz="1400">
                <a:solidFill>
                  <a:srgbClr val="FFFFFF"/>
                </a:solidFill>
              </a:rPr>
              <a:t>Patient-level queries, population insights, cost forecasting and policy simulation, with traceable, cited reasoning</a:t>
            </a:r>
          </a:p>
        </p:txBody>
      </p:sp>
      <p:sp>
        <p:nvSpPr>
          <p:cNvPr id="23" name="Rounded Rectangle 22"/>
          <p:cNvSpPr/>
          <p:nvPr/>
        </p:nvSpPr>
        <p:spPr>
          <a:xfrm>
            <a:off x="6675120" y="5120640"/>
            <a:ext cx="3474720" cy="2286000"/>
          </a:xfrm>
          <a:prstGeom prst="roundRect">
            <a:avLst>
              <a:gd name="adj" fmla="val 7199"/>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0" y="5257800"/>
            <a:ext cx="3108960" cy="2057400"/>
          </a:xfrm>
          <a:prstGeom prst="rect">
            <a:avLst/>
          </a:prstGeom>
          <a:noFill/>
        </p:spPr>
        <p:txBody>
          <a:bodyPr wrap="square" lIns="45720" tIns="27432" rIns="45720" bIns="27432" anchor="ctr">
            <a:spAutoFit/>
          </a:bodyPr>
          <a:lstStyle/>
          <a:p>
            <a:pPr algn="l" marL="237744" indent="-237744">
              <a:buClr>
                <a:srgbClr val="0766D1"/>
              </a:buClr>
              <a:buFont typeface="Arial"/>
              <a:buChar char="•"/>
            </a:pPr>
            <a:r>
              <a:rPr sz="1300">
                <a:solidFill>
                  <a:srgbClr val="032954"/>
                </a:solidFill>
                <a:latin typeface="+mj-lt"/>
              </a:rPr>
              <a:t>Orchestrator</a:t>
            </a:r>
            <a:r>
              <a:rPr sz="1300">
                <a:solidFill>
                  <a:srgbClr val="032954"/>
                </a:solidFill>
              </a:rPr>
              <a:t>  ·  picks the tool for each step</a:t>
            </a:r>
          </a:p>
          <a:p>
            <a:pPr algn="l" marL="237744" indent="-237744">
              <a:spcBef>
                <a:spcPts val="400"/>
              </a:spcBef>
              <a:buClr>
                <a:srgbClr val="0766D1"/>
              </a:buClr>
              <a:buFont typeface="Arial"/>
              <a:buChar char="•"/>
            </a:pPr>
            <a:r>
              <a:rPr sz="1300">
                <a:solidFill>
                  <a:srgbClr val="032954"/>
                </a:solidFill>
                <a:latin typeface="+mj-lt"/>
              </a:rPr>
              <a:t>Guideline grounding</a:t>
            </a:r>
            <a:r>
              <a:rPr sz="1300">
                <a:solidFill>
                  <a:srgbClr val="032954"/>
                </a:solidFill>
              </a:rPr>
              <a:t>  ·  cites document and section</a:t>
            </a:r>
          </a:p>
          <a:p>
            <a:pPr algn="l" marL="237744" indent="-237744">
              <a:spcBef>
                <a:spcPts val="400"/>
              </a:spcBef>
              <a:buClr>
                <a:srgbClr val="0766D1"/>
              </a:buClr>
              <a:buFont typeface="Arial"/>
              <a:buChar char="•"/>
            </a:pPr>
            <a:r>
              <a:rPr sz="1300">
                <a:solidFill>
                  <a:srgbClr val="032954"/>
                </a:solidFill>
                <a:latin typeface="+mj-lt"/>
              </a:rPr>
              <a:t>Audit log</a:t>
            </a:r>
            <a:r>
              <a:rPr sz="1300">
                <a:solidFill>
                  <a:srgbClr val="032954"/>
                </a:solidFill>
              </a:rPr>
              <a:t>  ·  every call visible in the trace</a:t>
            </a:r>
          </a:p>
        </p:txBody>
      </p:sp>
      <p:sp>
        <p:nvSpPr>
          <p:cNvPr id="25" name="Right Arrow 24"/>
          <p:cNvSpPr/>
          <p:nvPr/>
        </p:nvSpPr>
        <p:spPr>
          <a:xfrm>
            <a:off x="10497312" y="4434840"/>
            <a:ext cx="676656" cy="329184"/>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1247120" y="3520440"/>
            <a:ext cx="2103120" cy="2103120"/>
          </a:xfrm>
          <a:prstGeom prst="roundRect">
            <a:avLst>
              <a:gd name="adj" fmla="val 13043"/>
            </a:avLst>
          </a:prstGeom>
          <a:solidFill>
            <a:srgbClr val="C4DEFD"/>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usb_n.png"/>
          <p:cNvPicPr>
            <a:picLocks noChangeAspect="1"/>
          </p:cNvPicPr>
          <p:nvPr/>
        </p:nvPicPr>
        <p:blipFill>
          <a:blip r:embed="rId2"/>
          <a:stretch>
            <a:fillRect/>
          </a:stretch>
        </p:blipFill>
        <p:spPr>
          <a:xfrm>
            <a:off x="11932920" y="3794760"/>
            <a:ext cx="731520" cy="731520"/>
          </a:xfrm>
          <a:prstGeom prst="rect">
            <a:avLst/>
          </a:prstGeom>
        </p:spPr>
      </p:pic>
      <p:sp>
        <p:nvSpPr>
          <p:cNvPr id="28" name="TextBox 27"/>
          <p:cNvSpPr txBox="1"/>
          <p:nvPr/>
        </p:nvSpPr>
        <p:spPr>
          <a:xfrm>
            <a:off x="11247120" y="4617720"/>
            <a:ext cx="2103120" cy="822960"/>
          </a:xfrm>
          <a:prstGeom prst="rect">
            <a:avLst/>
          </a:prstGeom>
          <a:noFill/>
        </p:spPr>
        <p:txBody>
          <a:bodyPr wrap="square" lIns="45720" tIns="27432" rIns="45720" bIns="27432" anchor="t">
            <a:spAutoFit/>
          </a:bodyPr>
          <a:lstStyle/>
          <a:p>
            <a:pPr algn="ctr"/>
            <a:r>
              <a:rPr sz="1800">
                <a:solidFill>
                  <a:srgbClr val="032954"/>
                </a:solidFill>
                <a:latin typeface="+mj-lt"/>
              </a:rPr>
              <a:t>MCP server</a:t>
            </a:r>
          </a:p>
          <a:p>
            <a:pPr algn="ctr"/>
            <a:r>
              <a:rPr sz="1100">
                <a:solidFill>
                  <a:srgbClr val="032954"/>
                </a:solidFill>
              </a:rPr>
              <a:t>one plug, every tool</a:t>
            </a:r>
          </a:p>
        </p:txBody>
      </p:sp>
      <p:sp>
        <p:nvSpPr>
          <p:cNvPr id="29" name="TextBox 28"/>
          <p:cNvSpPr txBox="1"/>
          <p:nvPr/>
        </p:nvSpPr>
        <p:spPr>
          <a:xfrm>
            <a:off x="14081760" y="2651760"/>
            <a:ext cx="2944368" cy="365760"/>
          </a:xfrm>
          <a:prstGeom prst="rect">
            <a:avLst/>
          </a:prstGeom>
          <a:noFill/>
        </p:spPr>
        <p:txBody>
          <a:bodyPr wrap="square" lIns="45720" tIns="27432" rIns="45720" bIns="27432" anchor="t">
            <a:spAutoFit/>
          </a:bodyPr>
          <a:lstStyle/>
          <a:p>
            <a:pPr algn="ctr"/>
            <a:r>
              <a:rPr sz="1600">
                <a:solidFill>
                  <a:srgbClr val="0766D1"/>
                </a:solidFill>
                <a:latin typeface="+mj-lt"/>
              </a:rPr>
              <a:t>Tools</a:t>
            </a:r>
          </a:p>
        </p:txBody>
      </p:sp>
      <p:sp>
        <p:nvSpPr>
          <p:cNvPr id="30" name="Rounded Rectangle 29"/>
          <p:cNvSpPr/>
          <p:nvPr/>
        </p:nvSpPr>
        <p:spPr>
          <a:xfrm>
            <a:off x="14081760" y="3108960"/>
            <a:ext cx="2944368" cy="658368"/>
          </a:xfrm>
          <a:prstGeom prst="roundRect">
            <a:avLst>
              <a:gd name="adj" fmla="val 13888"/>
            </a:avLst>
          </a:prstGeom>
          <a:solidFill>
            <a:srgbClr val="7E889A"/>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ctr"/>
            <a:r>
              <a:rPr sz="1200">
                <a:solidFill>
                  <a:srgbClr val="FFFFFF"/>
                </a:solidFill>
                <a:latin typeface="+mj-lt"/>
              </a:rPr>
              <a:t>Run &amp; build ML model (forecasting, simulation)</a:t>
            </a:r>
          </a:p>
        </p:txBody>
      </p:sp>
      <p:cxnSp>
        <p:nvCxnSpPr>
          <p:cNvPr id="31" name="Connector 30"/>
          <p:cNvCxnSpPr/>
          <p:nvPr/>
        </p:nvCxnSpPr>
        <p:spPr>
          <a:xfrm flipV="1">
            <a:off x="13386816" y="3438144"/>
            <a:ext cx="649224" cy="1133856"/>
          </a:xfrm>
          <a:prstGeom prst="line">
            <a:avLst/>
          </a:prstGeom>
          <a:ln w="19050">
            <a:solidFill>
              <a:srgbClr val="0766D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4081760" y="3968496"/>
            <a:ext cx="2944368" cy="658368"/>
          </a:xfrm>
          <a:prstGeom prst="roundRect">
            <a:avLst>
              <a:gd name="adj" fmla="val 13888"/>
            </a:avLst>
          </a:prstGeom>
          <a:solidFill>
            <a:srgbClr val="C4DEFD"/>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ctr"/>
            <a:r>
              <a:rPr sz="1200">
                <a:solidFill>
                  <a:srgbClr val="032954"/>
                </a:solidFill>
                <a:latin typeface="+mj-lt"/>
              </a:rPr>
              <a:t>Run decision flow (SAS Intelligent Decisioning)</a:t>
            </a:r>
          </a:p>
        </p:txBody>
      </p:sp>
      <p:cxnSp>
        <p:nvCxnSpPr>
          <p:cNvPr id="33" name="Connector 32"/>
          <p:cNvCxnSpPr/>
          <p:nvPr/>
        </p:nvCxnSpPr>
        <p:spPr>
          <a:xfrm flipV="1">
            <a:off x="13386816" y="4297680"/>
            <a:ext cx="649224" cy="274320"/>
          </a:xfrm>
          <a:prstGeom prst="line">
            <a:avLst/>
          </a:prstGeom>
          <a:ln w="19050">
            <a:solidFill>
              <a:srgbClr val="0766D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14081760" y="4828031"/>
            <a:ext cx="2944368" cy="658368"/>
          </a:xfrm>
          <a:prstGeom prst="roundRect">
            <a:avLst>
              <a:gd name="adj" fmla="val 13888"/>
            </a:avLst>
          </a:prstGeom>
          <a:solidFill>
            <a:srgbClr val="4398F9"/>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ctr"/>
            <a:r>
              <a:rPr sz="1200">
                <a:solidFill>
                  <a:srgbClr val="FFFFFF"/>
                </a:solidFill>
                <a:latin typeface="+mj-lt"/>
              </a:rPr>
              <a:t>Generate charts</a:t>
            </a:r>
          </a:p>
        </p:txBody>
      </p:sp>
      <p:cxnSp>
        <p:nvCxnSpPr>
          <p:cNvPr id="35" name="Connector 34"/>
          <p:cNvCxnSpPr/>
          <p:nvPr/>
        </p:nvCxnSpPr>
        <p:spPr>
          <a:xfrm>
            <a:off x="13386816" y="4572000"/>
            <a:ext cx="649224" cy="585216"/>
          </a:xfrm>
          <a:prstGeom prst="line">
            <a:avLst/>
          </a:prstGeom>
          <a:ln w="19050">
            <a:solidFill>
              <a:srgbClr val="0766D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14081760" y="5687568"/>
            <a:ext cx="2944368" cy="658368"/>
          </a:xfrm>
          <a:prstGeom prst="roundRect">
            <a:avLst>
              <a:gd name="adj" fmla="val 13888"/>
            </a:avLst>
          </a:prstGeom>
          <a:solidFill>
            <a:srgbClr val="0766D1"/>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ctr"/>
            <a:r>
              <a:rPr sz="1200">
                <a:solidFill>
                  <a:srgbClr val="FFFFFF"/>
                </a:solidFill>
                <a:latin typeface="+mj-lt"/>
              </a:rPr>
              <a:t>Query data (SQL)</a:t>
            </a:r>
          </a:p>
        </p:txBody>
      </p:sp>
      <p:cxnSp>
        <p:nvCxnSpPr>
          <p:cNvPr id="37" name="Connector 36"/>
          <p:cNvCxnSpPr/>
          <p:nvPr/>
        </p:nvCxnSpPr>
        <p:spPr>
          <a:xfrm>
            <a:off x="13386816" y="4572000"/>
            <a:ext cx="649224" cy="1444752"/>
          </a:xfrm>
          <a:prstGeom prst="line">
            <a:avLst/>
          </a:prstGeom>
          <a:ln w="19050">
            <a:solidFill>
              <a:srgbClr val="0766D1"/>
            </a:solidFill>
            <a:tailEnd type="triangle" w="med" len="med"/>
          </a:ln>
          <a:effectLst/>
        </p:spPr>
        <p:style>
          <a:lnRef idx="2">
            <a:schemeClr val="accent1"/>
          </a:lnRef>
          <a:fillRef idx="0">
            <a:schemeClr val="accent1"/>
          </a:fillRef>
          <a:effectRef idx="1">
            <a:schemeClr val="accent1"/>
          </a:effectRef>
          <a:fontRef idx="minor">
            <a:schemeClr val="tx1"/>
          </a:fontRef>
        </p:style>
      </p:cxnSp>
      <p:pic>
        <p:nvPicPr>
          <p:cNvPr id="38" name="Picture 37" descr="table_b.png"/>
          <p:cNvPicPr>
            <a:picLocks noChangeAspect="1"/>
          </p:cNvPicPr>
          <p:nvPr/>
        </p:nvPicPr>
        <p:blipFill>
          <a:blip r:embed="rId3"/>
          <a:stretch>
            <a:fillRect/>
          </a:stretch>
        </p:blipFill>
        <p:spPr>
          <a:xfrm>
            <a:off x="6720840" y="7790688"/>
            <a:ext cx="457200" cy="457200"/>
          </a:xfrm>
          <a:prstGeom prst="rect">
            <a:avLst/>
          </a:prstGeom>
        </p:spPr>
      </p:pic>
      <p:sp>
        <p:nvSpPr>
          <p:cNvPr id="39" name="TextBox 38"/>
          <p:cNvSpPr txBox="1"/>
          <p:nvPr/>
        </p:nvSpPr>
        <p:spPr>
          <a:xfrm>
            <a:off x="7269480" y="7772400"/>
            <a:ext cx="3291840" cy="457200"/>
          </a:xfrm>
          <a:prstGeom prst="rect">
            <a:avLst/>
          </a:prstGeom>
          <a:noFill/>
        </p:spPr>
        <p:txBody>
          <a:bodyPr wrap="square" lIns="45720" tIns="27432" rIns="45720" bIns="27432" anchor="ctr">
            <a:spAutoFit/>
          </a:bodyPr>
          <a:lstStyle/>
          <a:p>
            <a:pPr algn="l"/>
            <a:r>
              <a:rPr sz="1600">
                <a:solidFill>
                  <a:srgbClr val="0766D1"/>
                </a:solidFill>
                <a:latin typeface="+mj-lt"/>
              </a:rPr>
              <a:t>CAS table (SAS Viya)</a:t>
            </a:r>
          </a:p>
        </p:txBody>
      </p:sp>
      <p:cxnSp>
        <p:nvCxnSpPr>
          <p:cNvPr id="40" name="Connector 39"/>
          <p:cNvCxnSpPr/>
          <p:nvPr/>
        </p:nvCxnSpPr>
        <p:spPr>
          <a:xfrm>
            <a:off x="5184648" y="7315200"/>
            <a:ext cx="1490472" cy="685800"/>
          </a:xfrm>
          <a:prstGeom prst="line">
            <a:avLst/>
          </a:prstGeom>
          <a:ln w="19050">
            <a:solidFill>
              <a:srgbClr val="0766D1"/>
            </a:solidFill>
            <a:prstDash val="sysDot"/>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9966960" y="6364223"/>
            <a:ext cx="5586984" cy="1636777"/>
          </a:xfrm>
          <a:prstGeom prst="line">
            <a:avLst/>
          </a:prstGeom>
          <a:ln w="19050">
            <a:solidFill>
              <a:srgbClr val="0766D1"/>
            </a:solidFill>
            <a:prstDash val="sysDot"/>
            <a:tailEnd type="triangle" w="med" len="med"/>
          </a:ln>
          <a:effectLst/>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1252728" y="8366760"/>
            <a:ext cx="15773400" cy="1051560"/>
          </a:xfrm>
          <a:prstGeom prst="roundRect">
            <a:avLst>
              <a:gd name="adj" fmla="val 19130"/>
            </a:avLst>
          </a:prstGeom>
          <a:solidFill>
            <a:srgbClr val="C4D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badge_n.png"/>
          <p:cNvPicPr>
            <a:picLocks noChangeAspect="1"/>
          </p:cNvPicPr>
          <p:nvPr/>
        </p:nvPicPr>
        <p:blipFill>
          <a:blip r:embed="rId4"/>
          <a:stretch>
            <a:fillRect/>
          </a:stretch>
        </p:blipFill>
        <p:spPr>
          <a:xfrm>
            <a:off x="1572768" y="8572500"/>
            <a:ext cx="640080" cy="640080"/>
          </a:xfrm>
          <a:prstGeom prst="rect">
            <a:avLst/>
          </a:prstGeom>
        </p:spPr>
      </p:pic>
      <p:sp>
        <p:nvSpPr>
          <p:cNvPr id="44" name="TextBox 43"/>
          <p:cNvSpPr txBox="1"/>
          <p:nvPr/>
        </p:nvSpPr>
        <p:spPr>
          <a:xfrm>
            <a:off x="2487168" y="8476488"/>
            <a:ext cx="14264640" cy="832103"/>
          </a:xfrm>
          <a:prstGeom prst="rect">
            <a:avLst/>
          </a:prstGeom>
          <a:noFill/>
        </p:spPr>
        <p:txBody>
          <a:bodyPr wrap="square" lIns="45720" tIns="27432" rIns="45720" bIns="27432" anchor="ctr">
            <a:spAutoFit/>
          </a:bodyPr>
          <a:lstStyle/>
          <a:p>
            <a:pPr algn="l"/>
            <a:r>
              <a:rPr sz="1500">
                <a:solidFill>
                  <a:srgbClr val="032954"/>
                </a:solidFill>
                <a:latin typeface="+mj-lt"/>
              </a:rPr>
              <a:t>What this solution delivers</a:t>
            </a:r>
          </a:p>
          <a:p>
            <a:pPr algn="l"/>
            <a:r>
              <a:rPr sz="1300">
                <a:solidFill>
                  <a:srgbClr val="032954"/>
                </a:solidFill>
              </a:rPr>
              <a:t>Natural-language questions → governed analytics, cohorts and charts   ·   ML scoring, forecasting and policy simulation on demand   ·   Every answer cites the national guideline and shows its tool calls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r>
              <a:rPr sz="5600"/>
              <a:t>What you will see in the demo</a:t>
            </a:r>
          </a:p>
        </p:txBody>
      </p:sp>
      <p:sp>
        <p:nvSpPr>
          <p:cNvPr id="3" name="Text Placeholder 2"/>
          <p:cNvSpPr>
            <a:spLocks noGrp="1"/>
          </p:cNvSpPr>
          <p:nvPr>
            <p:ph type="body" idx="10" sz="quarter"/>
          </p:nvPr>
        </p:nvSpPr>
        <p:spPr/>
        <p:txBody>
          <a:bodyPr/>
          <a:lstStyle/>
          <a:p>
            <a:r>
              <a:rPr sz="3000"/>
              <a:t>Five real questions, and what to watch for in the agent's trace</a:t>
            </a:r>
          </a:p>
        </p:txBody>
      </p:sp>
      <p:graphicFrame>
        <p:nvGraphicFramePr>
          <p:cNvPr id="5" name="Table 4"/>
          <p:cNvGraphicFramePr>
            <a:graphicFrameLocks noGrp="1"/>
          </p:cNvGraphicFramePr>
          <p:nvPr/>
        </p:nvGraphicFramePr>
        <p:xfrm>
          <a:off x="1252728" y="2743200"/>
          <a:ext cx="15773400" cy="5577840"/>
        </p:xfrm>
        <a:graphic>
          <a:graphicData uri="http://schemas.openxmlformats.org/drawingml/2006/table">
            <a:tbl>
              <a:tblPr firstRow="1" bandRow="0">
                <a:tableStyleId>{5C22544A-7EE6-4342-B048-85BDC9FD1C3A}</a:tableStyleId>
              </a:tblPr>
              <a:tblGrid>
                <a:gridCol w="685800"/>
                <a:gridCol w="5760720"/>
                <a:gridCol w="5120640"/>
                <a:gridCol w="4206240"/>
              </a:tblGrid>
              <a:tr h="548640">
                <a:tc>
                  <a:txBody>
                    <a:bodyPr wrap="square"/>
                    <a:lstStyle/>
                    <a:p>
                      <a:pPr algn="ctr"/>
                      <a:r>
                        <a:rPr sz="1500">
                          <a:solidFill>
                            <a:srgbClr val="FFFFFF"/>
                          </a:solidFill>
                          <a:latin typeface="+mj-lt"/>
                        </a:rPr>
                        <a:t>#</a:t>
                      </a:r>
                    </a:p>
                  </a:txBody>
                  <a:tcPr marL="164592" marR="164592" marT="54864" marB="54864" anchor="ctr">
                    <a:solidFill>
                      <a:srgbClr val="032954"/>
                    </a:solidFill>
                  </a:tcPr>
                </a:tc>
                <a:tc>
                  <a:txBody>
                    <a:bodyPr wrap="square"/>
                    <a:lstStyle/>
                    <a:p>
                      <a:pPr algn="l"/>
                      <a:r>
                        <a:rPr sz="1500">
                          <a:solidFill>
                            <a:srgbClr val="FFFFFF"/>
                          </a:solidFill>
                          <a:latin typeface="+mj-lt"/>
                        </a:rPr>
                        <a:t>The question</a:t>
                      </a:r>
                    </a:p>
                  </a:txBody>
                  <a:tcPr marL="164592" marR="164592" marT="54864" marB="54864" anchor="ctr">
                    <a:solidFill>
                      <a:srgbClr val="032954"/>
                    </a:solidFill>
                  </a:tcPr>
                </a:tc>
                <a:tc>
                  <a:txBody>
                    <a:bodyPr wrap="square"/>
                    <a:lstStyle/>
                    <a:p>
                      <a:pPr algn="l"/>
                      <a:r>
                        <a:rPr sz="1500">
                          <a:solidFill>
                            <a:srgbClr val="FFFFFF"/>
                          </a:solidFill>
                          <a:latin typeface="+mj-lt"/>
                        </a:rPr>
                        <a:t>What the agent does</a:t>
                      </a:r>
                    </a:p>
                  </a:txBody>
                  <a:tcPr marL="164592" marR="164592" marT="54864" marB="54864" anchor="ctr">
                    <a:solidFill>
                      <a:srgbClr val="032954"/>
                    </a:solidFill>
                  </a:tcPr>
                </a:tc>
                <a:tc>
                  <a:txBody>
                    <a:bodyPr wrap="square"/>
                    <a:lstStyle/>
                    <a:p>
                      <a:pPr algn="l"/>
                      <a:r>
                        <a:rPr sz="1500">
                          <a:solidFill>
                            <a:srgbClr val="FFFFFF"/>
                          </a:solidFill>
                          <a:latin typeface="+mj-lt"/>
                        </a:rPr>
                        <a:t>Watch for</a:t>
                      </a:r>
                    </a:p>
                  </a:txBody>
                  <a:tcPr marL="164592" marR="164592" marT="54864" marB="54864" anchor="ctr">
                    <a:solidFill>
                      <a:srgbClr val="032954"/>
                    </a:solidFill>
                  </a:tcPr>
                </a:tc>
              </a:tr>
              <a:tr h="1005840">
                <a:tc>
                  <a:txBody>
                    <a:bodyPr wrap="square"/>
                    <a:lstStyle/>
                    <a:p>
                      <a:pPr algn="ctr"/>
                      <a:r>
                        <a:rPr sz="1300">
                          <a:solidFill>
                            <a:srgbClr val="0766D1"/>
                          </a:solidFill>
                          <a:latin typeface="+mj-lt"/>
                        </a:rPr>
                        <a:t>1</a:t>
                      </a:r>
                    </a:p>
                  </a:txBody>
                  <a:tcPr marL="164592" marR="164592" marT="54864" marB="54864" anchor="ctr">
                    <a:solidFill>
                      <a:srgbClr val="FFFFFF"/>
                    </a:solidFill>
                  </a:tcPr>
                </a:tc>
                <a:tc>
                  <a:txBody>
                    <a:bodyPr wrap="square"/>
                    <a:lstStyle/>
                    <a:p>
                      <a:pPr algn="l"/>
                      <a:r>
                        <a:rPr sz="1300">
                          <a:solidFill>
                            <a:srgbClr val="032954"/>
                          </a:solidFill>
                          <a:latin typeface="+mj-lt"/>
                        </a:rPr>
                        <a:t>How many patients are in the registry, and how many are well controlled?</a:t>
                      </a:r>
                    </a:p>
                  </a:txBody>
                  <a:tcPr marL="164592" marR="164592" marT="54864" marB="54864" anchor="ctr">
                    <a:solidFill>
                      <a:srgbClr val="FFFFFF"/>
                    </a:solidFill>
                  </a:tcPr>
                </a:tc>
                <a:tc>
                  <a:txBody>
                    <a:bodyPr wrap="square"/>
                    <a:lstStyle/>
                    <a:p>
                      <a:pPr algn="l"/>
                      <a:r>
                        <a:rPr sz="1300">
                          <a:solidFill>
                            <a:srgbClr val="262626"/>
                          </a:solidFill>
                        </a:rPr>
                        <a:t>One SQL query on the registry; cites NHA-CG-01 §2 for the HbA1c bands</a:t>
                      </a:r>
                    </a:p>
                  </a:txBody>
                  <a:tcPr marL="164592" marR="164592" marT="54864" marB="54864" anchor="ctr">
                    <a:solidFill>
                      <a:srgbClr val="FFFFFF"/>
                    </a:solidFill>
                  </a:tcPr>
                </a:tc>
                <a:tc>
                  <a:txBody>
                    <a:bodyPr wrap="square"/>
                    <a:lstStyle/>
                    <a:p>
                      <a:pPr algn="l"/>
                      <a:r>
                        <a:rPr sz="1300">
                          <a:solidFill>
                            <a:srgbClr val="262626"/>
                          </a:solidFill>
                        </a:rPr>
                        <a:t>The query in the trace; the cohort stated next to every number</a:t>
                      </a:r>
                    </a:p>
                  </a:txBody>
                  <a:tcPr marL="164592" marR="164592" marT="54864" marB="54864" anchor="ctr">
                    <a:solidFill>
                      <a:srgbClr val="FFFFFF"/>
                    </a:solidFill>
                  </a:tcPr>
                </a:tc>
              </a:tr>
              <a:tr h="1005840">
                <a:tc>
                  <a:txBody>
                    <a:bodyPr wrap="square"/>
                    <a:lstStyle/>
                    <a:p>
                      <a:pPr algn="ctr"/>
                      <a:r>
                        <a:rPr sz="1300">
                          <a:solidFill>
                            <a:srgbClr val="0766D1"/>
                          </a:solidFill>
                          <a:latin typeface="+mj-lt"/>
                        </a:rPr>
                        <a:t>2</a:t>
                      </a:r>
                    </a:p>
                  </a:txBody>
                  <a:tcPr marL="164592" marR="164592" marT="54864" marB="54864" anchor="ctr">
                    <a:solidFill>
                      <a:srgbClr val="F0F1F3"/>
                    </a:solidFill>
                  </a:tcPr>
                </a:tc>
                <a:tc>
                  <a:txBody>
                    <a:bodyPr wrap="square"/>
                    <a:lstStyle/>
                    <a:p>
                      <a:pPr algn="l"/>
                      <a:r>
                        <a:rPr sz="1300">
                          <a:solidFill>
                            <a:srgbClr val="032954"/>
                          </a:solidFill>
                          <a:latin typeface="+mj-lt"/>
                        </a:rPr>
                        <a:t>Compare glycaemic control across the emirates.</a:t>
                      </a:r>
                    </a:p>
                  </a:txBody>
                  <a:tcPr marL="164592" marR="164592" marT="54864" marB="54864" anchor="ctr">
                    <a:solidFill>
                      <a:srgbClr val="F0F1F3"/>
                    </a:solidFill>
                  </a:tcPr>
                </a:tc>
                <a:tc>
                  <a:txBody>
                    <a:bodyPr wrap="square"/>
                    <a:lstStyle/>
                    <a:p>
                      <a:pPr algn="l"/>
                      <a:r>
                        <a:rPr sz="1300">
                          <a:solidFill>
                            <a:srgbClr val="262626"/>
                          </a:solidFill>
                        </a:rPr>
                        <a:t>A group-by query, a chart, and the equity check against NHA-PP-01 §4</a:t>
                      </a:r>
                    </a:p>
                  </a:txBody>
                  <a:tcPr marL="164592" marR="164592" marT="54864" marB="54864" anchor="ctr">
                    <a:solidFill>
                      <a:srgbClr val="F0F1F3"/>
                    </a:solidFill>
                  </a:tcPr>
                </a:tc>
                <a:tc>
                  <a:txBody>
                    <a:bodyPr wrap="square"/>
                    <a:lstStyle/>
                    <a:p>
                      <a:pPr algn="l"/>
                      <a:r>
                        <a:rPr sz="1300">
                          <a:solidFill>
                            <a:srgbClr val="262626"/>
                          </a:solidFill>
                        </a:rPr>
                        <a:t>The 5-point equity trigger, named without being asked</a:t>
                      </a:r>
                    </a:p>
                  </a:txBody>
                  <a:tcPr marL="164592" marR="164592" marT="54864" marB="54864" anchor="ctr">
                    <a:solidFill>
                      <a:srgbClr val="F0F1F3"/>
                    </a:solidFill>
                  </a:tcPr>
                </a:tc>
              </a:tr>
              <a:tr h="1005840">
                <a:tc>
                  <a:txBody>
                    <a:bodyPr wrap="square"/>
                    <a:lstStyle/>
                    <a:p>
                      <a:pPr algn="ctr"/>
                      <a:r>
                        <a:rPr sz="1300">
                          <a:solidFill>
                            <a:srgbClr val="0766D1"/>
                          </a:solidFill>
                          <a:latin typeface="+mj-lt"/>
                        </a:rPr>
                        <a:t>3</a:t>
                      </a:r>
                    </a:p>
                  </a:txBody>
                  <a:tcPr marL="164592" marR="164592" marT="54864" marB="54864" anchor="ctr">
                    <a:solidFill>
                      <a:srgbClr val="FFFFFF"/>
                    </a:solidFill>
                  </a:tcPr>
                </a:tc>
                <a:tc>
                  <a:txBody>
                    <a:bodyPr wrap="square"/>
                    <a:lstStyle/>
                    <a:p>
                      <a:pPr algn="l"/>
                      <a:r>
                        <a:rPr sz="1300">
                          <a:solidFill>
                            <a:srgbClr val="032954"/>
                          </a:solidFill>
                          <a:latin typeface="+mj-lt"/>
                        </a:rPr>
                        <a:t>What is the LDL target for a very-high-risk patient?</a:t>
                      </a:r>
                    </a:p>
                  </a:txBody>
                  <a:tcPr marL="164592" marR="164592" marT="54864" marB="54864" anchor="ctr">
                    <a:solidFill>
                      <a:srgbClr val="FFFFFF"/>
                    </a:solidFill>
                  </a:tcPr>
                </a:tc>
                <a:tc>
                  <a:txBody>
                    <a:bodyPr wrap="square"/>
                    <a:lstStyle/>
                    <a:p>
                      <a:pPr algn="l"/>
                      <a:r>
                        <a:rPr sz="1300">
                          <a:solidFill>
                            <a:srgbClr val="262626"/>
                          </a:solidFill>
                        </a:rPr>
                        <a:t>Retrieval only: no query; the answer comes from NHA-CG-02 §3</a:t>
                      </a:r>
                    </a:p>
                  </a:txBody>
                  <a:tcPr marL="164592" marR="164592" marT="54864" marB="54864" anchor="ctr">
                    <a:solidFill>
                      <a:srgbClr val="FFFFFF"/>
                    </a:solidFill>
                  </a:tcPr>
                </a:tc>
                <a:tc>
                  <a:txBody>
                    <a:bodyPr wrap="square"/>
                    <a:lstStyle/>
                    <a:p>
                      <a:pPr algn="l"/>
                      <a:r>
                        <a:rPr sz="1300">
                          <a:solidFill>
                            <a:srgbClr val="262626"/>
                          </a:solidFill>
                        </a:rPr>
                        <a:t>The citation, and “not covered” when the collection is silent</a:t>
                      </a:r>
                    </a:p>
                  </a:txBody>
                  <a:tcPr marL="164592" marR="164592" marT="54864" marB="54864" anchor="ctr">
                    <a:solidFill>
                      <a:srgbClr val="FFFFFF"/>
                    </a:solidFill>
                  </a:tcPr>
                </a:tc>
              </a:tr>
              <a:tr h="1005840">
                <a:tc>
                  <a:txBody>
                    <a:bodyPr wrap="square"/>
                    <a:lstStyle/>
                    <a:p>
                      <a:pPr algn="ctr"/>
                      <a:r>
                        <a:rPr sz="1300">
                          <a:solidFill>
                            <a:srgbClr val="0766D1"/>
                          </a:solidFill>
                          <a:latin typeface="+mj-lt"/>
                        </a:rPr>
                        <a:t>4</a:t>
                      </a:r>
                    </a:p>
                  </a:txBody>
                  <a:tcPr marL="164592" marR="164592" marT="54864" marB="54864" anchor="ctr">
                    <a:solidFill>
                      <a:srgbClr val="F0F1F3"/>
                    </a:solidFill>
                  </a:tcPr>
                </a:tc>
                <a:tc>
                  <a:txBody>
                    <a:bodyPr wrap="square"/>
                    <a:lstStyle/>
                    <a:p>
                      <a:pPr algn="l"/>
                      <a:r>
                        <a:rPr sz="1300">
                          <a:solidFill>
                            <a:srgbClr val="032954"/>
                          </a:solidFill>
                          <a:latin typeface="+mj-lt"/>
                        </a:rPr>
                        <a:t>Who would qualify for a GLP-1 RA under the guideline, and how many are already on one?</a:t>
                      </a:r>
                    </a:p>
                  </a:txBody>
                  <a:tcPr marL="164592" marR="164592" marT="54864" marB="54864" anchor="ctr">
                    <a:solidFill>
                      <a:srgbClr val="F0F1F3"/>
                    </a:solidFill>
                  </a:tcPr>
                </a:tc>
                <a:tc>
                  <a:txBody>
                    <a:bodyPr wrap="square"/>
                    <a:lstStyle/>
                    <a:p>
                      <a:pPr algn="l"/>
                      <a:r>
                        <a:rPr sz="1300">
                          <a:solidFill>
                            <a:srgbClr val="262626"/>
                          </a:solidFill>
                        </a:rPr>
                        <a:t>Guideline first (NHA-CG-01 §4), then two queries: eligible, and not yet treated</a:t>
                      </a:r>
                    </a:p>
                  </a:txBody>
                  <a:tcPr marL="164592" marR="164592" marT="54864" marB="54864" anchor="ctr">
                    <a:solidFill>
                      <a:srgbClr val="F0F1F3"/>
                    </a:solidFill>
                  </a:tcPr>
                </a:tc>
                <a:tc>
                  <a:txBody>
                    <a:bodyPr wrap="square"/>
                    <a:lstStyle/>
                    <a:p>
                      <a:pPr algn="l"/>
                      <a:r>
                        <a:rPr sz="1300">
                          <a:solidFill>
                            <a:srgbClr val="262626"/>
                          </a:solidFill>
                        </a:rPr>
                        <a:t>RAG and SQL in one answer; the clinician decides (§7)</a:t>
                      </a:r>
                    </a:p>
                  </a:txBody>
                  <a:tcPr marL="164592" marR="164592" marT="54864" marB="54864" anchor="ctr">
                    <a:solidFill>
                      <a:srgbClr val="F0F1F3"/>
                    </a:solidFill>
                  </a:tcPr>
                </a:tc>
              </a:tr>
              <a:tr h="1005840">
                <a:tc>
                  <a:txBody>
                    <a:bodyPr wrap="square"/>
                    <a:lstStyle/>
                    <a:p>
                      <a:pPr algn="ctr"/>
                      <a:r>
                        <a:rPr sz="1300">
                          <a:solidFill>
                            <a:srgbClr val="0766D1"/>
                          </a:solidFill>
                          <a:latin typeface="+mj-lt"/>
                        </a:rPr>
                        <a:t>5</a:t>
                      </a:r>
                    </a:p>
                  </a:txBody>
                  <a:tcPr marL="164592" marR="164592" marT="54864" marB="54864" anchor="ctr">
                    <a:solidFill>
                      <a:srgbClr val="FFFFFF"/>
                    </a:solidFill>
                  </a:tcPr>
                </a:tc>
                <a:tc>
                  <a:txBody>
                    <a:bodyPr wrap="square"/>
                    <a:lstStyle/>
                    <a:p>
                      <a:pPr algn="l"/>
                      <a:r>
                        <a:rPr sz="1300">
                          <a:solidFill>
                            <a:srgbClr val="032954"/>
                          </a:solidFill>
                          <a:latin typeface="+mj-lt"/>
                        </a:rPr>
                        <a:t>What is patient EHS-100092's risk of deterioration in the next 12 months?</a:t>
                      </a:r>
                    </a:p>
                  </a:txBody>
                  <a:tcPr marL="164592" marR="164592" marT="54864" marB="54864" anchor="ctr">
                    <a:solidFill>
                      <a:srgbClr val="FFFFFF"/>
                    </a:solidFill>
                  </a:tcPr>
                </a:tc>
                <a:tc>
                  <a:txBody>
                    <a:bodyPr wrap="square"/>
                    <a:lstStyle/>
                    <a:p>
                      <a:pPr algn="l"/>
                      <a:r>
                        <a:rPr sz="1300">
                          <a:solidFill>
                            <a:srgbClr val="262626"/>
                          </a:solidFill>
                        </a:rPr>
                        <a:t>Scores the patient through the published model and contrasts it with the registry's rule-based tier</a:t>
                      </a:r>
                    </a:p>
                  </a:txBody>
                  <a:tcPr marL="164592" marR="164592" marT="54864" marB="54864" anchor="ctr">
                    <a:solidFill>
                      <a:srgbClr val="FFFFFF"/>
                    </a:solidFill>
                  </a:tcPr>
                </a:tc>
                <a:tc>
                  <a:txBody>
                    <a:bodyPr wrap="square"/>
                    <a:lstStyle/>
                    <a:p>
                      <a:pPr algn="l"/>
                      <a:r>
                        <a:rPr sz="1300">
                          <a:solidFill>
                            <a:srgbClr val="262626"/>
                          </a:solidFill>
                        </a:rPr>
                        <a:t>The model call in the trace; restricted-consent patients are never listed</a:t>
                      </a:r>
                    </a:p>
                  </a:txBody>
                  <a:tcPr marL="164592" marR="164592" marT="54864" marB="54864" anchor="ctr">
                    <a:solidFill>
                      <a:srgbClr val="FFFFFF"/>
                    </a:solidFill>
                  </a:tcPr>
                </a:tc>
              </a:tr>
            </a:tbl>
          </a:graphicData>
        </a:graphic>
      </p:graphicFrame>
      <p:sp>
        <p:nvSpPr>
          <p:cNvPr id="6" name="TextBox 5"/>
          <p:cNvSpPr txBox="1"/>
          <p:nvPr/>
        </p:nvSpPr>
        <p:spPr>
          <a:xfrm>
            <a:off x="1252728" y="8503920"/>
            <a:ext cx="15773400" cy="822960"/>
          </a:xfrm>
          <a:prstGeom prst="rect">
            <a:avLst/>
          </a:prstGeom>
          <a:noFill/>
        </p:spPr>
        <p:txBody>
          <a:bodyPr wrap="square" lIns="45720" tIns="27432" rIns="45720" bIns="27432" anchor="t">
            <a:spAutoFit/>
          </a:bodyPr>
          <a:lstStyle/>
          <a:p>
            <a:pPr algn="l"/>
            <a:r>
              <a:rPr sz="1300">
                <a:solidFill>
                  <a:srgbClr val="7E889A"/>
                </a:solidFill>
              </a:rPr>
              <a:t>If time allows, question 6: “If we put every eligible uncontrolled patient on a GLP-1 RA and closed the statin gap, what would it save?” A policy what-if: the agent takes the measured effects from NHA-PP-01 §5, scales them to the cohorts it counted, and shows the arithmetic.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r>
              <a:rPr sz="5600"/>
              <a:t>Under the hood of one answer</a:t>
            </a:r>
          </a:p>
        </p:txBody>
      </p:sp>
      <p:sp>
        <p:nvSpPr>
          <p:cNvPr id="3" name="Text Placeholder 2"/>
          <p:cNvSpPr>
            <a:spLocks noGrp="1"/>
          </p:cNvSpPr>
          <p:nvPr>
            <p:ph type="body" idx="10" sz="quarter"/>
          </p:nvPr>
        </p:nvSpPr>
        <p:spPr/>
        <p:txBody>
          <a:bodyPr/>
          <a:lstStyle/>
          <a:p>
            <a:r>
              <a:rPr sz="3000"/>
              <a:t>Question 4 step by step, from retrieval to the hand-over</a:t>
            </a:r>
          </a:p>
        </p:txBody>
      </p:sp>
      <p:sp>
        <p:nvSpPr>
          <p:cNvPr id="5" name="Rounded Rectangle 4"/>
          <p:cNvSpPr/>
          <p:nvPr/>
        </p:nvSpPr>
        <p:spPr>
          <a:xfrm>
            <a:off x="1252728" y="2606040"/>
            <a:ext cx="15773400" cy="6812280"/>
          </a:xfrm>
          <a:prstGeom prst="roundRect">
            <a:avLst>
              <a:gd name="adj" fmla="val 4697"/>
            </a:avLst>
          </a:prstGeom>
          <a:solidFill>
            <a:srgbClr val="E4E7EA"/>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709928" y="3337560"/>
            <a:ext cx="4617720" cy="2514600"/>
          </a:xfrm>
          <a:prstGeom prst="roundRect">
            <a:avLst>
              <a:gd name="adj" fmla="val 10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029968" y="3063240"/>
            <a:ext cx="3977639" cy="548640"/>
          </a:xfrm>
          <a:prstGeom prst="roundRect">
            <a:avLst>
              <a:gd name="adj" fmla="val 50000"/>
            </a:avLst>
          </a:prstGeom>
          <a:solidFill>
            <a:srgbClr val="0766D1"/>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500">
                <a:solidFill>
                  <a:srgbClr val="FFFFFF"/>
                </a:solidFill>
                <a:latin typeface="+mj-lt"/>
              </a:rPr>
              <a:t>1 · Retrieve</a:t>
            </a:r>
          </a:p>
        </p:txBody>
      </p:sp>
      <p:sp>
        <p:nvSpPr>
          <p:cNvPr id="8" name="TextBox 7"/>
          <p:cNvSpPr txBox="1"/>
          <p:nvPr/>
        </p:nvSpPr>
        <p:spPr>
          <a:xfrm>
            <a:off x="2029968" y="3794760"/>
            <a:ext cx="3977639" cy="1920240"/>
          </a:xfrm>
          <a:prstGeom prst="rect">
            <a:avLst/>
          </a:prstGeom>
          <a:noFill/>
        </p:spPr>
        <p:txBody>
          <a:bodyPr wrap="square" lIns="45720" tIns="27432" rIns="45720" bIns="27432" anchor="ctr">
            <a:spAutoFit/>
          </a:bodyPr>
          <a:lstStyle/>
          <a:p>
            <a:pPr algn="ctr"/>
            <a:r>
              <a:rPr sz="1400">
                <a:solidFill>
                  <a:srgbClr val="262626"/>
                </a:solidFill>
              </a:rPr>
              <a:t>Searches the NHA collection. NHA-CG-01 §4: consider a GLP-1 RA when HbA1c stays above target and BMI is over 30.</a:t>
            </a:r>
          </a:p>
        </p:txBody>
      </p:sp>
      <p:sp>
        <p:nvSpPr>
          <p:cNvPr id="9" name="Right Arrow 8"/>
          <p:cNvSpPr/>
          <p:nvPr/>
        </p:nvSpPr>
        <p:spPr>
          <a:xfrm>
            <a:off x="6437376" y="4393692"/>
            <a:ext cx="393192" cy="402336"/>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940296" y="3337560"/>
            <a:ext cx="4617720" cy="2514600"/>
          </a:xfrm>
          <a:prstGeom prst="roundRect">
            <a:avLst>
              <a:gd name="adj" fmla="val 10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260336" y="3063240"/>
            <a:ext cx="3977639" cy="548640"/>
          </a:xfrm>
          <a:prstGeom prst="roundRect">
            <a:avLst>
              <a:gd name="adj" fmla="val 50000"/>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500">
                <a:solidFill>
                  <a:srgbClr val="FFFFFF"/>
                </a:solidFill>
                <a:latin typeface="+mj-lt"/>
              </a:rPr>
              <a:t>2 · Query</a:t>
            </a:r>
          </a:p>
        </p:txBody>
      </p:sp>
      <p:sp>
        <p:nvSpPr>
          <p:cNvPr id="12" name="TextBox 11"/>
          <p:cNvSpPr txBox="1"/>
          <p:nvPr/>
        </p:nvSpPr>
        <p:spPr>
          <a:xfrm>
            <a:off x="7260336" y="3794760"/>
            <a:ext cx="3977639" cy="1920240"/>
          </a:xfrm>
          <a:prstGeom prst="rect">
            <a:avLst/>
          </a:prstGeom>
          <a:noFill/>
        </p:spPr>
        <p:txBody>
          <a:bodyPr wrap="square" lIns="45720" tIns="27432" rIns="45720" bIns="27432" anchor="ctr">
            <a:spAutoFit/>
          </a:bodyPr>
          <a:lstStyle/>
          <a:p>
            <a:pPr algn="ctr"/>
            <a:r>
              <a:rPr sz="1400">
                <a:solidFill>
                  <a:srgbClr val="262626"/>
                </a:solidFill>
              </a:rPr>
              <a:t>query_data: type 2, HbA1c ≥ 9%, BMI &gt; 30, from Public.EHS_DIABETES. Result: 399 patients.</a:t>
            </a:r>
          </a:p>
        </p:txBody>
      </p:sp>
      <p:sp>
        <p:nvSpPr>
          <p:cNvPr id="13" name="Right Arrow 12"/>
          <p:cNvSpPr/>
          <p:nvPr/>
        </p:nvSpPr>
        <p:spPr>
          <a:xfrm>
            <a:off x="11667744" y="4393692"/>
            <a:ext cx="393192" cy="402336"/>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2170663" y="3337560"/>
            <a:ext cx="4617720" cy="2514600"/>
          </a:xfrm>
          <a:prstGeom prst="roundRect">
            <a:avLst>
              <a:gd name="adj" fmla="val 10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2490703" y="3063240"/>
            <a:ext cx="3977639" cy="548640"/>
          </a:xfrm>
          <a:prstGeom prst="roundRect">
            <a:avLst>
              <a:gd name="adj" fmla="val 50000"/>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500">
                <a:solidFill>
                  <a:srgbClr val="FFFFFF"/>
                </a:solidFill>
                <a:latin typeface="+mj-lt"/>
              </a:rPr>
              <a:t>3 · Query again</a:t>
            </a:r>
          </a:p>
        </p:txBody>
      </p:sp>
      <p:sp>
        <p:nvSpPr>
          <p:cNvPr id="16" name="TextBox 15"/>
          <p:cNvSpPr txBox="1"/>
          <p:nvPr/>
        </p:nvSpPr>
        <p:spPr>
          <a:xfrm>
            <a:off x="12490703" y="3794760"/>
            <a:ext cx="3977639" cy="1920240"/>
          </a:xfrm>
          <a:prstGeom prst="rect">
            <a:avLst/>
          </a:prstGeom>
          <a:noFill/>
        </p:spPr>
        <p:txBody>
          <a:bodyPr wrap="square" lIns="45720" tIns="27432" rIns="45720" bIns="27432" anchor="ctr">
            <a:spAutoFit/>
          </a:bodyPr>
          <a:lstStyle/>
          <a:p>
            <a:pPr algn="ctr"/>
            <a:r>
              <a:rPr sz="1400">
                <a:solidFill>
                  <a:srgbClr val="262626"/>
                </a:solidFill>
              </a:rPr>
              <a:t>Same cohort, on_sglt2_glp1 = 0. Result: 373 not yet treated. Restricted-consent patients are counted, never listed.</a:t>
            </a:r>
          </a:p>
        </p:txBody>
      </p:sp>
      <p:sp>
        <p:nvSpPr>
          <p:cNvPr id="17" name="Rounded Rectangle 16"/>
          <p:cNvSpPr/>
          <p:nvPr/>
        </p:nvSpPr>
        <p:spPr>
          <a:xfrm>
            <a:off x="1709928" y="6720840"/>
            <a:ext cx="4617720" cy="2514600"/>
          </a:xfrm>
          <a:prstGeom prst="roundRect">
            <a:avLst>
              <a:gd name="adj" fmla="val 10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029968" y="6446520"/>
            <a:ext cx="3977639" cy="548640"/>
          </a:xfrm>
          <a:prstGeom prst="roundRect">
            <a:avLst>
              <a:gd name="adj" fmla="val 50000"/>
            </a:avLst>
          </a:prstGeom>
          <a:solidFill>
            <a:srgbClr val="4398F9"/>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500">
                <a:solidFill>
                  <a:srgbClr val="FFFFFF"/>
                </a:solidFill>
                <a:latin typeface="+mj-lt"/>
              </a:rPr>
              <a:t>4 · Score</a:t>
            </a:r>
          </a:p>
        </p:txBody>
      </p:sp>
      <p:sp>
        <p:nvSpPr>
          <p:cNvPr id="19" name="TextBox 18"/>
          <p:cNvSpPr txBox="1"/>
          <p:nvPr/>
        </p:nvSpPr>
        <p:spPr>
          <a:xfrm>
            <a:off x="2029968" y="7178040"/>
            <a:ext cx="3977639" cy="1920240"/>
          </a:xfrm>
          <a:prstGeom prst="rect">
            <a:avLst/>
          </a:prstGeom>
          <a:noFill/>
        </p:spPr>
        <p:txBody>
          <a:bodyPr wrap="square" lIns="45720" tIns="27432" rIns="45720" bIns="27432" anchor="ctr">
            <a:spAutoFit/>
          </a:bodyPr>
          <a:lstStyle/>
          <a:p>
            <a:pPr algn="ctr"/>
            <a:r>
              <a:rPr sz="1400">
                <a:solidFill>
                  <a:srgbClr val="262626"/>
                </a:solidFill>
              </a:rPr>
              <a:t>score_table_rows on the published model for the ten highest-cost eligible patients: a probability and its drivers for each.</a:t>
            </a:r>
          </a:p>
        </p:txBody>
      </p:sp>
      <p:sp>
        <p:nvSpPr>
          <p:cNvPr id="20" name="Right Arrow 19"/>
          <p:cNvSpPr/>
          <p:nvPr/>
        </p:nvSpPr>
        <p:spPr>
          <a:xfrm>
            <a:off x="6437376" y="7776971"/>
            <a:ext cx="393192" cy="402336"/>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940296" y="6720840"/>
            <a:ext cx="4617720" cy="2514600"/>
          </a:xfrm>
          <a:prstGeom prst="roundRect">
            <a:avLst>
              <a:gd name="adj" fmla="val 10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260336" y="6446520"/>
            <a:ext cx="3977639" cy="548640"/>
          </a:xfrm>
          <a:prstGeom prst="roundRect">
            <a:avLst>
              <a:gd name="adj" fmla="val 50000"/>
            </a:avLst>
          </a:prstGeom>
          <a:solidFill>
            <a:srgbClr val="0766D1"/>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500">
                <a:solidFill>
                  <a:srgbClr val="FFFFFF"/>
                </a:solidFill>
                <a:latin typeface="+mj-lt"/>
              </a:rPr>
              <a:t>5 · Write</a:t>
            </a:r>
          </a:p>
        </p:txBody>
      </p:sp>
      <p:sp>
        <p:nvSpPr>
          <p:cNvPr id="23" name="TextBox 22"/>
          <p:cNvSpPr txBox="1"/>
          <p:nvPr/>
        </p:nvSpPr>
        <p:spPr>
          <a:xfrm>
            <a:off x="7260336" y="7178040"/>
            <a:ext cx="3977639" cy="1920240"/>
          </a:xfrm>
          <a:prstGeom prst="rect">
            <a:avLst/>
          </a:prstGeom>
          <a:noFill/>
        </p:spPr>
        <p:txBody>
          <a:bodyPr wrap="square" lIns="45720" tIns="27432" rIns="45720" bIns="27432" anchor="ctr">
            <a:spAutoFit/>
          </a:bodyPr>
          <a:lstStyle/>
          <a:p>
            <a:pPr algn="ctr"/>
            <a:r>
              <a:rPr sz="1400">
                <a:solidFill>
                  <a:srgbClr val="262626"/>
                </a:solidFill>
              </a:rPr>
              <a:t>The answer: the cohort in words, the two numbers with their denominator, the citation, and the source line (query + sections).</a:t>
            </a:r>
          </a:p>
        </p:txBody>
      </p:sp>
      <p:sp>
        <p:nvSpPr>
          <p:cNvPr id="24" name="Right Arrow 23"/>
          <p:cNvSpPr/>
          <p:nvPr/>
        </p:nvSpPr>
        <p:spPr>
          <a:xfrm>
            <a:off x="11667744" y="7776971"/>
            <a:ext cx="393192" cy="402336"/>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2170663" y="6720840"/>
            <a:ext cx="4617720" cy="2514600"/>
          </a:xfrm>
          <a:prstGeom prst="roundRect">
            <a:avLst>
              <a:gd name="adj" fmla="val 10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2490703" y="6446520"/>
            <a:ext cx="3977639" cy="548640"/>
          </a:xfrm>
          <a:prstGeom prst="roundRect">
            <a:avLst>
              <a:gd name="adj" fmla="val 50000"/>
            </a:avLst>
          </a:prstGeom>
          <a:solidFill>
            <a:srgbClr val="009242"/>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500">
                <a:solidFill>
                  <a:srgbClr val="FFFFFF"/>
                </a:solidFill>
                <a:latin typeface="+mj-lt"/>
              </a:rPr>
              <a:t>6 · Hand over</a:t>
            </a:r>
          </a:p>
        </p:txBody>
      </p:sp>
      <p:sp>
        <p:nvSpPr>
          <p:cNvPr id="27" name="TextBox 26"/>
          <p:cNvSpPr txBox="1"/>
          <p:nvPr/>
        </p:nvSpPr>
        <p:spPr>
          <a:xfrm>
            <a:off x="12490703" y="7178040"/>
            <a:ext cx="3977639" cy="1920240"/>
          </a:xfrm>
          <a:prstGeom prst="rect">
            <a:avLst/>
          </a:prstGeom>
          <a:noFill/>
        </p:spPr>
        <p:txBody>
          <a:bodyPr wrap="square" lIns="45720" tIns="27432" rIns="45720" bIns="27432" anchor="ctr">
            <a:spAutoFit/>
          </a:bodyPr>
          <a:lstStyle/>
          <a:p>
            <a:pPr algn="ctr"/>
            <a:r>
              <a:rPr sz="1400">
                <a:solidFill>
                  <a:srgbClr val="262626"/>
                </a:solidFill>
              </a:rPr>
              <a:t>A draft review list for the clinic. The guideline (§7) and the agent's own rules say: a clinician decides; the agent never prescribes.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r>
              <a:rPr sz="5000"/>
              <a:t>The guardrails you saw in the demo</a:t>
            </a:r>
          </a:p>
        </p:txBody>
      </p:sp>
      <p:sp>
        <p:nvSpPr>
          <p:cNvPr id="3" name="Text Placeholder 2"/>
          <p:cNvSpPr>
            <a:spLocks noGrp="1"/>
          </p:cNvSpPr>
          <p:nvPr>
            <p:ph type="body" idx="10" sz="quarter"/>
          </p:nvPr>
        </p:nvSpPr>
        <p:spPr/>
        <p:txBody>
          <a:bodyPr/>
          <a:lstStyle/>
          <a:p>
            <a:r>
              <a:rPr sz="3000"/>
              <a:t>Written into the agent's instructions and enforced by the tools</a:t>
            </a:r>
          </a:p>
        </p:txBody>
      </p:sp>
      <p:sp>
        <p:nvSpPr>
          <p:cNvPr id="5" name="Rounded Rectangle 4"/>
          <p:cNvSpPr/>
          <p:nvPr/>
        </p:nvSpPr>
        <p:spPr>
          <a:xfrm>
            <a:off x="1252728" y="2697480"/>
            <a:ext cx="5013960" cy="3017520"/>
          </a:xfrm>
          <a:prstGeom prst="roundRect">
            <a:avLst>
              <a:gd name="adj" fmla="val 8484"/>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17904" y="2935224"/>
            <a:ext cx="658368" cy="658368"/>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alculator_w.png"/>
          <p:cNvPicPr>
            <a:picLocks noChangeAspect="1"/>
          </p:cNvPicPr>
          <p:nvPr/>
        </p:nvPicPr>
        <p:blipFill>
          <a:blip r:embed="rId2"/>
          <a:stretch>
            <a:fillRect/>
          </a:stretch>
        </p:blipFill>
        <p:spPr>
          <a:xfrm>
            <a:off x="1666036" y="3083356"/>
            <a:ext cx="362102" cy="362102"/>
          </a:xfrm>
          <a:prstGeom prst="rect">
            <a:avLst/>
          </a:prstGeom>
        </p:spPr>
      </p:pic>
      <p:sp>
        <p:nvSpPr>
          <p:cNvPr id="8" name="TextBox 7"/>
          <p:cNvSpPr txBox="1"/>
          <p:nvPr/>
        </p:nvSpPr>
        <p:spPr>
          <a:xfrm>
            <a:off x="2350008" y="3017520"/>
            <a:ext cx="3688080" cy="502920"/>
          </a:xfrm>
          <a:prstGeom prst="rect">
            <a:avLst/>
          </a:prstGeom>
          <a:noFill/>
        </p:spPr>
        <p:txBody>
          <a:bodyPr wrap="square" lIns="45720" tIns="27432" rIns="45720" bIns="27432" anchor="t">
            <a:spAutoFit/>
          </a:bodyPr>
          <a:lstStyle/>
          <a:p>
            <a:pPr algn="l"/>
            <a:r>
              <a:rPr sz="1800">
                <a:solidFill>
                  <a:srgbClr val="262626"/>
                </a:solidFill>
                <a:latin typeface="+mj-lt"/>
              </a:rPr>
              <a:t>Numbers come from queries</a:t>
            </a:r>
          </a:p>
        </p:txBody>
      </p:sp>
      <p:sp>
        <p:nvSpPr>
          <p:cNvPr id="9" name="TextBox 8"/>
          <p:cNvSpPr txBox="1"/>
          <p:nvPr/>
        </p:nvSpPr>
        <p:spPr>
          <a:xfrm>
            <a:off x="1618488" y="3794760"/>
            <a:ext cx="4282440" cy="1280160"/>
          </a:xfrm>
          <a:prstGeom prst="rect">
            <a:avLst/>
          </a:prstGeom>
          <a:noFill/>
        </p:spPr>
        <p:txBody>
          <a:bodyPr wrap="square" lIns="45720" tIns="27432" rIns="45720" bIns="27432" anchor="t">
            <a:spAutoFit/>
          </a:bodyPr>
          <a:lstStyle/>
          <a:p>
            <a:pPr algn="l"/>
            <a:r>
              <a:rPr sz="1400">
                <a:solidFill>
                  <a:srgbClr val="262626"/>
                </a:solidFill>
              </a:rPr>
              <a:t>The agent runs query_data before stating any count, rate or cost. No estimates, no reuse of an old number for a new cohort.</a:t>
            </a:r>
          </a:p>
        </p:txBody>
      </p:sp>
      <p:sp>
        <p:nvSpPr>
          <p:cNvPr id="10" name="TextBox 9"/>
          <p:cNvSpPr txBox="1"/>
          <p:nvPr/>
        </p:nvSpPr>
        <p:spPr>
          <a:xfrm>
            <a:off x="1618488" y="5029200"/>
            <a:ext cx="4282440" cy="457200"/>
          </a:xfrm>
          <a:prstGeom prst="rect">
            <a:avLst/>
          </a:prstGeom>
          <a:noFill/>
        </p:spPr>
        <p:txBody>
          <a:bodyPr wrap="square" lIns="45720" tIns="27432" rIns="45720" bIns="27432" anchor="b">
            <a:spAutoFit/>
          </a:bodyPr>
          <a:lstStyle/>
          <a:p>
            <a:pPr algn="l"/>
            <a:r>
              <a:rPr sz="1300">
                <a:solidFill>
                  <a:srgbClr val="0766D1"/>
                </a:solidFill>
                <a:latin typeface="+mj-lt"/>
              </a:rPr>
              <a:t>Lives in: the agent instructions, rule 1</a:t>
            </a:r>
          </a:p>
        </p:txBody>
      </p:sp>
      <p:sp>
        <p:nvSpPr>
          <p:cNvPr id="11" name="Rounded Rectangle 10"/>
          <p:cNvSpPr/>
          <p:nvPr/>
        </p:nvSpPr>
        <p:spPr>
          <a:xfrm>
            <a:off x="6632448" y="2697480"/>
            <a:ext cx="5013960" cy="3017520"/>
          </a:xfrm>
          <a:prstGeom prst="roundRect">
            <a:avLst>
              <a:gd name="adj" fmla="val 8484"/>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897624" y="2935224"/>
            <a:ext cx="658368" cy="658368"/>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ite_w.png"/>
          <p:cNvPicPr>
            <a:picLocks noChangeAspect="1"/>
          </p:cNvPicPr>
          <p:nvPr/>
        </p:nvPicPr>
        <p:blipFill>
          <a:blip r:embed="rId3"/>
          <a:stretch>
            <a:fillRect/>
          </a:stretch>
        </p:blipFill>
        <p:spPr>
          <a:xfrm>
            <a:off x="7045756" y="3083356"/>
            <a:ext cx="362102" cy="362102"/>
          </a:xfrm>
          <a:prstGeom prst="rect">
            <a:avLst/>
          </a:prstGeom>
        </p:spPr>
      </p:pic>
      <p:sp>
        <p:nvSpPr>
          <p:cNvPr id="14" name="TextBox 13"/>
          <p:cNvSpPr txBox="1"/>
          <p:nvPr/>
        </p:nvSpPr>
        <p:spPr>
          <a:xfrm>
            <a:off x="7729728" y="3017520"/>
            <a:ext cx="3688080" cy="502920"/>
          </a:xfrm>
          <a:prstGeom prst="rect">
            <a:avLst/>
          </a:prstGeom>
          <a:noFill/>
        </p:spPr>
        <p:txBody>
          <a:bodyPr wrap="square" lIns="45720" tIns="27432" rIns="45720" bIns="27432" anchor="t">
            <a:spAutoFit/>
          </a:bodyPr>
          <a:lstStyle/>
          <a:p>
            <a:pPr algn="l"/>
            <a:r>
              <a:rPr sz="1800">
                <a:solidFill>
                  <a:srgbClr val="262626"/>
                </a:solidFill>
                <a:latin typeface="+mj-lt"/>
              </a:rPr>
              <a:t>Clinical statements are cited</a:t>
            </a:r>
          </a:p>
        </p:txBody>
      </p:sp>
      <p:sp>
        <p:nvSpPr>
          <p:cNvPr id="15" name="TextBox 14"/>
          <p:cNvSpPr txBox="1"/>
          <p:nvPr/>
        </p:nvSpPr>
        <p:spPr>
          <a:xfrm>
            <a:off x="6998208" y="3794760"/>
            <a:ext cx="4282440" cy="1280160"/>
          </a:xfrm>
          <a:prstGeom prst="rect">
            <a:avLst/>
          </a:prstGeom>
          <a:noFill/>
        </p:spPr>
        <p:txBody>
          <a:bodyPr wrap="square" lIns="45720" tIns="27432" rIns="45720" bIns="27432" anchor="t">
            <a:spAutoFit/>
          </a:bodyPr>
          <a:lstStyle/>
          <a:p>
            <a:pPr algn="l"/>
            <a:r>
              <a:rPr sz="1400">
                <a:solidFill>
                  <a:srgbClr val="262626"/>
                </a:solidFill>
              </a:rPr>
              <a:t>Document and section, or “not covered by the NHA guidelines in my collection”. Never from general knowledge.</a:t>
            </a:r>
          </a:p>
        </p:txBody>
      </p:sp>
      <p:sp>
        <p:nvSpPr>
          <p:cNvPr id="16" name="TextBox 15"/>
          <p:cNvSpPr txBox="1"/>
          <p:nvPr/>
        </p:nvSpPr>
        <p:spPr>
          <a:xfrm>
            <a:off x="6998208" y="5029200"/>
            <a:ext cx="4282440" cy="457200"/>
          </a:xfrm>
          <a:prstGeom prst="rect">
            <a:avLst/>
          </a:prstGeom>
          <a:noFill/>
        </p:spPr>
        <p:txBody>
          <a:bodyPr wrap="square" lIns="45720" tIns="27432" rIns="45720" bIns="27432" anchor="b">
            <a:spAutoFit/>
          </a:bodyPr>
          <a:lstStyle/>
          <a:p>
            <a:pPr algn="l"/>
            <a:r>
              <a:rPr sz="1300">
                <a:solidFill>
                  <a:srgbClr val="0766D1"/>
                </a:solidFill>
                <a:latin typeface="+mj-lt"/>
              </a:rPr>
              <a:t>Lives in: the agent instructions, rule 3</a:t>
            </a:r>
          </a:p>
        </p:txBody>
      </p:sp>
      <p:sp>
        <p:nvSpPr>
          <p:cNvPr id="17" name="Rounded Rectangle 16"/>
          <p:cNvSpPr/>
          <p:nvPr/>
        </p:nvSpPr>
        <p:spPr>
          <a:xfrm>
            <a:off x="12012168" y="2697480"/>
            <a:ext cx="5013960" cy="3017520"/>
          </a:xfrm>
          <a:prstGeom prst="roundRect">
            <a:avLst>
              <a:gd name="adj" fmla="val 8484"/>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2277344" y="2935224"/>
            <a:ext cx="658368" cy="658368"/>
          </a:xfrm>
          <a:prstGeom prst="ellipse">
            <a:avLst/>
          </a:prstGeom>
          <a:solidFill>
            <a:srgbClr val="439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lock_w.png"/>
          <p:cNvPicPr>
            <a:picLocks noChangeAspect="1"/>
          </p:cNvPicPr>
          <p:nvPr/>
        </p:nvPicPr>
        <p:blipFill>
          <a:blip r:embed="rId4"/>
          <a:stretch>
            <a:fillRect/>
          </a:stretch>
        </p:blipFill>
        <p:spPr>
          <a:xfrm>
            <a:off x="12425476" y="3083356"/>
            <a:ext cx="362102" cy="362102"/>
          </a:xfrm>
          <a:prstGeom prst="rect">
            <a:avLst/>
          </a:prstGeom>
        </p:spPr>
      </p:pic>
      <p:sp>
        <p:nvSpPr>
          <p:cNvPr id="20" name="TextBox 19"/>
          <p:cNvSpPr txBox="1"/>
          <p:nvPr/>
        </p:nvSpPr>
        <p:spPr>
          <a:xfrm>
            <a:off x="13109448" y="3017520"/>
            <a:ext cx="3688080" cy="502920"/>
          </a:xfrm>
          <a:prstGeom prst="rect">
            <a:avLst/>
          </a:prstGeom>
          <a:noFill/>
        </p:spPr>
        <p:txBody>
          <a:bodyPr wrap="square" lIns="45720" tIns="27432" rIns="45720" bIns="27432" anchor="t">
            <a:spAutoFit/>
          </a:bodyPr>
          <a:lstStyle/>
          <a:p>
            <a:pPr algn="l"/>
            <a:r>
              <a:rPr sz="1800">
                <a:solidFill>
                  <a:srgbClr val="262626"/>
                </a:solidFill>
                <a:latin typeface="+mj-lt"/>
              </a:rPr>
              <a:t>Consent is respected</a:t>
            </a:r>
          </a:p>
        </p:txBody>
      </p:sp>
      <p:sp>
        <p:nvSpPr>
          <p:cNvPr id="21" name="TextBox 20"/>
          <p:cNvSpPr txBox="1"/>
          <p:nvPr/>
        </p:nvSpPr>
        <p:spPr>
          <a:xfrm>
            <a:off x="12377928" y="3794760"/>
            <a:ext cx="4282440" cy="1280160"/>
          </a:xfrm>
          <a:prstGeom prst="rect">
            <a:avLst/>
          </a:prstGeom>
          <a:noFill/>
        </p:spPr>
        <p:txBody>
          <a:bodyPr wrap="square" lIns="45720" tIns="27432" rIns="45720" bIns="27432" anchor="t">
            <a:spAutoFit/>
          </a:bodyPr>
          <a:lstStyle/>
          <a:p>
            <a:pPr algn="l"/>
            <a:r>
              <a:rPr sz="1400">
                <a:solidFill>
                  <a:srgbClr val="262626"/>
                </a:solidFill>
              </a:rPr>
              <a:t>Restricted-consent patients appear in aggregates only: never named, listed or scored (NHA-PP-01 §6).</a:t>
            </a:r>
          </a:p>
        </p:txBody>
      </p:sp>
      <p:sp>
        <p:nvSpPr>
          <p:cNvPr id="22" name="TextBox 21"/>
          <p:cNvSpPr txBox="1"/>
          <p:nvPr/>
        </p:nvSpPr>
        <p:spPr>
          <a:xfrm>
            <a:off x="12377928" y="5029200"/>
            <a:ext cx="4282440" cy="457200"/>
          </a:xfrm>
          <a:prstGeom prst="rect">
            <a:avLst/>
          </a:prstGeom>
          <a:noFill/>
        </p:spPr>
        <p:txBody>
          <a:bodyPr wrap="square" lIns="45720" tIns="27432" rIns="45720" bIns="27432" anchor="b">
            <a:spAutoFit/>
          </a:bodyPr>
          <a:lstStyle/>
          <a:p>
            <a:pPr algn="l"/>
            <a:r>
              <a:rPr sz="1300">
                <a:solidFill>
                  <a:srgbClr val="0766D1"/>
                </a:solidFill>
                <a:latin typeface="+mj-lt"/>
              </a:rPr>
              <a:t>Lives in: the instructions, and the query the tool runs</a:t>
            </a:r>
          </a:p>
        </p:txBody>
      </p:sp>
      <p:sp>
        <p:nvSpPr>
          <p:cNvPr id="23" name="Rounded Rectangle 22"/>
          <p:cNvSpPr/>
          <p:nvPr/>
        </p:nvSpPr>
        <p:spPr>
          <a:xfrm>
            <a:off x="1252728" y="6080760"/>
            <a:ext cx="5013960" cy="3017520"/>
          </a:xfrm>
          <a:prstGeom prst="roundRect">
            <a:avLst>
              <a:gd name="adj" fmla="val 8484"/>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517904" y="6318504"/>
            <a:ext cx="658368" cy="658368"/>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users_w.png"/>
          <p:cNvPicPr>
            <a:picLocks noChangeAspect="1"/>
          </p:cNvPicPr>
          <p:nvPr/>
        </p:nvPicPr>
        <p:blipFill>
          <a:blip r:embed="rId5"/>
          <a:stretch>
            <a:fillRect/>
          </a:stretch>
        </p:blipFill>
        <p:spPr>
          <a:xfrm>
            <a:off x="1666036" y="6466636"/>
            <a:ext cx="362102" cy="362102"/>
          </a:xfrm>
          <a:prstGeom prst="rect">
            <a:avLst/>
          </a:prstGeom>
        </p:spPr>
      </p:pic>
      <p:sp>
        <p:nvSpPr>
          <p:cNvPr id="26" name="TextBox 25"/>
          <p:cNvSpPr txBox="1"/>
          <p:nvPr/>
        </p:nvSpPr>
        <p:spPr>
          <a:xfrm>
            <a:off x="2350008" y="6400800"/>
            <a:ext cx="3688080" cy="502920"/>
          </a:xfrm>
          <a:prstGeom prst="rect">
            <a:avLst/>
          </a:prstGeom>
          <a:noFill/>
        </p:spPr>
        <p:txBody>
          <a:bodyPr wrap="square" lIns="45720" tIns="27432" rIns="45720" bIns="27432" anchor="t">
            <a:spAutoFit/>
          </a:bodyPr>
          <a:lstStyle/>
          <a:p>
            <a:pPr algn="l"/>
            <a:r>
              <a:rPr sz="1800">
                <a:solidFill>
                  <a:srgbClr val="262626"/>
                </a:solidFill>
                <a:latin typeface="+mj-lt"/>
              </a:rPr>
              <a:t>Humans decide</a:t>
            </a:r>
          </a:p>
        </p:txBody>
      </p:sp>
      <p:sp>
        <p:nvSpPr>
          <p:cNvPr id="27" name="TextBox 26"/>
          <p:cNvSpPr txBox="1"/>
          <p:nvPr/>
        </p:nvSpPr>
        <p:spPr>
          <a:xfrm>
            <a:off x="1618488" y="7178040"/>
            <a:ext cx="4282440" cy="1280160"/>
          </a:xfrm>
          <a:prstGeom prst="rect">
            <a:avLst/>
          </a:prstGeom>
          <a:noFill/>
        </p:spPr>
        <p:txBody>
          <a:bodyPr wrap="square" lIns="45720" tIns="27432" rIns="45720" bIns="27432" anchor="t">
            <a:spAutoFit/>
          </a:bodyPr>
          <a:lstStyle/>
          <a:p>
            <a:pPr algn="l"/>
            <a:r>
              <a:rPr sz="1400">
                <a:solidFill>
                  <a:srgbClr val="262626"/>
                </a:solidFill>
              </a:rPr>
              <a:t>The agent drafts recall lists and recommendations; a clinician or the programme lead approves them (NHA-CG-01 §7).</a:t>
            </a:r>
          </a:p>
        </p:txBody>
      </p:sp>
      <p:sp>
        <p:nvSpPr>
          <p:cNvPr id="28" name="TextBox 27"/>
          <p:cNvSpPr txBox="1"/>
          <p:nvPr/>
        </p:nvSpPr>
        <p:spPr>
          <a:xfrm>
            <a:off x="1618488" y="8412480"/>
            <a:ext cx="4282440" cy="457200"/>
          </a:xfrm>
          <a:prstGeom prst="rect">
            <a:avLst/>
          </a:prstGeom>
          <a:noFill/>
        </p:spPr>
        <p:txBody>
          <a:bodyPr wrap="square" lIns="45720" tIns="27432" rIns="45720" bIns="27432" anchor="b">
            <a:spAutoFit/>
          </a:bodyPr>
          <a:lstStyle/>
          <a:p>
            <a:pPr algn="l"/>
            <a:r>
              <a:rPr sz="1300">
                <a:solidFill>
                  <a:srgbClr val="0766D1"/>
                </a:solidFill>
                <a:latin typeface="+mj-lt"/>
              </a:rPr>
              <a:t>Lives in: the agent instructions, rule 5</a:t>
            </a:r>
          </a:p>
        </p:txBody>
      </p:sp>
      <p:sp>
        <p:nvSpPr>
          <p:cNvPr id="29" name="Rounded Rectangle 28"/>
          <p:cNvSpPr/>
          <p:nvPr/>
        </p:nvSpPr>
        <p:spPr>
          <a:xfrm>
            <a:off x="6632448" y="6080760"/>
            <a:ext cx="5013960" cy="3017520"/>
          </a:xfrm>
          <a:prstGeom prst="roundRect">
            <a:avLst>
              <a:gd name="adj" fmla="val 8484"/>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897624" y="6318504"/>
            <a:ext cx="658368" cy="658368"/>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key_w.png"/>
          <p:cNvPicPr>
            <a:picLocks noChangeAspect="1"/>
          </p:cNvPicPr>
          <p:nvPr/>
        </p:nvPicPr>
        <p:blipFill>
          <a:blip r:embed="rId6"/>
          <a:stretch>
            <a:fillRect/>
          </a:stretch>
        </p:blipFill>
        <p:spPr>
          <a:xfrm>
            <a:off x="7045756" y="6466636"/>
            <a:ext cx="362102" cy="362102"/>
          </a:xfrm>
          <a:prstGeom prst="rect">
            <a:avLst/>
          </a:prstGeom>
        </p:spPr>
      </p:pic>
      <p:sp>
        <p:nvSpPr>
          <p:cNvPr id="32" name="TextBox 31"/>
          <p:cNvSpPr txBox="1"/>
          <p:nvPr/>
        </p:nvSpPr>
        <p:spPr>
          <a:xfrm>
            <a:off x="7729728" y="6400800"/>
            <a:ext cx="3688080" cy="502920"/>
          </a:xfrm>
          <a:prstGeom prst="rect">
            <a:avLst/>
          </a:prstGeom>
          <a:noFill/>
        </p:spPr>
        <p:txBody>
          <a:bodyPr wrap="square" lIns="45720" tIns="27432" rIns="45720" bIns="27432" anchor="t">
            <a:spAutoFit/>
          </a:bodyPr>
          <a:lstStyle/>
          <a:p>
            <a:pPr algn="l"/>
            <a:r>
              <a:rPr sz="1800">
                <a:solidFill>
                  <a:srgbClr val="262626"/>
                </a:solidFill>
                <a:latin typeface="+mj-lt"/>
              </a:rPr>
              <a:t>Tools are scoped</a:t>
            </a:r>
          </a:p>
        </p:txBody>
      </p:sp>
      <p:sp>
        <p:nvSpPr>
          <p:cNvPr id="33" name="TextBox 32"/>
          <p:cNvSpPr txBox="1"/>
          <p:nvPr/>
        </p:nvSpPr>
        <p:spPr>
          <a:xfrm>
            <a:off x="6998208" y="7178040"/>
            <a:ext cx="4282440" cy="1280160"/>
          </a:xfrm>
          <a:prstGeom prst="rect">
            <a:avLst/>
          </a:prstGeom>
          <a:noFill/>
        </p:spPr>
        <p:txBody>
          <a:bodyPr wrap="square" lIns="45720" tIns="27432" rIns="45720" bIns="27432" anchor="t">
            <a:spAutoFit/>
          </a:bodyPr>
          <a:lstStyle/>
          <a:p>
            <a:pPr algn="l"/>
            <a:r>
              <a:rPr sz="1400">
                <a:solidFill>
                  <a:srgbClr val="262626"/>
                </a:solidFill>
              </a:rPr>
              <a:t>The MCP server sees only the team's registry table and model. Anything else answers “out of scope”, by design.</a:t>
            </a:r>
          </a:p>
        </p:txBody>
      </p:sp>
      <p:sp>
        <p:nvSpPr>
          <p:cNvPr id="34" name="TextBox 33"/>
          <p:cNvSpPr txBox="1"/>
          <p:nvPr/>
        </p:nvSpPr>
        <p:spPr>
          <a:xfrm>
            <a:off x="6998208" y="8412480"/>
            <a:ext cx="4282440" cy="457200"/>
          </a:xfrm>
          <a:prstGeom prst="rect">
            <a:avLst/>
          </a:prstGeom>
          <a:noFill/>
        </p:spPr>
        <p:txBody>
          <a:bodyPr wrap="square" lIns="45720" tIns="27432" rIns="45720" bIns="27432" anchor="b">
            <a:spAutoFit/>
          </a:bodyPr>
          <a:lstStyle/>
          <a:p>
            <a:pPr algn="l"/>
            <a:r>
              <a:rPr sz="1300">
                <a:solidFill>
                  <a:srgbClr val="0766D1"/>
                </a:solidFill>
                <a:latin typeface="+mj-lt"/>
              </a:rPr>
              <a:t>Lives in: the MCP server (allowed tables and models)</a:t>
            </a:r>
          </a:p>
        </p:txBody>
      </p:sp>
      <p:sp>
        <p:nvSpPr>
          <p:cNvPr id="35" name="Rounded Rectangle 34"/>
          <p:cNvSpPr/>
          <p:nvPr/>
        </p:nvSpPr>
        <p:spPr>
          <a:xfrm>
            <a:off x="12012168" y="6080760"/>
            <a:ext cx="5013960" cy="3017520"/>
          </a:xfrm>
          <a:prstGeom prst="roundRect">
            <a:avLst>
              <a:gd name="adj" fmla="val 8484"/>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2277344" y="6318504"/>
            <a:ext cx="658368" cy="658368"/>
          </a:xfrm>
          <a:prstGeom prst="ellipse">
            <a:avLst/>
          </a:prstGeom>
          <a:solidFill>
            <a:srgbClr val="439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log_w.png"/>
          <p:cNvPicPr>
            <a:picLocks noChangeAspect="1"/>
          </p:cNvPicPr>
          <p:nvPr/>
        </p:nvPicPr>
        <p:blipFill>
          <a:blip r:embed="rId7"/>
          <a:stretch>
            <a:fillRect/>
          </a:stretch>
        </p:blipFill>
        <p:spPr>
          <a:xfrm>
            <a:off x="12425476" y="6466636"/>
            <a:ext cx="362102" cy="362102"/>
          </a:xfrm>
          <a:prstGeom prst="rect">
            <a:avLst/>
          </a:prstGeom>
        </p:spPr>
      </p:pic>
      <p:sp>
        <p:nvSpPr>
          <p:cNvPr id="38" name="TextBox 37"/>
          <p:cNvSpPr txBox="1"/>
          <p:nvPr/>
        </p:nvSpPr>
        <p:spPr>
          <a:xfrm>
            <a:off x="13109448" y="6400800"/>
            <a:ext cx="3688080" cy="502920"/>
          </a:xfrm>
          <a:prstGeom prst="rect">
            <a:avLst/>
          </a:prstGeom>
          <a:noFill/>
        </p:spPr>
        <p:txBody>
          <a:bodyPr wrap="square" lIns="45720" tIns="27432" rIns="45720" bIns="27432" anchor="t">
            <a:spAutoFit/>
          </a:bodyPr>
          <a:lstStyle/>
          <a:p>
            <a:pPr algn="l"/>
            <a:r>
              <a:rPr sz="1800">
                <a:solidFill>
                  <a:srgbClr val="262626"/>
                </a:solidFill>
                <a:latin typeface="+mj-lt"/>
              </a:rPr>
              <a:t>The trace is visible</a:t>
            </a:r>
          </a:p>
        </p:txBody>
      </p:sp>
      <p:sp>
        <p:nvSpPr>
          <p:cNvPr id="39" name="TextBox 38"/>
          <p:cNvSpPr txBox="1"/>
          <p:nvPr/>
        </p:nvSpPr>
        <p:spPr>
          <a:xfrm>
            <a:off x="12377928" y="7178040"/>
            <a:ext cx="4282440" cy="1280160"/>
          </a:xfrm>
          <a:prstGeom prst="rect">
            <a:avLst/>
          </a:prstGeom>
          <a:noFill/>
        </p:spPr>
        <p:txBody>
          <a:bodyPr wrap="square" lIns="45720" tIns="27432" rIns="45720" bIns="27432" anchor="t">
            <a:spAutoFit/>
          </a:bodyPr>
          <a:lstStyle/>
          <a:p>
            <a:pPr algn="l"/>
            <a:r>
              <a:rPr sz="1400">
                <a:solidFill>
                  <a:srgbClr val="262626"/>
                </a:solidFill>
              </a:rPr>
              <a:t>Every retrieval, query and model call is shown next to the answer. That is the audit trail, built in, not bolted on.</a:t>
            </a:r>
          </a:p>
        </p:txBody>
      </p:sp>
      <p:sp>
        <p:nvSpPr>
          <p:cNvPr id="40" name="TextBox 39"/>
          <p:cNvSpPr txBox="1"/>
          <p:nvPr/>
        </p:nvSpPr>
        <p:spPr>
          <a:xfrm>
            <a:off x="12377928" y="8412480"/>
            <a:ext cx="4282440" cy="457200"/>
          </a:xfrm>
          <a:prstGeom prst="rect">
            <a:avLst/>
          </a:prstGeom>
          <a:noFill/>
        </p:spPr>
        <p:txBody>
          <a:bodyPr wrap="square" lIns="45720" tIns="27432" rIns="45720" bIns="27432" anchor="b">
            <a:spAutoFit/>
          </a:bodyPr>
          <a:lstStyle/>
          <a:p>
            <a:pPr algn="l"/>
            <a:r>
              <a:rPr sz="1300">
                <a:solidFill>
                  <a:srgbClr val="0766D1"/>
                </a:solidFill>
                <a:latin typeface="+mj-lt"/>
              </a:rPr>
              <a:t>Lives in: SAS Retrieval Agent Manager, on every answer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6000"/>
              <a:t>What you will build</a:t>
            </a:r>
          </a:p>
        </p:txBody>
      </p:sp>
      <p:sp>
        <p:nvSpPr>
          <p:cNvPr id="3" name="Text Placeholder 2"/>
          <p:cNvSpPr>
            <a:spLocks noGrp="1"/>
          </p:cNvSpPr>
          <p:nvPr>
            <p:ph type="body" idx="10" sz="quarter"/>
          </p:nvPr>
        </p:nvSpPr>
        <p:spPr/>
        <p:txBody>
          <a:bodyPr/>
          <a:lstStyle/>
          <a:p>
            <a:r>
              <a:rPr sz="3600"/>
              <a:t>The same agent, assembled by you, without code</a:t>
            </a:r>
          </a:p>
        </p:txBody>
      </p:sp>
      <p:sp>
        <p:nvSpPr>
          <p:cNvPr id="4" name="Oval 3"/>
          <p:cNvSpPr/>
          <p:nvPr/>
        </p:nvSpPr>
        <p:spPr>
          <a:xfrm>
            <a:off x="14630399" y="914400"/>
            <a:ext cx="2103120" cy="2103120"/>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ocket_w.png"/>
          <p:cNvPicPr>
            <a:picLocks noChangeAspect="1"/>
          </p:cNvPicPr>
          <p:nvPr/>
        </p:nvPicPr>
        <p:blipFill>
          <a:blip r:embed="rId2"/>
          <a:stretch>
            <a:fillRect/>
          </a:stretch>
        </p:blipFill>
        <p:spPr>
          <a:xfrm>
            <a:off x="15115031" y="1399031"/>
            <a:ext cx="1133856" cy="1133856"/>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r>
              <a:rPr sz="5000"/>
              <a:t>Your build path: five steps, no code</a:t>
            </a:r>
          </a:p>
        </p:txBody>
      </p:sp>
      <p:sp>
        <p:nvSpPr>
          <p:cNvPr id="3" name="Text Placeholder 2"/>
          <p:cNvSpPr>
            <a:spLocks noGrp="1"/>
          </p:cNvSpPr>
          <p:nvPr>
            <p:ph type="body" idx="10" sz="quarter"/>
          </p:nvPr>
        </p:nvSpPr>
        <p:spPr/>
        <p:txBody>
          <a:bodyPr/>
          <a:lstStyle/>
          <a:p>
            <a:r>
              <a:rPr sz="3000"/>
              <a:t>From a CSV and four PDFs to a working agent in SAS Viya and SAS RAM</a:t>
            </a:r>
          </a:p>
        </p:txBody>
      </p:sp>
      <p:sp>
        <p:nvSpPr>
          <p:cNvPr id="5" name="Rounded Rectangle 4"/>
          <p:cNvSpPr/>
          <p:nvPr/>
        </p:nvSpPr>
        <p:spPr>
          <a:xfrm>
            <a:off x="1252728" y="3246120"/>
            <a:ext cx="2847441" cy="4846320"/>
          </a:xfrm>
          <a:prstGeom prst="roundRect">
            <a:avLst>
              <a:gd name="adj" fmla="val 8991"/>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196388" y="2766060"/>
            <a:ext cx="960120" cy="960120"/>
          </a:xfrm>
          <a:prstGeom prst="ellipse">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upload_w.png"/>
          <p:cNvPicPr>
            <a:picLocks noChangeAspect="1"/>
          </p:cNvPicPr>
          <p:nvPr/>
        </p:nvPicPr>
        <p:blipFill>
          <a:blip r:embed="rId2"/>
          <a:stretch>
            <a:fillRect/>
          </a:stretch>
        </p:blipFill>
        <p:spPr>
          <a:xfrm>
            <a:off x="2426817" y="2996488"/>
            <a:ext cx="499262" cy="499262"/>
          </a:xfrm>
          <a:prstGeom prst="rect">
            <a:avLst/>
          </a:prstGeom>
        </p:spPr>
      </p:pic>
      <p:sp>
        <p:nvSpPr>
          <p:cNvPr id="8" name="Oval 7"/>
          <p:cNvSpPr/>
          <p:nvPr/>
        </p:nvSpPr>
        <p:spPr>
          <a:xfrm>
            <a:off x="1435608" y="3429000"/>
            <a:ext cx="457200" cy="457200"/>
          </a:xfrm>
          <a:prstGeom prst="ellipse">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400">
                <a:solidFill>
                  <a:srgbClr val="032954"/>
                </a:solidFill>
                <a:latin typeface="+mj-lt"/>
              </a:rPr>
              <a:t>1</a:t>
            </a:r>
          </a:p>
        </p:txBody>
      </p:sp>
      <p:sp>
        <p:nvSpPr>
          <p:cNvPr id="9" name="TextBox 8"/>
          <p:cNvSpPr txBox="1"/>
          <p:nvPr/>
        </p:nvSpPr>
        <p:spPr>
          <a:xfrm>
            <a:off x="1481328" y="4023359"/>
            <a:ext cx="2390241" cy="868680"/>
          </a:xfrm>
          <a:prstGeom prst="rect">
            <a:avLst/>
          </a:prstGeom>
          <a:noFill/>
        </p:spPr>
        <p:txBody>
          <a:bodyPr wrap="square" lIns="45720" tIns="27432" rIns="45720" bIns="27432" anchor="t">
            <a:spAutoFit/>
          </a:bodyPr>
          <a:lstStyle/>
          <a:p>
            <a:pPr algn="ctr"/>
            <a:r>
              <a:rPr sz="1700">
                <a:solidFill>
                  <a:srgbClr val="262626"/>
                </a:solidFill>
                <a:latin typeface="+mj-lt"/>
              </a:rPr>
              <a:t>Load the data</a:t>
            </a:r>
          </a:p>
        </p:txBody>
      </p:sp>
      <p:sp>
        <p:nvSpPr>
          <p:cNvPr id="10" name="TextBox 9"/>
          <p:cNvSpPr txBox="1"/>
          <p:nvPr/>
        </p:nvSpPr>
        <p:spPr>
          <a:xfrm>
            <a:off x="1527048" y="4937760"/>
            <a:ext cx="2298801" cy="2286000"/>
          </a:xfrm>
          <a:prstGeom prst="rect">
            <a:avLst/>
          </a:prstGeom>
          <a:noFill/>
        </p:spPr>
        <p:txBody>
          <a:bodyPr wrap="square" lIns="45720" tIns="27432" rIns="45720" bIns="27432" anchor="t">
            <a:spAutoFit/>
          </a:bodyPr>
          <a:lstStyle/>
          <a:p>
            <a:pPr algn="l"/>
            <a:r>
              <a:rPr sz="1300">
                <a:solidFill>
                  <a:srgbClr val="262626"/>
                </a:solidFill>
              </a:rPr>
              <a:t>Import the registry CSV into SAS Viya (Manage Data). It becomes a CAS table that the tools can query.</a:t>
            </a:r>
          </a:p>
        </p:txBody>
      </p:sp>
      <p:sp>
        <p:nvSpPr>
          <p:cNvPr id="11" name="Rounded Rectangle 10"/>
          <p:cNvSpPr/>
          <p:nvPr/>
        </p:nvSpPr>
        <p:spPr>
          <a:xfrm>
            <a:off x="1527048" y="7315200"/>
            <a:ext cx="2298801" cy="457200"/>
          </a:xfrm>
          <a:prstGeom prst="roundRect">
            <a:avLst>
              <a:gd name="adj" fmla="val 50000"/>
            </a:avLst>
          </a:prstGeom>
          <a:solidFill>
            <a:srgbClr val="C4D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18288" rIns="45720" bIns="18288"/>
          <a:lstStyle/>
          <a:p>
            <a:pPr algn="ctr"/>
            <a:r>
              <a:rPr sz="1100">
                <a:solidFill>
                  <a:srgbClr val="032954"/>
                </a:solidFill>
                <a:latin typeface="+mj-lt"/>
              </a:rPr>
              <a:t>SAS Viya  ·  structured data</a:t>
            </a:r>
          </a:p>
        </p:txBody>
      </p:sp>
      <p:sp>
        <p:nvSpPr>
          <p:cNvPr id="12" name="Chevron 11"/>
          <p:cNvSpPr/>
          <p:nvPr/>
        </p:nvSpPr>
        <p:spPr>
          <a:xfrm>
            <a:off x="4155033" y="5468112"/>
            <a:ext cx="274320" cy="402336"/>
          </a:xfrm>
          <a:prstGeom prst="chevron">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484217" y="3246120"/>
            <a:ext cx="2847441" cy="4846320"/>
          </a:xfrm>
          <a:prstGeom prst="roundRect">
            <a:avLst>
              <a:gd name="adj" fmla="val 8991"/>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427878" y="2766060"/>
            <a:ext cx="960120" cy="960120"/>
          </a:xfrm>
          <a:prstGeom prst="ellipse">
            <a:avLst/>
          </a:prstGeom>
          <a:solidFill>
            <a:srgbClr val="0766D1"/>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model_w.png"/>
          <p:cNvPicPr>
            <a:picLocks noChangeAspect="1"/>
          </p:cNvPicPr>
          <p:nvPr/>
        </p:nvPicPr>
        <p:blipFill>
          <a:blip r:embed="rId3"/>
          <a:stretch>
            <a:fillRect/>
          </a:stretch>
        </p:blipFill>
        <p:spPr>
          <a:xfrm>
            <a:off x="5658307" y="2996488"/>
            <a:ext cx="499262" cy="499262"/>
          </a:xfrm>
          <a:prstGeom prst="rect">
            <a:avLst/>
          </a:prstGeom>
        </p:spPr>
      </p:pic>
      <p:sp>
        <p:nvSpPr>
          <p:cNvPr id="16" name="Oval 15"/>
          <p:cNvSpPr/>
          <p:nvPr/>
        </p:nvSpPr>
        <p:spPr>
          <a:xfrm>
            <a:off x="4667097" y="3429000"/>
            <a:ext cx="457200" cy="457200"/>
          </a:xfrm>
          <a:prstGeom prst="ellipse">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400">
                <a:solidFill>
                  <a:srgbClr val="032954"/>
                </a:solidFill>
                <a:latin typeface="+mj-lt"/>
              </a:rPr>
              <a:t>2</a:t>
            </a:r>
          </a:p>
        </p:txBody>
      </p:sp>
      <p:sp>
        <p:nvSpPr>
          <p:cNvPr id="17" name="TextBox 16"/>
          <p:cNvSpPr txBox="1"/>
          <p:nvPr/>
        </p:nvSpPr>
        <p:spPr>
          <a:xfrm>
            <a:off x="4712817" y="4023359"/>
            <a:ext cx="2390241" cy="868680"/>
          </a:xfrm>
          <a:prstGeom prst="rect">
            <a:avLst/>
          </a:prstGeom>
          <a:noFill/>
        </p:spPr>
        <p:txBody>
          <a:bodyPr wrap="square" lIns="45720" tIns="27432" rIns="45720" bIns="27432" anchor="t">
            <a:spAutoFit/>
          </a:bodyPr>
          <a:lstStyle/>
          <a:p>
            <a:pPr algn="ctr"/>
            <a:r>
              <a:rPr sz="1700">
                <a:solidFill>
                  <a:srgbClr val="262626"/>
                </a:solidFill>
                <a:latin typeface="+mj-lt"/>
              </a:rPr>
              <a:t>Build and publish the model</a:t>
            </a:r>
          </a:p>
        </p:txBody>
      </p:sp>
      <p:sp>
        <p:nvSpPr>
          <p:cNvPr id="18" name="TextBox 17"/>
          <p:cNvSpPr txBox="1"/>
          <p:nvPr/>
        </p:nvSpPr>
        <p:spPr>
          <a:xfrm>
            <a:off x="4758537" y="4937760"/>
            <a:ext cx="2298801" cy="2286000"/>
          </a:xfrm>
          <a:prstGeom prst="rect">
            <a:avLst/>
          </a:prstGeom>
          <a:noFill/>
        </p:spPr>
        <p:txBody>
          <a:bodyPr wrap="square" lIns="45720" tIns="27432" rIns="45720" bIns="27432" anchor="t">
            <a:spAutoFit/>
          </a:bodyPr>
          <a:lstStyle/>
          <a:p>
            <a:pPr algn="l"/>
            <a:r>
              <a:rPr sz="1300">
                <a:solidFill>
                  <a:srgbClr val="262626"/>
                </a:solidFill>
              </a:rPr>
              <a:t>Model Studio trains the pipeline; the champion predicts deterioration in 12 months; publish it for scoring.</a:t>
            </a:r>
          </a:p>
        </p:txBody>
      </p:sp>
      <p:sp>
        <p:nvSpPr>
          <p:cNvPr id="19" name="Rounded Rectangle 18"/>
          <p:cNvSpPr/>
          <p:nvPr/>
        </p:nvSpPr>
        <p:spPr>
          <a:xfrm>
            <a:off x="4758537" y="7315200"/>
            <a:ext cx="2298801" cy="457200"/>
          </a:xfrm>
          <a:prstGeom prst="roundRect">
            <a:avLst>
              <a:gd name="adj" fmla="val 50000"/>
            </a:avLst>
          </a:prstGeom>
          <a:solidFill>
            <a:srgbClr val="C4D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18288" rIns="45720" bIns="18288"/>
          <a:lstStyle/>
          <a:p>
            <a:pPr algn="ctr"/>
            <a:r>
              <a:rPr sz="1100">
                <a:solidFill>
                  <a:srgbClr val="032954"/>
                </a:solidFill>
                <a:latin typeface="+mj-lt"/>
              </a:rPr>
              <a:t>SAS Viya  ·  machine learning</a:t>
            </a:r>
          </a:p>
        </p:txBody>
      </p:sp>
      <p:sp>
        <p:nvSpPr>
          <p:cNvPr id="20" name="Chevron 19"/>
          <p:cNvSpPr/>
          <p:nvPr/>
        </p:nvSpPr>
        <p:spPr>
          <a:xfrm>
            <a:off x="7386523" y="5468112"/>
            <a:ext cx="274320" cy="402336"/>
          </a:xfrm>
          <a:prstGeom prst="chevron">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715707" y="3246120"/>
            <a:ext cx="2847441" cy="4846320"/>
          </a:xfrm>
          <a:prstGeom prst="roundRect">
            <a:avLst>
              <a:gd name="adj" fmla="val 8991"/>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659367" y="2766060"/>
            <a:ext cx="960120" cy="960120"/>
          </a:xfrm>
          <a:prstGeom prst="ellipse">
            <a:avLst/>
          </a:prstGeom>
          <a:solidFill>
            <a:srgbClr val="4398F9"/>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files_w.png"/>
          <p:cNvPicPr>
            <a:picLocks noChangeAspect="1"/>
          </p:cNvPicPr>
          <p:nvPr/>
        </p:nvPicPr>
        <p:blipFill>
          <a:blip r:embed="rId4"/>
          <a:stretch>
            <a:fillRect/>
          </a:stretch>
        </p:blipFill>
        <p:spPr>
          <a:xfrm>
            <a:off x="8889796" y="2996488"/>
            <a:ext cx="499262" cy="499262"/>
          </a:xfrm>
          <a:prstGeom prst="rect">
            <a:avLst/>
          </a:prstGeom>
        </p:spPr>
      </p:pic>
      <p:sp>
        <p:nvSpPr>
          <p:cNvPr id="24" name="Oval 23"/>
          <p:cNvSpPr/>
          <p:nvPr/>
        </p:nvSpPr>
        <p:spPr>
          <a:xfrm>
            <a:off x="7898587" y="3429000"/>
            <a:ext cx="457200" cy="457200"/>
          </a:xfrm>
          <a:prstGeom prst="ellipse">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400">
                <a:solidFill>
                  <a:srgbClr val="032954"/>
                </a:solidFill>
                <a:latin typeface="+mj-lt"/>
              </a:rPr>
              <a:t>3</a:t>
            </a:r>
          </a:p>
        </p:txBody>
      </p:sp>
      <p:sp>
        <p:nvSpPr>
          <p:cNvPr id="25" name="TextBox 24"/>
          <p:cNvSpPr txBox="1"/>
          <p:nvPr/>
        </p:nvSpPr>
        <p:spPr>
          <a:xfrm>
            <a:off x="7944307" y="4023359"/>
            <a:ext cx="2390241" cy="868680"/>
          </a:xfrm>
          <a:prstGeom prst="rect">
            <a:avLst/>
          </a:prstGeom>
          <a:noFill/>
        </p:spPr>
        <p:txBody>
          <a:bodyPr wrap="square" lIns="45720" tIns="27432" rIns="45720" bIns="27432" anchor="t">
            <a:spAutoFit/>
          </a:bodyPr>
          <a:lstStyle/>
          <a:p>
            <a:pPr algn="ctr"/>
            <a:r>
              <a:rPr sz="1700">
                <a:solidFill>
                  <a:srgbClr val="262626"/>
                </a:solidFill>
                <a:latin typeface="+mj-lt"/>
              </a:rPr>
              <a:t>Index the guidelines</a:t>
            </a:r>
          </a:p>
        </p:txBody>
      </p:sp>
      <p:sp>
        <p:nvSpPr>
          <p:cNvPr id="26" name="TextBox 25"/>
          <p:cNvSpPr txBox="1"/>
          <p:nvPr/>
        </p:nvSpPr>
        <p:spPr>
          <a:xfrm>
            <a:off x="7990027" y="4937760"/>
            <a:ext cx="2298801" cy="2286000"/>
          </a:xfrm>
          <a:prstGeom prst="rect">
            <a:avLst/>
          </a:prstGeom>
          <a:noFill/>
        </p:spPr>
        <p:txBody>
          <a:bodyPr wrap="square" lIns="45720" tIns="27432" rIns="45720" bIns="27432" anchor="t">
            <a:spAutoFit/>
          </a:bodyPr>
          <a:lstStyle/>
          <a:p>
            <a:pPr algn="l"/>
            <a:r>
              <a:rPr sz="1300">
                <a:solidFill>
                  <a:srgbClr val="262626"/>
                </a:solidFill>
              </a:rPr>
              <a:t>Create a RAM collection from the four NHA PDFs: chunk, embed, store. Write the retrieval instructions.</a:t>
            </a:r>
          </a:p>
        </p:txBody>
      </p:sp>
      <p:sp>
        <p:nvSpPr>
          <p:cNvPr id="27" name="Rounded Rectangle 26"/>
          <p:cNvSpPr/>
          <p:nvPr/>
        </p:nvSpPr>
        <p:spPr>
          <a:xfrm>
            <a:off x="7990027" y="7315200"/>
            <a:ext cx="2298801" cy="457200"/>
          </a:xfrm>
          <a:prstGeom prst="roundRect">
            <a:avLst>
              <a:gd name="adj" fmla="val 50000"/>
            </a:avLst>
          </a:prstGeom>
          <a:solidFill>
            <a:srgbClr val="C4D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18288" rIns="45720" bIns="18288"/>
          <a:lstStyle/>
          <a:p>
            <a:pPr algn="ctr"/>
            <a:r>
              <a:rPr sz="1100">
                <a:solidFill>
                  <a:srgbClr val="032954"/>
                </a:solidFill>
                <a:latin typeface="+mj-lt"/>
              </a:rPr>
              <a:t>SAS RAM  ·  RAG</a:t>
            </a:r>
          </a:p>
        </p:txBody>
      </p:sp>
      <p:sp>
        <p:nvSpPr>
          <p:cNvPr id="28" name="Chevron 27"/>
          <p:cNvSpPr/>
          <p:nvPr/>
        </p:nvSpPr>
        <p:spPr>
          <a:xfrm>
            <a:off x="10618012" y="5468112"/>
            <a:ext cx="274320" cy="402336"/>
          </a:xfrm>
          <a:prstGeom prst="chevron">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0947196" y="3246120"/>
            <a:ext cx="2847441" cy="4846320"/>
          </a:xfrm>
          <a:prstGeom prst="roundRect">
            <a:avLst>
              <a:gd name="adj" fmla="val 8991"/>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1890857" y="2766060"/>
            <a:ext cx="960120" cy="960120"/>
          </a:xfrm>
          <a:prstGeom prst="ellipse">
            <a:avLst/>
          </a:prstGeom>
          <a:solidFill>
            <a:srgbClr val="0766D1"/>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api_w.png"/>
          <p:cNvPicPr>
            <a:picLocks noChangeAspect="1"/>
          </p:cNvPicPr>
          <p:nvPr/>
        </p:nvPicPr>
        <p:blipFill>
          <a:blip r:embed="rId5"/>
          <a:stretch>
            <a:fillRect/>
          </a:stretch>
        </p:blipFill>
        <p:spPr>
          <a:xfrm>
            <a:off x="12121286" y="2996488"/>
            <a:ext cx="499262" cy="499262"/>
          </a:xfrm>
          <a:prstGeom prst="rect">
            <a:avLst/>
          </a:prstGeom>
        </p:spPr>
      </p:pic>
      <p:sp>
        <p:nvSpPr>
          <p:cNvPr id="32" name="Oval 31"/>
          <p:cNvSpPr/>
          <p:nvPr/>
        </p:nvSpPr>
        <p:spPr>
          <a:xfrm>
            <a:off x="11130076" y="3429000"/>
            <a:ext cx="457200" cy="457200"/>
          </a:xfrm>
          <a:prstGeom prst="ellipse">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400">
                <a:solidFill>
                  <a:srgbClr val="032954"/>
                </a:solidFill>
                <a:latin typeface="+mj-lt"/>
              </a:rPr>
              <a:t>4</a:t>
            </a:r>
          </a:p>
        </p:txBody>
      </p:sp>
      <p:sp>
        <p:nvSpPr>
          <p:cNvPr id="33" name="TextBox 32"/>
          <p:cNvSpPr txBox="1"/>
          <p:nvPr/>
        </p:nvSpPr>
        <p:spPr>
          <a:xfrm>
            <a:off x="11175796" y="4023359"/>
            <a:ext cx="2390241" cy="868680"/>
          </a:xfrm>
          <a:prstGeom prst="rect">
            <a:avLst/>
          </a:prstGeom>
          <a:noFill/>
        </p:spPr>
        <p:txBody>
          <a:bodyPr wrap="square" lIns="45720" tIns="27432" rIns="45720" bIns="27432" anchor="t">
            <a:spAutoFit/>
          </a:bodyPr>
          <a:lstStyle/>
          <a:p>
            <a:pPr algn="ctr"/>
            <a:r>
              <a:rPr sz="1700">
                <a:solidFill>
                  <a:srgbClr val="262626"/>
                </a:solidFill>
                <a:latin typeface="+mj-lt"/>
              </a:rPr>
              <a:t>Connect the tools</a:t>
            </a:r>
          </a:p>
        </p:txBody>
      </p:sp>
      <p:sp>
        <p:nvSpPr>
          <p:cNvPr id="34" name="TextBox 33"/>
          <p:cNvSpPr txBox="1"/>
          <p:nvPr/>
        </p:nvSpPr>
        <p:spPr>
          <a:xfrm>
            <a:off x="11221516" y="4937760"/>
            <a:ext cx="2298801" cy="2286000"/>
          </a:xfrm>
          <a:prstGeom prst="rect">
            <a:avLst/>
          </a:prstGeom>
          <a:noFill/>
        </p:spPr>
        <p:txBody>
          <a:bodyPr wrap="square" lIns="45720" tIns="27432" rIns="45720" bIns="27432" anchor="t">
            <a:spAutoFit/>
          </a:bodyPr>
          <a:lstStyle/>
          <a:p>
            <a:pPr algn="l"/>
            <a:r>
              <a:rPr sz="1300">
                <a:solidFill>
                  <a:srgbClr val="262626"/>
                </a:solidFill>
              </a:rPr>
              <a:t>Register the MCP tool server, scoped to your table and your model: list, describe, query, score.</a:t>
            </a:r>
          </a:p>
        </p:txBody>
      </p:sp>
      <p:sp>
        <p:nvSpPr>
          <p:cNvPr id="35" name="Rounded Rectangle 34"/>
          <p:cNvSpPr/>
          <p:nvPr/>
        </p:nvSpPr>
        <p:spPr>
          <a:xfrm>
            <a:off x="11221516" y="7315200"/>
            <a:ext cx="2298801" cy="457200"/>
          </a:xfrm>
          <a:prstGeom prst="roundRect">
            <a:avLst>
              <a:gd name="adj" fmla="val 50000"/>
            </a:avLst>
          </a:prstGeom>
          <a:solidFill>
            <a:srgbClr val="C4D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18288" rIns="45720" bIns="18288"/>
          <a:lstStyle/>
          <a:p>
            <a:pPr algn="ctr"/>
            <a:r>
              <a:rPr sz="1100">
                <a:solidFill>
                  <a:srgbClr val="032954"/>
                </a:solidFill>
                <a:latin typeface="+mj-lt"/>
              </a:rPr>
              <a:t>SAS RAM  ·  MCP</a:t>
            </a:r>
          </a:p>
        </p:txBody>
      </p:sp>
      <p:sp>
        <p:nvSpPr>
          <p:cNvPr id="36" name="Chevron 35"/>
          <p:cNvSpPr/>
          <p:nvPr/>
        </p:nvSpPr>
        <p:spPr>
          <a:xfrm>
            <a:off x="13849502" y="5468112"/>
            <a:ext cx="274320" cy="402336"/>
          </a:xfrm>
          <a:prstGeom prst="chevron">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4178686" y="3246120"/>
            <a:ext cx="2847441" cy="4846320"/>
          </a:xfrm>
          <a:prstGeom prst="roundRect">
            <a:avLst>
              <a:gd name="adj" fmla="val 8991"/>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5122347" y="2766060"/>
            <a:ext cx="960120" cy="960120"/>
          </a:xfrm>
          <a:prstGeom prst="ellipse">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robot_w.png"/>
          <p:cNvPicPr>
            <a:picLocks noChangeAspect="1"/>
          </p:cNvPicPr>
          <p:nvPr/>
        </p:nvPicPr>
        <p:blipFill>
          <a:blip r:embed="rId6"/>
          <a:stretch>
            <a:fillRect/>
          </a:stretch>
        </p:blipFill>
        <p:spPr>
          <a:xfrm>
            <a:off x="15352776" y="2996488"/>
            <a:ext cx="499262" cy="499262"/>
          </a:xfrm>
          <a:prstGeom prst="rect">
            <a:avLst/>
          </a:prstGeom>
        </p:spPr>
      </p:pic>
      <p:sp>
        <p:nvSpPr>
          <p:cNvPr id="40" name="Oval 39"/>
          <p:cNvSpPr/>
          <p:nvPr/>
        </p:nvSpPr>
        <p:spPr>
          <a:xfrm>
            <a:off x="14361566" y="3429000"/>
            <a:ext cx="457200" cy="457200"/>
          </a:xfrm>
          <a:prstGeom prst="ellipse">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400">
                <a:solidFill>
                  <a:srgbClr val="032954"/>
                </a:solidFill>
                <a:latin typeface="+mj-lt"/>
              </a:rPr>
              <a:t>5</a:t>
            </a:r>
          </a:p>
        </p:txBody>
      </p:sp>
      <p:sp>
        <p:nvSpPr>
          <p:cNvPr id="41" name="TextBox 40"/>
          <p:cNvSpPr txBox="1"/>
          <p:nvPr/>
        </p:nvSpPr>
        <p:spPr>
          <a:xfrm>
            <a:off x="14407286" y="4023359"/>
            <a:ext cx="2390241" cy="868680"/>
          </a:xfrm>
          <a:prstGeom prst="rect">
            <a:avLst/>
          </a:prstGeom>
          <a:noFill/>
        </p:spPr>
        <p:txBody>
          <a:bodyPr wrap="square" lIns="45720" tIns="27432" rIns="45720" bIns="27432" anchor="t">
            <a:spAutoFit/>
          </a:bodyPr>
          <a:lstStyle/>
          <a:p>
            <a:pPr algn="ctr"/>
            <a:r>
              <a:rPr sz="1700">
                <a:solidFill>
                  <a:srgbClr val="262626"/>
                </a:solidFill>
                <a:latin typeface="+mj-lt"/>
              </a:rPr>
              <a:t>Assemble and test the agent</a:t>
            </a:r>
          </a:p>
        </p:txBody>
      </p:sp>
      <p:sp>
        <p:nvSpPr>
          <p:cNvPr id="42" name="TextBox 41"/>
          <p:cNvSpPr txBox="1"/>
          <p:nvPr/>
        </p:nvSpPr>
        <p:spPr>
          <a:xfrm>
            <a:off x="14453006" y="4937760"/>
            <a:ext cx="2298801" cy="2286000"/>
          </a:xfrm>
          <a:prstGeom prst="rect">
            <a:avLst/>
          </a:prstGeom>
          <a:noFill/>
        </p:spPr>
        <p:txBody>
          <a:bodyPr wrap="square" lIns="45720" tIns="27432" rIns="45720" bIns="27432" anchor="t">
            <a:spAutoFit/>
          </a:bodyPr>
          <a:lstStyle/>
          <a:p>
            <a:pPr algn="l"/>
            <a:r>
              <a:rPr sz="1300">
                <a:solidFill>
                  <a:srgbClr val="262626"/>
                </a:solidFill>
              </a:rPr>
              <a:t>Instructions + collection + tools. Run the test questions and read the trace behind each answer.</a:t>
            </a:r>
          </a:p>
        </p:txBody>
      </p:sp>
      <p:sp>
        <p:nvSpPr>
          <p:cNvPr id="43" name="Rounded Rectangle 42"/>
          <p:cNvSpPr/>
          <p:nvPr/>
        </p:nvSpPr>
        <p:spPr>
          <a:xfrm>
            <a:off x="14453006" y="7315200"/>
            <a:ext cx="2298801" cy="457200"/>
          </a:xfrm>
          <a:prstGeom prst="roundRect">
            <a:avLst>
              <a:gd name="adj" fmla="val 50000"/>
            </a:avLst>
          </a:prstGeom>
          <a:solidFill>
            <a:srgbClr val="C4D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18288" rIns="45720" bIns="18288"/>
          <a:lstStyle/>
          <a:p>
            <a:pPr algn="ctr"/>
            <a:r>
              <a:rPr sz="1100">
                <a:solidFill>
                  <a:srgbClr val="032954"/>
                </a:solidFill>
                <a:latin typeface="+mj-lt"/>
              </a:rPr>
              <a:t>SAS RAM  ·  agent</a:t>
            </a:r>
          </a:p>
        </p:txBody>
      </p:sp>
      <p:sp>
        <p:nvSpPr>
          <p:cNvPr id="44" name="Rounded Rectangle 43"/>
          <p:cNvSpPr/>
          <p:nvPr/>
        </p:nvSpPr>
        <p:spPr>
          <a:xfrm>
            <a:off x="1252728" y="8412480"/>
            <a:ext cx="15773400" cy="914400"/>
          </a:xfrm>
          <a:prstGeom prst="roundRect">
            <a:avLst>
              <a:gd name="adj" fmla="val 22000"/>
            </a:avLst>
          </a:prstGeom>
          <a:solidFill>
            <a:srgbClr val="C4D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wand_n.png"/>
          <p:cNvPicPr>
            <a:picLocks noChangeAspect="1"/>
          </p:cNvPicPr>
          <p:nvPr/>
        </p:nvPicPr>
        <p:blipFill>
          <a:blip r:embed="rId7"/>
          <a:stretch>
            <a:fillRect/>
          </a:stretch>
        </p:blipFill>
        <p:spPr>
          <a:xfrm>
            <a:off x="1572768" y="8595359"/>
            <a:ext cx="548640" cy="548640"/>
          </a:xfrm>
          <a:prstGeom prst="rect">
            <a:avLst/>
          </a:prstGeom>
        </p:spPr>
      </p:pic>
      <p:sp>
        <p:nvSpPr>
          <p:cNvPr id="46" name="TextBox 45"/>
          <p:cNvSpPr txBox="1"/>
          <p:nvPr/>
        </p:nvSpPr>
        <p:spPr>
          <a:xfrm>
            <a:off x="2395728" y="8522207"/>
            <a:ext cx="14356080" cy="694944"/>
          </a:xfrm>
          <a:prstGeom prst="rect">
            <a:avLst/>
          </a:prstGeom>
          <a:noFill/>
        </p:spPr>
        <p:txBody>
          <a:bodyPr wrap="square" lIns="45720" tIns="27432" rIns="45720" bIns="27432" anchor="ctr">
            <a:spAutoFit/>
          </a:bodyPr>
          <a:lstStyle/>
          <a:p>
            <a:pPr algn="l"/>
            <a:r>
              <a:rPr sz="1500">
                <a:solidFill>
                  <a:srgbClr val="032954"/>
                </a:solidFill>
              </a:rPr>
              <a:t>A ready-made copilot agent in RAM can drive steps 1 and 2 for you through MCP: talk to your data, build the model. Steps 3 to 5 are yours, in the RAM interface.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r>
              <a:rPr sz="5600"/>
              <a:t>The agent on one page</a:t>
            </a:r>
          </a:p>
        </p:txBody>
      </p:sp>
      <p:sp>
        <p:nvSpPr>
          <p:cNvPr id="3" name="Text Placeholder 2"/>
          <p:cNvSpPr>
            <a:spLocks noGrp="1"/>
          </p:cNvSpPr>
          <p:nvPr>
            <p:ph type="body" idx="10" sz="quarter"/>
          </p:nvPr>
        </p:nvSpPr>
        <p:spPr/>
        <p:txBody>
          <a:bodyPr/>
          <a:lstStyle/>
          <a:p>
            <a:r>
              <a:rPr sz="3000"/>
              <a:t>What each part gives the agent, where you build it, and the material to use</a:t>
            </a:r>
          </a:p>
        </p:txBody>
      </p:sp>
      <p:graphicFrame>
        <p:nvGraphicFramePr>
          <p:cNvPr id="5" name="Table 4"/>
          <p:cNvGraphicFramePr>
            <a:graphicFrameLocks noGrp="1"/>
          </p:cNvGraphicFramePr>
          <p:nvPr/>
        </p:nvGraphicFramePr>
        <p:xfrm>
          <a:off x="1252728" y="2743200"/>
          <a:ext cx="15773400" cy="6309360"/>
        </p:xfrm>
        <a:graphic>
          <a:graphicData uri="http://schemas.openxmlformats.org/drawingml/2006/table">
            <a:tbl>
              <a:tblPr firstRow="1" bandRow="0">
                <a:tableStyleId>{5C22544A-7EE6-4342-B048-85BDC9FD1C3A}</a:tableStyleId>
              </a:tblPr>
              <a:tblGrid>
                <a:gridCol w="2651760"/>
                <a:gridCol w="4572000"/>
                <a:gridCol w="4343400"/>
                <a:gridCol w="4206240"/>
              </a:tblGrid>
              <a:tr h="594360">
                <a:tc>
                  <a:txBody>
                    <a:bodyPr wrap="square"/>
                    <a:lstStyle/>
                    <a:p>
                      <a:pPr algn="l"/>
                      <a:r>
                        <a:rPr sz="1500">
                          <a:solidFill>
                            <a:srgbClr val="FFFFFF"/>
                          </a:solidFill>
                          <a:latin typeface="+mj-lt"/>
                        </a:rPr>
                        <a:t>Component</a:t>
                      </a:r>
                    </a:p>
                  </a:txBody>
                  <a:tcPr marL="182880" marR="182880" marT="73152" marB="73152" anchor="ctr">
                    <a:solidFill>
                      <a:srgbClr val="032954"/>
                    </a:solidFill>
                  </a:tcPr>
                </a:tc>
                <a:tc>
                  <a:txBody>
                    <a:bodyPr wrap="square"/>
                    <a:lstStyle/>
                    <a:p>
                      <a:pPr algn="l"/>
                      <a:r>
                        <a:rPr sz="1500">
                          <a:solidFill>
                            <a:srgbClr val="FFFFFF"/>
                          </a:solidFill>
                          <a:latin typeface="+mj-lt"/>
                        </a:rPr>
                        <a:t>What it gives the agent</a:t>
                      </a:r>
                    </a:p>
                  </a:txBody>
                  <a:tcPr marL="182880" marR="182880" marT="73152" marB="73152" anchor="ctr">
                    <a:solidFill>
                      <a:srgbClr val="032954"/>
                    </a:solidFill>
                  </a:tcPr>
                </a:tc>
                <a:tc>
                  <a:txBody>
                    <a:bodyPr wrap="square"/>
                    <a:lstStyle/>
                    <a:p>
                      <a:pPr algn="l"/>
                      <a:r>
                        <a:rPr sz="1500">
                          <a:solidFill>
                            <a:srgbClr val="FFFFFF"/>
                          </a:solidFill>
                          <a:latin typeface="+mj-lt"/>
                        </a:rPr>
                        <a:t>Where you build it</a:t>
                      </a:r>
                    </a:p>
                  </a:txBody>
                  <a:tcPr marL="182880" marR="182880" marT="73152" marB="73152" anchor="ctr">
                    <a:solidFill>
                      <a:srgbClr val="032954"/>
                    </a:solidFill>
                  </a:tcPr>
                </a:tc>
                <a:tc>
                  <a:txBody>
                    <a:bodyPr wrap="square"/>
                    <a:lstStyle/>
                    <a:p>
                      <a:pPr algn="l"/>
                      <a:r>
                        <a:rPr sz="1500">
                          <a:solidFill>
                            <a:srgbClr val="FFFFFF"/>
                          </a:solidFill>
                          <a:latin typeface="+mj-lt"/>
                        </a:rPr>
                        <a:t>Material in the kit</a:t>
                      </a:r>
                    </a:p>
                  </a:txBody>
                  <a:tcPr marL="182880" marR="182880" marT="73152" marB="73152" anchor="ctr">
                    <a:solidFill>
                      <a:srgbClr val="032954"/>
                    </a:solidFill>
                  </a:tcPr>
                </a:tc>
              </a:tr>
              <a:tr h="1143000">
                <a:tc>
                  <a:txBody>
                    <a:bodyPr wrap="square"/>
                    <a:lstStyle/>
                    <a:p>
                      <a:pPr algn="l"/>
                      <a:r>
                        <a:rPr sz="1300">
                          <a:solidFill>
                            <a:srgbClr val="262626"/>
                          </a:solidFill>
                          <a:latin typeface="+mj-lt"/>
                        </a:rPr>
                        <a:t>Structured data</a:t>
                      </a:r>
                    </a:p>
                  </a:txBody>
                  <a:tcPr marL="182880" marR="182880" marT="73152" marB="73152" anchor="ctr">
                    <a:solidFill>
                      <a:srgbClr val="FFFFFF"/>
                    </a:solidFill>
                  </a:tcPr>
                </a:tc>
                <a:tc>
                  <a:txBody>
                    <a:bodyPr wrap="square"/>
                    <a:lstStyle/>
                    <a:p>
                      <a:pPr algn="l"/>
                      <a:r>
                        <a:rPr sz="1300">
                          <a:solidFill>
                            <a:srgbClr val="262626"/>
                          </a:solidFill>
                        </a:rPr>
                        <a:t>Every number: cohorts, rates, costs, the patient a clinician asks about</a:t>
                      </a:r>
                    </a:p>
                  </a:txBody>
                  <a:tcPr marL="182880" marR="182880" marT="73152" marB="73152" anchor="ctr">
                    <a:solidFill>
                      <a:srgbClr val="FFFFFF"/>
                    </a:solidFill>
                  </a:tcPr>
                </a:tc>
                <a:tc>
                  <a:txBody>
                    <a:bodyPr wrap="square"/>
                    <a:lstStyle/>
                    <a:p>
                      <a:pPr algn="l"/>
                      <a:r>
                        <a:rPr sz="1300">
                          <a:solidFill>
                            <a:srgbClr val="0766D1"/>
                          </a:solidFill>
                        </a:rPr>
                        <a:t>SAS Viya  ·  CAS table (Public.EHS_DIABETES)</a:t>
                      </a:r>
                    </a:p>
                  </a:txBody>
                  <a:tcPr marL="182880" marR="182880" marT="73152" marB="73152" anchor="ctr">
                    <a:solidFill>
                      <a:srgbClr val="FFFFFF"/>
                    </a:solidFill>
                  </a:tcPr>
                </a:tc>
                <a:tc>
                  <a:txBody>
                    <a:bodyPr wrap="square"/>
                    <a:lstStyle/>
                    <a:p>
                      <a:pPr algn="l"/>
                      <a:r>
                        <a:rPr sz="1300">
                          <a:solidFill>
                            <a:srgbClr val="262626"/>
                          </a:solidFill>
                        </a:rPr>
                        <a:t>ehs_diabetes_registry.csv (4,000 rows, 54 columns), ehs_facilities.csv, the data dictionary</a:t>
                      </a:r>
                    </a:p>
                  </a:txBody>
                  <a:tcPr marL="182880" marR="182880" marT="73152" marB="73152" anchor="ctr">
                    <a:solidFill>
                      <a:srgbClr val="FFFFFF"/>
                    </a:solidFill>
                  </a:tcPr>
                </a:tc>
              </a:tr>
              <a:tr h="1143000">
                <a:tc>
                  <a:txBody>
                    <a:bodyPr wrap="square"/>
                    <a:lstStyle/>
                    <a:p>
                      <a:pPr algn="l"/>
                      <a:r>
                        <a:rPr sz="1300">
                          <a:solidFill>
                            <a:srgbClr val="262626"/>
                          </a:solidFill>
                          <a:latin typeface="+mj-lt"/>
                        </a:rPr>
                        <a:t>ML model</a:t>
                      </a:r>
                    </a:p>
                  </a:txBody>
                  <a:tcPr marL="182880" marR="182880" marT="73152" marB="73152" anchor="ctr">
                    <a:solidFill>
                      <a:srgbClr val="F0F1F3"/>
                    </a:solidFill>
                  </a:tcPr>
                </a:tc>
                <a:tc>
                  <a:txBody>
                    <a:bodyPr wrap="square"/>
                    <a:lstStyle/>
                    <a:p>
                      <a:pPr algn="l"/>
                      <a:r>
                        <a:rPr sz="1300">
                          <a:solidFill>
                            <a:srgbClr val="262626"/>
                          </a:solidFill>
                        </a:rPr>
                        <a:t>The 12-month deterioration risk of a patient or a cohort, with its drivers</a:t>
                      </a:r>
                    </a:p>
                  </a:txBody>
                  <a:tcPr marL="182880" marR="182880" marT="73152" marB="73152" anchor="ctr">
                    <a:solidFill>
                      <a:srgbClr val="F0F1F3"/>
                    </a:solidFill>
                  </a:tcPr>
                </a:tc>
                <a:tc>
                  <a:txBody>
                    <a:bodyPr wrap="square"/>
                    <a:lstStyle/>
                    <a:p>
                      <a:pPr algn="l"/>
                      <a:r>
                        <a:rPr sz="1300">
                          <a:solidFill>
                            <a:srgbClr val="0766D1"/>
                          </a:solidFill>
                        </a:rPr>
                        <a:t>SAS Viya  ·  Model Studio, champion published to SAS Micro Analytic Service</a:t>
                      </a:r>
                    </a:p>
                  </a:txBody>
                  <a:tcPr marL="182880" marR="182880" marT="73152" marB="73152" anchor="ctr">
                    <a:solidFill>
                      <a:srgbClr val="F0F1F3"/>
                    </a:solidFill>
                  </a:tcPr>
                </a:tc>
                <a:tc>
                  <a:txBody>
                    <a:bodyPr wrap="square"/>
                    <a:lstStyle/>
                    <a:p>
                      <a:pPr algn="l"/>
                      <a:r>
                        <a:rPr sz="1300">
                          <a:solidFill>
                            <a:srgbClr val="262626"/>
                          </a:solidFill>
                        </a:rPr>
                        <a:t>Target deterioration_next_12m; leakage columns listed in the data dictionary</a:t>
                      </a:r>
                    </a:p>
                  </a:txBody>
                  <a:tcPr marL="182880" marR="182880" marT="73152" marB="73152" anchor="ctr">
                    <a:solidFill>
                      <a:srgbClr val="F0F1F3"/>
                    </a:solidFill>
                  </a:tcPr>
                </a:tc>
              </a:tr>
              <a:tr h="1143000">
                <a:tc>
                  <a:txBody>
                    <a:bodyPr wrap="square"/>
                    <a:lstStyle/>
                    <a:p>
                      <a:pPr algn="l"/>
                      <a:r>
                        <a:rPr sz="1300">
                          <a:solidFill>
                            <a:srgbClr val="262626"/>
                          </a:solidFill>
                          <a:latin typeface="+mj-lt"/>
                        </a:rPr>
                        <a:t>Knowledge (RAG)</a:t>
                      </a:r>
                    </a:p>
                  </a:txBody>
                  <a:tcPr marL="182880" marR="182880" marT="73152" marB="73152" anchor="ctr">
                    <a:solidFill>
                      <a:srgbClr val="FFFFFF"/>
                    </a:solidFill>
                  </a:tcPr>
                </a:tc>
                <a:tc>
                  <a:txBody>
                    <a:bodyPr wrap="square"/>
                    <a:lstStyle/>
                    <a:p>
                      <a:pPr algn="l"/>
                      <a:r>
                        <a:rPr sz="1300">
                          <a:solidFill>
                            <a:srgbClr val="262626"/>
                          </a:solidFill>
                        </a:rPr>
                        <a:t>Guideline answers with document and section, or “not covered”</a:t>
                      </a:r>
                    </a:p>
                  </a:txBody>
                  <a:tcPr marL="182880" marR="182880" marT="73152" marB="73152" anchor="ctr">
                    <a:solidFill>
                      <a:srgbClr val="FFFFFF"/>
                    </a:solidFill>
                  </a:tcPr>
                </a:tc>
                <a:tc>
                  <a:txBody>
                    <a:bodyPr wrap="square"/>
                    <a:lstStyle/>
                    <a:p>
                      <a:pPr algn="l"/>
                      <a:r>
                        <a:rPr sz="1300">
                          <a:solidFill>
                            <a:srgbClr val="0766D1"/>
                          </a:solidFill>
                        </a:rPr>
                        <a:t>SAS RAM  ·  collection + retrieval settings</a:t>
                      </a:r>
                    </a:p>
                  </a:txBody>
                  <a:tcPr marL="182880" marR="182880" marT="73152" marB="73152" anchor="ctr">
                    <a:solidFill>
                      <a:srgbClr val="FFFFFF"/>
                    </a:solidFill>
                  </a:tcPr>
                </a:tc>
                <a:tc>
                  <a:txBody>
                    <a:bodyPr wrap="square"/>
                    <a:lstStyle/>
                    <a:p>
                      <a:pPr algn="l"/>
                      <a:r>
                        <a:rPr sz="1300">
                          <a:solidFill>
                            <a:srgbClr val="262626"/>
                          </a:solidFill>
                        </a:rPr>
                        <a:t>NHA-CG-01, NHA-CG-02, NHA-CG-03, NHA-PP-01 as PDFs</a:t>
                      </a:r>
                    </a:p>
                  </a:txBody>
                  <a:tcPr marL="182880" marR="182880" marT="73152" marB="73152" anchor="ctr">
                    <a:solidFill>
                      <a:srgbClr val="FFFFFF"/>
                    </a:solidFill>
                  </a:tcPr>
                </a:tc>
              </a:tr>
              <a:tr h="1143000">
                <a:tc>
                  <a:txBody>
                    <a:bodyPr wrap="square"/>
                    <a:lstStyle/>
                    <a:p>
                      <a:pPr algn="l"/>
                      <a:r>
                        <a:rPr sz="1300">
                          <a:solidFill>
                            <a:srgbClr val="262626"/>
                          </a:solidFill>
                          <a:latin typeface="+mj-lt"/>
                        </a:rPr>
                        <a:t>Tools (MCP)</a:t>
                      </a:r>
                    </a:p>
                  </a:txBody>
                  <a:tcPr marL="182880" marR="182880" marT="73152" marB="73152" anchor="ctr">
                    <a:solidFill>
                      <a:srgbClr val="F0F1F3"/>
                    </a:solidFill>
                  </a:tcPr>
                </a:tc>
                <a:tc>
                  <a:txBody>
                    <a:bodyPr wrap="square"/>
                    <a:lstStyle/>
                    <a:p>
                      <a:pPr algn="l"/>
                      <a:r>
                        <a:rPr sz="1300">
                          <a:solidFill>
                            <a:srgbClr val="262626"/>
                          </a:solidFill>
                        </a:rPr>
                        <a:t>Its hands: list, describe and preview tables, query, list and describe models, score</a:t>
                      </a:r>
                    </a:p>
                  </a:txBody>
                  <a:tcPr marL="182880" marR="182880" marT="73152" marB="73152" anchor="ctr">
                    <a:solidFill>
                      <a:srgbClr val="F0F1F3"/>
                    </a:solidFill>
                  </a:tcPr>
                </a:tc>
                <a:tc>
                  <a:txBody>
                    <a:bodyPr wrap="square"/>
                    <a:lstStyle/>
                    <a:p>
                      <a:pPr algn="l"/>
                      <a:r>
                        <a:rPr sz="1300">
                          <a:solidFill>
                            <a:srgbClr val="0766D1"/>
                          </a:solidFill>
                        </a:rPr>
                        <a:t>SAS RAM  ·  MCP tool source, scoped to your table and model</a:t>
                      </a:r>
                    </a:p>
                  </a:txBody>
                  <a:tcPr marL="182880" marR="182880" marT="73152" marB="73152" anchor="ctr">
                    <a:solidFill>
                      <a:srgbClr val="F0F1F3"/>
                    </a:solidFill>
                  </a:tcPr>
                </a:tc>
                <a:tc>
                  <a:txBody>
                    <a:bodyPr wrap="square"/>
                    <a:lstStyle/>
                    <a:p>
                      <a:pPr algn="l"/>
                      <a:r>
                        <a:rPr sz="1300">
                          <a:solidFill>
                            <a:srgbClr val="262626"/>
                          </a:solidFill>
                        </a:rPr>
                        <a:t>The Bootcamp MCP server (8 tools), or the SAS Viya MCP server</a:t>
                      </a:r>
                    </a:p>
                  </a:txBody>
                  <a:tcPr marL="182880" marR="182880" marT="73152" marB="73152" anchor="ctr">
                    <a:solidFill>
                      <a:srgbClr val="F0F1F3"/>
                    </a:solidFill>
                  </a:tcPr>
                </a:tc>
              </a:tr>
              <a:tr h="1143000">
                <a:tc>
                  <a:txBody>
                    <a:bodyPr wrap="square"/>
                    <a:lstStyle/>
                    <a:p>
                      <a:pPr algn="l"/>
                      <a:r>
                        <a:rPr sz="1300">
                          <a:solidFill>
                            <a:srgbClr val="262626"/>
                          </a:solidFill>
                          <a:latin typeface="+mj-lt"/>
                        </a:rPr>
                        <a:t>The agent</a:t>
                      </a:r>
                    </a:p>
                  </a:txBody>
                  <a:tcPr marL="182880" marR="182880" marT="73152" marB="73152" anchor="ctr">
                    <a:solidFill>
                      <a:srgbClr val="FFFFFF"/>
                    </a:solidFill>
                  </a:tcPr>
                </a:tc>
                <a:tc>
                  <a:txBody>
                    <a:bodyPr wrap="square"/>
                    <a:lstStyle/>
                    <a:p>
                      <a:pPr algn="l"/>
                      <a:r>
                        <a:rPr sz="1300">
                          <a:solidFill>
                            <a:srgbClr val="262626"/>
                          </a:solidFill>
                        </a:rPr>
                        <a:t>The orchestrator: reads the question, picks the tool, writes the cited answer</a:t>
                      </a:r>
                    </a:p>
                  </a:txBody>
                  <a:tcPr marL="182880" marR="182880" marT="73152" marB="73152" anchor="ctr">
                    <a:solidFill>
                      <a:srgbClr val="FFFFFF"/>
                    </a:solidFill>
                  </a:tcPr>
                </a:tc>
                <a:tc>
                  <a:txBody>
                    <a:bodyPr wrap="square"/>
                    <a:lstStyle/>
                    <a:p>
                      <a:pPr algn="l"/>
                      <a:r>
                        <a:rPr sz="1300">
                          <a:solidFill>
                            <a:srgbClr val="0766D1"/>
                          </a:solidFill>
                        </a:rPr>
                        <a:t>SAS RAM  ·  agent = instructions + collection + tools</a:t>
                      </a:r>
                    </a:p>
                  </a:txBody>
                  <a:tcPr marL="182880" marR="182880" marT="73152" marB="73152" anchor="ctr">
                    <a:solidFill>
                      <a:srgbClr val="FFFFFF"/>
                    </a:solidFill>
                  </a:tcPr>
                </a:tc>
                <a:tc>
                  <a:txBody>
                    <a:bodyPr wrap="square"/>
                    <a:lstStyle/>
                    <a:p>
                      <a:pPr algn="l"/>
                      <a:r>
                        <a:rPr sz="1300">
                          <a:solidFill>
                            <a:srgbClr val="262626"/>
                          </a:solidFill>
                        </a:rPr>
                        <a:t>The system prompt template and 20 test questions with expected answers</a:t>
                      </a:r>
                    </a:p>
                  </a:txBody>
                  <a:tcPr marL="182880" marR="182880" marT="73152" marB="73152" anchor="ctr">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984480" y="0"/>
            <a:ext cx="5303520" cy="10287000"/>
          </a:xfrm>
          <a:prstGeom prst="rect">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52728" y="777240"/>
            <a:ext cx="10972800" cy="914400"/>
          </a:xfrm>
          <a:prstGeom prst="rect">
            <a:avLst/>
          </a:prstGeom>
          <a:noFill/>
        </p:spPr>
        <p:txBody>
          <a:bodyPr wrap="square" lIns="45720" tIns="27432" rIns="45720" bIns="27432" anchor="ctr">
            <a:spAutoFit/>
          </a:bodyPr>
          <a:lstStyle/>
          <a:p>
            <a:pPr algn="l"/>
            <a:r>
              <a:rPr sz="5600">
                <a:solidFill>
                  <a:srgbClr val="FFFFFF"/>
                </a:solidFill>
                <a:latin typeface="+mj-lt"/>
              </a:rPr>
              <a:t>Takeaways</a:t>
            </a:r>
          </a:p>
        </p:txBody>
      </p:sp>
      <p:sp>
        <p:nvSpPr>
          <p:cNvPr id="5" name="TextBox 4"/>
          <p:cNvSpPr txBox="1"/>
          <p:nvPr/>
        </p:nvSpPr>
        <p:spPr>
          <a:xfrm>
            <a:off x="1252728" y="2514600"/>
            <a:ext cx="2011680" cy="1280160"/>
          </a:xfrm>
          <a:prstGeom prst="rect">
            <a:avLst/>
          </a:prstGeom>
          <a:noFill/>
        </p:spPr>
        <p:txBody>
          <a:bodyPr wrap="square" lIns="45720" tIns="27432" rIns="45720" bIns="27432" anchor="t">
            <a:spAutoFit/>
          </a:bodyPr>
          <a:lstStyle/>
          <a:p>
            <a:pPr algn="l"/>
            <a:r>
              <a:rPr sz="6000">
                <a:solidFill>
                  <a:srgbClr val="C4DEFD"/>
                </a:solidFill>
                <a:latin typeface="+mj-lt"/>
              </a:rPr>
              <a:t>01</a:t>
            </a:r>
          </a:p>
        </p:txBody>
      </p:sp>
      <p:sp>
        <p:nvSpPr>
          <p:cNvPr id="6" name="TextBox 5"/>
          <p:cNvSpPr txBox="1"/>
          <p:nvPr/>
        </p:nvSpPr>
        <p:spPr>
          <a:xfrm>
            <a:off x="3383280" y="2651760"/>
            <a:ext cx="9052560" cy="640080"/>
          </a:xfrm>
          <a:prstGeom prst="rect">
            <a:avLst/>
          </a:prstGeom>
          <a:noFill/>
        </p:spPr>
        <p:txBody>
          <a:bodyPr wrap="square" lIns="45720" tIns="27432" rIns="45720" bIns="27432" anchor="t">
            <a:spAutoFit/>
          </a:bodyPr>
          <a:lstStyle/>
          <a:p>
            <a:pPr algn="l"/>
            <a:r>
              <a:rPr sz="2400">
                <a:solidFill>
                  <a:srgbClr val="FFFFFF"/>
                </a:solidFill>
                <a:latin typeface="+mj-lt"/>
              </a:rPr>
              <a:t>An agent is a loop with a goal, tools and boundaries</a:t>
            </a:r>
          </a:p>
        </p:txBody>
      </p:sp>
      <p:sp>
        <p:nvSpPr>
          <p:cNvPr id="7" name="TextBox 6"/>
          <p:cNvSpPr txBox="1"/>
          <p:nvPr/>
        </p:nvSpPr>
        <p:spPr>
          <a:xfrm>
            <a:off x="3383280" y="3291839"/>
            <a:ext cx="9052560" cy="1097280"/>
          </a:xfrm>
          <a:prstGeom prst="rect">
            <a:avLst/>
          </a:prstGeom>
          <a:noFill/>
        </p:spPr>
        <p:txBody>
          <a:bodyPr wrap="square" lIns="45720" tIns="27432" rIns="45720" bIns="27432" anchor="t">
            <a:spAutoFit/>
          </a:bodyPr>
          <a:lstStyle/>
          <a:p>
            <a:pPr algn="l"/>
            <a:r>
              <a:rPr sz="1700">
                <a:solidFill>
                  <a:srgbClr val="C4DEFD"/>
                </a:solidFill>
              </a:rPr>
              <a:t>It reasons, acts, checks, and keeps going until the job is done or a person must step in.</a:t>
            </a:r>
          </a:p>
        </p:txBody>
      </p:sp>
      <p:sp>
        <p:nvSpPr>
          <p:cNvPr id="8" name="TextBox 7"/>
          <p:cNvSpPr txBox="1"/>
          <p:nvPr/>
        </p:nvSpPr>
        <p:spPr>
          <a:xfrm>
            <a:off x="1252728" y="4663440"/>
            <a:ext cx="2011680" cy="1280160"/>
          </a:xfrm>
          <a:prstGeom prst="rect">
            <a:avLst/>
          </a:prstGeom>
          <a:noFill/>
        </p:spPr>
        <p:txBody>
          <a:bodyPr wrap="square" lIns="45720" tIns="27432" rIns="45720" bIns="27432" anchor="t">
            <a:spAutoFit/>
          </a:bodyPr>
          <a:lstStyle/>
          <a:p>
            <a:pPr algn="l"/>
            <a:r>
              <a:rPr sz="6000">
                <a:solidFill>
                  <a:srgbClr val="C4DEFD"/>
                </a:solidFill>
                <a:latin typeface="+mj-lt"/>
              </a:rPr>
              <a:t>02</a:t>
            </a:r>
          </a:p>
        </p:txBody>
      </p:sp>
      <p:sp>
        <p:nvSpPr>
          <p:cNvPr id="9" name="TextBox 8"/>
          <p:cNvSpPr txBox="1"/>
          <p:nvPr/>
        </p:nvSpPr>
        <p:spPr>
          <a:xfrm>
            <a:off x="3383280" y="4800600"/>
            <a:ext cx="9052560" cy="640080"/>
          </a:xfrm>
          <a:prstGeom prst="rect">
            <a:avLst/>
          </a:prstGeom>
          <a:noFill/>
        </p:spPr>
        <p:txBody>
          <a:bodyPr wrap="square" lIns="45720" tIns="27432" rIns="45720" bIns="27432" anchor="t">
            <a:spAutoFit/>
          </a:bodyPr>
          <a:lstStyle/>
          <a:p>
            <a:pPr algn="l"/>
            <a:r>
              <a:rPr sz="2400">
                <a:solidFill>
                  <a:srgbClr val="FFFFFF"/>
                </a:solidFill>
                <a:latin typeface="+mj-lt"/>
              </a:rPr>
              <a:t>The LLM reasons; RAG, tools and models keep it honest</a:t>
            </a:r>
          </a:p>
        </p:txBody>
      </p:sp>
      <p:sp>
        <p:nvSpPr>
          <p:cNvPr id="10" name="TextBox 9"/>
          <p:cNvSpPr txBox="1"/>
          <p:nvPr/>
        </p:nvSpPr>
        <p:spPr>
          <a:xfrm>
            <a:off x="3383280" y="5440680"/>
            <a:ext cx="9052560" cy="1097280"/>
          </a:xfrm>
          <a:prstGeom prst="rect">
            <a:avLst/>
          </a:prstGeom>
          <a:noFill/>
        </p:spPr>
        <p:txBody>
          <a:bodyPr wrap="square" lIns="45720" tIns="27432" rIns="45720" bIns="27432" anchor="t">
            <a:spAutoFit/>
          </a:bodyPr>
          <a:lstStyle/>
          <a:p>
            <a:pPr algn="l"/>
            <a:r>
              <a:rPr sz="1700">
                <a:solidFill>
                  <a:srgbClr val="C4DEFD"/>
                </a:solidFill>
              </a:rPr>
              <a:t>Words from the LLM, facts from your documents, numbers from queries and models, all connected through MCP and logged.</a:t>
            </a:r>
          </a:p>
        </p:txBody>
      </p:sp>
      <p:sp>
        <p:nvSpPr>
          <p:cNvPr id="11" name="TextBox 10"/>
          <p:cNvSpPr txBox="1"/>
          <p:nvPr/>
        </p:nvSpPr>
        <p:spPr>
          <a:xfrm>
            <a:off x="1252728" y="6812279"/>
            <a:ext cx="2011680" cy="1280160"/>
          </a:xfrm>
          <a:prstGeom prst="rect">
            <a:avLst/>
          </a:prstGeom>
          <a:noFill/>
        </p:spPr>
        <p:txBody>
          <a:bodyPr wrap="square" lIns="45720" tIns="27432" rIns="45720" bIns="27432" anchor="t">
            <a:spAutoFit/>
          </a:bodyPr>
          <a:lstStyle/>
          <a:p>
            <a:pPr algn="l"/>
            <a:r>
              <a:rPr sz="6000">
                <a:solidFill>
                  <a:srgbClr val="C4DEFD"/>
                </a:solidFill>
                <a:latin typeface="+mj-lt"/>
              </a:rPr>
              <a:t>03</a:t>
            </a:r>
          </a:p>
        </p:txBody>
      </p:sp>
      <p:sp>
        <p:nvSpPr>
          <p:cNvPr id="12" name="TextBox 11"/>
          <p:cNvSpPr txBox="1"/>
          <p:nvPr/>
        </p:nvSpPr>
        <p:spPr>
          <a:xfrm>
            <a:off x="3383280" y="6949440"/>
            <a:ext cx="9052560" cy="640080"/>
          </a:xfrm>
          <a:prstGeom prst="rect">
            <a:avLst/>
          </a:prstGeom>
          <a:noFill/>
        </p:spPr>
        <p:txBody>
          <a:bodyPr wrap="square" lIns="45720" tIns="27432" rIns="45720" bIns="27432" anchor="t">
            <a:spAutoFit/>
          </a:bodyPr>
          <a:lstStyle/>
          <a:p>
            <a:pPr algn="l"/>
            <a:r>
              <a:rPr sz="2400">
                <a:solidFill>
                  <a:srgbClr val="FFFFFF"/>
                </a:solidFill>
                <a:latin typeface="+mj-lt"/>
              </a:rPr>
              <a:t>You will build this agent in the bootcamp</a:t>
            </a:r>
          </a:p>
        </p:txBody>
      </p:sp>
      <p:sp>
        <p:nvSpPr>
          <p:cNvPr id="13" name="TextBox 12"/>
          <p:cNvSpPr txBox="1"/>
          <p:nvPr/>
        </p:nvSpPr>
        <p:spPr>
          <a:xfrm>
            <a:off x="3383280" y="7589519"/>
            <a:ext cx="9052560" cy="1097280"/>
          </a:xfrm>
          <a:prstGeom prst="rect">
            <a:avLst/>
          </a:prstGeom>
          <a:noFill/>
        </p:spPr>
        <p:txBody>
          <a:bodyPr wrap="square" lIns="45720" tIns="27432" rIns="45720" bIns="27432" anchor="t">
            <a:spAutoFit/>
          </a:bodyPr>
          <a:lstStyle/>
          <a:p>
            <a:pPr algn="l"/>
            <a:r>
              <a:rPr sz="1700">
                <a:solidFill>
                  <a:srgbClr val="C4DEFD"/>
                </a:solidFill>
              </a:rPr>
              <a:t>Load the data, publish the model, index the guidelines, connect the tools, assemble and test.</a:t>
            </a:r>
          </a:p>
        </p:txBody>
      </p:sp>
      <p:pic>
        <p:nvPicPr>
          <p:cNvPr id="14" name="Picture 13" descr="arrowRight_w.png"/>
          <p:cNvPicPr>
            <a:picLocks noChangeAspect="1"/>
          </p:cNvPicPr>
          <p:nvPr/>
        </p:nvPicPr>
        <p:blipFill>
          <a:blip r:embed="rId2"/>
          <a:stretch>
            <a:fillRect/>
          </a:stretch>
        </p:blipFill>
        <p:spPr>
          <a:xfrm>
            <a:off x="13898880" y="3291840"/>
            <a:ext cx="822960" cy="822960"/>
          </a:xfrm>
          <a:prstGeom prst="rect">
            <a:avLst/>
          </a:prstGeom>
        </p:spPr>
      </p:pic>
      <p:sp>
        <p:nvSpPr>
          <p:cNvPr id="15" name="TextBox 14"/>
          <p:cNvSpPr txBox="1"/>
          <p:nvPr/>
        </p:nvSpPr>
        <p:spPr>
          <a:xfrm>
            <a:off x="13898880" y="4297680"/>
            <a:ext cx="3840480" cy="548640"/>
          </a:xfrm>
          <a:prstGeom prst="rect">
            <a:avLst/>
          </a:prstGeom>
          <a:noFill/>
        </p:spPr>
        <p:txBody>
          <a:bodyPr wrap="square" lIns="45720" tIns="27432" rIns="45720" bIns="27432" anchor="t">
            <a:spAutoFit/>
          </a:bodyPr>
          <a:lstStyle/>
          <a:p>
            <a:pPr algn="l"/>
            <a:r>
              <a:rPr sz="1600">
                <a:solidFill>
                  <a:srgbClr val="C4DEFD"/>
                </a:solidFill>
                <a:latin typeface="+mj-lt"/>
              </a:rPr>
              <a:t>Up next  ·  hands-on</a:t>
            </a:r>
          </a:p>
        </p:txBody>
      </p:sp>
      <p:sp>
        <p:nvSpPr>
          <p:cNvPr id="16" name="TextBox 15"/>
          <p:cNvSpPr txBox="1"/>
          <p:nvPr/>
        </p:nvSpPr>
        <p:spPr>
          <a:xfrm>
            <a:off x="13898880" y="4846320"/>
            <a:ext cx="3840480" cy="2011680"/>
          </a:xfrm>
          <a:prstGeom prst="rect">
            <a:avLst/>
          </a:prstGeom>
          <a:noFill/>
        </p:spPr>
        <p:txBody>
          <a:bodyPr wrap="square" lIns="45720" tIns="27432" rIns="45720" bIns="27432" anchor="t">
            <a:spAutoFit/>
          </a:bodyPr>
          <a:lstStyle/>
          <a:p>
            <a:pPr algn="l"/>
            <a:r>
              <a:rPr sz="2600">
                <a:solidFill>
                  <a:srgbClr val="FFFFFF"/>
                </a:solidFill>
                <a:latin typeface="+mj-lt"/>
              </a:rPr>
              <a:t>Build your own Population Health Agent</a:t>
            </a:r>
          </a:p>
        </p:txBody>
      </p:sp>
      <p:sp>
        <p:nvSpPr>
          <p:cNvPr id="17" name="TextBox 16"/>
          <p:cNvSpPr txBox="1"/>
          <p:nvPr/>
        </p:nvSpPr>
        <p:spPr>
          <a:xfrm>
            <a:off x="13898880" y="6766560"/>
            <a:ext cx="3840480" cy="1463040"/>
          </a:xfrm>
          <a:prstGeom prst="rect">
            <a:avLst/>
          </a:prstGeom>
          <a:noFill/>
        </p:spPr>
        <p:txBody>
          <a:bodyPr wrap="square" lIns="45720" tIns="27432" rIns="45720" bIns="27432" anchor="t">
            <a:spAutoFit/>
          </a:bodyPr>
          <a:lstStyle/>
          <a:p>
            <a:pPr algn="l"/>
            <a:r>
              <a:rPr sz="1500">
                <a:solidFill>
                  <a:srgbClr val="C4DEFD"/>
                </a:solidFill>
              </a:rPr>
              <a:t>Bring the registry CSV, the four NHA guideline PDFs and the test questions.</a:t>
            </a:r>
          </a:p>
        </p:txBody>
      </p:sp>
      <p:sp>
        <p:nvSpPr>
          <p:cNvPr id="18" name="TextBox 17"/>
          <p:cNvSpPr txBox="1"/>
          <p:nvPr/>
        </p:nvSpPr>
        <p:spPr>
          <a:xfrm>
            <a:off x="1252728" y="9857232"/>
            <a:ext cx="5486400" cy="246888"/>
          </a:xfrm>
          <a:prstGeom prst="rect">
            <a:avLst/>
          </a:prstGeom>
          <a:noFill/>
        </p:spPr>
        <p:txBody>
          <a:bodyPr wrap="square" lIns="45720" tIns="27432" rIns="45720" bIns="27432" anchor="b">
            <a:spAutoFit/>
          </a:bodyPr>
          <a:lstStyle/>
          <a:p>
            <a:pPr algn="l"/>
            <a:r>
              <a:rPr sz="1000">
                <a:solidFill>
                  <a:srgbClr val="C4DEFD"/>
                </a:solidFill>
              </a:rPr>
              <a:t>Copyright © SAS Institute Inc. All rights reserved.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7200"/>
              <a:t>Thank you!</a:t>
            </a:r>
          </a:p>
        </p:txBody>
      </p:sp>
      <p:sp>
        <p:nvSpPr>
          <p:cNvPr id="3" name="Text Placeholder 2"/>
          <p:cNvSpPr>
            <a:spLocks noGrp="1"/>
          </p:cNvSpPr>
          <p:nvPr>
            <p:ph type="body" idx="11" sz="quarter"/>
          </p:nvPr>
        </p:nvSpPr>
        <p:spPr/>
        <p:txBody>
          <a:bodyPr/>
          <a:lstStyle/>
          <a:p>
            <a:r>
              <a:rPr sz="2800"/>
              <a:t>Questions?</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DESIGN_ID_1_2020-TEMPLATE-EXTERNAL" val="pdtUH84H"/>
  <p:tag name="ARTICULATE_DESIGN_ID_SAS-EXTERNAL-16X9-2023" val="CJxW6PTk"/>
  <p:tag name="ARTICULATE_DESIGN_ID_1_NDA" val="5KPCLKMf"/>
  <p:tag name="ARTICULATE_DESIGN_ID_1_SAS-EXTERNAL-16X9-2023" val="OvZPFYIY"/>
  <p:tag name="ARTICULATE_DESIGN_ID_SAS - EXTERNAL - 16X9 - 2023" val="iju6vBOG"/>
  <p:tag name="ARTICULATE_DESIGN_ID_SAS - EXTERNAL" val="IZ9bNYet"/>
  <p:tag name="ARTICULATE_DESIGN_ID_SAS - EXTERNAL - NDA" val="RR4fBfJW"/>
  <p:tag name="ARTICULATE_SLIDE_THUMBNAIL_REFRESH" val="1"/>
  <p:tag name="ARTICULATE_DESIGN_ID_CUSTOM DESIGN" val="WASRYxhz"/>
  <p:tag name="ARTICULATE_SLIDE_COUNT" val="11"/>
  <p:tag name="ARTICULATE_PROJECT_OPEN" val="0"/>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SAS - EXTERNAL">
  <a:themeElements>
    <a:clrScheme name="Custom 4">
      <a:dk1>
        <a:srgbClr val="000000"/>
      </a:dk1>
      <a:lt1>
        <a:srgbClr val="FFFFFF"/>
      </a:lt1>
      <a:dk2>
        <a:srgbClr val="032954"/>
      </a:dk2>
      <a:lt2>
        <a:srgbClr val="0766D1"/>
      </a:lt2>
      <a:accent1>
        <a:srgbClr val="0766D1"/>
      </a:accent1>
      <a:accent2>
        <a:srgbClr val="4398F9"/>
      </a:accent2>
      <a:accent3>
        <a:srgbClr val="C4DEFD"/>
      </a:accent3>
      <a:accent4>
        <a:srgbClr val="032954"/>
      </a:accent4>
      <a:accent5>
        <a:srgbClr val="7E889A"/>
      </a:accent5>
      <a:accent6>
        <a:srgbClr val="BAC0C9"/>
      </a:accent6>
      <a:hlink>
        <a:srgbClr val="4398F9"/>
      </a:hlink>
      <a:folHlink>
        <a:srgbClr val="C4DEFD"/>
      </a:folHlink>
    </a:clrScheme>
    <a:fontScheme name="Anova">
      <a:majorFont>
        <a:latin typeface="Anova Bold"/>
        <a:ea typeface=""/>
        <a:cs typeface=""/>
      </a:majorFont>
      <a:minorFont>
        <a:latin typeface="Anova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25400">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smtClean="0">
            <a:solidFill>
              <a:schemeClr val="tx1"/>
            </a:solidFill>
          </a:defRPr>
        </a:defPPr>
      </a:lstStyle>
    </a:txDef>
  </a:objectDefaults>
  <a:extraClrSchemeLst/>
  <a:extLst>
    <a:ext uri="{05A4C25C-085E-4340-85A3-A5531E510DB2}">
      <thm15:themeFamily xmlns:thm15="http://schemas.microsoft.com/office/thememl/2012/main" name="EXTERNAL_Template_2023.potx" id="{2EA8CE33-CC8D-491A-8407-3C6ED769A2DD}" vid="{4D26F06B-4A77-4C47-863E-04711AA87A0D}"/>
    </a:ext>
  </a:extLst>
</a:theme>
</file>

<file path=ppt/theme/theme4.xml><?xml version="1.0" encoding="utf-8"?>
<a:theme xmlns:a="http://schemas.openxmlformats.org/drawingml/2006/main" name="Office Theme">
  <a:themeElements>
    <a:clrScheme name="SAS-2023">
      <a:dk1>
        <a:srgbClr val="000000"/>
      </a:dk1>
      <a:lt1>
        <a:srgbClr val="FFFFFF"/>
      </a:lt1>
      <a:dk2>
        <a:srgbClr val="032954"/>
      </a:dk2>
      <a:lt2>
        <a:srgbClr val="0766D1"/>
      </a:lt2>
      <a:accent1>
        <a:srgbClr val="0766D1"/>
      </a:accent1>
      <a:accent2>
        <a:srgbClr val="4398F9"/>
      </a:accent2>
      <a:accent3>
        <a:srgbClr val="C4DEFD"/>
      </a:accent3>
      <a:accent4>
        <a:srgbClr val="032954"/>
      </a:accent4>
      <a:accent5>
        <a:srgbClr val="7E889A"/>
      </a:accent5>
      <a:accent6>
        <a:srgbClr val="BAC0C9"/>
      </a:accent6>
      <a:hlink>
        <a:srgbClr val="4398F9"/>
      </a:hlink>
      <a:folHlink>
        <a:srgbClr val="C4DEFD"/>
      </a:folHlink>
    </a:clrScheme>
    <a:fontScheme name="Anova">
      <a:majorFont>
        <a:latin typeface="Anova Bold"/>
        <a:ea typeface=""/>
        <a:cs typeface=""/>
      </a:majorFont>
      <a:minorFont>
        <a:latin typeface="Anova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SAS-2023">
      <a:dk1>
        <a:srgbClr val="000000"/>
      </a:dk1>
      <a:lt1>
        <a:srgbClr val="FFFFFF"/>
      </a:lt1>
      <a:dk2>
        <a:srgbClr val="032954"/>
      </a:dk2>
      <a:lt2>
        <a:srgbClr val="0766D1"/>
      </a:lt2>
      <a:accent1>
        <a:srgbClr val="0766D1"/>
      </a:accent1>
      <a:accent2>
        <a:srgbClr val="4398F9"/>
      </a:accent2>
      <a:accent3>
        <a:srgbClr val="C4DEFD"/>
      </a:accent3>
      <a:accent4>
        <a:srgbClr val="032954"/>
      </a:accent4>
      <a:accent5>
        <a:srgbClr val="7E889A"/>
      </a:accent5>
      <a:accent6>
        <a:srgbClr val="BAC0C9"/>
      </a:accent6>
      <a:hlink>
        <a:srgbClr val="4398F9"/>
      </a:hlink>
      <a:folHlink>
        <a:srgbClr val="C4DEFD"/>
      </a:folHlink>
    </a:clrScheme>
    <a:fontScheme name="Anova">
      <a:majorFont>
        <a:latin typeface="Anova Bold"/>
        <a:ea typeface=""/>
        <a:cs typeface=""/>
      </a:majorFont>
      <a:minorFont>
        <a:latin typeface="Anova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mso-contentType ?>
<customXsn xmlns="http://schemas.microsoft.com/office/2006/metadata/customXsn">
  <xsnLocation/>
  <cached>True</cached>
  <openByDefault>True</openByDefault>
  <xsnScope/>
</customXsn>
</file>

<file path=customXml/item3.xml><?xml version="1.0" encoding="utf-8"?>
<p:properties xmlns:p="http://schemas.microsoft.com/office/2006/metadata/properties" xmlns:xsi="http://www.w3.org/2001/XMLSchema-instance" xmlns:pc="http://schemas.microsoft.com/office/infopath/2007/PartnerControls">
  <documentManagement>
    <TaxCatchAll xmlns="53acc77d-4382-4413-8c2d-408a8e2a5705">
      <Value>297</Value>
      <Value>303</Value>
      <Value>1142</Value>
    </TaxCatchAll>
    <SharedWithUsers xmlns="53acc77d-4382-4413-8c2d-408a8e2a5705">
      <UserInfo>
        <DisplayName>Elisabeth Peter</DisplayName>
        <AccountId>228</AccountId>
        <AccountType/>
      </UserInfo>
      <UserInfo>
        <DisplayName>Cameron McLauchlin</DisplayName>
        <AccountId>43</AccountId>
        <AccountType/>
      </UserInfo>
      <UserInfo>
        <DisplayName>Jocelyn Kline</DisplayName>
        <AccountId>144</AccountId>
        <AccountType/>
      </UserInfo>
      <UserInfo>
        <DisplayName>Emily Baranello</DisplayName>
        <AccountId>147</AccountId>
        <AccountType/>
      </UserInfo>
      <UserInfo>
        <DisplayName>Mari Nilsson Björkman</DisplayName>
        <AccountId>28</AccountId>
        <AccountType/>
      </UserInfo>
      <UserInfo>
        <DisplayName>Claire-Juliette Beale</DisplayName>
        <AccountId>17</AccountId>
        <AccountType/>
      </UserInfo>
      <UserInfo>
        <DisplayName>Amanda Wise</DisplayName>
        <AccountId>233</AccountId>
        <AccountType/>
      </UserInfo>
      <UserInfo>
        <DisplayName>Jennifer Olson</DisplayName>
        <AccountId>248</AccountId>
        <AccountType/>
      </UserInfo>
      <UserInfo>
        <DisplayName>Greg Heidrick</DisplayName>
        <AccountId>30</AccountId>
        <AccountType/>
      </UserInfo>
      <UserInfo>
        <DisplayName>Albert Qian</DisplayName>
        <AccountId>964</AccountId>
        <AccountType/>
      </UserInfo>
      <UserInfo>
        <DisplayName>Ali Ricke</DisplayName>
        <AccountId>271</AccountId>
        <AccountType/>
      </UserInfo>
      <UserInfo>
        <DisplayName>Alice McClure</DisplayName>
        <AccountId>255</AccountId>
        <AccountType/>
      </UserInfo>
      <UserInfo>
        <DisplayName>Ashley Danahy</DisplayName>
        <AccountId>965</AccountId>
        <AccountType/>
      </UserInfo>
      <UserInfo>
        <DisplayName>Augusta Zhang</DisplayName>
        <AccountId>247</AccountId>
        <AccountType/>
      </UserInfo>
      <UserInfo>
        <DisplayName>Briana Ullman</DisplayName>
        <AccountId>167</AccountId>
        <AccountType/>
      </UserInfo>
      <UserInfo>
        <DisplayName>Erin McCarthy</DisplayName>
        <AccountId>966</AccountId>
        <AccountType/>
      </UserInfo>
      <UserInfo>
        <DisplayName>Heather Williams</DisplayName>
        <AccountId>967</AccountId>
        <AccountType/>
      </UserInfo>
      <UserInfo>
        <DisplayName>Kunal Shah</DisplayName>
        <AccountId>245</AccountId>
        <AccountType/>
      </UserInfo>
      <UserInfo>
        <DisplayName>Lindsay Marshall</DisplayName>
        <AccountId>183</AccountId>
        <AccountType/>
      </UserInfo>
      <UserInfo>
        <DisplayName>Luis Flynn</DisplayName>
        <AccountId>968</AccountId>
        <AccountType/>
      </UserInfo>
      <UserInfo>
        <DisplayName>Marinela Profi</DisplayName>
        <AccountId>55</AccountId>
        <AccountType/>
      </UserInfo>
      <UserInfo>
        <DisplayName>Michelle France</DisplayName>
        <AccountId>610</AccountId>
        <AccountType/>
      </UserInfo>
      <UserInfo>
        <DisplayName>Spiros Potamitis</DisplayName>
        <AccountId>969</AccountId>
        <AccountType/>
      </UserInfo>
      <UserInfo>
        <DisplayName>Apurva More</DisplayName>
        <AccountId>174</AccountId>
        <AccountType/>
      </UserInfo>
      <UserInfo>
        <DisplayName>Bill Roberts</DisplayName>
        <AccountId>246</AccountId>
        <AccountType/>
      </UserInfo>
      <UserInfo>
        <DisplayName>Brooke Huckabee</DisplayName>
        <AccountId>173</AccountId>
        <AccountType/>
      </UserInfo>
      <UserInfo>
        <DisplayName>Dan Mitchell</DisplayName>
        <AccountId>50</AccountId>
        <AccountType/>
      </UserInfo>
      <UserInfo>
        <DisplayName>David Rogers</DisplayName>
        <AccountId>434</AccountId>
        <AccountType/>
      </UserInfo>
      <UserInfo>
        <DisplayName>Diana Rothfuss</DisplayName>
        <AccountId>180</AccountId>
        <AccountType/>
      </UserInfo>
      <UserInfo>
        <DisplayName>Ellen Roberson</DisplayName>
        <AccountId>177</AccountId>
        <AccountType/>
      </UserInfo>
      <UserInfo>
        <DisplayName>Jane Howell</DisplayName>
        <AccountId>51</AccountId>
        <AccountType/>
      </UserInfo>
      <UserInfo>
        <DisplayName>Jennifer Pearson</DisplayName>
        <AccountId>904</AccountId>
        <AccountType/>
      </UserInfo>
      <UserInfo>
        <DisplayName>Jonathan Moran</DisplayName>
        <AccountId>172</AccountId>
        <AccountType/>
      </UserInfo>
      <UserInfo>
        <DisplayName>Lisa Loftis</DisplayName>
        <AccountId>171</AccountId>
        <AccountType/>
      </UserInfo>
      <UserInfo>
        <DisplayName>Liz Goldberg</DisplayName>
        <AccountId>120</AccountId>
        <AccountType/>
      </UserInfo>
      <UserInfo>
        <DisplayName>Loren Byrd</DisplayName>
        <AccountId>619</AccountId>
        <AccountType/>
      </UserInfo>
      <UserInfo>
        <DisplayName>Paola Csirke-Juliano</DisplayName>
        <AccountId>608</AccountId>
        <AccountType/>
      </UserInfo>
      <UserInfo>
        <DisplayName>Thorsten Hein</DisplayName>
        <AccountId>137</AccountId>
        <AccountType/>
      </UserInfo>
      <UserInfo>
        <DisplayName>Vashinta Dickens</DisplayName>
        <AccountId>182</AccountId>
        <AccountType/>
      </UserInfo>
      <UserInfo>
        <DisplayName>Katy Salamati</DisplayName>
        <AccountId>392</AccountId>
        <AccountType/>
      </UserInfo>
      <UserInfo>
        <DisplayName>Colby Hoke</DisplayName>
        <AccountId>970</AccountId>
        <AccountType/>
      </UserInfo>
      <UserInfo>
        <DisplayName>Mark Demers</DisplayName>
        <AccountId>6</AccountId>
        <AccountType/>
      </UserInfo>
      <UserInfo>
        <DisplayName>Michelle Wells</DisplayName>
        <AccountId>23</AccountId>
        <AccountType/>
      </UserInfo>
      <UserInfo>
        <DisplayName>Alyssa Farrell</DisplayName>
        <AccountId>42</AccountId>
        <AccountType/>
      </UserInfo>
      <UserInfo>
        <DisplayName>Alex Kwiatkowski</DisplayName>
        <AccountId>25</AccountId>
        <AccountType/>
      </UserInfo>
      <UserInfo>
        <DisplayName>Lee Ann Dietz</DisplayName>
        <AccountId>14</AccountId>
        <AccountType/>
      </UserInfo>
      <UserInfo>
        <DisplayName>Patrick Homer</DisplayName>
        <AccountId>32</AccountId>
        <AccountType/>
      </UserInfo>
      <UserInfo>
        <DisplayName>Sydney Chicurel</DisplayName>
        <AccountId>278</AccountId>
        <AccountType/>
      </UserInfo>
      <UserInfo>
        <DisplayName>Robert Montgomery</DisplayName>
        <AccountId>881</AccountId>
        <AccountType/>
      </UserInfo>
      <UserInfo>
        <DisplayName>Alex Maiersperger</DisplayName>
        <AccountId>239</AccountId>
        <AccountType/>
      </UserInfo>
      <UserInfo>
        <DisplayName>Georgia Mariani</DisplayName>
        <AccountId>15</AccountId>
        <AccountType/>
      </UserInfo>
      <UserInfo>
        <DisplayName>Global Technology Product Marketing Members</DisplayName>
        <AccountId>971</AccountId>
        <AccountType/>
      </UserInfo>
      <UserInfo>
        <DisplayName>Kate Parker</DisplayName>
        <AccountId>69</AccountId>
        <AccountType/>
      </UserInfo>
    </SharedWithUsers>
    <Updated xmlns="53acc77d-4382-4413-8c2d-408a8e2a5705" xsi:nil="true"/>
    <a5eaf523e06a49de8d79f6acc451673f xmlns="53acc77d-4382-4413-8c2d-408a8e2a5705">
      <Terms xmlns="http://schemas.microsoft.com/office/infopath/2007/PartnerControls"/>
    </a5eaf523e06a49de8d79f6acc451673f>
    <IconOverlay xmlns="http://schemas.microsoft.com/sharepoint/v4" xsi:nil="true"/>
    <g1556e91db324706a2d96877947f44a1 xmlns="53acc77d-4382-4413-8c2d-408a8e2a5705">
      <Terms xmlns="http://schemas.microsoft.com/office/infopath/2007/PartnerControls">
        <TermInfo xmlns="http://schemas.microsoft.com/office/infopath/2007/PartnerControls">
          <TermName xmlns="http://schemas.microsoft.com/office/infopath/2007/PartnerControls">Application and Identity Fraud</TermName>
          <TermId xmlns="http://schemas.microsoft.com/office/infopath/2007/PartnerControls">40c05cd4-be95-4caf-8451-1dc26fa7f19f</TermId>
        </TermInfo>
        <TermInfo xmlns="http://schemas.microsoft.com/office/infopath/2007/PartnerControls">
          <TermName xmlns="http://schemas.microsoft.com/office/infopath/2007/PartnerControls">Payments Fraud</TermName>
          <TermId xmlns="http://schemas.microsoft.com/office/infopath/2007/PartnerControls">85715592-c0d5-4db6-a49b-e9cd7b557fd0</TermId>
        </TermInfo>
        <TermInfo xmlns="http://schemas.microsoft.com/office/infopath/2007/PartnerControls">
          <TermName xmlns="http://schemas.microsoft.com/office/infopath/2007/PartnerControls">Banking Fraud and Financial Crimes Compliance</TermName>
          <TermId xmlns="http://schemas.microsoft.com/office/infopath/2007/PartnerControls">45b62d14-9032-43d0-998f-4b424fe0f613</TermId>
        </TermInfo>
      </Terms>
    </g1556e91db324706a2d96877947f44a1>
    <Asset_x0020_Status xmlns="53acc77d-4382-4413-8c2d-408a8e2a5705">Publish</Asset_x0020_Status>
    <pc8465657618468292594f9ab4689c33 xmlns="53acc77d-4382-4413-8c2d-408a8e2a5705">
      <Terms xmlns="http://schemas.microsoft.com/office/infopath/2007/PartnerControls"/>
    </pc8465657618468292594f9ab4689c33>
    <Demo_x0020_ID xmlns="53acc77d-4382-4413-8c2d-408a8e2a5705" xsi:nil="true"/>
    <Value_x0020_Proposition xmlns="f6ce49f0-2995-48df-a9c9-3a6b87ac555a">Not Set</Value_x0020_Proposition>
    <PublishingContact xmlns="f6ce49f0-2995-48df-a9c9-3a6b87ac555a">
      <UserInfo>
        <DisplayName/>
        <AccountId xsi:nil="true"/>
        <AccountType/>
      </UserInfo>
    </PublishingContact>
    <Portal_x0020_Content_x0020_Asset_x0020_Type xmlns="53acc77d-4382-4413-8c2d-408a8e2a5705">Overview Presentation</Portal_x0020_Content_x0020_Asset_x0020_Type>
  </documentManagement>
</p:properties>
</file>

<file path=customXml/item4.xml><?xml version="1.0" encoding="utf-8"?>
<ct:contentTypeSchema xmlns:ct="http://schemas.microsoft.com/office/2006/metadata/contentType" xmlns:ma="http://schemas.microsoft.com/office/2006/metadata/properties/metaAttributes" ct:_="" ma:_="" ma:contentTypeName="SAS Portal Document" ma:contentTypeID="0x0101006BE659B9BD46644CB3C6870C03978025002CC455ACD93CE545B750EA5F55C04BF6" ma:contentTypeVersion="47" ma:contentTypeDescription="Custom content type used for content that is surfaced on the Sales &amp; Marketing Portal.." ma:contentTypeScope="" ma:versionID="c117b22ede2bb8718e6234b331348844">
  <xsd:schema xmlns:xsd="http://www.w3.org/2001/XMLSchema" xmlns:xs="http://www.w3.org/2001/XMLSchema" xmlns:p="http://schemas.microsoft.com/office/2006/metadata/properties" xmlns:ns2="53acc77d-4382-4413-8c2d-408a8e2a5705" xmlns:ns4="f6ce49f0-2995-48df-a9c9-3a6b87ac555a" xmlns:ns5="http://schemas.microsoft.com/sharepoint/v4" targetNamespace="http://schemas.microsoft.com/office/2006/metadata/properties" ma:root="true" ma:fieldsID="fcae80220d5a355a2e03199195f972c7" ns2:_="" ns4:_="" ns5:_="">
    <xsd:import namespace="53acc77d-4382-4413-8c2d-408a8e2a5705"/>
    <xsd:import namespace="f6ce49f0-2995-48df-a9c9-3a6b87ac555a"/>
    <xsd:import namespace="http://schemas.microsoft.com/sharepoint/v4"/>
    <xsd:element name="properties">
      <xsd:complexType>
        <xsd:sequence>
          <xsd:element name="documentManagement">
            <xsd:complexType>
              <xsd:all>
                <xsd:element ref="ns2:Portal_x0020_Content_x0020_Asset_x0020_Type"/>
                <xsd:element ref="ns2:Asset_x0020_Status"/>
                <xsd:element ref="ns2:Demo_x0020_ID" minOccurs="0"/>
                <xsd:element ref="ns4:Value_x0020_Proposition" minOccurs="0"/>
                <xsd:element ref="ns2:pc8465657618468292594f9ab4689c33" minOccurs="0"/>
                <xsd:element ref="ns2:Updated" minOccurs="0"/>
                <xsd:element ref="ns2:g1556e91db324706a2d96877947f44a1" minOccurs="0"/>
                <xsd:element ref="ns2:TaxCatchAll" minOccurs="0"/>
                <xsd:element ref="ns2:a5eaf523e06a49de8d79f6acc451673f" minOccurs="0"/>
                <xsd:element ref="ns2:TaxCatchAllLabel" minOccurs="0"/>
                <xsd:element ref="ns4:MediaServiceMetadata" minOccurs="0"/>
                <xsd:element ref="ns4:MediaServiceFastMetadata" minOccurs="0"/>
                <xsd:element ref="ns4:MediaServiceAutoKeyPoints" minOccurs="0"/>
                <xsd:element ref="ns4:MediaServiceKeyPoints" minOccurs="0"/>
                <xsd:element ref="ns4:MediaServiceDateTaken" minOccurs="0"/>
                <xsd:element ref="ns5:IconOverlay" minOccurs="0"/>
                <xsd:element ref="ns4:PublishingContact" minOccurs="0"/>
                <xsd:element ref="ns2:SharedWithUsers" minOccurs="0"/>
                <xsd:element ref="ns2:SharedWithDetails" minOccurs="0"/>
                <xsd:element ref="ns4:MediaLengthInSeconds" minOccurs="0"/>
                <xsd:element ref="ns4:MediaServiceObjectDetectorVersions" minOccurs="0"/>
                <xsd:element ref="ns4:MediaServiceGenerationTime" minOccurs="0"/>
                <xsd:element ref="ns4:MediaServiceEventHashCode" minOccurs="0"/>
                <xsd:element ref="ns4: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3acc77d-4382-4413-8c2d-408a8e2a5705" elementFormDefault="qualified">
    <xsd:import namespace="http://schemas.microsoft.com/office/2006/documentManagement/types"/>
    <xsd:import namespace="http://schemas.microsoft.com/office/infopath/2007/PartnerControls"/>
    <xsd:element name="Portal_x0020_Content_x0020_Asset_x0020_Type" ma:index="2" ma:displayName="Asset Type" ma:description="Types of assets available for publishing in Portal Content Libraries." ma:format="Dropdown" ma:internalName="Portal_x0020_Content_x0020_Asset_x0020_Type" ma:readOnly="false">
      <xsd:simpleType>
        <xsd:restriction base="dms:Choice">
          <xsd:enumeration value="Battle Card"/>
          <xsd:enumeration value="Competitive Research"/>
          <xsd:enumeration value="Customer Challenge &amp; What SAS Offers"/>
          <xsd:enumeration value="Customer Introduction Letter"/>
          <xsd:enumeration value="Demo Recording (Customer Ready)"/>
          <xsd:enumeration value="Demo Recording (Internal)"/>
          <xsd:enumeration value="Demo Resource"/>
          <xsd:enumeration value="Demo Script"/>
          <xsd:enumeration value="Discovery Questions"/>
          <xsd:enumeration value="External Video"/>
          <xsd:enumeration value="FAQ"/>
          <xsd:enumeration value="Industry Overview Presentation"/>
          <xsd:enumeration value="Initiate Conversations"/>
          <xsd:enumeration value="Impact Brief"/>
          <xsd:enumeration value="Know Your Buyer"/>
          <xsd:enumeration value="Know Your User"/>
          <xsd:enumeration value="Overview Presentation"/>
          <xsd:enumeration value="Presentation - Internal"/>
          <xsd:enumeration value="Product Roadmap"/>
          <xsd:enumeration value="Product Vision"/>
          <xsd:enumeration value="Qualification Criteria"/>
          <xsd:enumeration value="ROI Calculator"/>
          <xsd:enumeration value="Sales Strategy"/>
          <xsd:enumeration value="Sales Tools - Other"/>
          <xsd:enumeration value="Self-Directed Learning"/>
          <xsd:enumeration value="Shark Finesse ROI Model"/>
          <xsd:enumeration value="Social Selling QuickStart Guide"/>
          <xsd:enumeration value="Solution Brief"/>
          <xsd:enumeration value="Technical - Other"/>
          <xsd:enumeration value="Use Cases"/>
        </xsd:restriction>
      </xsd:simpleType>
    </xsd:element>
    <xsd:element name="Asset_x0020_Status" ma:index="5" ma:displayName="Asset Status" ma:default="Draft" ma:description="Publishing status of asset.  Select &quot;Publish&quot; for asset to be available in Mercury / Sales &amp; Marketing Portal." ma:format="Dropdown" ma:internalName="Asset_x0020_Status" ma:readOnly="false">
      <xsd:simpleType>
        <xsd:restriction base="dms:Choice">
          <xsd:enumeration value="Draft"/>
          <xsd:enumeration value="Under Review"/>
          <xsd:enumeration value="Publish"/>
          <xsd:enumeration value="Archive"/>
        </xsd:restriction>
      </xsd:simpleType>
    </xsd:element>
    <xsd:element name="Demo_x0020_ID" ma:index="9" nillable="true" ma:displayName="Demo ID" ma:description="For demo resources only" ma:internalName="Demo_x0020_ID" ma:readOnly="false">
      <xsd:simpleType>
        <xsd:restriction base="dms:Text">
          <xsd:maxLength value="255"/>
        </xsd:restriction>
      </xsd:simpleType>
    </xsd:element>
    <xsd:element name="pc8465657618468292594f9ab4689c33" ma:index="11" nillable="true" ma:taxonomy="true" ma:internalName="pc8465657618468292594f9ab4689c33" ma:taxonomyFieldName="SAS_x0020_Offering" ma:displayName="SAS Offering" ma:readOnly="false" ma:default="" ma:fieldId="{9c846565-7618-4682-9259-4f9ab4689c33}" ma:taxonomyMulti="true" ma:sspId="7fd0e135-c9ac-4e89-9c36-fb2929ad0f0a" ma:termSetId="13b43256-b3b3-4bff-80b2-57e1064dbe9a" ma:anchorId="00000000-0000-0000-0000-000000000000" ma:open="false" ma:isKeyword="false">
      <xsd:complexType>
        <xsd:sequence>
          <xsd:element ref="pc:Terms" minOccurs="0" maxOccurs="1"/>
        </xsd:sequence>
      </xsd:complexType>
    </xsd:element>
    <xsd:element name="Updated" ma:index="12" nillable="true" ma:displayName="Updated" ma:description="This field MUST include the date of last update.  Asset expiration rules are based on this date, and assets will expire if they have not been recently updated (after 550 days for many asset types). See the Asset Lifecycle List at http://sww.sas.com/gobot/assets" ma:format="DateOnly" ma:hidden="true" ma:internalName="Updated" ma:readOnly="false">
      <xsd:simpleType>
        <xsd:restriction base="dms:DateTime"/>
      </xsd:simpleType>
    </xsd:element>
    <xsd:element name="g1556e91db324706a2d96877947f44a1" ma:index="15" nillable="true" ma:taxonomy="true" ma:internalName="g1556e91db324706a2d96877947f44a1" ma:taxonomyFieldName="SAS_x0020_CBO" ma:displayName="SAS CBO" ma:readOnly="false" ma:default="" ma:fieldId="{01556e91-db32-4706-a2d9-6877947f44a1}" ma:taxonomyMulti="true" ma:sspId="7fd0e135-c9ac-4e89-9c36-fb2929ad0f0a" ma:termSetId="ca7520f6-ccfb-4624-b7c3-7e078f59c263" ma:anchorId="00000000-0000-0000-0000-000000000000" ma:open="false" ma:isKeyword="false">
      <xsd:complexType>
        <xsd:sequence>
          <xsd:element ref="pc:Terms" minOccurs="0" maxOccurs="1"/>
        </xsd:sequence>
      </xsd:complexType>
    </xsd:element>
    <xsd:element name="TaxCatchAll" ma:index="17" nillable="true" ma:displayName="Taxonomy Catch All Column" ma:hidden="true" ma:list="{acba37b5-229d-48b1-a098-788030c8aec9}" ma:internalName="TaxCatchAll" ma:readOnly="false" ma:showField="CatchAllData" ma:web="53acc77d-4382-4413-8c2d-408a8e2a5705">
      <xsd:complexType>
        <xsd:complexContent>
          <xsd:extension base="dms:MultiChoiceLookup">
            <xsd:sequence>
              <xsd:element name="Value" type="dms:Lookup" maxOccurs="unbounded" minOccurs="0" nillable="true"/>
            </xsd:sequence>
          </xsd:extension>
        </xsd:complexContent>
      </xsd:complexType>
    </xsd:element>
    <xsd:element name="a5eaf523e06a49de8d79f6acc451673f" ma:index="18" nillable="true" ma:taxonomy="true" ma:internalName="a5eaf523e06a49de8d79f6acc451673f" ma:taxonomyFieldName="SAS_x0020_Industry" ma:displayName="SAS Industry" ma:readOnly="false" ma:default="" ma:fieldId="{a5eaf523-e06a-49de-8d79-f6acc451673f}" ma:taxonomyMulti="true" ma:sspId="7fd0e135-c9ac-4e89-9c36-fb2929ad0f0a" ma:termSetId="05306096-4b6f-4ef3-835e-901537768b2c" ma:anchorId="00000000-0000-0000-0000-000000000000" ma:open="false" ma:isKeyword="false">
      <xsd:complexType>
        <xsd:sequence>
          <xsd:element ref="pc:Terms" minOccurs="0" maxOccurs="1"/>
        </xsd:sequence>
      </xsd:complexType>
    </xsd:element>
    <xsd:element name="TaxCatchAllLabel" ma:index="19" nillable="true" ma:displayName="Taxonomy Catch All Column1" ma:hidden="true" ma:list="{acba37b5-229d-48b1-a098-788030c8aec9}" ma:internalName="TaxCatchAllLabel" ma:readOnly="true" ma:showField="CatchAllDataLabel" ma:web="53acc77d-4382-4413-8c2d-408a8e2a5705">
      <xsd:complexType>
        <xsd:complexContent>
          <xsd:extension base="dms:MultiChoiceLookup">
            <xsd:sequence>
              <xsd:element name="Value" type="dms:Lookup" maxOccurs="unbounded" minOccurs="0" nillable="true"/>
            </xsd:sequence>
          </xsd:extension>
        </xsd:complexContent>
      </xsd:complexType>
    </xsd:element>
    <xsd:element name="SharedWithUsers" ma:index="3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32"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f6ce49f0-2995-48df-a9c9-3a6b87ac555a" elementFormDefault="qualified">
    <xsd:import namespace="http://schemas.microsoft.com/office/2006/documentManagement/types"/>
    <xsd:import namespace="http://schemas.microsoft.com/office/infopath/2007/PartnerControls"/>
    <xsd:element name="Value_x0020_Proposition" ma:index="10" nillable="true" ma:displayName="Library VP Filter" ma:default="Not Set" ma:description="Used for library views ONLY, for grouping and filtering assets. These values do NOT impact Mercury or Quick Find tagging.  Use SAS CBO for official content tagging." ma:format="Dropdown" ma:hidden="true" ma:internalName="Value_x0020_Proposition" ma:readOnly="false">
      <xsd:simpleType>
        <xsd:restriction base="dms:Choice">
          <xsd:enumeration value="N/A - Demo"/>
          <xsd:enumeration value="N/A - Focus Area"/>
          <xsd:enumeration value="Anti-Money Laundering (Banking)"/>
          <xsd:enumeration value="Anti-Money Laundering for Insurance"/>
          <xsd:enumeration value="Cyber Security"/>
          <xsd:enumeration value="Financial Crimes Analytics"/>
          <xsd:enumeration value="Identity and Digital Fraud"/>
          <xsd:enumeration value="Insurance Claims Fraud"/>
          <xsd:enumeration value="Payments Fraud"/>
          <xsd:enumeration value="Procurement Integrity"/>
          <xsd:enumeration value="N/A - Industry"/>
          <xsd:enumeration value="N/A - Roadmap"/>
          <xsd:enumeration value="N/A - Product &amp; Solution"/>
          <xsd:enumeration value="N/A - Retired VP Content"/>
          <xsd:enumeration value="Not Set"/>
        </xsd:restriction>
      </xsd:simpleType>
    </xsd:element>
    <xsd:element name="MediaServiceMetadata" ma:index="22" nillable="true" ma:displayName="MediaServiceMetadata" ma:hidden="true" ma:internalName="MediaServiceMetadata" ma:readOnly="true">
      <xsd:simpleType>
        <xsd:restriction base="dms:Note"/>
      </xsd:simpleType>
    </xsd:element>
    <xsd:element name="MediaServiceFastMetadata" ma:index="23" nillable="true" ma:displayName="MediaServiceFastMetadata" ma:hidden="true" ma:internalName="MediaServiceFastMetadata" ma:readOnly="true">
      <xsd:simpleType>
        <xsd:restriction base="dms:Note"/>
      </xsd:simpleType>
    </xsd:element>
    <xsd:element name="MediaServiceAutoKeyPoints" ma:index="24" nillable="true" ma:displayName="MediaServiceAutoKeyPoints" ma:hidden="true" ma:internalName="MediaServiceAutoKeyPoints" ma:readOnly="true">
      <xsd:simpleType>
        <xsd:restriction base="dms:Note"/>
      </xsd:simpleType>
    </xsd:element>
    <xsd:element name="MediaServiceKeyPoints" ma:index="25" nillable="true" ma:displayName="KeyPoints" ma:hidden="true" ma:internalName="MediaServiceKeyPoints" ma:readOnly="true">
      <xsd:simpleType>
        <xsd:restriction base="dms:Note"/>
      </xsd:simpleType>
    </xsd:element>
    <xsd:element name="MediaServiceDateTaken" ma:index="26" nillable="true" ma:displayName="MediaServiceDateTaken" ma:hidden="true" ma:internalName="MediaServiceDateTaken" ma:readOnly="true">
      <xsd:simpleType>
        <xsd:restriction base="dms:Text"/>
      </xsd:simpleType>
    </xsd:element>
    <xsd:element name="PublishingContact" ma:index="30" nillable="true" ma:displayName="Contact" ma:description="Populates Author field in Mercury." ma:hidden="true" ma:list="UserInfo" ma:SearchPeopleOnly="false" ma:SharePointGroup="0" ma:internalName="PublishingContact" ma:readOnly="false"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diaLengthInSeconds" ma:index="33" nillable="true" ma:displayName="MediaLengthInSeconds" ma:hidden="true" ma:internalName="MediaLengthInSeconds" ma:readOnly="true">
      <xsd:simpleType>
        <xsd:restriction base="dms:Unknown"/>
      </xsd:simpleType>
    </xsd:element>
    <xsd:element name="MediaServiceObjectDetectorVersions" ma:index="34" nillable="true" ma:displayName="MediaServiceObjectDetectorVersions" ma:hidden="true" ma:indexed="true" ma:internalName="MediaServiceObjectDetectorVersions" ma:readOnly="true">
      <xsd:simpleType>
        <xsd:restriction base="dms:Text"/>
      </xsd:simpleType>
    </xsd:element>
    <xsd:element name="MediaServiceGenerationTime" ma:index="35" nillable="true" ma:displayName="MediaServiceGenerationTime" ma:hidden="true" ma:internalName="MediaServiceGenerationTime" ma:readOnly="true">
      <xsd:simpleType>
        <xsd:restriction base="dms:Text"/>
      </xsd:simpleType>
    </xsd:element>
    <xsd:element name="MediaServiceEventHashCode" ma:index="36" nillable="true" ma:displayName="MediaServiceEventHashCode" ma:hidden="true" ma:internalName="MediaServiceEventHashCode" ma:readOnly="true">
      <xsd:simpleType>
        <xsd:restriction base="dms:Text"/>
      </xsd:simpleType>
    </xsd:element>
    <xsd:element name="MediaServiceSearchProperties" ma:index="37"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4" elementFormDefault="qualified">
    <xsd:import namespace="http://schemas.microsoft.com/office/2006/documentManagement/types"/>
    <xsd:import namespace="http://schemas.microsoft.com/office/infopath/2007/PartnerControls"/>
    <xsd:element name="IconOverlay" ma:index="27" nillable="true" ma:displayName="IconOverlay" ma:hidden="true" ma:internalName="IconOverlay" ma:readOnly="fals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axOccurs="1" ma:index="4" ma:displayName="Author"/>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axOccurs="1" ma:index="3" ma:displayName="Description"/>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3E925E4-5239-4639-A029-07B3CFD6A3F1}">
  <ds:schemaRefs>
    <ds:schemaRef ds:uri="http://schemas.microsoft.com/sharepoint/v3/contenttype/forms"/>
  </ds:schemaRefs>
</ds:datastoreItem>
</file>

<file path=customXml/itemProps2.xml><?xml version="1.0" encoding="utf-8"?>
<ds:datastoreItem xmlns:ds="http://schemas.openxmlformats.org/officeDocument/2006/customXml" ds:itemID="{303C9089-9DA5-45ED-8193-FB522D1384FB}">
  <ds:schemaRefs>
    <ds:schemaRef ds:uri="http://schemas.microsoft.com/office/2006/metadata/customXsn"/>
  </ds:schemaRefs>
</ds:datastoreItem>
</file>

<file path=customXml/itemProps3.xml><?xml version="1.0" encoding="utf-8"?>
<ds:datastoreItem xmlns:ds="http://schemas.openxmlformats.org/officeDocument/2006/customXml" ds:itemID="{E2663518-7548-4643-8219-608BFF0DFA0C}">
  <ds:schemaRefs>
    <ds:schemaRef ds:uri="http://purl.org/dc/elements/1.1/"/>
    <ds:schemaRef ds:uri="http://purl.org/dc/terms/"/>
    <ds:schemaRef ds:uri="http://schemas.microsoft.com/office/infopath/2007/PartnerControls"/>
    <ds:schemaRef ds:uri="53acc77d-4382-4413-8c2d-408a8e2a5705"/>
    <ds:schemaRef ds:uri="http://schemas.microsoft.com/office/2006/metadata/properties"/>
    <ds:schemaRef ds:uri="http://purl.org/dc/dcmitype/"/>
    <ds:schemaRef ds:uri="http://schemas.microsoft.com/sharepoint/v4"/>
    <ds:schemaRef ds:uri="http://schemas.microsoft.com/office/2006/documentManagement/types"/>
    <ds:schemaRef ds:uri="http://schemas.openxmlformats.org/package/2006/metadata/core-properties"/>
    <ds:schemaRef ds:uri="f6ce49f0-2995-48df-a9c9-3a6b87ac555a"/>
    <ds:schemaRef ds:uri="http://www.w3.org/XML/1998/namespace"/>
  </ds:schemaRefs>
</ds:datastoreItem>
</file>

<file path=customXml/itemProps4.xml><?xml version="1.0" encoding="utf-8"?>
<ds:datastoreItem xmlns:ds="http://schemas.openxmlformats.org/officeDocument/2006/customXml" ds:itemID="{6B7B042F-9E6C-45C7-9C43-A250F3E13A9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3acc77d-4382-4413-8c2d-408a8e2a5705"/>
    <ds:schemaRef ds:uri="f6ce49f0-2995-48df-a9c9-3a6b87ac555a"/>
    <ds:schemaRef ds:uri="http://schemas.microsoft.com/sharepoint/v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b74a3ff5-3dcb-4075-8703-f74a393618ec}" enabled="0" method="" siteId="{b74a3ff5-3dcb-4075-8703-f74a393618ec}" removed="1"/>
  <clbl:label id="{e1c8c91a-c872-4000-818b-3383c70fafcf}" enabled="1" method="Privileged" siteId="{b1c14d5c-3625-45b3-a430-9552373a0c2f}" contentBits="0" removed="0"/>
</clbl:labelList>
</file>

<file path=docProps/app.xml><?xml version="1.0" encoding="utf-8"?>
<Properties xmlns="http://schemas.openxmlformats.org/officeDocument/2006/extended-properties" xmlns:vt="http://schemas.openxmlformats.org/officeDocument/2006/docPropsVTypes">
  <Template>EXTERNAL_Template_2023</Template>
  <TotalTime>656</TotalTime>
  <Words>597</Words>
  <Application>Microsoft Office PowerPoint</Application>
  <PresentationFormat>Custom</PresentationFormat>
  <Paragraphs>130</Paragraphs>
  <Slides>3</Slides>
  <Notes>2</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3</vt:i4>
      </vt:variant>
    </vt:vector>
  </HeadingPairs>
  <TitlesOfParts>
    <vt:vector size="12" baseType="lpstr">
      <vt:lpstr>Anova Light</vt:lpstr>
      <vt:lpstr>Anova</vt:lpstr>
      <vt:lpstr>Arial</vt:lpstr>
      <vt:lpstr>Calibri</vt:lpstr>
      <vt:lpstr>Calibri Light</vt:lpstr>
      <vt:lpstr>Anova Bold</vt:lpstr>
      <vt:lpstr>SAS - EXTERNAL</vt:lpstr>
      <vt:lpstr>1_SAS - EXTERNAL</vt:lpstr>
      <vt:lpstr>1_2020-Template-External</vt:lpstr>
      <vt:lpstr>MOHAP Agent 1</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SAS Fraud Decisioning - Customer Presentation</dc:title>
  <dc:creator>Jocelyn Kline</dc:creator>
  <dc:description>Customer presentation for SAS Fraud Decisioning</dc:description>
  <cp:lastModifiedBy>Raed Aldweik</cp:lastModifiedBy>
  <cp:revision>12</cp:revision>
  <dcterms:created xsi:type="dcterms:W3CDTF">2023-10-17T15:08:00Z</dcterms:created>
  <dcterms:modified xsi:type="dcterms:W3CDTF">2026-08-12T06:09:28Z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451006F2-8E20-4D4E-B05C-4B5D02827FD6</vt:lpwstr>
  </property>
  <property fmtid="{D5CDD505-2E9C-101B-9397-08002B2CF9AE}" pid="3" name="ArticulatePath">
    <vt:lpwstr>2020-Template-External</vt:lpwstr>
  </property>
  <property fmtid="{D5CDD505-2E9C-101B-9397-08002B2CF9AE}" pid="4" name="ContentTypeId">
    <vt:lpwstr>0x0101006BE659B9BD46644CB3C6870C03978025002CC455ACD93CE545B750EA5F55C04BF6</vt:lpwstr>
  </property>
  <property fmtid="{D5CDD505-2E9C-101B-9397-08002B2CF9AE}" pid="5" name="MediaServiceImageTags">
    <vt:lpwstr/>
  </property>
  <property fmtid="{D5CDD505-2E9C-101B-9397-08002B2CF9AE}" pid="6" name="SAS CBO">
    <vt:lpwstr>1142;#Application and Identity Fraud|40c05cd4-be95-4caf-8451-1dc26fa7f19f;#297;#Payments Fraud|85715592-c0d5-4db6-a49b-e9cd7b557fd0;#303;#Banking Fraud and Financial Crimes Compliance|45b62d14-9032-43d0-998f-4b424fe0f613</vt:lpwstr>
  </property>
  <property fmtid="{D5CDD505-2E9C-101B-9397-08002B2CF9AE}" pid="7" name="SAS Industry">
    <vt:lpwstr/>
  </property>
  <property fmtid="{D5CDD505-2E9C-101B-9397-08002B2CF9AE}" pid="8" name="SAS Offering">
    <vt:lpwstr/>
  </property>
  <property fmtid="{D5CDD505-2E9C-101B-9397-08002B2CF9AE}" pid="9" name="SAS_x0020_CBO">
    <vt:lpwstr>1142;#Application and Identity Fraud|40c05cd4-be95-4caf-8451-1dc26fa7f19f;#297;#Payments Fraud|85715592-c0d5-4db6-a49b-e9cd7b557fd0;#303;#Banking Fraud and Financial Crimes Compliance|45b62d14-9032-43d0-998f-4b424fe0f613</vt:lpwstr>
  </property>
  <property fmtid="{D5CDD505-2E9C-101B-9397-08002B2CF9AE}" pid="10" name="SAS_x0020_Industry">
    <vt:lpwstr/>
  </property>
  <property fmtid="{D5CDD505-2E9C-101B-9397-08002B2CF9AE}" pid="11" name="SAS_x0020_Offering">
    <vt:lpwstr/>
  </property>
</Properties>
</file>